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ขอบเขต: แท็บ Macro — เฉพาะปัจจัยภายนอกเท่านั้น เศรษฐกิจ ราคาสินค้าเกษตร และตลาดรถมือสอง ทั้งหมดเผยแพร่โดยหน่วยงานอื่น ส่วนผลกระทบต่อพอร์ตของเราเป็นเรื่องของแท็บ Exposure และ Risk ขณะที่การแข่งขันและมุมมองรายสาขาแยกออกไปอีกส่วนหนึ่ง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ถ้าจะจำได้เรื่องเดียว: เศรษฐกิจนิ่ง พืชผลผสม หลักประกันแย่ลง — และผู้กู้บางอยู่ก่อนแล้วก่อนทั้งหมดนี้ ขอบเขตคือปัจจัยภายนอก ส่วนตัวเลขพอร์ตอยู่ในแท็บ Exposure และ Risk ไม่ใช่ที่นี่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เศรษฐกิจไม่มีปัญหา — ประเด็นอยู่ที่การเทียบภูมิภาคและเส้นหนี้ค้างชำระ โตช้า กันชนการคลังบาง หนี้ค้างชำระเพิ่มขึ้นเกือบทั้งปีที่ผ่านมา และมีพื้นที่ช่วยเหลือน้อยกว่าช่วงปี 2020–21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หน้านี้ไล่จากตัวเลขระดับประเทศลงถึงระดับอำเภอโดยไม่เปลี่ยนเครื่องมือวัด หนี้ครัวเรือนแสดงเป็นจำนวนเดือนของรายได้ ไม่ใช่บาท — นั่นคือกรอบที่เราใช้พิจารณาสินเชื่อ ถ้ามีใครหยิบอัตราว่างงานที่ใกล้ศูนย์มาอ้างว่าผู้กู้ไม่มีปัญหา ให้เปิดหน้านี้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สองประเด็น หนึ่ง ดัชนีโลกกับราคาหน้าฟาร์มไทยหันไปคนละทางได้ และมีเพียงตัวเดียวที่เป็นเงินที่เกษตรกรไทยได้รับ — เนื้อวัวเป็นตัวอย่างที่ชัดที่สุด สอง คอลัมน์สุดท้ายคือเกษตรกร ไม่ใช่บัญชีทั้งหมด: ตัวเลข book exposed ในแอปนับผู้กู้ทุกคนในแหล่งผลิต และประมาณสี่ในห้าไม่ได้ทำเกษตร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ตัวเลขเทียบปีก่อนซ่อนการเคลื่อนไหวช้า ๆ ไว้: น้ำตาลลดลงเกือบทุกเดือนตั้งแต่จุดสูงสุดปี 2023 ไม่ใช่การย่อตัวครั้งเดียว ส่วนยางพาราเพิ่งกลับขึ้นเหนือระดับปี 2021 ของตัวเองได้ เราแปลงเป็นบาทเฉพาะราคาล่าสุด — จุดสูงสุดห้าปีคงเป็นดอลลาร์ เพื่อไม่ให้เอาราคาเก่ามาผสมกับอัตราแลกเปลี่ยนวันนี้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เหตุที่ภาคเกษตรได้มีหมวดของตัวเอง คือความเสี่ยงของมันมาจากภายนอกและพอคาดการณ์ได้ — ราคา ต้นทุน ปริมาณฝน — ซึ่งหาได้ยาก คอลัมน์สัดส่วนพืชตอนนี้เป็นสัดส่วนที่เผยแพร่ครบของแต่ละจังหวัด ทุกพืช รวมได้ 100 — ไม่ใช่เฉพาะพืชหลัก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เราตัดข้อถกเถียงเรื่องกำไรออกโดยเจตนา — มันครอบคลุมแค่ห้าพืช และเปิดทางให้เถียงกันว่าราคาที่เผยแพร่ตัวไหนถูก หน้านี้แสดงราคาที่เกษตรกรได้รับจริง ครบทุกสินค้าที่เราวัดได้ พร้อมเส้นหกเดือนของตัวเอง ประเด็นที่ต้องให้ติด: หลายรายการมีทิศทางไม่ตรงกันระหว่างเทียบปีก่อนกับหกเดือน ตัวเลขรายปีตัวเดียวจึงไม่พอที่จะใช้ตัดสินใจ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สองเรื่อง: รายได้เกษตรเพิ่มขึ้นทุกภาคแต่ยังไม่ถึงครึ่งของค่าจ้างในพื้นที่ — ออกแบบมาตรการจากจังหวัดที่ต่ำสุด ไม่ใช่ค่าเฉลี่ย และพูดตรง ๆ ว่าตัวเลขขนส่งเป็นสมมติฐานระดับประเทศหนึ่งค่า ไม่ใช่การวัดห้าครั้ง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นาฬิกาสองเรือน แยกกันชัดเจน: SPEI คือฤดูกาล (แบบจำลอง รายเดือน) ThaiWater คือวันนี้ (วัดจริง เรียลไทม์) GISTDA เป็นเรื่องที่สาม แยกออกไป — ว่าพื้นที่ไหนท่วมอยู่ดี — มีการ์ดของตัวเอง ไม่เคยผสมเข้ากับตารางใดทั้งสองตาราง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เรียงตามจำนวนสัญญาณที่เข้าเงื่อนไขจากทั้งสี่ตัว ไม่ใช่แค่สองตัว — นั่นคือเหตุที่สิงห์บุรีปรากฏขึ้นมาแม้หนี้จะต่ำ เกณฑ์พืชเข้าเงื่อนไขแทบทุกที่และแยกแยะไม่ได้ ตัวที่แยกได้คือหนี้ การว่างงาน และฝน หน้านี้ชี้ไปที่พื้นที่ ไม่ใช่ตัวบุคคล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ช้าลงตรงนี้ ทุกอย่างก่อนหน้านี้คือสภาพของผู้กู้ ส่วนนี้คือสภาพของหลักประกัน ซึ่งเป็นส่วนที่มีผลต่อการพิจารณาสินเชื่อโดยตรง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สองหน้าต่าง: กระบะ +12.5% ในหกเดือน แต่ −0.4% ในสิบสองเดือน — ราคาหยุดตก ไม่ใช่กลับทิศ ระดับยังต่ำกว่าปี 2015 อยู่มาก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ความชันหกเดือนของกระบะไม่ใช่การฟื้นตัว — หากตัดเดือนผิดปกติออกจะเป็น -986/เดือน เดือนเดียวกันนี้ทำให้การเติบโตรถยนต์พุ่งจาก +11.0% เป็น +34.3% ให้อ้างหน้าต่าง 12 เดือนแทน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กองกระบะเล็กลงแต่รูปทรงไม่เปลี่ยน — มูลค่าคงเหลือยังคาดการณ์ได้ ฝั่งรถยนต์ตรงกันข้าม: สัดส่วนที่โตขึ้นเรื่อย ๆ ไม่มีสถิติราคามือสองในไทยให้ใช้ตีราคา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อัตราปล่อยกู้กำหนดเป็นรายรุ่น ไม่ใช่รายแบรนด์ ฝั่งกระบะมีห้าแถวที่เราตีราคาได้จากสถิติ ฝั่งรถยนต์เป็นหางยาวของรุ่นที่เพิ่งจดทะเบียนปีนี้เป็นปีแรก — ข้อควรระวังเรื่องรุ่นย่อยทำให้สัดส่วนฝั่งรถยนต์เป็นค่าต่ำสุด แต่ไม่เปลี่ยนข้อสรุป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พูดข้อจำกัดก่อน: นี่คือรถที่ เข้าสู่ ท้องถนนในแต่ละปี ไม่ใช่รถที่อยู่บนถนน — ขบ. ไม่ได้เผยแพร่จำนวนรถจดทะเบียนสะสมแยกตามรุ่น จึงสร้างจำนวนรถทั้งหมดแยกตามรุ่นไม่ได้ สิ่งที่หน้านี้แสดงคืออุปทานกระบะที่ทรุดลงต่อเนื่องสี่ปี โดยรุ่นที่อยู่อันดับบนยังเป็นรุ่นเดิมตลอด ซึ่งเป็นปัญหาปริมาณมากกว่าปัญหาส่วนผสม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ประเด็นของตารางนี้: กระบะเป็นทั้งประเภทที่เล็กที่สุดในสามประเภท และเปลี่ยนมือช้าที่สุด อัตราเปลี่ยนมือคือความลึกของตลาดที่รถยึดต้องไปขายจริง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ห้าข้อเสนอสั้น ๆ เป็นหน้าที่อ่านง่ายที่สุดในชุดนี้ ข้อเสนอเรื่องรายได้เกษตรตอนนี้ยืนอยู่บนผลกระทบด้านราคา ไม่ใช่ตารางต้นทุนของ สศก. — ข้อถกเถียงนั้นออกไปพร้อมกับหน้า 06 ปิดท้ายด้วยขอบเขต: ปัจจัยภายนอกเท่านั้น ไม่มีตัวเลขพอร์ต และไม่มีข้อเสนอเปิด ปิด หรือขยาย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11512" y="0"/>
            <a:ext cx="2377440" cy="68580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11512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chai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92608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43200"/>
            <a:ext cx="8503920" cy="965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</a:pPr>
            <a:r>
              <a:rPr sz="3000" b="1">
                <a:solidFill>
                  <a:srgbClr val="FFFFFF"/>
                </a:solidFill>
                <a:latin typeface="Kanit"/>
              </a:rPr>
              <a:t>เศรษฐกิจมหภาค: สภาพแวดล้อม
ที่เราปล่อยสินเชื่ออยู่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24528"/>
            <a:ext cx="850392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00"/>
              </a:lnSpc>
            </a:pPr>
            <a:r>
              <a:rPr sz="1300" b="0">
                <a:solidFill>
                  <a:srgbClr val="F5C242"/>
                </a:solidFill>
                <a:latin typeface="Kanit"/>
              </a:rPr>
              <a:t>MCOM · วันพุธที่ 5 สิงหาคม 2026 · AutoX / บริษัท ออโต้ เอกซ์ จำกัด (เงินไชโย)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5486400" cy="2682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12"/>
              </a:lnSpc>
            </a:pPr>
            <a:r>
              <a:rPr sz="1600" b="1">
                <a:solidFill>
                  <a:srgbClr val="FFFFFF"/>
                </a:solidFill>
                <a:latin typeface="Kanit"/>
              </a:rPr>
              <a:t>ส.ค. ’26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FFFFFF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คำตอบก่อน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สี่คำถามเกี่ยวกับโลกภายนอกบริษัท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เศรษฐกิจ
คือปัญหาหรือไม่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152144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ไม่ใช่ — นิ่ง แต่ไม่แข็งแรง
• GDP +2.8% เงินเฟ้อ +2.79% — สูงกว่าประมาณการ IMF ปี 2026 ทั้งคู่ ดอกเบี้ยนโยบาย 1.00%
• โตช้าที่สุดใน ASEAN-5: ไทย 1.5% เทียบเวียดนาม 7.1%
• หนี้ภาครัฐ 66.8% ของ GDP เทียบเวียดนาม 29.8% — กันชนบางที่สุดในกลุ่ม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9807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38679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ราคาพืชผล
คือปัญหาหรือไม่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38679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Not on the world index — the farm gate (ราคาที่เกษตรกรขายได้) says otherwise.
• Five of seventeen Thai farm-gate prices are falling year on year.
• Beef: farm gate −6.1% vs world index +8.8%.
• Margin over price: a 26% price move becomes an 82% swing in crop income.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006343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25215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อะไรที่กำลัง
แย่ลง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125215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หลักประกัน — ตลาดรถกระบะมือสอง
• มูลค่าขายต่อ −50% จากจุดสูงสุด และต่ำกว่าฐานปี 2015 อยู่ -33 จุด
• ยอดจดทะเบียนกระบะใหม่ −15.3% เทียบปีก่อน
• Hilux Revo −21.5% รุ่นที่แย่ที่สุดคือ Ranger −30.0%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92879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111751"/>
            <a:ext cx="1965960" cy="3743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1">
                <a:solidFill>
                  <a:srgbClr val="1E2F5C"/>
                </a:solidFill>
                <a:latin typeface="Kanit"/>
              </a:rPr>
              <a:t>แล้วตัวผู้กู้
ล่ะ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111751"/>
            <a:ext cx="9125711" cy="748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74"/>
              </a:lnSpc>
            </a:pPr>
            <a:r>
              <a:rPr sz="1100" b="0">
                <a:solidFill>
                  <a:srgbClr val="2A3346"/>
                </a:solidFill>
                <a:latin typeface="Kanit"/>
              </a:rPr>
              <a:t>บางอยู่ก่อนแล้ว ก่อนที่ทั้งหมดนี้จะเกิด
• อาชีพเกษตรได้ ฿7,157–14,213/เดือน เทียบค่าจ้างลูกจ้าง ฿13,676–17,723
• พืชสามจากห้าชนิดที่มีข้อมูลต้นทุนครบ ขายได้ต่ำกว่าต้นทุนการผลิต
• ครัวเรือน 60% ไม่มีกันชนเงินออม 3 เดือน และหนี้ค้างชำระเพิ่มขึ้นในสามจากสี่ไตรมาสล่าสุด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162296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19155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5385" y="5176011"/>
            <a:ext cx="10502086" cy="3257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82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สศช. · TPSO · ธนาคารแห่งประเทศไทย · BIS · ECB · IMF · ธนาคารโลก · NABC · สศก. · ขบ. · คค. · สสช. · ThaiWater ทุกหน้ามีป้ายกำกับแหล่งที่มาและรุ่นข้อมูลของตัวเอง ตัวเลขใดที่มาจากแบบจำลองไม่ใช่การเผยแพร่จริง จะกำกับว่า ประมาณการ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670931"/>
            <a:ext cx="11365992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ลำดับเรื่อง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872099"/>
            <a:ext cx="11365992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00" b="0">
                <a:solidFill>
                  <a:srgbClr val="606060"/>
                </a:solidFill>
                <a:latin typeface="Kanit"/>
              </a:rPr>
              <a:t>01–02  ภาพเศรษฐกิจ        03–08  เกษตร: ราคา แหล่งผลิต ต้นทุน รายได้ น้ำ        09  ควรติดต่อที่ไหนก่อน        10  หลักประกัน        11  แล้วอย่างไรต่อ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01 · ภาพรวมเศรษฐกิจ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ในประเทศยังนิ่ง แต่โตช้าที่สุดในภูมิภาค และหนี้เสียทั้งระบบเริ่มกลับทิศ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การเติบโต GDP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+2.8%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เทียบปีก่อน · ไตรมาสที่วัดจริง ไม่ใช่ประมาณการ · สศช. 2026 ไตรมาส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8672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5832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เงินเฟ้อ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5832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+2.79%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832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เงินเฟ้อทั่วไป เทียบปีก่อน · TPSO · 2026-05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5864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3024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ดอกเบี้ยนโยบาย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3024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3024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ธนาคารแห่งประเทศไทย · 2026-08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USD / THB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32.90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อัตราอ้างอิง ECB · 2026-09-07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0247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408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หนี้ครัวเรือน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7408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87.5%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7408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ของ GDP · BIS · 2025 ไตรมาส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97440" y="1152144"/>
            <a:ext cx="1780032" cy="1115568"/>
          </a:xfrm>
          <a:prstGeom prst="roundRect">
            <a:avLst>
              <a:gd name="adj" fmla="val 7377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4600" y="125272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นักท่องเที่ยวต่างชาติ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4600" y="142646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32.2 ล้าน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34600" y="1792224"/>
            <a:ext cx="1505711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ย้อนหลัง 12 เดือน · −6.6% เทียบปีก่อน · ธปท. 2026-06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2450591"/>
          <a:ext cx="5897880" cy="1623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026"/>
                <a:gridCol w="1002254"/>
                <a:gridCol w="886609"/>
                <a:gridCol w="1156447"/>
                <a:gridCol w="123354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ประมาณการ IMF ปี 2026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การเติบโต GDP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เงินเฟ้อ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การว่างงาน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หนี้รัฐ/GDP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ไทย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0.9%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66.8%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เวียดนาม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29.8%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อินโดนีเซีย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5.0%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มาเลเซีย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4.7%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69.5%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877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ฟิลิปปินส์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4.1%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6583680" y="2450591"/>
            <a:ext cx="5193792" cy="155448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67728" y="3730752"/>
            <a:ext cx="4718304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662172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67728" y="2596896"/>
            <a:ext cx="4718304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2528315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50079" y="2578608"/>
            <a:ext cx="544512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NPL ทั้งระบบ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12335" y="2638044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967728" y="2667762"/>
            <a:ext cx="4718304" cy="756848"/>
          </a:xfrm>
          <a:custGeom>
            <a:avLst/>
            <a:gdLst/>
            <a:ahLst/>
            <a:cxnLst/>
            <a:rect l="l" t="t" r="r" b="b"/>
            <a:pathLst>
              <a:path w="4718304" h="756848">
                <a:moveTo>
                  <a:pt x="0" y="328818"/>
                </a:moveTo>
                <a:lnTo>
                  <a:pt x="120982" y="260786"/>
                </a:lnTo>
                <a:lnTo>
                  <a:pt x="241964" y="351495"/>
                </a:lnTo>
                <a:lnTo>
                  <a:pt x="362946" y="374172"/>
                </a:lnTo>
                <a:lnTo>
                  <a:pt x="483928" y="609447"/>
                </a:lnTo>
                <a:lnTo>
                  <a:pt x="604910" y="507400"/>
                </a:lnTo>
                <a:lnTo>
                  <a:pt x="725892" y="606612"/>
                </a:lnTo>
                <a:lnTo>
                  <a:pt x="846875" y="657636"/>
                </a:lnTo>
                <a:lnTo>
                  <a:pt x="967857" y="632124"/>
                </a:lnTo>
                <a:lnTo>
                  <a:pt x="1088839" y="572597"/>
                </a:lnTo>
                <a:lnTo>
                  <a:pt x="1209821" y="606612"/>
                </a:lnTo>
                <a:lnTo>
                  <a:pt x="1330803" y="615116"/>
                </a:lnTo>
                <a:lnTo>
                  <a:pt x="1451785" y="555589"/>
                </a:lnTo>
                <a:lnTo>
                  <a:pt x="1572768" y="515904"/>
                </a:lnTo>
                <a:lnTo>
                  <a:pt x="1693750" y="589605"/>
                </a:lnTo>
                <a:lnTo>
                  <a:pt x="1814732" y="527243"/>
                </a:lnTo>
                <a:lnTo>
                  <a:pt x="1935714" y="598109"/>
                </a:lnTo>
                <a:lnTo>
                  <a:pt x="2056696" y="620786"/>
                </a:lnTo>
                <a:lnTo>
                  <a:pt x="2177678" y="719998"/>
                </a:lnTo>
                <a:lnTo>
                  <a:pt x="2298660" y="756848"/>
                </a:lnTo>
                <a:lnTo>
                  <a:pt x="2419643" y="714329"/>
                </a:lnTo>
                <a:lnTo>
                  <a:pt x="2540625" y="640628"/>
                </a:lnTo>
                <a:lnTo>
                  <a:pt x="2661607" y="479054"/>
                </a:lnTo>
                <a:lnTo>
                  <a:pt x="2782589" y="476219"/>
                </a:lnTo>
                <a:lnTo>
                  <a:pt x="2903571" y="150235"/>
                </a:lnTo>
                <a:lnTo>
                  <a:pt x="3024553" y="0"/>
                </a:lnTo>
                <a:lnTo>
                  <a:pt x="3145536" y="323148"/>
                </a:lnTo>
                <a:lnTo>
                  <a:pt x="3266518" y="433699"/>
                </a:lnTo>
                <a:lnTo>
                  <a:pt x="3387500" y="371337"/>
                </a:lnTo>
                <a:lnTo>
                  <a:pt x="3508482" y="362833"/>
                </a:lnTo>
                <a:lnTo>
                  <a:pt x="3629464" y="583935"/>
                </a:lnTo>
                <a:lnTo>
                  <a:pt x="3750446" y="456377"/>
                </a:lnTo>
                <a:lnTo>
                  <a:pt x="3871428" y="286298"/>
                </a:lnTo>
                <a:lnTo>
                  <a:pt x="3992411" y="201259"/>
                </a:lnTo>
                <a:lnTo>
                  <a:pt x="4113393" y="328818"/>
                </a:lnTo>
                <a:lnTo>
                  <a:pt x="4234375" y="428030"/>
                </a:lnTo>
                <a:lnTo>
                  <a:pt x="4355357" y="379841"/>
                </a:lnTo>
                <a:lnTo>
                  <a:pt x="4476339" y="348660"/>
                </a:lnTo>
                <a:lnTo>
                  <a:pt x="4597321" y="402518"/>
                </a:lnTo>
                <a:lnTo>
                  <a:pt x="4718304" y="359999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47794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9580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1366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03152" y="3803904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2459735"/>
            <a:ext cx="5102352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หนี้เสีย (NPL) ทั้งระบบธนาคารไทย, % ของสินเชื่อ · 40 ไตรมาส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169663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198924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5385" y="4183379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สศช. 2026 ไตรมาส 1 · TPSO 2026-05 · ธนาคารแห่งประเทศไทย 2026-08 · BIS 2025 ไตรมาส 4 · ECB 2026-09-07, ทั้งหมดดึงจากหน่วยงานผู้เผยแพร่โดยตรง ตารางเทียบประเทศใช้ IMF World Economic Outlook 2026 (ดึงข้อมูล 2026-07-25) อัตรา NPL ที่ ธปท. เผยแพร่ — 4.48% ณ 2026 ไตรมาส 1, จาก 4.33% ไตรมาสก่อน เปลี่ยน +0.24 จุดใน 1 ปี และต่ำสุด 3.08% ณ 2021 ไตรมาส 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661154"/>
            <a:ext cx="5568696" cy="134797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4661154"/>
            <a:ext cx="50292" cy="134797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" y="4807458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การเติบโตสูงกว่าประมาณการของ IMF เองปี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" y="5011928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การเติบโต: IMF ประมาณการ 1.5% ตัวเลขจริง +2.8%
• เงินเฟ้อ: IMF ประมาณการ 0.9% ตัวเลขจริง +2.79%
• เราใช้ตัวเลขไทยแทนประมาณการทุกครั้งที่มีตัวเลขจริง
• ข้อยกเว้น: ท่องเที่ยว −6.6% เทียบปีก่อน (ย้อนหลัง 12 เดือน) — หนุนรายได้นอกระบบในภาคใต้และภาคตะวันออก ซึ่งข้อมูลพืชและรถมองไม่เห็น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08776" y="4661154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08776" y="4661154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28232" y="4807458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โตช้าที่สุดในภูมิภาค และมีพื้นที่รองรับน้อยที่สุด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28232" y="5011928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ไทยโต 1.5% ส่วนที่เหลือในภูมิภาคโต 4.1–7.1%
• หนี้ภาครัฐ 66.8% ของ GDP เทียบเวียดนาม 29.8%
• พื้นที่การคลังสำหรับมาตรการช่วยเหลือน้อยกว่าช่วงปี 2020–21
• หนี้ค้างชำระทั้งระบบเพิ่มขึ้นในสามจากสี่ไตรมาสล่าสุด — เป็นสินเชื่อธนาคาร ดูเป็นทิศทาง ไม่ใช่เกณฑ์เทียบ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02 · สภาพจริงในพื้นที่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ห้ามุมมอง ตั้งแต่ระดับประเทศลงถึงระดับอำเภอ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กำลังแรงงาน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41.9 ล้าน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ว่างงาน 0.94% · ว่างตามฤดูกาล 0.77% คิดเป็น 325k คน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5864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3024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แรงงานนอกระบบ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3024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63.2%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3024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ไม่มีสลิปเงินเดือนหรือประกันสังคม · ฐานลูกค้าหลักของเรา (2024)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0247" y="1152144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8" y="1252728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รถจดทะเบียน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7408" y="1426464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44.3 ล้าน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408" y="1792224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ดีเซล 56.3% · EV 2.57%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อำเภอแล้ง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338 จาก 928 อำเภอ · แม่น้ำเกินระดับ 145 จาก 789 สถานี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5864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3024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หนี้ครัวเรือน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3024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6.3 เดือน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หนี้ ÷ รายได้ต่อเดือน ทุกครัวเรือน · 45% มีหนี้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80247" y="2350008"/>
            <a:ext cx="3697223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7408" y="2450591"/>
            <a:ext cx="3422904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ไม่มีกันชนทางการเงิน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7408" y="2624327"/>
            <a:ext cx="3422904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7408" y="2990087"/>
            <a:ext cx="3422904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กันชนเงินออม ไม่ใช่หนี้ — อยู่ได้ไม่ถึง 3 เดือนหากขาดรายได้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411480" y="3593591"/>
          <a:ext cx="11365992" cy="1554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188720"/>
                <a:gridCol w="1280160"/>
                <a:gridCol w="1188720"/>
                <a:gridCol w="1097280"/>
                <a:gridCol w="822960"/>
                <a:gridCol w="1234440"/>
                <a:gridCol w="1051560"/>
                <a:gridCol w="1371600"/>
                <a:gridCol w="8503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กำลังแรงงาน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การว่างงาน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ว่างงานตามฤดูกาล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รถจดทะเบียน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ดีเซล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อำเภอแล้ง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แม่น้ำเกินระดับ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หนี้ครัวเรือน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ธุรกิจใหม่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9.7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256k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9.2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66.9%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39/156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฿200,540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6.4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53k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7.5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62.0%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21/272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฿182,968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5.7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5.5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59.1%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28/167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฿217,176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ตะวันออก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4.1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0.86%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4.3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62.4%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13/51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฿194,835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กลาง &amp; กทม.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16.0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17.9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44/143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฿194,835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ounded Rectangle 33"/>
          <p:cNvSpPr/>
          <p:nvPr/>
        </p:nvSpPr>
        <p:spPr>
          <a:xfrm>
            <a:off x="411480" y="5276088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305348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75385" y="5289803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สสช. (สำรวจแรงงาน) · ILOSTAT · ขบ. · คค. · กรมพัฒนาธุรกิจการค้า · ThaiWater · หนี้ครัวเรือน ธปท./สสช. ตัวเลขแรงงาน รถ และน้ำ รวมจากจังหวัด → ภาค → ประเทศ ตามน้ำหนักจริงของแต่ละพื้นที่ ไม่ใช่ค่าเฉลี่ยธรรมดา การ์ดหนี้เป็นข้อมูล ธปท./สสช. 2562 (2019) นับ ทุกครัวเรือน — ไม่ใช่เฉพาะ 45% ที่มีหนี้ ส่วนคอลัมน์รายภาคในตารางเป็นชุดข้อมูลใหม่กว่า 2566 (2023) หน่วยเป็นบาท เพราะรายได้ไม่ได้เผยแพร่ในระดับภาคครบพอที่จะแปลงเป็นเดือนได้ ภาคตะวันออกใช้ตัวเลขร่วมกับภาคกลาง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885306"/>
            <a:ext cx="11365992" cy="66725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885306"/>
            <a:ext cx="50292" cy="66725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603161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อัตราว่างงาน 0.94% ซ่อนการทำงานนอกระบบไว้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" y="6236080"/>
            <a:ext cx="11036808" cy="1701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งานในระบบที่หายไปกลับมาเป็นงานนอกระบบ ไม่ใช่การว่างงาน — ค่าจ้างต่ำกว่าและไม่แน่นอนกว่า ให้ดูสัดส่วนนอกระบบ การว่างงานตามฤดูกาล และกันชนเงินออมแทน อีสานว่างงานตามฤดูกาลสูงเป็น 4.8 เท่าของภาคเหนือ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03 · กระดานราคาสินค้าเกษตร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ดัชนีโลกบอกว่าลมส่ง แต่ราคาหน้าฟาร์มไทยไม่ได้บอกอย่างนั้น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Seventeen of the 21 commodities we track have a measured Thai farm-gate price (ราคาที่เกษตรกรขายได้). Five are falling year on year.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38148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24432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ดูหกเดือนคู่กับหนึ่งปี: ทั้งสองชี้คนละทิศบ่อยกว่าที่จะเห็นตรงกันเรื่องขนาด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0436"/>
            <a:ext cx="164592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96720"/>
            <a:ext cx="11183112" cy="189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100" b="0">
                <a:solidFill>
                  <a:srgbClr val="1E2F5C"/>
                </a:solidFill>
                <a:latin typeface="Kanit"/>
              </a:rPr>
              <a:t>คอลัมน์สุดท้ายคือลูกค้าอาชีพเกษตรของเราที่อาศัยอยู่ในแหล่งผลิตนั้น — เป็นตัวเลขเดียวจากพอร์ตสินเชื่อในเอกสารชุดนี้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11480" y="2033016"/>
          <a:ext cx="11365992" cy="1600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1097280"/>
                <a:gridCol w="1645920"/>
                <a:gridCol w="1371600"/>
                <a:gridCol w="1371600"/>
                <a:gridCol w="2011680"/>
                <a:gridCol w="18105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ราคาหน้าฟาร์มที่ลดลง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หมวด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แหล่งผลิต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หน้าฟาร์ม ปีก่อน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ราคาหน้าฟาร์ม 6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บัญชีอาชีพเกษตรในแหล่งผลิต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สัดส่วนบัญชีทั้งหมดของเรา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มะพร้าว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พืชผล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ใต้ · ตอ.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−68.7%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−41.3%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9,100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สับปะรด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พืชผล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ตอ. · ตต. · 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−18.4%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+48.0%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5,108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น้ำตาล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พืชผล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อีสาน · กลาง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−17.9%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ไม่มีข้อมูลรายเดือน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19,771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เงาะ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พืชผล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ใต้ · ตอ.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−13.5%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ไม่มีข้อมูลรายเดือน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8,270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เนื้อวัว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ปศุสัตว์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−6.1%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ไม่มีข้อมูลรายเดือน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7A4FE0"/>
                          </a:solidFill>
                          <a:latin typeface="Kanit"/>
                        </a:rPr>
                        <a:t>31,240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606060"/>
                          </a:solidFill>
                          <a:latin typeface="Kanit"/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1480" y="3761232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790492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955" y="3774947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ราคา วัดจริง — ราคาหน้าฟาร์มไทยจากราคารายวันของ NABC และราคาอ้อยประกาศของ สอน. ราคาล่าสุด 2026-09-09 การเปลี่ยนแปลงหกเดือนคำนวณจากข้อมูลรายเดือนของ NABC เอง (thai_price_history รุ่นข้อมูล 2026-09-05) พืชที่ไม่มีข้อมูลรายเดือนจะกำกับไว้ ไม่ประมาณการขึ้นมา แหล่งผลิตเป็นการอ่านแบบ ประมาณการ ว่าสินค้าแต่ละชนิดปลูกที่ไหน และแหล่งผลิตทับซ้อนกันได้ บัญชีอาชีพเกษตรเป็นข้อมูลของเราเองและ วัดจริง — บัญชีที่บันทึกอาชีพว่า เกษตร ในจังหวัดแหล่งผลิต จากฐานข้อมูล 382,735 บัญชี ณ 2026-07 ไม่เผยแพร่ช่องที่มีน้อยกว่า 30 บัญชี คนกลุ่มนี้อาศัยอยู่ในพื้นที่ที่ปลูกพืชนั้น แต่ไม่ได้ยืนยันว่าปลูกพืชนั้นเอง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70451"/>
            <a:ext cx="11365992" cy="675767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370451"/>
            <a:ext cx="50292" cy="675767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4516755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เนื้อวัว: ดัชนีโลกเป็นเครื่องมือที่ผิด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721224"/>
            <a:ext cx="11036808" cy="178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เนื้อวัวตลาดโลก +8.8% ราคาหน้าฟาร์มไทย −6.1% — ต่างกัน 14.9 จุด และไปคนละทาง ลูกค้าอาชีพเกษตรของเรา 31,240 รายอาศัยอยู่ในแหล่งเลี้ยงวัวคืออีสาน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04 · ราคาห้าปี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น้ำตาลไม่ได้ลดลงแค่หนึ่งปี แต่ลดลงมาสี่ปีแล้ว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52144"/>
            <a:ext cx="6903720" cy="278892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" y="3666744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598163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778633"/>
            <a:ext cx="6428232" cy="10972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710052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1298448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229868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3052" y="1280160"/>
            <a:ext cx="56926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น้ำตาล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5308" y="1339596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8012" y="1280160"/>
            <a:ext cx="87099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F5C242"/>
                </a:solidFill>
                <a:latin typeface="Kanit"/>
              </a:rPr>
              <a:t>ปาล์มน้ำมัน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0268" y="1339596"/>
            <a:ext cx="164592" cy="25603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3113" y="1280160"/>
            <a:ext cx="38085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ข้าว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5369" y="1339596"/>
            <a:ext cx="164592" cy="25603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4825" y="1280160"/>
            <a:ext cx="744239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ยางพารา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7081" y="1339596"/>
            <a:ext cx="164592" cy="25603"/>
          </a:xfrm>
          <a:prstGeom prst="rect">
            <a:avLst/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95528" y="2030750"/>
            <a:ext cx="6428232" cy="1114034"/>
          </a:xfrm>
          <a:custGeom>
            <a:avLst/>
            <a:gdLst/>
            <a:ahLst/>
            <a:cxnLst/>
            <a:rect l="l" t="t" r="r" b="b"/>
            <a:pathLst>
              <a:path w="6428232" h="1114034">
                <a:moveTo>
                  <a:pt x="0" y="747883"/>
                </a:moveTo>
                <a:lnTo>
                  <a:pt x="108953" y="833577"/>
                </a:lnTo>
                <a:lnTo>
                  <a:pt x="217906" y="771254"/>
                </a:lnTo>
                <a:lnTo>
                  <a:pt x="326859" y="724511"/>
                </a:lnTo>
                <a:lnTo>
                  <a:pt x="435812" y="732302"/>
                </a:lnTo>
                <a:lnTo>
                  <a:pt x="544765" y="693349"/>
                </a:lnTo>
                <a:lnTo>
                  <a:pt x="653718" y="584283"/>
                </a:lnTo>
                <a:lnTo>
                  <a:pt x="762671" y="576493"/>
                </a:lnTo>
                <a:lnTo>
                  <a:pt x="871624" y="599864"/>
                </a:lnTo>
                <a:lnTo>
                  <a:pt x="980577" y="623235"/>
                </a:lnTo>
                <a:lnTo>
                  <a:pt x="1089530" y="646607"/>
                </a:lnTo>
                <a:lnTo>
                  <a:pt x="1198483" y="841368"/>
                </a:lnTo>
                <a:lnTo>
                  <a:pt x="1307437" y="973805"/>
                </a:lnTo>
                <a:lnTo>
                  <a:pt x="1416390" y="1075081"/>
                </a:lnTo>
                <a:lnTo>
                  <a:pt x="1525343" y="1059500"/>
                </a:lnTo>
                <a:lnTo>
                  <a:pt x="1634296" y="1114034"/>
                </a:lnTo>
                <a:lnTo>
                  <a:pt x="1743249" y="1028339"/>
                </a:lnTo>
                <a:lnTo>
                  <a:pt x="1852202" y="958225"/>
                </a:lnTo>
                <a:lnTo>
                  <a:pt x="1961155" y="966015"/>
                </a:lnTo>
                <a:lnTo>
                  <a:pt x="2070108" y="997177"/>
                </a:lnTo>
                <a:lnTo>
                  <a:pt x="2179061" y="1028339"/>
                </a:lnTo>
                <a:lnTo>
                  <a:pt x="2288014" y="1012758"/>
                </a:lnTo>
                <a:lnTo>
                  <a:pt x="2396967" y="1036129"/>
                </a:lnTo>
                <a:lnTo>
                  <a:pt x="2505920" y="1067291"/>
                </a:lnTo>
                <a:lnTo>
                  <a:pt x="2614874" y="1082872"/>
                </a:lnTo>
                <a:lnTo>
                  <a:pt x="2723827" y="1020548"/>
                </a:lnTo>
                <a:lnTo>
                  <a:pt x="2832780" y="973805"/>
                </a:lnTo>
                <a:lnTo>
                  <a:pt x="2941733" y="927063"/>
                </a:lnTo>
                <a:lnTo>
                  <a:pt x="3050686" y="934853"/>
                </a:lnTo>
                <a:lnTo>
                  <a:pt x="3159639" y="825787"/>
                </a:lnTo>
                <a:lnTo>
                  <a:pt x="3268592" y="654397"/>
                </a:lnTo>
                <a:lnTo>
                  <a:pt x="3377545" y="366151"/>
                </a:lnTo>
                <a:lnTo>
                  <a:pt x="3486498" y="451846"/>
                </a:lnTo>
                <a:lnTo>
                  <a:pt x="3595451" y="553121"/>
                </a:lnTo>
                <a:lnTo>
                  <a:pt x="3704404" y="467426"/>
                </a:lnTo>
                <a:lnTo>
                  <a:pt x="3813357" y="623235"/>
                </a:lnTo>
                <a:lnTo>
                  <a:pt x="3922311" y="366151"/>
                </a:lnTo>
                <a:lnTo>
                  <a:pt x="4031264" y="163599"/>
                </a:lnTo>
                <a:lnTo>
                  <a:pt x="4140217" y="179180"/>
                </a:lnTo>
                <a:lnTo>
                  <a:pt x="4249170" y="444055"/>
                </a:lnTo>
                <a:lnTo>
                  <a:pt x="4358123" y="373941"/>
                </a:lnTo>
                <a:lnTo>
                  <a:pt x="4467076" y="381731"/>
                </a:lnTo>
                <a:lnTo>
                  <a:pt x="4576029" y="350570"/>
                </a:lnTo>
                <a:lnTo>
                  <a:pt x="4684982" y="389522"/>
                </a:lnTo>
                <a:lnTo>
                  <a:pt x="4793935" y="568702"/>
                </a:lnTo>
                <a:lnTo>
                  <a:pt x="4902888" y="521960"/>
                </a:lnTo>
                <a:lnTo>
                  <a:pt x="5011841" y="545331"/>
                </a:lnTo>
                <a:lnTo>
                  <a:pt x="5120794" y="490798"/>
                </a:lnTo>
                <a:lnTo>
                  <a:pt x="5229748" y="553121"/>
                </a:lnTo>
                <a:lnTo>
                  <a:pt x="5338701" y="584283"/>
                </a:lnTo>
                <a:lnTo>
                  <a:pt x="5447654" y="669978"/>
                </a:lnTo>
                <a:lnTo>
                  <a:pt x="5556607" y="646607"/>
                </a:lnTo>
                <a:lnTo>
                  <a:pt x="5665560" y="623235"/>
                </a:lnTo>
                <a:lnTo>
                  <a:pt x="5774513" y="560912"/>
                </a:lnTo>
                <a:lnTo>
                  <a:pt x="5883466" y="467426"/>
                </a:lnTo>
                <a:lnTo>
                  <a:pt x="5992419" y="366151"/>
                </a:lnTo>
                <a:lnTo>
                  <a:pt x="6101372" y="272665"/>
                </a:lnTo>
                <a:lnTo>
                  <a:pt x="6210325" y="132437"/>
                </a:lnTo>
                <a:lnTo>
                  <a:pt x="6319278" y="0"/>
                </a:lnTo>
                <a:lnTo>
                  <a:pt x="6428232" y="62323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95528" y="1834693"/>
            <a:ext cx="6428232" cy="1116567"/>
          </a:xfrm>
          <a:custGeom>
            <a:avLst/>
            <a:gdLst/>
            <a:ahLst/>
            <a:cxnLst/>
            <a:rect l="l" t="t" r="r" b="b"/>
            <a:pathLst>
              <a:path w="6428232" h="1116567">
                <a:moveTo>
                  <a:pt x="0" y="943940"/>
                </a:moveTo>
                <a:lnTo>
                  <a:pt x="108953" y="954958"/>
                </a:lnTo>
                <a:lnTo>
                  <a:pt x="217906" y="951285"/>
                </a:lnTo>
                <a:lnTo>
                  <a:pt x="326859" y="954958"/>
                </a:lnTo>
                <a:lnTo>
                  <a:pt x="435812" y="954958"/>
                </a:lnTo>
                <a:lnTo>
                  <a:pt x="544765" y="855790"/>
                </a:lnTo>
                <a:lnTo>
                  <a:pt x="653718" y="855790"/>
                </a:lnTo>
                <a:lnTo>
                  <a:pt x="762671" y="874154"/>
                </a:lnTo>
                <a:lnTo>
                  <a:pt x="871624" y="841098"/>
                </a:lnTo>
                <a:lnTo>
                  <a:pt x="980577" y="719892"/>
                </a:lnTo>
                <a:lnTo>
                  <a:pt x="1089530" y="793350"/>
                </a:lnTo>
                <a:lnTo>
                  <a:pt x="1198483" y="888846"/>
                </a:lnTo>
                <a:lnTo>
                  <a:pt x="1307437" y="841098"/>
                </a:lnTo>
                <a:lnTo>
                  <a:pt x="1416390" y="811715"/>
                </a:lnTo>
                <a:lnTo>
                  <a:pt x="1525343" y="841098"/>
                </a:lnTo>
                <a:lnTo>
                  <a:pt x="1634296" y="808042"/>
                </a:lnTo>
                <a:lnTo>
                  <a:pt x="1743249" y="708873"/>
                </a:lnTo>
                <a:lnTo>
                  <a:pt x="1852202" y="525227"/>
                </a:lnTo>
                <a:lnTo>
                  <a:pt x="1961155" y="617050"/>
                </a:lnTo>
                <a:lnTo>
                  <a:pt x="2070108" y="675817"/>
                </a:lnTo>
                <a:lnTo>
                  <a:pt x="2179061" y="583994"/>
                </a:lnTo>
                <a:lnTo>
                  <a:pt x="2288014" y="550938"/>
                </a:lnTo>
                <a:lnTo>
                  <a:pt x="2396967" y="536246"/>
                </a:lnTo>
                <a:lnTo>
                  <a:pt x="2505920" y="415040"/>
                </a:lnTo>
                <a:lnTo>
                  <a:pt x="2614874" y="91823"/>
                </a:lnTo>
                <a:lnTo>
                  <a:pt x="2723827" y="146917"/>
                </a:lnTo>
                <a:lnTo>
                  <a:pt x="2832780" y="257104"/>
                </a:lnTo>
                <a:lnTo>
                  <a:pt x="2941733" y="227721"/>
                </a:lnTo>
                <a:lnTo>
                  <a:pt x="3050686" y="58767"/>
                </a:lnTo>
                <a:lnTo>
                  <a:pt x="3159639" y="0"/>
                </a:lnTo>
                <a:lnTo>
                  <a:pt x="3268592" y="132225"/>
                </a:lnTo>
                <a:lnTo>
                  <a:pt x="3377545" y="172627"/>
                </a:lnTo>
                <a:lnTo>
                  <a:pt x="3486498" y="249758"/>
                </a:lnTo>
                <a:lnTo>
                  <a:pt x="3595451" y="117533"/>
                </a:lnTo>
                <a:lnTo>
                  <a:pt x="3704404" y="102842"/>
                </a:lnTo>
                <a:lnTo>
                  <a:pt x="3813357" y="257104"/>
                </a:lnTo>
                <a:lnTo>
                  <a:pt x="3922311" y="260777"/>
                </a:lnTo>
                <a:lnTo>
                  <a:pt x="4031264" y="293833"/>
                </a:lnTo>
                <a:lnTo>
                  <a:pt x="4140217" y="532573"/>
                </a:lnTo>
                <a:lnTo>
                  <a:pt x="4249170" y="547265"/>
                </a:lnTo>
                <a:lnTo>
                  <a:pt x="4358123" y="488498"/>
                </a:lnTo>
                <a:lnTo>
                  <a:pt x="4467076" y="668471"/>
                </a:lnTo>
                <a:lnTo>
                  <a:pt x="4576029" y="819060"/>
                </a:lnTo>
                <a:lnTo>
                  <a:pt x="4684982" y="863135"/>
                </a:lnTo>
                <a:lnTo>
                  <a:pt x="4793935" y="899865"/>
                </a:lnTo>
                <a:lnTo>
                  <a:pt x="4902888" y="841098"/>
                </a:lnTo>
                <a:lnTo>
                  <a:pt x="5011841" y="885173"/>
                </a:lnTo>
                <a:lnTo>
                  <a:pt x="5120794" y="984342"/>
                </a:lnTo>
                <a:lnTo>
                  <a:pt x="5229748" y="1046781"/>
                </a:lnTo>
                <a:lnTo>
                  <a:pt x="5338701" y="1050454"/>
                </a:lnTo>
                <a:lnTo>
                  <a:pt x="5447654" y="1116567"/>
                </a:lnTo>
                <a:lnTo>
                  <a:pt x="5556607" y="1072492"/>
                </a:lnTo>
                <a:lnTo>
                  <a:pt x="5665560" y="866808"/>
                </a:lnTo>
                <a:lnTo>
                  <a:pt x="5774513" y="925575"/>
                </a:lnTo>
                <a:lnTo>
                  <a:pt x="5883466" y="921902"/>
                </a:lnTo>
                <a:lnTo>
                  <a:pt x="5992419" y="1024744"/>
                </a:lnTo>
                <a:lnTo>
                  <a:pt x="6101372" y="943940"/>
                </a:lnTo>
                <a:lnTo>
                  <a:pt x="6210325" y="808042"/>
                </a:lnTo>
                <a:lnTo>
                  <a:pt x="6319278" y="609704"/>
                </a:lnTo>
                <a:lnTo>
                  <a:pt x="6428232" y="708873"/>
                </a:lnTo>
              </a:path>
            </a:pathLst>
          </a:custGeom>
          <a:noFill/>
          <a:ln w="20320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95528" y="1955587"/>
            <a:ext cx="6428232" cy="1261139"/>
          </a:xfrm>
          <a:custGeom>
            <a:avLst/>
            <a:gdLst/>
            <a:ahLst/>
            <a:cxnLst/>
            <a:rect l="l" t="t" r="r" b="b"/>
            <a:pathLst>
              <a:path w="6428232" h="1261139">
                <a:moveTo>
                  <a:pt x="0" y="823046"/>
                </a:moveTo>
                <a:lnTo>
                  <a:pt x="108953" y="772496"/>
                </a:lnTo>
                <a:lnTo>
                  <a:pt x="217906" y="605295"/>
                </a:lnTo>
                <a:lnTo>
                  <a:pt x="326859" y="565115"/>
                </a:lnTo>
                <a:lnTo>
                  <a:pt x="435812" y="657140"/>
                </a:lnTo>
                <a:lnTo>
                  <a:pt x="544765" y="559930"/>
                </a:lnTo>
                <a:lnTo>
                  <a:pt x="653718" y="330515"/>
                </a:lnTo>
                <a:lnTo>
                  <a:pt x="762671" y="0"/>
                </a:lnTo>
                <a:lnTo>
                  <a:pt x="871624" y="121837"/>
                </a:lnTo>
                <a:lnTo>
                  <a:pt x="980577" y="77768"/>
                </a:lnTo>
                <a:lnTo>
                  <a:pt x="1089530" y="357733"/>
                </a:lnTo>
                <a:lnTo>
                  <a:pt x="1198483" y="933217"/>
                </a:lnTo>
                <a:lnTo>
                  <a:pt x="1307437" y="973397"/>
                </a:lnTo>
                <a:lnTo>
                  <a:pt x="1416390" y="1125045"/>
                </a:lnTo>
                <a:lnTo>
                  <a:pt x="1525343" y="1150967"/>
                </a:lnTo>
                <a:lnTo>
                  <a:pt x="1634296" y="1077088"/>
                </a:lnTo>
                <a:lnTo>
                  <a:pt x="1743249" y="1084865"/>
                </a:lnTo>
                <a:lnTo>
                  <a:pt x="1852202" y="1082272"/>
                </a:lnTo>
                <a:lnTo>
                  <a:pt x="1961155" y="1071903"/>
                </a:lnTo>
                <a:lnTo>
                  <a:pt x="2070108" y="1043388"/>
                </a:lnTo>
                <a:lnTo>
                  <a:pt x="2179061" y="1000616"/>
                </a:lnTo>
                <a:lnTo>
                  <a:pt x="2288014" y="1092641"/>
                </a:lnTo>
                <a:lnTo>
                  <a:pt x="2396967" y="1244289"/>
                </a:lnTo>
                <a:lnTo>
                  <a:pt x="2505920" y="1163929"/>
                </a:lnTo>
                <a:lnTo>
                  <a:pt x="2614874" y="1187259"/>
                </a:lnTo>
                <a:lnTo>
                  <a:pt x="2723827" y="1227439"/>
                </a:lnTo>
                <a:lnTo>
                  <a:pt x="2832780" y="1261139"/>
                </a:lnTo>
                <a:lnTo>
                  <a:pt x="2941733" y="1227439"/>
                </a:lnTo>
                <a:lnTo>
                  <a:pt x="3050686" y="1248177"/>
                </a:lnTo>
                <a:lnTo>
                  <a:pt x="3159639" y="1207997"/>
                </a:lnTo>
                <a:lnTo>
                  <a:pt x="3268592" y="1192444"/>
                </a:lnTo>
                <a:lnTo>
                  <a:pt x="3377545" y="1080976"/>
                </a:lnTo>
                <a:lnTo>
                  <a:pt x="3486498" y="1090049"/>
                </a:lnTo>
                <a:lnTo>
                  <a:pt x="3595451" y="1189851"/>
                </a:lnTo>
                <a:lnTo>
                  <a:pt x="3704404" y="1170409"/>
                </a:lnTo>
                <a:lnTo>
                  <a:pt x="3813357" y="1141894"/>
                </a:lnTo>
                <a:lnTo>
                  <a:pt x="3922311" y="1093938"/>
                </a:lnTo>
                <a:lnTo>
                  <a:pt x="4031264" y="1029131"/>
                </a:lnTo>
                <a:lnTo>
                  <a:pt x="4140217" y="907294"/>
                </a:lnTo>
                <a:lnTo>
                  <a:pt x="4249170" y="788050"/>
                </a:lnTo>
                <a:lnTo>
                  <a:pt x="4358123" y="760831"/>
                </a:lnTo>
                <a:lnTo>
                  <a:pt x="4467076" y="916367"/>
                </a:lnTo>
                <a:lnTo>
                  <a:pt x="4576029" y="920256"/>
                </a:lnTo>
                <a:lnTo>
                  <a:pt x="4684982" y="918959"/>
                </a:lnTo>
                <a:lnTo>
                  <a:pt x="4793935" y="1014873"/>
                </a:lnTo>
                <a:lnTo>
                  <a:pt x="4902888" y="1126341"/>
                </a:lnTo>
                <a:lnTo>
                  <a:pt x="5011841" y="1091345"/>
                </a:lnTo>
                <a:lnTo>
                  <a:pt x="5120794" y="1038204"/>
                </a:lnTo>
                <a:lnTo>
                  <a:pt x="5229748" y="973397"/>
                </a:lnTo>
                <a:lnTo>
                  <a:pt x="5338701" y="959140"/>
                </a:lnTo>
                <a:lnTo>
                  <a:pt x="5447654" y="957843"/>
                </a:lnTo>
                <a:lnTo>
                  <a:pt x="5556607" y="1029131"/>
                </a:lnTo>
                <a:lnTo>
                  <a:pt x="5665560" y="1033019"/>
                </a:lnTo>
                <a:lnTo>
                  <a:pt x="5774513" y="1000616"/>
                </a:lnTo>
                <a:lnTo>
                  <a:pt x="5883466" y="956547"/>
                </a:lnTo>
                <a:lnTo>
                  <a:pt x="5992419" y="865818"/>
                </a:lnTo>
                <a:lnTo>
                  <a:pt x="6101372" y="817861"/>
                </a:lnTo>
                <a:lnTo>
                  <a:pt x="6210325" y="830822"/>
                </a:lnTo>
                <a:lnTo>
                  <a:pt x="6319278" y="872299"/>
                </a:lnTo>
                <a:lnTo>
                  <a:pt x="6428232" y="876187"/>
                </a:lnTo>
              </a:path>
            </a:pathLst>
          </a:custGeom>
          <a:noFill/>
          <a:ln w="20320">
            <a:solidFill>
              <a:srgbClr val="F5C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95528" y="2262289"/>
            <a:ext cx="6428232" cy="929418"/>
          </a:xfrm>
          <a:custGeom>
            <a:avLst/>
            <a:gdLst/>
            <a:ahLst/>
            <a:cxnLst/>
            <a:rect l="l" t="t" r="r" b="b"/>
            <a:pathLst>
              <a:path w="6428232" h="929418">
                <a:moveTo>
                  <a:pt x="0" y="516344"/>
                </a:moveTo>
                <a:lnTo>
                  <a:pt x="108953" y="516344"/>
                </a:lnTo>
                <a:lnTo>
                  <a:pt x="217906" y="550766"/>
                </a:lnTo>
                <a:lnTo>
                  <a:pt x="326859" y="516344"/>
                </a:lnTo>
                <a:lnTo>
                  <a:pt x="435812" y="550766"/>
                </a:lnTo>
                <a:lnTo>
                  <a:pt x="544765" y="619612"/>
                </a:lnTo>
                <a:lnTo>
                  <a:pt x="653718" y="654035"/>
                </a:lnTo>
                <a:lnTo>
                  <a:pt x="762671" y="550766"/>
                </a:lnTo>
                <a:lnTo>
                  <a:pt x="871624" y="516344"/>
                </a:lnTo>
                <a:lnTo>
                  <a:pt x="980577" y="516344"/>
                </a:lnTo>
                <a:lnTo>
                  <a:pt x="1089530" y="550766"/>
                </a:lnTo>
                <a:lnTo>
                  <a:pt x="1198483" y="619612"/>
                </a:lnTo>
                <a:lnTo>
                  <a:pt x="1307437" y="654035"/>
                </a:lnTo>
                <a:lnTo>
                  <a:pt x="1416390" y="654035"/>
                </a:lnTo>
                <a:lnTo>
                  <a:pt x="1525343" y="654035"/>
                </a:lnTo>
                <a:lnTo>
                  <a:pt x="1634296" y="585189"/>
                </a:lnTo>
                <a:lnTo>
                  <a:pt x="1743249" y="550766"/>
                </a:lnTo>
                <a:lnTo>
                  <a:pt x="1852202" y="550766"/>
                </a:lnTo>
                <a:lnTo>
                  <a:pt x="1961155" y="447498"/>
                </a:lnTo>
                <a:lnTo>
                  <a:pt x="2070108" y="447498"/>
                </a:lnTo>
                <a:lnTo>
                  <a:pt x="2179061" y="172114"/>
                </a:lnTo>
                <a:lnTo>
                  <a:pt x="2288014" y="68846"/>
                </a:lnTo>
                <a:lnTo>
                  <a:pt x="2396967" y="137692"/>
                </a:lnTo>
                <a:lnTo>
                  <a:pt x="2505920" y="206537"/>
                </a:lnTo>
                <a:lnTo>
                  <a:pt x="2614874" y="172114"/>
                </a:lnTo>
                <a:lnTo>
                  <a:pt x="2723827" y="0"/>
                </a:lnTo>
                <a:lnTo>
                  <a:pt x="2832780" y="34423"/>
                </a:lnTo>
                <a:lnTo>
                  <a:pt x="2941733" y="34423"/>
                </a:lnTo>
                <a:lnTo>
                  <a:pt x="3050686" y="344229"/>
                </a:lnTo>
                <a:lnTo>
                  <a:pt x="3159639" y="344229"/>
                </a:lnTo>
                <a:lnTo>
                  <a:pt x="3268592" y="275383"/>
                </a:lnTo>
                <a:lnTo>
                  <a:pt x="3377545" y="344229"/>
                </a:lnTo>
                <a:lnTo>
                  <a:pt x="3486498" y="447498"/>
                </a:lnTo>
                <a:lnTo>
                  <a:pt x="3595451" y="550766"/>
                </a:lnTo>
                <a:lnTo>
                  <a:pt x="3704404" y="516344"/>
                </a:lnTo>
                <a:lnTo>
                  <a:pt x="3813357" y="516344"/>
                </a:lnTo>
                <a:lnTo>
                  <a:pt x="3922311" y="585189"/>
                </a:lnTo>
                <a:lnTo>
                  <a:pt x="4031264" y="447498"/>
                </a:lnTo>
                <a:lnTo>
                  <a:pt x="4140217" y="413075"/>
                </a:lnTo>
                <a:lnTo>
                  <a:pt x="4249170" y="447498"/>
                </a:lnTo>
                <a:lnTo>
                  <a:pt x="4358123" y="481921"/>
                </a:lnTo>
                <a:lnTo>
                  <a:pt x="4467076" y="619612"/>
                </a:lnTo>
                <a:lnTo>
                  <a:pt x="4576029" y="550766"/>
                </a:lnTo>
                <a:lnTo>
                  <a:pt x="4684982" y="550766"/>
                </a:lnTo>
                <a:lnTo>
                  <a:pt x="4793935" y="619612"/>
                </a:lnTo>
                <a:lnTo>
                  <a:pt x="4902888" y="654035"/>
                </a:lnTo>
                <a:lnTo>
                  <a:pt x="5011841" y="722881"/>
                </a:lnTo>
                <a:lnTo>
                  <a:pt x="5120794" y="722881"/>
                </a:lnTo>
                <a:lnTo>
                  <a:pt x="5229748" y="722881"/>
                </a:lnTo>
                <a:lnTo>
                  <a:pt x="5338701" y="791727"/>
                </a:lnTo>
                <a:lnTo>
                  <a:pt x="5447654" y="826150"/>
                </a:lnTo>
                <a:lnTo>
                  <a:pt x="5556607" y="894995"/>
                </a:lnTo>
                <a:lnTo>
                  <a:pt x="5665560" y="894995"/>
                </a:lnTo>
                <a:lnTo>
                  <a:pt x="5774513" y="894995"/>
                </a:lnTo>
                <a:lnTo>
                  <a:pt x="5883466" y="929418"/>
                </a:lnTo>
                <a:lnTo>
                  <a:pt x="5992419" y="860573"/>
                </a:lnTo>
                <a:lnTo>
                  <a:pt x="6101372" y="894995"/>
                </a:lnTo>
                <a:lnTo>
                  <a:pt x="6210325" y="826150"/>
                </a:lnTo>
                <a:lnTo>
                  <a:pt x="6319278" y="894995"/>
                </a:lnTo>
                <a:lnTo>
                  <a:pt x="6428232" y="826150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3694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4850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6005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7161" y="3739896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1161288"/>
            <a:ext cx="681228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ราคาโลก ปรับฐานเป็น 100 ณ 2021-07 · ข้อมูลรายเดือน 60 จุด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152144"/>
            <a:ext cx="4279392" cy="117779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1152144"/>
            <a:ext cx="50292" cy="117779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1298448"/>
            <a:ext cx="395020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ตัวเลขเทียบปีก่อนซ่อนรูปทรงไว้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7536" y="1502918"/>
            <a:ext cx="3950207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น้ำตาล: ราคาโลก −41% เทียบจุดสูงสุด 2023-09 — ลดลงใน 26 จาก 34 เดือนล่าสุด ไม่ใช่การย่อตัวปีเดียว
• ยางพารา: อยู่ต่ำกว่าระดับปี 2021 ของตัวเองถึง 21 จาก 60 เดือนล่าสุด และเพิ่งกลับขึ้นมาได้ หลังยืนเหนือระดับนั้นมา 30 เดือน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11480" y="4123944"/>
          <a:ext cx="7863840" cy="1345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188720"/>
                <a:gridCol w="1097280"/>
                <a:gridCol w="100584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ราคาโลก ห้าปี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ของพื้นที่ปลูก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สูงสุด 5 ปี US$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ล่าสุด ฿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จากจุดสูงสุด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เทียบ 5 ปีก่อน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ยางพารา ($/กก.)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2.86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91.45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-2.8%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+46.3%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ข้าว ($/ตัน)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54.9%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660.00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15,362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-29.2%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+15.9%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ปาล์มน้ำมัน ($/ตัน)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1,777.00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36,217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น้ำตาล ($/กก.)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10.0%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0.58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11.18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-41.4%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-20.9%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11480" y="5561380"/>
            <a:ext cx="11365992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แปลงเป็นบาทเฉพาะช่อง ‘ล่าสุด’ — อัตราแลกเปลี่ยนวันนี้ใช้กับราคาวันนี้ ไม่ใช่ราคาปี 2021–23 ช่อง ‘จุดสูงสุด 5 ปี’ จึงคงเป็นดอลลาร์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848654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877915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5385" y="5862370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ราคารายเดือนสกุลดอลลาร์ราคาปัจจุบันจาก World Bank Pink Sheet รุ่นข้อมูล 2026M07 (ข้อมูล 60 จุดต่อรายการ ปรับฐานเป็น 100 ณ 2021-07 เพื่อวาดกราฟ — หน่วยต่างกัน จึงใช้แกนเดียวกับระดับราคาดิบไม่ได้) แปลงเป็นบาทด้วยอัตราอ้างอิง ECB USD/THB 32.895 ณ 2026-09-07 สัดส่วนพื้นที่ปลูก วัดจริง จากสัดส่วนพืชของ สศก./กรมส่งเสริมการเกษตร (crop_mix.json) เป็นราคาปัจจุบัน ไม่ได้ปรับเงินเฟ้อ: ทุกตัวเลข ‘เทียบ 5 ปีก่อน’ มีเงินเฟ้อไทยห้าปีซ่อนอยู่ข้างใต้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05 · แหล่งเพาะปลูก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แต่ละภาคปลูกอะไร และราคารอบนี้ทำอะไรกับรายได้ของเขา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พืชที่มีราคาหน้าฟาร์มไทย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ข้าว ยางพารา อ้อย ปาล์มน้ำมัน มันสำปะหลัง ข้าวโพด มะพร้าว สับปะรด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ราคาหน้าฟาร์มที่ลดลง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มะพร้าว −68.7% สับปะรด −18.4% อ้อย −17.9% เทียบปีก่อน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ผลกระทบรายได้พืช ค่ากลางรายจังหวัด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+15.6%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ประเทศส่วนใหญ่ได้ประโยชน์จากราคารอบนี้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จังหวัดที่รายได้ลดลง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ทั้งสี่จังหวัดอยู่ในแหล่งปลูกมะพร้าวฝั่งอ่าวไทยตะวันตก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40864"/>
            <a:ext cx="1136599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000" b="0">
                <a:solidFill>
                  <a:srgbClr val="606060"/>
                </a:solidFill>
                <a:latin typeface="Kanit"/>
              </a:rPr>
              <a:t>ราคาหน้าฟาร์ม (ราคาที่เกษตรกรขายได้) = เงินที่เกษตรกรได้รับเมื่อขายครั้งแรก — ก่อนที่พ่อค้าคนกลาง โรงสี หรือค่าขนส่งจะหักส่วนแบ่งไป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2640330"/>
          <a:ext cx="5532120" cy="1572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685800"/>
                <a:gridCol w="1143000"/>
                <a:gridCol w="960120"/>
                <a:gridCol w="960120"/>
                <a:gridCol w="6400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จังหวัด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กระทบรายได้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ถอยหลัง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อ่อนสุด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กลาง &amp; กทม.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+5.7%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สมุทรสงคราม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-64.3%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+14.8%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สุโขทัย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+9.2%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+16.6%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หนองบัวลำภู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+8.0%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ตะวันออก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+25.0%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+11.1%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871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+34.8%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ชุมพร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5795F"/>
                          </a:solidFill>
                          <a:latin typeface="Kanit"/>
                        </a:rPr>
                        <a:t>+27.2%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172200" y="2594610"/>
            <a:ext cx="5605272" cy="100761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594610"/>
            <a:ext cx="50292" cy="100761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2740914"/>
            <a:ext cx="527608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ดีต่อภาคเกษตร แทบทุกพื้นที่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945384"/>
            <a:ext cx="5276088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 ราคาหน้าฟาร์ม: ยางพารา +40% มันสำปะหลัง +76% ปาล์ม +23% ข้าว +13% รายได้จากพืชเพิ่มขึ้นทุกภาค
•  มีสี่จังหวัดที่ลดลง — ทั้งหมดเป็นมะพร้าว และอยู่ฝั่งอ่าวไทยตะวันตก ราคามะพร้าวลดลง 69%
•  กำไรบนกระดาษยังไม่ใช่เงินสด — ตารางถัดไปหักราคาด้วยต้นทุน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11480" y="4359402"/>
          <a:ext cx="11365992" cy="1581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777240"/>
                <a:gridCol w="731520"/>
                <a:gridCol w="6080760"/>
                <a:gridCol w="731520"/>
                <a:gridCol w="1143000"/>
                <a:gridCol w="576072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พื้นที่ปลูกมากสุด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พื้นที่ (ไร่)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สัดส่วนพืช % ของพื้นที่ปลูก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ผลกระทบ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เกษตร ฿/ด.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Kanit"/>
                        </a:rPr>
                        <a:t>ฝน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5.25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ข้าว 67%, มันสำปะหลัง 12%, อ้อย 12%, ข้าวโพด 7%, ยางพารา 1%, ปาล์มน้ำมัน &lt;1%, มะพร้าว &lt;1%, สับปะรด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8,982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อุบลราชธานี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5.21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ข้าว 79%, ยางพารา 12%, มันสำปะหลัง 8%, ข้าวโพด 1%, ปาล์มน้ำมัน &lt;1%, อ้อย &lt;1%, มะพร้าว &lt;1%, สับปะรด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+21.0%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7,763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นครสวรรค์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3.97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ข้าว 65%, อ้อย 20%, ข้าวโพด 9%, มันสำปะหลัง 6%, ยางพารา &lt;1%, ปาล์มน้ำมัน &lt;1%, มะพร้าว &lt;1%, สับปะรด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+10.9%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10,777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สุราษฎร์ธานี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3.80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ยางพารา 60%, ปาล์มน้ำมัน 39%, มะพร้าว 1%, ข้าว &lt;1%, ข้าวโพด &lt;1%, สับปะรด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+32.8%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11,426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บุรีรัมย์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3.65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ข้าว 82%, ยางพารา 8%, อ้อย 5%, มันสำปะหลัง 4%, ปาล์มน้ำมัน &lt;1%, ข้าวโพด &lt;1%, มะพร้าว &lt;1%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7,557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E2F5C"/>
                          </a:solidFill>
                          <a:latin typeface="Kanit"/>
                        </a:rPr>
                        <a:t>สุรินทร์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3.57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ข้าว 88%, ยางพารา 7%, อ้อย 4%, มันสำปะหลัง 2%, ปาล์มน้ำมัน &lt;1%, มะพร้าว &lt;1%, ข้าวโพด &lt;1%, สับปะรด &lt;1%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15795F"/>
                          </a:solidFill>
                          <a:latin typeface="Kanit"/>
                        </a:rPr>
                        <a:t>+14.6%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1E2F5C"/>
                          </a:solidFill>
                          <a:latin typeface="Kanit"/>
                        </a:rPr>
                        <a:t>6,510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C0000"/>
                          </a:solidFill>
                          <a:latin typeface="Kanit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11480" y="6051042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080302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955" y="6064757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พื้นที่ปลูก วัดจริง (สศก. รายจังหวัด) สัดส่วนพืช วัดจริง — ทุกพืชที่ สศก. เก็บข้อมูลของจังหวัดนั้น เป็นสัดส่วนของพื้นที่ปลูก ปัดเป็นจำนวนเต็ม และแสดงทุกพืช ไม่ใช่เฉพาะพืชหลัก สัดส่วนที่ปัดแล้วเป็นศูนย์แสดงเป็น “&lt;1%” และส่วนต่างจากการปัดแสดงตรงไปตรงมาว่า “อื่น ๆ” การเปลี่ยนแปลงราคาหน้าฟาร์ม วัดจริง (NABC/สอน.) ระดับรายได้เกษตร วัดจริง (สสช./สศก. บาทต่อเดือน) ผลกระทบต่อรายได้เป็น ประมาณการ — ถ่วงน้ำหนักสัดส่วนพืชของแต่ละจังหวัดด้วยการเปลี่ยนแปลงราคาที่วัดได้ คิดเป็นร้อยละของรายได้เกษตรที่วัดได้ แสดง 6 จาก 77 จังหวัด เรียงตามพื้นที่ปลูก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06 · ทุกสินค้าเกษตร ณ ราคาหน้าฟาร์ม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เกษตรกรได้รับเงินเท่าไร และราคาเคลื่อนไปทางไหน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สินค้าเกษตร 17 รายการมีราคาหน้าฟาร์มไทยที่วัดได้จริง (ราคาที่เกษตรกรขายได้) และ 12 รายการมีข้อมูลราคารายเดือนจริง — คือเส้นกราฟด้านล่างนี้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11224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97508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สามรายการมีทิศทางไม่ตรงกันระหว่างเทียบปีก่อนกับหกเดือน ตัวเลขรายปีเพียงตัวเดียวจึงอาจชี้ผิดทางได้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56587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42872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เส้นกราฟแต่ละเส้นปรับสเกลตามช่วงของตัวเอง: ให้ดูรูปทรง ไม่ใช่ความสูง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มะพร้าว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฿580.00 /ร้อยผล · ใต้·ตอ.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เทียบปีก่อน −68.7%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9557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 เดือน −41.3%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57200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8315"/>
                </a:moveTo>
                <a:lnTo>
                  <a:pt x="412943" y="0"/>
                </a:lnTo>
                <a:lnTo>
                  <a:pt x="825886" y="372997"/>
                </a:lnTo>
                <a:lnTo>
                  <a:pt x="1238829" y="457200"/>
                </a:lnTo>
                <a:lnTo>
                  <a:pt x="1651772" y="385356"/>
                </a:lnTo>
                <a:lnTo>
                  <a:pt x="2064715" y="411313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80767" y="2816185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3939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สับปะรดโรงงาน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3939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฿9.77 /กก. · ตอ.·ตต.·เหนือ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3939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เทียบปีก่อน −18.4%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2016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+48.0%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3939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759659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46494"/>
                </a:moveTo>
                <a:lnTo>
                  <a:pt x="412943" y="401128"/>
                </a:lnTo>
                <a:lnTo>
                  <a:pt x="825886" y="457200"/>
                </a:lnTo>
                <a:lnTo>
                  <a:pt x="1238829" y="380999"/>
                </a:lnTo>
                <a:lnTo>
                  <a:pt x="1651772" y="212784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83226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6398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กุ้งขาว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6398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฿142.50 /กก. · ชายฝั่งใต้·ตอ.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6398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+0.4%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4475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+8.0%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16398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062118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15899"/>
                </a:moveTo>
                <a:lnTo>
                  <a:pt x="412943" y="457200"/>
                </a:lnTo>
                <a:lnTo>
                  <a:pt x="825886" y="420235"/>
                </a:lnTo>
                <a:lnTo>
                  <a:pt x="1238829" y="169952"/>
                </a:lnTo>
                <a:lnTo>
                  <a:pt x="1651772" y="0"/>
                </a:lnTo>
                <a:lnTo>
                  <a:pt x="2064715" y="12596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85685" y="2417468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8857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ไก่เนื้อ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8857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฿44.00 /กก. · กลาง·ตอ.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8857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+5.1%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6935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+0.0%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8857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364577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122251"/>
                </a:moveTo>
                <a:lnTo>
                  <a:pt x="412943" y="309106"/>
                </a:lnTo>
                <a:lnTo>
                  <a:pt x="825886" y="457200"/>
                </a:lnTo>
                <a:lnTo>
                  <a:pt x="1238829" y="249472"/>
                </a:lnTo>
                <a:lnTo>
                  <a:pt x="1651772" y="89452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88144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21316" y="1970531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ไข่ไก่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1316" y="2112263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฿360.00 /ร้อยฟอง · กลาง·ตอ.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1316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+7.1%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9394" y="2244851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+17.0%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21316" y="2400300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667036" y="2446020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56259"/>
                </a:moveTo>
                <a:lnTo>
                  <a:pt x="412943" y="356259"/>
                </a:lnTo>
                <a:lnTo>
                  <a:pt x="825886" y="457200"/>
                </a:lnTo>
                <a:lnTo>
                  <a:pt x="1238829" y="255319"/>
                </a:lnTo>
                <a:lnTo>
                  <a:pt x="1651772" y="106877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690603" y="2404872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ข้าวหอมมะลิ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฿17,494 /ตัน · อีสาน·เหนือ·กลาง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+12.8%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89557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+4.3%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57200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212701"/>
                </a:lnTo>
                <a:lnTo>
                  <a:pt x="825886" y="41154"/>
                </a:lnTo>
                <a:lnTo>
                  <a:pt x="1238829" y="30357"/>
                </a:lnTo>
                <a:lnTo>
                  <a:pt x="1651772" y="0"/>
                </a:lnTo>
                <a:lnTo>
                  <a:pt x="2064715" y="16356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480767" y="36748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13939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ข้าวโพดเลี้ยงสัตว์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13939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฿9.05 /กก. · เหนือ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13939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+13.6%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2016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 เดือน −0.3%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13939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59659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342301"/>
                </a:moveTo>
                <a:lnTo>
                  <a:pt x="412943" y="83780"/>
                </a:lnTo>
                <a:lnTo>
                  <a:pt x="825886" y="0"/>
                </a:lnTo>
                <a:lnTo>
                  <a:pt x="1238829" y="47874"/>
                </a:lnTo>
                <a:lnTo>
                  <a:pt x="1651772" y="292033"/>
                </a:lnTo>
                <a:lnTo>
                  <a:pt x="2064715" y="457200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83226" y="3968496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16398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ปาล์มน้ำมัน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16398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฿8.38 /กก. · ใต้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6398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+23.4%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4475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+16.2%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16398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062118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39749"/>
                </a:moveTo>
                <a:lnTo>
                  <a:pt x="412943" y="457200"/>
                </a:lnTo>
                <a:lnTo>
                  <a:pt x="825886" y="293166"/>
                </a:lnTo>
                <a:lnTo>
                  <a:pt x="1238829" y="76781"/>
                </a:lnTo>
                <a:lnTo>
                  <a:pt x="1651772" y="0"/>
                </a:lnTo>
                <a:lnTo>
                  <a:pt x="2064715" y="4537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085685" y="355666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8857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สุกร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8857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฿74.67 /กก. · กลาง·ตต.·ตอ.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8857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+24.2%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96935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+18.4%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8857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364577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220046"/>
                </a:moveTo>
                <a:lnTo>
                  <a:pt x="412943" y="457200"/>
                </a:lnTo>
                <a:lnTo>
                  <a:pt x="825886" y="343487"/>
                </a:lnTo>
                <a:lnTo>
                  <a:pt x="1238829" y="264994"/>
                </a:lnTo>
                <a:lnTo>
                  <a:pt x="1651772" y="111364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388144" y="3511296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21316" y="3076956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ยางพารา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21316" y="3218687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฿80.62 /กก. · ใต้·ตอ.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21316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+40.3%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99394" y="3351275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+18.5%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621316" y="3506724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667036" y="3552444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252867"/>
                </a:lnTo>
                <a:lnTo>
                  <a:pt x="825886" y="0"/>
                </a:lnTo>
                <a:lnTo>
                  <a:pt x="1238829" y="66071"/>
                </a:lnTo>
                <a:lnTo>
                  <a:pt x="1651772" y="195360"/>
                </a:lnTo>
                <a:lnTo>
                  <a:pt x="2064715" y="219831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1690603" y="3731127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4183379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มันสำปะหลัง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4325112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฿3.92 /กก. · อีสาน·เหนือ·ตอ.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+76.3%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9557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6 เดือน +47.4%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1480" y="4613147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57200" y="4658867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457200"/>
                </a:moveTo>
                <a:lnTo>
                  <a:pt x="412943" y="366666"/>
                </a:lnTo>
                <a:lnTo>
                  <a:pt x="825886" y="253498"/>
                </a:lnTo>
                <a:lnTo>
                  <a:pt x="1238829" y="217284"/>
                </a:lnTo>
                <a:lnTo>
                  <a:pt x="1651772" y="49795"/>
                </a:lnTo>
                <a:lnTo>
                  <a:pt x="2064715" y="0"/>
                </a:lnTo>
              </a:path>
            </a:pathLst>
          </a:custGeom>
          <a:noFill/>
          <a:ln w="20320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480767" y="4617719"/>
            <a:ext cx="82296" cy="82296"/>
          </a:xfrm>
          <a:prstGeom prst="roundRect">
            <a:avLst>
              <a:gd name="adj" fmla="val 50000"/>
            </a:avLst>
          </a:prstGeom>
          <a:solidFill>
            <a:srgbClr val="157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13939" y="4183379"/>
            <a:ext cx="2156155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มะนาว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13939" y="4325112"/>
            <a:ext cx="2156155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฿250.00 /ร้อยผล · กลาง·ตต.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13939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เทียบปีก่อน +114.6%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2016" y="4457699"/>
            <a:ext cx="10780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6 เดือน −45.0%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13939" y="4613147"/>
            <a:ext cx="2156155" cy="54864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2759659" y="4658867"/>
            <a:ext cx="2064715" cy="457200"/>
          </a:xfrm>
          <a:custGeom>
            <a:avLst/>
            <a:gdLst/>
            <a:ahLst/>
            <a:cxnLst/>
            <a:rect l="l" t="t" r="r" b="b"/>
            <a:pathLst>
              <a:path w="2064715" h="457200">
                <a:moveTo>
                  <a:pt x="0" y="0"/>
                </a:moveTo>
                <a:lnTo>
                  <a:pt x="412943" y="259737"/>
                </a:lnTo>
                <a:lnTo>
                  <a:pt x="825886" y="443342"/>
                </a:lnTo>
                <a:lnTo>
                  <a:pt x="1238829" y="457200"/>
                </a:lnTo>
                <a:lnTo>
                  <a:pt x="1651772" y="413314"/>
                </a:lnTo>
                <a:lnTo>
                  <a:pt x="2064715" y="348309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783226" y="496602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1480" y="5326379"/>
            <a:ext cx="1136599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มีราคาแต่ไม่ได้พล็อตกราฟ — ไม่มีข้อมูลรายเดือน: น้ำตาล −17.9% (รายปี ราคาประกาศ) · เงาะ −13.5% · เนื้อวัว −6.1% · ทุเรียน +7.0% · ลำไย +60.2%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" y="5613145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1480" y="564240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75385" y="5626861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ราคาหน้าฟาร์ม วัดจริง — ราคารายวันของ NABC เฉลี่ยเป็นรายเดือน หน่วยเป็นบาทตามที่เผยแพร่ (ไม่มีการแปลงสกุลเงิน) ราคาล่าสุด 2026-09-09, รุ่นข้อมูลย้อนหลัง 2026-09-05 ราคาหน้าฟาร์ม (ราคาที่เกษตรกรขายได้) คือเงินที่เกษตรกรได้รับเมื่อขายครั้งแรก ก่อนพ่อค้าคนกลาง โรงสี หรือค่าขนส่งจะหักส่วนแบ่ง — ไม่ใช่ดัชนีโลก และไม่ใช่ราคาในซูเปอร์มาร์เก็ต แหล่งผลิตเป็นการอ่านแบบ ประมาณการ ว่าสินค้าแต่ละชนิดผลิตที่ไหน และทับซ้อนกันได้ น้ำตาลเป็นราคาอ้อยประกาศของ สอน. ปีละหนึ่งจุด จึงไม่มีการเปลี่ยนแปลงหกเดือนให้แสดง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07 · รายได้ ณ ปัจจุบัน รายภาค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แต่ละอาชีพมีรายได้เท่าไร จุดต่ำสุดอยู่ตรงไหน และเคลื่อนไปทางใด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6599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06060"/>
                </a:solidFill>
                <a:latin typeface="Kanit"/>
              </a:rPr>
              <a:t>รายได้ต่อเดือน ณ ปัจจุบัน แยกตามภาคและอาชีพ — เทียบกับค่าจ้างของภาคนั้นเอง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88948"/>
          <a:ext cx="1136599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143000"/>
                <a:gridCol w="822960"/>
                <a:gridCol w="2148840"/>
                <a:gridCol w="914400"/>
                <a:gridCol w="1051560"/>
                <a:gridCol w="868680"/>
                <a:gridCol w="868680"/>
                <a:gridCol w="1280160"/>
                <a:gridCol w="10789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เกษตร ฿/ด.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เปลี่ยนแปลง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จังหวัดเกษตรที่อ่อนสุด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โรงงาน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ขนส่ง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ธุรกิจส่วนตัว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ออฟฟิศ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ค่าจ้างลูกจ้าง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เกษตร/ค่าจ้าง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กลาง &amp; กทม.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9,559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นครนายก 5,763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17,309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16,040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16,168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18,380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17,723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ตะวันออก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14,213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ปราจีนบุรี 6,926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17,883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16,595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12,393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15,958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15,210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7,157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แม่ฮ่องสอน 4,641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13,147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13,772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11,285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16,169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15,407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8,030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+8.3%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ขอนแก่น 4,762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12,406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13,670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11,137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17,141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14,805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7,972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นราธิวาส 2,742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13,933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10,711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16,841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13,676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3299460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28720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955" y="3313176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รายได้ วัดจริง — รายได้รายจังหวัดจากการสำรวจภาวะเศรษฐกิจและสังคมของครัวเรือน สสช. (สสช. SES 2566) ค่าจ้างรายภาคจากการสำรวจแรงงาน สสช. (2568 (เฉลี่ย 4 ไตรมาส)) หน่วยบาท/เดือน ค่าของภาค = ค่าเฉลี่ยไม่ถ่วงน้ำหนักของจังหวัดในภาคนั้น การเปลี่ยนแปลงเป็น ประมาณการ — แบบจำลองลำดับที่หนึ่งของรอบราคาและน้ำมัน (ตัวขับเคลื่อนราคาน้ำมัน 2026M08) ใช้ค่าสัมประสิทธิ์ที่มีเอกสารอ้างอิง ไม่ได้ประมาณค่าทางสถิติ ไม่มีข้อมูล SES/LFS รายเดือน จึงไม่มีตัวเลข 6 เดือนวางเทียบไว้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945255"/>
            <a:ext cx="5568696" cy="100761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945255"/>
            <a:ext cx="50292" cy="100761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4091559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เกษตรกร — เพิ่มขึ้นทุกภาค แต่ยังเป็นพื้นล่างสุด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4296028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เป็นอาชีพที่รายได้ขยับดีที่สุดในทุกภาค — และยังได้ค่าตอบแทนต่ำที่สุด
• ภาคเหนือ ฿7,157 เทียบค่าจ้าง ฿15,407 (46%) อีสาน ฿8,030 เทียบ ฿14,805 (54%)
• พื้นล่างสุด: นราธิวาส ฿2,742/เดือน — ออกแบบมาตรการตามตัวเลขนี้ ไม่ใช่ค่าเฉลี่ย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945255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3945255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091559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ขนส่ง — ตัวเลขเดียว ไม่ใช่ห้าตัว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4296028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ลดลง −4.77% ทุกภาค โรงงานเคลื่อนไปทางเดียวกัน ส่วนออฟฟิศนิ่ง — เพราะไม่มีช่องทางส่งผ่านในแบบจำลอง ซึ่งไม่เหมือนกับการไม่เปลี่ยนแปลง
• มาจากการเคลื่อนไหวของราคาน้ำมันดิบที่วัดได้หนึ่งค่า ผ่านค่าสัมประสิทธิ์ที่เลือกไว้หนึ่งค่า ไม่มีข้อมูลดีเซลหรือค่าขนส่งของไทยรองรับ
• ยังสำคัญ: อาชีพนี้ตัวรถคือรายได้ โทรไปก่อนดีกว่าโทรไปสาย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08 · น้ำ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ที่ไหนแล้งที่สุด และที่ไหนน้ำมากที่สุด — ณ ตอนนี้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65860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SPEI (ภัยแล้ง) เป็นแบบจำลองที่ปรับเดือนละครั้ง — บอกว่าฤดูกาลเป็นอย่างไร ไม่ใช่อากาศวันนี้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438656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24940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ThaiWater วัดจริงทุกวัน — สถานีวัดฝนและระดับน้ำในแม่น้ำ (น้ำท่วม) แบบเรียลไทม์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1452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697736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GISTDA เป็นสำมะโนแยกต่างหากย้อนหลัง 12 ปี — พื้นที่ที่เคยท่วมมาก่อน ไม่ใช่สิ่งที่เกิดขึ้นตอนนี้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อำเภอที่แล้ง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 928 (36.4%) · ค่าเฉลี่ย SPEI -0.84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8672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5832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ระดับรุนแรงมาก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5832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5832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อำเภอที่อยู่ในระดับแล้งรุนแรงมาก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5864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3024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อำเภอ × พืช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3024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318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3024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 3,295 อำเภอ×พืชที่วัดได้ อยู่ในระดับแล้งรุนแรงขึ้นไป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216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สถานีน้ำเกินระดับเฝ้าระวัง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216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 789 (18.4%) · เรียลไทม์ · 2026-09-10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0247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7408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จังหวัดที่ฝนหนัก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408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7408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ค่าล่าสุดรายวัน · 2026-09-10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97440" y="2043684"/>
            <a:ext cx="1780032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4600" y="2144268"/>
            <a:ext cx="1505711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พื้นที่ที่ท่วมซ้ำซาก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4600" y="2318004"/>
            <a:ext cx="1505711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34%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34600" y="2683764"/>
            <a:ext cx="1505711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ที่ตั้งสาขา 685 จาก 2,015 แห่ง เคยท่วม 7+ ใน 12 ปี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3287268"/>
            <a:ext cx="5568696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ภัยแล้ง — พื้นที่เพาะปลูกที่หนักที่สุด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8776" y="3287268"/>
            <a:ext cx="5568696" cy="167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20"/>
              </a:lnSpc>
            </a:pPr>
            <a:r>
              <a:rPr sz="1000" b="1">
                <a:solidFill>
                  <a:srgbClr val="1E2F5C"/>
                </a:solidFill>
                <a:latin typeface="Kanit"/>
              </a:rPr>
              <a:t>ฝนและแม่น้ำ (น้ำท่วม) — หนักที่สุดวันนี้ เรียลไทม์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11480" y="3525012"/>
          <a:ext cx="5568696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234440"/>
                <a:gridCol w="1234440"/>
                <a:gridCol w="777240"/>
                <a:gridCol w="64008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พื้นที่แล้งสุด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อำเภอ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พืช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ไร่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SPEI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ระดับ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ตาพระยา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ข้าวนาปี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213,392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สระแก้ว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อรัญประเทศ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ข้าวนาปี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158,047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หนองบุญมาก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มันสำปะหลัง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150,409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-1.62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ชัยภูมิ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คอนสวรรค์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ข้าวนาปี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143,322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ระยอง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แกลง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ยางพารา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121,783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นครราชสีมา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เสิงสาง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มันสำปะหลัง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120,512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-1.66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C0000"/>
                          </a:solidFill>
                          <a:latin typeface="Kanit"/>
                        </a:rPr>
                        <a:t>รุนแรง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208776" y="3525012"/>
          <a:ext cx="5568696" cy="1810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914400"/>
                <a:gridCol w="960120"/>
                <a:gridCol w="868680"/>
                <a:gridCol w="9144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ฝนมากสุดวันนี้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สถานีวัดฝน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มม./24 ชม.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% ฝนหนัก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แม่น้ำเกินระดับ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ระดับน้ำ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ชุมพร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6.7%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3/14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สกลนคร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7/12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สมุทรปราการ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4/4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อุดรธานี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37.1%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5/7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ปราจีนบุรี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34.3%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6/15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ตราด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32.6%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4/9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11480" y="5445252"/>
            <a:ext cx="5568696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ภัยแล้งรุนแรงช่วงเพาะปลูกหมายถึงผลผลิตน้อยลงและเงินสดน้อยลงในฤดูกาลนี้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8776" y="5445252"/>
            <a:ext cx="5568696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ระดับน้ำสูงและฝนหนักกำลังคุกคามถนน ไร่นา และสาขาในตอนนี้ — เป็นค่าที่อ่านได้วันนี้ ไม่ใช่พยากรณ์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5738368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5767628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955" y="5752084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พื้นที่ปลูก วัดจริง (สศก. — ข้อมูลอำเภอ×พืช 3,295 แถว) ภัยแล้งเป็นดัชนี SPEI จาก แบบจำลอง คำนวณจากปริมาณฝนและการคายระเหย ปรับเดือนละครั้ง ดึงข้อมูล 2026-07-20 — เป็นสัญญาณที่ครอบคลุมทั้งประเทศดีที่สุดที่มี แต่ไม่มีใครลงพื้นที่ไปเดินดูอำเภอเหล่านั้น ข้อมูลฝนและระดับน้ำ วัดจริง (ThaiWater เรียลไทม์ ดึงทุกวันและสะสมไว้ — วันที่ดึงไม่สำเร็จจะเว้นเป็นช่องว่าง ไม่ใส่ค่าสมมติ) · ฝนถึง 2026-09-10, ระดับน้ำถึง 2026-09-10 ความเสี่ยงน้ำท่วมเชิงโครงสร้าง วัดจริง (สำมะโนพื้นที่ท่วมซ้ำซาก GISTDA มาตราส่วน 1:50,000 ปี 2005-2016 — เป็นบันทึกภาคพื้นดิน 12 ปี ไม่ใช่การพยากรณ์)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09 · ควรติดต่อที่ไหนก่อน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จังหวัดเรียงตามจำนวนสัญญาณความเครียดที่เข้าเงื่อนไข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1  หนี้  —  หนี้ต่อรายได้ ≥ 100% ของรายได้ทั้งปี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1636" y="1152144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2  การว่างงาน  —  อัตราว่างงาน ≥ 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399032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3  พืชหลัก  —  พืชหลักขายได้ต่ำกว่าต้นทุน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399032"/>
            <a:ext cx="5545836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4  ฝน  —  ปริมาณฝน &lt; 90% ของค่าปกติ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11365992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เรียงตามจำนวนสัญญาณที่เข้าเงื่อนไข หากเท่ากันตัดสินด้วยหนี้ + การว่างงาน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2006346"/>
          <a:ext cx="11365992" cy="2362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4"/>
                <a:gridCol w="937493"/>
                <a:gridCol w="1205349"/>
                <a:gridCol w="1205349"/>
                <a:gridCol w="1651774"/>
                <a:gridCol w="1205349"/>
                <a:gridCol w="1160706"/>
                <a:gridCol w="892851"/>
                <a:gridCol w="937493"/>
                <a:gridCol w="6964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จังหวัด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หนี้ครัวเรือน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การว่างงาน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พืชหลัก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เศรษฐกิจของพืช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ฝนเทียบค่าปกติ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เกษตร ฿/ด.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พื้นที่ (ไร่)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สัญญาณ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อำนาจเจริญ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114%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2.84%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76%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6,896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1.42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4 จาก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สุโขทัย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2.12%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8,815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1.65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จาก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สิงห์บุรี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กลาง &amp; กทม.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2.29%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93%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9,802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0.33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จาก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อุบลราชธานี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0.16%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7,763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5.21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3 จาก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นครพนม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78%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6,061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1.90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จาก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กำแพงเพชร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2.11%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94%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7,919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2.67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จาก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นราธิวาส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2.43%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ยางพารา 90%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131%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2,742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1.03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จาก 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4203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บุรีรัมย์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1.87%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ข้าว 82%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ต่ำกว่าต้นทุน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7,557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3.65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2 จาก 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11480" y="4515459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44720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955" y="4529175"/>
            <a:ext cx="1072051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หนี้ครัวเรือนต่อรายได้ วัดจริง (สสช. SES 2566 — หนี้เป็นสัดส่วนของรายได้ ทั้งปี ดังนั้นเกิน 100% หมายถึงหนี้มากกว่ารายได้หนึ่งปี) การว่างงาน วัดจริง (สำรวจแรงงาน สสช. รายจังหวัด) พืชหลัก วัดจริง (พื้นที่ปลูก สศก. ครบทั้งแปดพืช) เศรษฐกิจของพืชเป็น ประมาณการ จากต้นทุนการผลิตของ สศก. (2568 (ปีเพาะปลูก 2568/69, ประมาณการ สศก. มี.ค. 2569)) ปริมาณฝน วัดจริง เทียบค่าปกติระยะยาว ซึ่งเป็นเครื่องมือคนละตัวกับดัชนี SPEI สองหน้าก่อน มีสองจังหวัดที่ไม่มีสถานีวัดและไม่สามารถเข้าเงื่อนไขสัญญาณนี้ได้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142966"/>
            <a:ext cx="11365992" cy="675767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5142966"/>
            <a:ext cx="50292" cy="675767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5289270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พืชแยกแยะได้ไม่ดี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5493740"/>
            <a:ext cx="11036808" cy="178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สัญญาณนี้เข้าเงื่อนไข 70 จาก 77 จังหวัด — เป็นความเสี่ยงระดับประเทศ ไม่ได้บอกว่าควรโทรหาใคร ตัวที่แยกรายการนี้ออกจากกันคือหนี้ การว่างงาน และฝน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164592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96344" y="0"/>
            <a:ext cx="164592" cy="6858000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pic>
        <p:nvPicPr>
          <p:cNvPr id="5" name="Picture 4" descr="chai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2487168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788920"/>
            <a:ext cx="10058400" cy="1844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52"/>
              </a:lnSpc>
            </a:pPr>
            <a:r>
              <a:rPr sz="1100" b="1">
                <a:solidFill>
                  <a:srgbClr val="F5C242"/>
                </a:solidFill>
                <a:latin typeface="Kanit"/>
              </a:rPr>
              <a:t>10 · หลักประกัน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0058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00"/>
              </a:lnSpc>
            </a:pPr>
            <a:r>
              <a:rPr sz="3200" b="1">
                <a:solidFill>
                  <a:srgbClr val="FFFFFF"/>
                </a:solidFill>
                <a:latin typeface="Kanit"/>
              </a:rPr>
              <a:t>ครึ่งหลังนี้คือส่วนที่มีการตัดสินใจผูกอยู่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9692640" cy="800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350" b="0">
                <a:solidFill>
                  <a:srgbClr val="C7D0E4"/>
                </a:solidFill>
                <a:latin typeface="Kanit"/>
              </a:rPr>
              <a:t>เราปล่อยกู้โดยใช้เล่มทะเบียนเป็นหลักประกัน ตลาดรถมือสองจึงเป็นปัจจัยภายนอกที่กำหนดราคาหลักประกันของเราโดยตรง มีห้าเรื่องเคลื่อนไหวพร้อมกัน: รถมือสองมีมูลค่าเท่าไร มีรถเข้ามาในกองมากน้อยแค่ไหน เป็นแบรนด์อะไร อยู่รุ่นไหนภายใต้แบรนด์นั้น และขายต่อได้ง่ายแค่ไหน รุ่นที่ไม่มีสถิติราคามือสองในไทยคือสมมติฐานการเรียกคืนที่ยังไม่มีใครตั้งได้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4710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FFFFFF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10A · มูลค่าขายต่อ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ราคาหยุดตกแล้ว แต่ระดับยังไม่ฟื้น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52144"/>
          <a:ext cx="11365992" cy="11932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463040"/>
                <a:gridCol w="1280160"/>
                <a:gridCol w="1371600"/>
                <a:gridCol w="1005840"/>
                <a:gridCol w="1005840"/>
                <a:gridCol w="1371600"/>
                <a:gridCol w="15819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ดัชนีราคารถมือสอง ธปท.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ล่าสุด (2026-05)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เปลี่ยนแปลง 6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เปลี่ยนแปลง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ต่ำสุด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สูงสุด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เทียบฐานปี 2015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จากจุดสูงสุดตลอดกาล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รถกระบะ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66.8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+12.5%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58.0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68.5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-33.2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−50.0%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รถยนต์นั่ง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87.8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+6.0%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−8.3%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82.8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99.6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-12.2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−40.5%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รถมือสองทุกประเภท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75.2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5795F"/>
                          </a:solidFill>
                          <a:latin typeface="Kanit"/>
                        </a:rPr>
                        <a:t>+10.1%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−2.9%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67.9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-24.9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−46.3%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11480" y="2528316"/>
            <a:ext cx="6903720" cy="201168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" y="4265676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197096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470148"/>
            <a:ext cx="6428232" cy="10972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674620"/>
            <a:ext cx="6428232" cy="6400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606039"/>
            <a:ext cx="329184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990"/>
              </a:lnSpc>
            </a:pPr>
            <a:r>
              <a:rPr sz="750" b="0">
                <a:solidFill>
                  <a:srgbClr val="9AA3B2"/>
                </a:solidFill>
                <a:latin typeface="Kanit"/>
              </a:rP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4611" y="2656332"/>
            <a:ext cx="157708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รถยนต์นั่ง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6867" y="2715768"/>
            <a:ext cx="164592" cy="25603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491" y="2656332"/>
            <a:ext cx="321071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1">
                <a:solidFill>
                  <a:srgbClr val="CC0000"/>
                </a:solidFill>
                <a:latin typeface="Kanit"/>
              </a:rPr>
              <a:t>รถกระบะ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1747" y="2715768"/>
            <a:ext cx="164592" cy="25603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95528" y="2933166"/>
            <a:ext cx="6428232" cy="1259480"/>
          </a:xfrm>
          <a:custGeom>
            <a:avLst/>
            <a:gdLst/>
            <a:ahLst/>
            <a:cxnLst/>
            <a:rect l="l" t="t" r="r" b="b"/>
            <a:pathLst>
              <a:path w="6428232" h="1259480">
                <a:moveTo>
                  <a:pt x="0" y="380422"/>
                </a:moveTo>
                <a:lnTo>
                  <a:pt x="34936" y="360692"/>
                </a:lnTo>
                <a:lnTo>
                  <a:pt x="69872" y="377239"/>
                </a:lnTo>
                <a:lnTo>
                  <a:pt x="104808" y="337622"/>
                </a:lnTo>
                <a:lnTo>
                  <a:pt x="139744" y="209542"/>
                </a:lnTo>
                <a:lnTo>
                  <a:pt x="174680" y="370080"/>
                </a:lnTo>
                <a:lnTo>
                  <a:pt x="209616" y="307233"/>
                </a:lnTo>
                <a:lnTo>
                  <a:pt x="244552" y="387422"/>
                </a:lnTo>
                <a:lnTo>
                  <a:pt x="279488" y="409697"/>
                </a:lnTo>
                <a:lnTo>
                  <a:pt x="314424" y="344941"/>
                </a:lnTo>
                <a:lnTo>
                  <a:pt x="349360" y="265866"/>
                </a:lnTo>
                <a:lnTo>
                  <a:pt x="384296" y="179630"/>
                </a:lnTo>
                <a:lnTo>
                  <a:pt x="419232" y="0"/>
                </a:lnTo>
                <a:lnTo>
                  <a:pt x="454168" y="78916"/>
                </a:lnTo>
                <a:lnTo>
                  <a:pt x="489104" y="60938"/>
                </a:lnTo>
                <a:lnTo>
                  <a:pt x="524040" y="64279"/>
                </a:lnTo>
                <a:lnTo>
                  <a:pt x="558976" y="131421"/>
                </a:lnTo>
                <a:lnTo>
                  <a:pt x="593912" y="204133"/>
                </a:lnTo>
                <a:lnTo>
                  <a:pt x="628848" y="254887"/>
                </a:lnTo>
                <a:lnTo>
                  <a:pt x="663784" y="218611"/>
                </a:lnTo>
                <a:lnTo>
                  <a:pt x="698720" y="288299"/>
                </a:lnTo>
                <a:lnTo>
                  <a:pt x="733656" y="265706"/>
                </a:lnTo>
                <a:lnTo>
                  <a:pt x="768592" y="231499"/>
                </a:lnTo>
                <a:lnTo>
                  <a:pt x="803529" y="306756"/>
                </a:lnTo>
                <a:lnTo>
                  <a:pt x="838465" y="153378"/>
                </a:lnTo>
                <a:lnTo>
                  <a:pt x="873401" y="117738"/>
                </a:lnTo>
                <a:lnTo>
                  <a:pt x="908337" y="183449"/>
                </a:lnTo>
                <a:lnTo>
                  <a:pt x="943273" y="265388"/>
                </a:lnTo>
                <a:lnTo>
                  <a:pt x="978209" y="299755"/>
                </a:lnTo>
                <a:lnTo>
                  <a:pt x="1013145" y="338100"/>
                </a:lnTo>
                <a:lnTo>
                  <a:pt x="1048081" y="448837"/>
                </a:lnTo>
                <a:lnTo>
                  <a:pt x="1083017" y="427040"/>
                </a:lnTo>
                <a:lnTo>
                  <a:pt x="1117953" y="501819"/>
                </a:lnTo>
                <a:lnTo>
                  <a:pt x="1152889" y="592032"/>
                </a:lnTo>
                <a:lnTo>
                  <a:pt x="1187825" y="551301"/>
                </a:lnTo>
                <a:lnTo>
                  <a:pt x="1222761" y="607783"/>
                </a:lnTo>
                <a:lnTo>
                  <a:pt x="1257697" y="456474"/>
                </a:lnTo>
                <a:lnTo>
                  <a:pt x="1292633" y="417652"/>
                </a:lnTo>
                <a:lnTo>
                  <a:pt x="1327569" y="479385"/>
                </a:lnTo>
                <a:lnTo>
                  <a:pt x="1362505" y="493864"/>
                </a:lnTo>
                <a:lnTo>
                  <a:pt x="1397441" y="549551"/>
                </a:lnTo>
                <a:lnTo>
                  <a:pt x="1432377" y="638968"/>
                </a:lnTo>
                <a:lnTo>
                  <a:pt x="1467313" y="650901"/>
                </a:lnTo>
                <a:lnTo>
                  <a:pt x="1502249" y="655992"/>
                </a:lnTo>
                <a:lnTo>
                  <a:pt x="1537185" y="636900"/>
                </a:lnTo>
                <a:lnTo>
                  <a:pt x="1572121" y="651060"/>
                </a:lnTo>
                <a:lnTo>
                  <a:pt x="1607057" y="629740"/>
                </a:lnTo>
                <a:lnTo>
                  <a:pt x="1641994" y="693064"/>
                </a:lnTo>
                <a:lnTo>
                  <a:pt x="1676930" y="508342"/>
                </a:lnTo>
                <a:lnTo>
                  <a:pt x="1711866" y="489091"/>
                </a:lnTo>
                <a:lnTo>
                  <a:pt x="1746802" y="459020"/>
                </a:lnTo>
                <a:lnTo>
                  <a:pt x="1781738" y="500228"/>
                </a:lnTo>
                <a:lnTo>
                  <a:pt x="1816674" y="517412"/>
                </a:lnTo>
                <a:lnTo>
                  <a:pt x="1851610" y="505638"/>
                </a:lnTo>
                <a:lnTo>
                  <a:pt x="1886546" y="576281"/>
                </a:lnTo>
                <a:lnTo>
                  <a:pt x="1921482" y="635150"/>
                </a:lnTo>
                <a:lnTo>
                  <a:pt x="1956418" y="594419"/>
                </a:lnTo>
                <a:lnTo>
                  <a:pt x="1991354" y="566257"/>
                </a:lnTo>
                <a:lnTo>
                  <a:pt x="2026290" y="543823"/>
                </a:lnTo>
                <a:lnTo>
                  <a:pt x="2061226" y="549233"/>
                </a:lnTo>
                <a:lnTo>
                  <a:pt x="2096162" y="386468"/>
                </a:lnTo>
                <a:lnTo>
                  <a:pt x="2131098" y="382490"/>
                </a:lnTo>
                <a:lnTo>
                  <a:pt x="2166034" y="366420"/>
                </a:lnTo>
                <a:lnTo>
                  <a:pt x="2200970" y="397287"/>
                </a:lnTo>
                <a:lnTo>
                  <a:pt x="2235906" y="445337"/>
                </a:lnTo>
                <a:lnTo>
                  <a:pt x="2270842" y="426085"/>
                </a:lnTo>
                <a:lnTo>
                  <a:pt x="2305778" y="513911"/>
                </a:lnTo>
                <a:lnTo>
                  <a:pt x="2340714" y="579304"/>
                </a:lnTo>
                <a:lnTo>
                  <a:pt x="2375650" y="534277"/>
                </a:lnTo>
                <a:lnTo>
                  <a:pt x="2410587" y="547642"/>
                </a:lnTo>
                <a:lnTo>
                  <a:pt x="2445523" y="576917"/>
                </a:lnTo>
                <a:lnTo>
                  <a:pt x="2480459" y="599351"/>
                </a:lnTo>
                <a:lnTo>
                  <a:pt x="2515395" y="425767"/>
                </a:lnTo>
                <a:lnTo>
                  <a:pt x="2550331" y="414948"/>
                </a:lnTo>
                <a:lnTo>
                  <a:pt x="2585267" y="429903"/>
                </a:lnTo>
                <a:lnTo>
                  <a:pt x="2620203" y="391400"/>
                </a:lnTo>
                <a:lnTo>
                  <a:pt x="2655139" y="448678"/>
                </a:lnTo>
                <a:lnTo>
                  <a:pt x="2690075" y="462679"/>
                </a:lnTo>
                <a:lnTo>
                  <a:pt x="2725011" y="507865"/>
                </a:lnTo>
                <a:lnTo>
                  <a:pt x="2759947" y="546528"/>
                </a:lnTo>
                <a:lnTo>
                  <a:pt x="2794883" y="528390"/>
                </a:lnTo>
                <a:lnTo>
                  <a:pt x="2829819" y="505797"/>
                </a:lnTo>
                <a:lnTo>
                  <a:pt x="2864755" y="610329"/>
                </a:lnTo>
                <a:lnTo>
                  <a:pt x="2899691" y="622262"/>
                </a:lnTo>
                <a:lnTo>
                  <a:pt x="2934627" y="441041"/>
                </a:lnTo>
                <a:lnTo>
                  <a:pt x="2969563" y="353533"/>
                </a:lnTo>
                <a:lnTo>
                  <a:pt x="3004499" y="352896"/>
                </a:lnTo>
                <a:lnTo>
                  <a:pt x="3039435" y="434836"/>
                </a:lnTo>
                <a:lnTo>
                  <a:pt x="3074371" y="456315"/>
                </a:lnTo>
                <a:lnTo>
                  <a:pt x="3109307" y="429585"/>
                </a:lnTo>
                <a:lnTo>
                  <a:pt x="3144243" y="552733"/>
                </a:lnTo>
                <a:lnTo>
                  <a:pt x="3179179" y="587259"/>
                </a:lnTo>
                <a:lnTo>
                  <a:pt x="3214116" y="572780"/>
                </a:lnTo>
                <a:lnTo>
                  <a:pt x="3249052" y="634354"/>
                </a:lnTo>
                <a:lnTo>
                  <a:pt x="3283988" y="697678"/>
                </a:lnTo>
                <a:lnTo>
                  <a:pt x="3318924" y="689882"/>
                </a:lnTo>
                <a:lnTo>
                  <a:pt x="3353860" y="511843"/>
                </a:lnTo>
                <a:lnTo>
                  <a:pt x="3388796" y="436904"/>
                </a:lnTo>
                <a:lnTo>
                  <a:pt x="3423732" y="467293"/>
                </a:lnTo>
                <a:lnTo>
                  <a:pt x="3458668" y="476044"/>
                </a:lnTo>
                <a:lnTo>
                  <a:pt x="3493604" y="511365"/>
                </a:lnTo>
                <a:lnTo>
                  <a:pt x="3528540" y="537777"/>
                </a:lnTo>
                <a:lnTo>
                  <a:pt x="3563476" y="555597"/>
                </a:lnTo>
                <a:lnTo>
                  <a:pt x="3598412" y="563552"/>
                </a:lnTo>
                <a:lnTo>
                  <a:pt x="3633348" y="607783"/>
                </a:lnTo>
                <a:lnTo>
                  <a:pt x="3668284" y="703724"/>
                </a:lnTo>
                <a:lnTo>
                  <a:pt x="3703220" y="726635"/>
                </a:lnTo>
                <a:lnTo>
                  <a:pt x="3738156" y="721862"/>
                </a:lnTo>
                <a:lnTo>
                  <a:pt x="3773092" y="574849"/>
                </a:lnTo>
                <a:lnTo>
                  <a:pt x="3808028" y="569757"/>
                </a:lnTo>
                <a:lnTo>
                  <a:pt x="3842964" y="691791"/>
                </a:lnTo>
                <a:lnTo>
                  <a:pt x="3877900" y="849942"/>
                </a:lnTo>
                <a:lnTo>
                  <a:pt x="3912836" y="747956"/>
                </a:lnTo>
                <a:lnTo>
                  <a:pt x="3947772" y="595532"/>
                </a:lnTo>
                <a:lnTo>
                  <a:pt x="3982708" y="511684"/>
                </a:lnTo>
                <a:lnTo>
                  <a:pt x="4017644" y="506911"/>
                </a:lnTo>
                <a:lnTo>
                  <a:pt x="4052581" y="501342"/>
                </a:lnTo>
                <a:lnTo>
                  <a:pt x="4087517" y="508024"/>
                </a:lnTo>
                <a:lnTo>
                  <a:pt x="4122453" y="565939"/>
                </a:lnTo>
                <a:lnTo>
                  <a:pt x="4157389" y="592509"/>
                </a:lnTo>
                <a:lnTo>
                  <a:pt x="4192325" y="569280"/>
                </a:lnTo>
                <a:lnTo>
                  <a:pt x="4227261" y="555120"/>
                </a:lnTo>
                <a:lnTo>
                  <a:pt x="4262197" y="507865"/>
                </a:lnTo>
                <a:lnTo>
                  <a:pt x="4297133" y="469680"/>
                </a:lnTo>
                <a:lnTo>
                  <a:pt x="4332069" y="483522"/>
                </a:lnTo>
                <a:lnTo>
                  <a:pt x="4367005" y="469043"/>
                </a:lnTo>
                <a:lnTo>
                  <a:pt x="4401941" y="561325"/>
                </a:lnTo>
                <a:lnTo>
                  <a:pt x="4436877" y="627513"/>
                </a:lnTo>
                <a:lnTo>
                  <a:pt x="4471813" y="600783"/>
                </a:lnTo>
                <a:lnTo>
                  <a:pt x="4506749" y="554324"/>
                </a:lnTo>
                <a:lnTo>
                  <a:pt x="4541685" y="505638"/>
                </a:lnTo>
                <a:lnTo>
                  <a:pt x="4576621" y="465861"/>
                </a:lnTo>
                <a:lnTo>
                  <a:pt x="4611557" y="363397"/>
                </a:lnTo>
                <a:lnTo>
                  <a:pt x="4646493" y="314552"/>
                </a:lnTo>
                <a:lnTo>
                  <a:pt x="4681429" y="363397"/>
                </a:lnTo>
                <a:lnTo>
                  <a:pt x="4716365" y="424335"/>
                </a:lnTo>
                <a:lnTo>
                  <a:pt x="4751301" y="440245"/>
                </a:lnTo>
                <a:lnTo>
                  <a:pt x="4786237" y="468248"/>
                </a:lnTo>
                <a:lnTo>
                  <a:pt x="4821174" y="558302"/>
                </a:lnTo>
                <a:lnTo>
                  <a:pt x="4856110" y="626558"/>
                </a:lnTo>
                <a:lnTo>
                  <a:pt x="4891046" y="669039"/>
                </a:lnTo>
                <a:lnTo>
                  <a:pt x="4925982" y="751297"/>
                </a:lnTo>
                <a:lnTo>
                  <a:pt x="4960918" y="816530"/>
                </a:lnTo>
                <a:lnTo>
                  <a:pt x="4995854" y="842623"/>
                </a:lnTo>
                <a:lnTo>
                  <a:pt x="5030790" y="777390"/>
                </a:lnTo>
                <a:lnTo>
                  <a:pt x="5065726" y="771026"/>
                </a:lnTo>
                <a:lnTo>
                  <a:pt x="5100662" y="791391"/>
                </a:lnTo>
                <a:lnTo>
                  <a:pt x="5135598" y="790596"/>
                </a:lnTo>
                <a:lnTo>
                  <a:pt x="5170534" y="806665"/>
                </a:lnTo>
                <a:lnTo>
                  <a:pt x="5205470" y="816689"/>
                </a:lnTo>
                <a:lnTo>
                  <a:pt x="5240406" y="916448"/>
                </a:lnTo>
                <a:lnTo>
                  <a:pt x="5275342" y="994251"/>
                </a:lnTo>
                <a:lnTo>
                  <a:pt x="5310278" y="1059803"/>
                </a:lnTo>
                <a:lnTo>
                  <a:pt x="5345214" y="1134105"/>
                </a:lnTo>
                <a:lnTo>
                  <a:pt x="5380150" y="1186291"/>
                </a:lnTo>
                <a:lnTo>
                  <a:pt x="5415086" y="1229091"/>
                </a:lnTo>
                <a:lnTo>
                  <a:pt x="5450022" y="1116126"/>
                </a:lnTo>
                <a:lnTo>
                  <a:pt x="5484958" y="1078100"/>
                </a:lnTo>
                <a:lnTo>
                  <a:pt x="5519894" y="1093374"/>
                </a:lnTo>
                <a:lnTo>
                  <a:pt x="5554830" y="1100852"/>
                </a:lnTo>
                <a:lnTo>
                  <a:pt x="5589766" y="1074122"/>
                </a:lnTo>
                <a:lnTo>
                  <a:pt x="5624703" y="1100693"/>
                </a:lnTo>
                <a:lnTo>
                  <a:pt x="5659639" y="1125513"/>
                </a:lnTo>
                <a:lnTo>
                  <a:pt x="5694575" y="1188360"/>
                </a:lnTo>
                <a:lnTo>
                  <a:pt x="5729511" y="1225113"/>
                </a:lnTo>
                <a:lnTo>
                  <a:pt x="5764447" y="1259480"/>
                </a:lnTo>
                <a:lnTo>
                  <a:pt x="5799383" y="1218590"/>
                </a:lnTo>
                <a:lnTo>
                  <a:pt x="5834319" y="1206021"/>
                </a:lnTo>
                <a:lnTo>
                  <a:pt x="5869255" y="1095124"/>
                </a:lnTo>
                <a:lnTo>
                  <a:pt x="5904191" y="1093851"/>
                </a:lnTo>
                <a:lnTo>
                  <a:pt x="5939127" y="1072372"/>
                </a:lnTo>
                <a:lnTo>
                  <a:pt x="5974063" y="1117240"/>
                </a:lnTo>
                <a:lnTo>
                  <a:pt x="6008999" y="1061075"/>
                </a:lnTo>
                <a:lnTo>
                  <a:pt x="6043935" y="1073326"/>
                </a:lnTo>
                <a:lnTo>
                  <a:pt x="6078871" y="1156539"/>
                </a:lnTo>
                <a:lnTo>
                  <a:pt x="6113807" y="1183587"/>
                </a:lnTo>
                <a:lnTo>
                  <a:pt x="6148743" y="1205066"/>
                </a:lnTo>
                <a:lnTo>
                  <a:pt x="6183679" y="1201406"/>
                </a:lnTo>
                <a:lnTo>
                  <a:pt x="6218615" y="1182791"/>
                </a:lnTo>
                <a:lnTo>
                  <a:pt x="6253551" y="1143969"/>
                </a:lnTo>
                <a:lnTo>
                  <a:pt x="6288487" y="1091942"/>
                </a:lnTo>
                <a:lnTo>
                  <a:pt x="6323423" y="1073804"/>
                </a:lnTo>
                <a:lnTo>
                  <a:pt x="6358359" y="1038323"/>
                </a:lnTo>
                <a:lnTo>
                  <a:pt x="6393295" y="1112785"/>
                </a:lnTo>
                <a:lnTo>
                  <a:pt x="6428232" y="1065053"/>
                </a:lnTo>
              </a:path>
            </a:pathLst>
          </a:custGeom>
          <a:noFill/>
          <a:ln w="2032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95528" y="2712646"/>
            <a:ext cx="6428232" cy="1163380"/>
          </a:xfrm>
          <a:custGeom>
            <a:avLst/>
            <a:gdLst/>
            <a:ahLst/>
            <a:cxnLst/>
            <a:rect l="l" t="t" r="r" b="b"/>
            <a:pathLst>
              <a:path w="6428232" h="1163380">
                <a:moveTo>
                  <a:pt x="0" y="362283"/>
                </a:moveTo>
                <a:lnTo>
                  <a:pt x="34936" y="182176"/>
                </a:lnTo>
                <a:lnTo>
                  <a:pt x="69872" y="205882"/>
                </a:lnTo>
                <a:lnTo>
                  <a:pt x="104808" y="240090"/>
                </a:lnTo>
                <a:lnTo>
                  <a:pt x="139744" y="263001"/>
                </a:lnTo>
                <a:lnTo>
                  <a:pt x="174680" y="157037"/>
                </a:lnTo>
                <a:lnTo>
                  <a:pt x="209616" y="120920"/>
                </a:lnTo>
                <a:lnTo>
                  <a:pt x="244552" y="267456"/>
                </a:lnTo>
                <a:lnTo>
                  <a:pt x="279488" y="200314"/>
                </a:lnTo>
                <a:lnTo>
                  <a:pt x="314424" y="250273"/>
                </a:lnTo>
                <a:lnTo>
                  <a:pt x="349360" y="358942"/>
                </a:lnTo>
                <a:lnTo>
                  <a:pt x="384296" y="316143"/>
                </a:lnTo>
                <a:lnTo>
                  <a:pt x="419232" y="0"/>
                </a:lnTo>
                <a:lnTo>
                  <a:pt x="454168" y="185994"/>
                </a:lnTo>
                <a:lnTo>
                  <a:pt x="489104" y="124739"/>
                </a:lnTo>
                <a:lnTo>
                  <a:pt x="524040" y="68097"/>
                </a:lnTo>
                <a:lnTo>
                  <a:pt x="558976" y="293390"/>
                </a:lnTo>
                <a:lnTo>
                  <a:pt x="593912" y="261410"/>
                </a:lnTo>
                <a:lnTo>
                  <a:pt x="628848" y="432131"/>
                </a:lnTo>
                <a:lnTo>
                  <a:pt x="663784" y="280344"/>
                </a:lnTo>
                <a:lnTo>
                  <a:pt x="698720" y="379307"/>
                </a:lnTo>
                <a:lnTo>
                  <a:pt x="733656" y="479862"/>
                </a:lnTo>
                <a:lnTo>
                  <a:pt x="768592" y="473657"/>
                </a:lnTo>
                <a:lnTo>
                  <a:pt x="803529" y="485431"/>
                </a:lnTo>
                <a:lnTo>
                  <a:pt x="838465" y="370716"/>
                </a:lnTo>
                <a:lnTo>
                  <a:pt x="873401" y="336985"/>
                </a:lnTo>
                <a:lnTo>
                  <a:pt x="908337" y="302619"/>
                </a:lnTo>
                <a:lnTo>
                  <a:pt x="943273" y="406196"/>
                </a:lnTo>
                <a:lnTo>
                  <a:pt x="978209" y="525685"/>
                </a:lnTo>
                <a:lnTo>
                  <a:pt x="1013145" y="616216"/>
                </a:lnTo>
                <a:lnTo>
                  <a:pt x="1048081" y="690677"/>
                </a:lnTo>
                <a:lnTo>
                  <a:pt x="1083017" y="696087"/>
                </a:lnTo>
                <a:lnTo>
                  <a:pt x="1117953" y="745409"/>
                </a:lnTo>
                <a:lnTo>
                  <a:pt x="1152889" y="830531"/>
                </a:lnTo>
                <a:lnTo>
                  <a:pt x="1187825" y="846601"/>
                </a:lnTo>
                <a:lnTo>
                  <a:pt x="1222761" y="948269"/>
                </a:lnTo>
                <a:lnTo>
                  <a:pt x="1257697" y="806983"/>
                </a:lnTo>
                <a:lnTo>
                  <a:pt x="1292633" y="711361"/>
                </a:lnTo>
                <a:lnTo>
                  <a:pt x="1327569" y="780094"/>
                </a:lnTo>
                <a:lnTo>
                  <a:pt x="1362505" y="793618"/>
                </a:lnTo>
                <a:lnTo>
                  <a:pt x="1397441" y="867125"/>
                </a:lnTo>
                <a:lnTo>
                  <a:pt x="1432377" y="845964"/>
                </a:lnTo>
                <a:lnTo>
                  <a:pt x="1467313" y="894810"/>
                </a:lnTo>
                <a:lnTo>
                  <a:pt x="1502249" y="864898"/>
                </a:lnTo>
                <a:lnTo>
                  <a:pt x="1537185" y="877785"/>
                </a:lnTo>
                <a:lnTo>
                  <a:pt x="1572121" y="898628"/>
                </a:lnTo>
                <a:lnTo>
                  <a:pt x="1607057" y="904833"/>
                </a:lnTo>
                <a:lnTo>
                  <a:pt x="1641994" y="997910"/>
                </a:lnTo>
                <a:lnTo>
                  <a:pt x="1676930" y="726794"/>
                </a:lnTo>
                <a:lnTo>
                  <a:pt x="1711866" y="666493"/>
                </a:lnTo>
                <a:lnTo>
                  <a:pt x="1746802" y="673812"/>
                </a:lnTo>
                <a:lnTo>
                  <a:pt x="1781738" y="699587"/>
                </a:lnTo>
                <a:lnTo>
                  <a:pt x="1816674" y="705156"/>
                </a:lnTo>
                <a:lnTo>
                  <a:pt x="1851610" y="725680"/>
                </a:lnTo>
                <a:lnTo>
                  <a:pt x="1886546" y="779935"/>
                </a:lnTo>
                <a:lnTo>
                  <a:pt x="1921482" y="883354"/>
                </a:lnTo>
                <a:lnTo>
                  <a:pt x="1956418" y="791073"/>
                </a:lnTo>
                <a:lnTo>
                  <a:pt x="1991354" y="831326"/>
                </a:lnTo>
                <a:lnTo>
                  <a:pt x="2026290" y="780254"/>
                </a:lnTo>
                <a:lnTo>
                  <a:pt x="2061226" y="827508"/>
                </a:lnTo>
                <a:lnTo>
                  <a:pt x="2096162" y="677790"/>
                </a:lnTo>
                <a:lnTo>
                  <a:pt x="2131098" y="644696"/>
                </a:lnTo>
                <a:lnTo>
                  <a:pt x="2166034" y="638172"/>
                </a:lnTo>
                <a:lnTo>
                  <a:pt x="2200970" y="743659"/>
                </a:lnTo>
                <a:lnTo>
                  <a:pt x="2235906" y="721703"/>
                </a:lnTo>
                <a:lnTo>
                  <a:pt x="2270842" y="692268"/>
                </a:lnTo>
                <a:lnTo>
                  <a:pt x="2305778" y="720271"/>
                </a:lnTo>
                <a:lnTo>
                  <a:pt x="2340714" y="816848"/>
                </a:lnTo>
                <a:lnTo>
                  <a:pt x="2375650" y="729499"/>
                </a:lnTo>
                <a:lnTo>
                  <a:pt x="2410587" y="786618"/>
                </a:lnTo>
                <a:lnTo>
                  <a:pt x="2445523" y="814302"/>
                </a:lnTo>
                <a:lnTo>
                  <a:pt x="2480459" y="876194"/>
                </a:lnTo>
                <a:lnTo>
                  <a:pt x="2515395" y="716293"/>
                </a:lnTo>
                <a:lnTo>
                  <a:pt x="2550331" y="658379"/>
                </a:lnTo>
                <a:lnTo>
                  <a:pt x="2585267" y="625285"/>
                </a:lnTo>
                <a:lnTo>
                  <a:pt x="2620203" y="631490"/>
                </a:lnTo>
                <a:lnTo>
                  <a:pt x="2655139" y="634990"/>
                </a:lnTo>
                <a:lnTo>
                  <a:pt x="2690075" y="595373"/>
                </a:lnTo>
                <a:lnTo>
                  <a:pt x="2725011" y="674607"/>
                </a:lnTo>
                <a:lnTo>
                  <a:pt x="2759947" y="694814"/>
                </a:lnTo>
                <a:lnTo>
                  <a:pt x="2794883" y="765457"/>
                </a:lnTo>
                <a:lnTo>
                  <a:pt x="2829819" y="742386"/>
                </a:lnTo>
                <a:lnTo>
                  <a:pt x="2864755" y="729499"/>
                </a:lnTo>
                <a:lnTo>
                  <a:pt x="2899691" y="855351"/>
                </a:lnTo>
                <a:lnTo>
                  <a:pt x="2934627" y="564029"/>
                </a:lnTo>
                <a:lnTo>
                  <a:pt x="2969563" y="556710"/>
                </a:lnTo>
                <a:lnTo>
                  <a:pt x="3004499" y="494341"/>
                </a:lnTo>
                <a:lnTo>
                  <a:pt x="3039435" y="622103"/>
                </a:lnTo>
                <a:lnTo>
                  <a:pt x="3074371" y="654083"/>
                </a:lnTo>
                <a:lnTo>
                  <a:pt x="3109307" y="632126"/>
                </a:lnTo>
                <a:lnTo>
                  <a:pt x="3144243" y="583758"/>
                </a:lnTo>
                <a:lnTo>
                  <a:pt x="3179179" y="745409"/>
                </a:lnTo>
                <a:lnTo>
                  <a:pt x="3214116" y="767366"/>
                </a:lnTo>
                <a:lnTo>
                  <a:pt x="3249052" y="796164"/>
                </a:lnTo>
                <a:lnTo>
                  <a:pt x="3283988" y="833713"/>
                </a:lnTo>
                <a:lnTo>
                  <a:pt x="3318924" y="837213"/>
                </a:lnTo>
                <a:lnTo>
                  <a:pt x="3353860" y="693541"/>
                </a:lnTo>
                <a:lnTo>
                  <a:pt x="3388796" y="616216"/>
                </a:lnTo>
                <a:lnTo>
                  <a:pt x="3423732" y="629262"/>
                </a:lnTo>
                <a:lnTo>
                  <a:pt x="3458668" y="654878"/>
                </a:lnTo>
                <a:lnTo>
                  <a:pt x="3493604" y="675085"/>
                </a:lnTo>
                <a:lnTo>
                  <a:pt x="3528540" y="739045"/>
                </a:lnTo>
                <a:lnTo>
                  <a:pt x="3563476" y="754001"/>
                </a:lnTo>
                <a:lnTo>
                  <a:pt x="3598412" y="824326"/>
                </a:lnTo>
                <a:lnTo>
                  <a:pt x="3633348" y="793459"/>
                </a:lnTo>
                <a:lnTo>
                  <a:pt x="3668284" y="891309"/>
                </a:lnTo>
                <a:lnTo>
                  <a:pt x="3703220" y="921380"/>
                </a:lnTo>
                <a:lnTo>
                  <a:pt x="3738156" y="909129"/>
                </a:lnTo>
                <a:lnTo>
                  <a:pt x="3773092" y="775162"/>
                </a:lnTo>
                <a:lnTo>
                  <a:pt x="3808028" y="793459"/>
                </a:lnTo>
                <a:lnTo>
                  <a:pt x="3842964" y="854556"/>
                </a:lnTo>
                <a:lnTo>
                  <a:pt x="3877900" y="1066007"/>
                </a:lnTo>
                <a:lnTo>
                  <a:pt x="3912836" y="959566"/>
                </a:lnTo>
                <a:lnTo>
                  <a:pt x="3947772" y="777231"/>
                </a:lnTo>
                <a:lnTo>
                  <a:pt x="3982708" y="731408"/>
                </a:lnTo>
                <a:lnTo>
                  <a:pt x="4017644" y="752728"/>
                </a:lnTo>
                <a:lnTo>
                  <a:pt x="4052581" y="695132"/>
                </a:lnTo>
                <a:lnTo>
                  <a:pt x="4087517" y="679540"/>
                </a:lnTo>
                <a:lnTo>
                  <a:pt x="4122453" y="764184"/>
                </a:lnTo>
                <a:lnTo>
                  <a:pt x="4157389" y="751296"/>
                </a:lnTo>
                <a:lnTo>
                  <a:pt x="4192325" y="718998"/>
                </a:lnTo>
                <a:lnTo>
                  <a:pt x="4227261" y="765139"/>
                </a:lnTo>
                <a:lnTo>
                  <a:pt x="4262197" y="677471"/>
                </a:lnTo>
                <a:lnTo>
                  <a:pt x="4297133" y="687972"/>
                </a:lnTo>
                <a:lnTo>
                  <a:pt x="4332069" y="637377"/>
                </a:lnTo>
                <a:lnTo>
                  <a:pt x="4367005" y="701815"/>
                </a:lnTo>
                <a:lnTo>
                  <a:pt x="4401941" y="761161"/>
                </a:lnTo>
                <a:lnTo>
                  <a:pt x="4436877" y="821303"/>
                </a:lnTo>
                <a:lnTo>
                  <a:pt x="4471813" y="835463"/>
                </a:lnTo>
                <a:lnTo>
                  <a:pt x="4506749" y="728544"/>
                </a:lnTo>
                <a:lnTo>
                  <a:pt x="4541685" y="669198"/>
                </a:lnTo>
                <a:lnTo>
                  <a:pt x="4576621" y="676835"/>
                </a:lnTo>
                <a:lnTo>
                  <a:pt x="4611557" y="496091"/>
                </a:lnTo>
                <a:lnTo>
                  <a:pt x="4646493" y="416061"/>
                </a:lnTo>
                <a:lnTo>
                  <a:pt x="4681429" y="472702"/>
                </a:lnTo>
                <a:lnTo>
                  <a:pt x="4716365" y="612875"/>
                </a:lnTo>
                <a:lnTo>
                  <a:pt x="4751301" y="541754"/>
                </a:lnTo>
                <a:lnTo>
                  <a:pt x="4786237" y="543982"/>
                </a:lnTo>
                <a:lnTo>
                  <a:pt x="4821174" y="577553"/>
                </a:lnTo>
                <a:lnTo>
                  <a:pt x="4856110" y="710247"/>
                </a:lnTo>
                <a:lnTo>
                  <a:pt x="4891046" y="726158"/>
                </a:lnTo>
                <a:lnTo>
                  <a:pt x="4925982" y="800937"/>
                </a:lnTo>
                <a:lnTo>
                  <a:pt x="4960918" y="759888"/>
                </a:lnTo>
                <a:lnTo>
                  <a:pt x="4995854" y="864420"/>
                </a:lnTo>
                <a:lnTo>
                  <a:pt x="5030790" y="633240"/>
                </a:lnTo>
                <a:lnTo>
                  <a:pt x="5065726" y="652810"/>
                </a:lnTo>
                <a:lnTo>
                  <a:pt x="5100662" y="673653"/>
                </a:lnTo>
                <a:lnTo>
                  <a:pt x="5135598" y="755115"/>
                </a:lnTo>
                <a:lnTo>
                  <a:pt x="5170534" y="700223"/>
                </a:lnTo>
                <a:lnTo>
                  <a:pt x="5205470" y="738886"/>
                </a:lnTo>
                <a:lnTo>
                  <a:pt x="5240406" y="827826"/>
                </a:lnTo>
                <a:lnTo>
                  <a:pt x="5275342" y="873649"/>
                </a:lnTo>
                <a:lnTo>
                  <a:pt x="5310278" y="918357"/>
                </a:lnTo>
                <a:lnTo>
                  <a:pt x="5345214" y="1047233"/>
                </a:lnTo>
                <a:lnTo>
                  <a:pt x="5380150" y="1116603"/>
                </a:lnTo>
                <a:lnTo>
                  <a:pt x="5415086" y="1163380"/>
                </a:lnTo>
                <a:lnTo>
                  <a:pt x="5450022" y="1027663"/>
                </a:lnTo>
                <a:lnTo>
                  <a:pt x="5484958" y="967680"/>
                </a:lnTo>
                <a:lnTo>
                  <a:pt x="5519894" y="945564"/>
                </a:lnTo>
                <a:lnTo>
                  <a:pt x="5554830" y="1044051"/>
                </a:lnTo>
                <a:lnTo>
                  <a:pt x="5589766" y="941587"/>
                </a:lnTo>
                <a:lnTo>
                  <a:pt x="5624703" y="956702"/>
                </a:lnTo>
                <a:lnTo>
                  <a:pt x="5659639" y="1059643"/>
                </a:lnTo>
                <a:lnTo>
                  <a:pt x="5694575" y="1023208"/>
                </a:lnTo>
                <a:lnTo>
                  <a:pt x="5729511" y="1107375"/>
                </a:lnTo>
                <a:lnTo>
                  <a:pt x="5764447" y="1126149"/>
                </a:lnTo>
                <a:lnTo>
                  <a:pt x="5799383" y="999660"/>
                </a:lnTo>
                <a:lnTo>
                  <a:pt x="5834319" y="996955"/>
                </a:lnTo>
                <a:lnTo>
                  <a:pt x="5869255" y="855033"/>
                </a:lnTo>
                <a:lnTo>
                  <a:pt x="5904191" y="772298"/>
                </a:lnTo>
                <a:lnTo>
                  <a:pt x="5939127" y="813507"/>
                </a:lnTo>
                <a:lnTo>
                  <a:pt x="5974063" y="791709"/>
                </a:lnTo>
                <a:lnTo>
                  <a:pt x="6008999" y="824962"/>
                </a:lnTo>
                <a:lnTo>
                  <a:pt x="6043935" y="872535"/>
                </a:lnTo>
                <a:lnTo>
                  <a:pt x="6078871" y="885741"/>
                </a:lnTo>
                <a:lnTo>
                  <a:pt x="6113807" y="1018912"/>
                </a:lnTo>
                <a:lnTo>
                  <a:pt x="6148743" y="953520"/>
                </a:lnTo>
                <a:lnTo>
                  <a:pt x="6183679" y="1010161"/>
                </a:lnTo>
                <a:lnTo>
                  <a:pt x="6218615" y="1030845"/>
                </a:lnTo>
                <a:lnTo>
                  <a:pt x="6253551" y="1004752"/>
                </a:lnTo>
                <a:lnTo>
                  <a:pt x="6288487" y="811597"/>
                </a:lnTo>
                <a:lnTo>
                  <a:pt x="6323423" y="763548"/>
                </a:lnTo>
                <a:lnTo>
                  <a:pt x="6358359" y="767366"/>
                </a:lnTo>
                <a:lnTo>
                  <a:pt x="6393295" y="969430"/>
                </a:lnTo>
                <a:lnTo>
                  <a:pt x="6428232" y="951929"/>
                </a:lnTo>
              </a:path>
            </a:pathLst>
          </a:custGeom>
          <a:noFill/>
          <a:ln w="20320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7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9578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6508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4205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1135" y="4338828"/>
            <a:ext cx="365760" cy="1257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750" b="0">
                <a:solidFill>
                  <a:srgbClr val="606060"/>
                </a:solidFill>
                <a:latin typeface="Kanit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2537460"/>
            <a:ext cx="681228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ดัชนี 2015 = 100 · รายเดือน 2011-01 → 2026-05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79" y="2528316"/>
            <a:ext cx="4279392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2528316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2674620"/>
            <a:ext cx="3950207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สองหน้าต่าง ข้อความเดียว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7536" y="2879090"/>
            <a:ext cx="3950207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กระบะ +12.5% ใน 6 เดือน และ −0.4% ใน 12 เดือน — ราคาหยุดตกแล้ว
• รถยนต์ +6.0% ใน 6 เดือน และ −8.3% ใน 12 เดือน — รูปทรงเดียวกัน แต่ระดับอ่อนกว่า
• กระบะต่ำกว่าฐานปี 2015 อยู่ 33 จุด รถยนต์ 12 จุด
• อัตราปล่อยกู้ที่ตั้งไว้ก่อนปี 2022 ตีราคาตลาดที่ไม่มีอยู่แล้ว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686300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715560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5385" y="4700016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ดัชนีราคารถมือสองของธนาคารแห่งประเทศไทย (EC_EI_040) ข้อมูลรายเดือน 185 จุด การเปลี่ยนแปลง 6 และ 12 เดือนคำนวณจากชุดข้อมูลที่เผยแพร่ ปรับฐานเป็น 2015 = 100 กระบะ = รถกระบะที่ยืนยันแล้ว ไม่ใช่รถบรรทุกหนัก (ตามวิธีวัด Stat-Horizon ของ ธปท. ปี 2019) เดือนล่าสุดเป็นข้อมูลเบื้องต้น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10B · อุปทานหลักประกัน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ตลาดรถสองตลาด เคลื่อนไปคนละทาง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11365992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100" b="0">
                <a:solidFill>
                  <a:srgbClr val="606060"/>
                </a:solidFill>
                <a:latin typeface="Kanit"/>
              </a:rPr>
              <a:t>ยอดจดทะเบียนครั้งแรกของกรมการขนส่งทางบก ตามนิยามกระบะของ AutoX เอง — กระบะหรือ PPV ทุกประเภท เทียบหน้าต่างหกเดือนกับ 12 เดือนคู่กัน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88948"/>
          <a:ext cx="11365993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192"/>
                <a:gridCol w="1924886"/>
                <a:gridCol w="1466580"/>
                <a:gridCol w="1924886"/>
                <a:gridCol w="1466580"/>
                <a:gridCol w="219986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12 เดือน เทียบปีก่อน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6 เดือน †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6 เดือน เทียบปีก่อน †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แนวโน้ม 6 ด. ตัดเดือนผิดปกติ คัน/ด.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F5C"/>
                          </a:solidFill>
                          <a:latin typeface="Kanit"/>
                        </a:rPr>
                        <a:t>รถกระบะ + PPV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183,277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−15.3%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85,276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−9.8%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-986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E2F5C"/>
                          </a:solidFill>
                          <a:latin typeface="Kanit"/>
                        </a:rPr>
                        <a:t>รถยนต์นั่ง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443,641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5795F"/>
                          </a:solidFill>
                          <a:latin typeface="Kanit"/>
                        </a:rPr>
                        <a:t>+19.8%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E2F5C"/>
                          </a:solidFill>
                          <a:latin typeface="Kanit"/>
                        </a:rPr>
                        <a:t>233,102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5795F"/>
                          </a:solidFill>
                          <a:latin typeface="Kanit"/>
                        </a:rPr>
                        <a:t>+34.3%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C0000"/>
                          </a:solidFill>
                          <a:latin typeface="Kanit"/>
                        </a:rPr>
                        <a:t>-393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2531364"/>
            <a:ext cx="1136599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† เดือนที่ถูกตั้งข้อสังเกตในช่วงนี้: 2025-12, 2026-01 — ยอดจดทะเบียนถูกเร่งมาก่อนหมดเขตมาตรการส่งเสริม ตัดออกเฉพาะเดือนสุดท้ายจากคอลัมน์แนวโน้ม ส่วนคอลัมน์เทียบปีก่อนทั้งสองยังคงนับรวมไว้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83006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กระบะ + PPV — ยอดจดทะเบียนรายเดือน 2025-08 → 2026-01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31236"/>
            <a:ext cx="5568696" cy="128016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415" y="3475052"/>
            <a:ext cx="458845" cy="580311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217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14.9k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2811" y="3459662"/>
            <a:ext cx="458845" cy="595701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31036" y="327678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15.3k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103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5207" y="3539149"/>
            <a:ext cx="458845" cy="516214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13432" y="3356269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13.2k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7603" y="3575865"/>
            <a:ext cx="458845" cy="479498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95828" y="3392985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12.3k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5828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9999" y="3609457"/>
            <a:ext cx="458845" cy="445906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78224" y="3426577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11.4k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72395" y="3342132"/>
            <a:ext cx="458845" cy="713231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60620" y="315925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18.3k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062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26-01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283006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รถยนต์นั่ง — ยอดจดทะเบียนรายเดือน 2025-08 → 2026-01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3031236"/>
            <a:ext cx="5568696" cy="1280160"/>
          </a:xfrm>
          <a:prstGeom prst="rect">
            <a:avLst/>
          </a:prstGeom>
          <a:solidFill>
            <a:srgbClr val="FBFCFE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57711" y="3740421"/>
            <a:ext cx="458845" cy="31494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557541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32.0k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0107" y="3727489"/>
            <a:ext cx="458845" cy="327874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8332" y="3544609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33.3k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8332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2503" y="3732400"/>
            <a:ext cx="458845" cy="322963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0728" y="3549520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32.8k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8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04899" y="3744367"/>
            <a:ext cx="458845" cy="310996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3124" y="3561487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31.6k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3124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87295" y="3751335"/>
            <a:ext cx="458845" cy="304028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3568455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0">
                <a:solidFill>
                  <a:srgbClr val="1E2F5C"/>
                </a:solidFill>
                <a:latin typeface="Kanit"/>
              </a:rPr>
              <a:t>30.9k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25-12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69691" y="3342132"/>
            <a:ext cx="458845" cy="713231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57916" y="3159252"/>
            <a:ext cx="882396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88"/>
              </a:lnSpc>
            </a:pPr>
            <a:r>
              <a:rPr sz="900" b="1">
                <a:solidFill>
                  <a:srgbClr val="1E2F5C"/>
                </a:solidFill>
                <a:latin typeface="Kanit"/>
              </a:rPr>
              <a:t>72.5k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57916" y="4101083"/>
            <a:ext cx="882396" cy="1424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122"/>
              </a:lnSpc>
            </a:pPr>
            <a:r>
              <a:rPr sz="850" b="0">
                <a:solidFill>
                  <a:srgbClr val="606060"/>
                </a:solidFill>
                <a:latin typeface="Kanit"/>
              </a:rPr>
              <a:t>26-01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494276"/>
            <a:ext cx="5568696" cy="100761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494276"/>
            <a:ext cx="50292" cy="100761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" y="4640580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“แนวโน้ม” ของกระบะคือเดือนผิดปกติเดือนเดียว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" y="4845050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ลดลงห้าเดือนติด แล้วมีหนึ่งเดือนกระโดด — เป็นแท่งเดียว ไม่ใช่การกลับทิศ
• ความชันเมื่อรวมเดือนนั้น: +131/เดือน หากตัดออก: -986/เดือน
• แม้แต่เดือนนั้นเองกระบะก็ยัง −14.6% เทียบปีก่อน — ยังลดลงอยู่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08776" y="4494276"/>
            <a:ext cx="5568696" cy="100761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08776" y="4494276"/>
            <a:ext cx="50292" cy="100761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8232" y="4640580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“การเติบโต” ของรถยนต์ส่วนใหญ่มาจากเดือนเดียว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8232" y="4845050"/>
            <a:ext cx="5239512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การเติบโตรถยนต์ 6 เดือน: +34.3% หากตัดเดือนผิดปกติ: +11.0%
• เดือนนั้นเดือนเดียว +69.3% เทียบปีก่อน — เป็นการเร่งยอดมาก่อน ไม่ใช่ความต้องการจริง
• ตัวเลข 12 เดือนที่ +19.8% เป็นค่าที่อ่านได้ปลอดภัยกว่า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5648198"/>
            <a:ext cx="53574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E2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677458"/>
            <a:ext cx="53574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E2F5C"/>
                </a:solidFill>
                <a:latin typeface="Kanit"/>
              </a:rPr>
              <a:t>ผสม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955" y="5661914"/>
            <a:ext cx="1072051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ยอดจดทะเบียน วัดจริง — ยอดจดทะเบียนครั้งแรกจาก gdcatalog ของกรมการขนส่งทางบก 48 เดือน ตั้งแต่ 2022-01 ตัวเลขที่ตัดเดือนผิดปกติออกเป็นการคำนวณของเราเองบนชุดข้อมูลนั้น — ประมาณการ และเป็นการใช้วิจารณญาณว่าจะเชื่อเดือนไหน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10C · การกระจุกตัวของแบรนด์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ตลาดรถสองตลาด และมีเพียงตลาดเดียวที่ยังรักษารูปทรงไว้ได้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แบรนด์กระบะ 2 อันดับแรก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78.7%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+ ISUZU · ปีก่อนอยู่ที่ 80.5%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แบรนด์รถยนต์ 5 อันดับแรก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48.5%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+ HONDA · ลดลง 9.4 จุดในหนึ่งปี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แบรนด์กระบะอันดับ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FORD · ถัดไปคือ MITSUBISHI ที่ 5.3%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60704"/>
          </a:xfrm>
          <a:prstGeom prst="roundRect">
            <a:avLst>
              <a:gd name="adj" fmla="val 7758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แบรนด์รถยนต์ใหม่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26.8%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474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BYD + MG + Jaecoo + AION + Deepal · ไม่มีสถิติราคามือสองในไทย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9572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กระบะ + PPV — จดทะเบียน 183,277 คันใน 12 เดือน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95728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รถยนต์นั่ง — จดทะเบียน 443,641 คันใน 12 เดือน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615184"/>
          <a:ext cx="5568696" cy="2289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1463040"/>
                <a:gridCol w="7223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แบรนด์กระบะ + PPV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TOYOTA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เจ้าตลาดเดิม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82,838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45.20%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ISUZU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เจ้าตลาดเดิม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61,342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33.47%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FORD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19,884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10.85%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MITSUBISHI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9,777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5.33%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GWM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6,381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3.48%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NISSAN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2,174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1.19%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0.40%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MAZDA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121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0.07%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615184"/>
          <a:ext cx="5568696" cy="2289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1463040"/>
                <a:gridCol w="72237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แบรนด์รถยนต์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TOYOTA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เจ้าตลาดเดิม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142,799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32.19%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HONDA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>เจ้าตลาดเดิม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72,171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E2F5C"/>
                          </a:solidFill>
                          <a:latin typeface="Kanit"/>
                        </a:rPr>
                        <a:t>16.27%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BYD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49,990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11.27%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MG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25,839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5.82%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JAECOO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16,905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3.81%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MITSUBISHI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16,253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3.66%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AION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15,378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3.47%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505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DEEPAL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E2F5C"/>
                          </a:solidFill>
                          <a:latin typeface="Kanit"/>
                        </a:rPr>
                        <a:t>10,628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CC0000"/>
                          </a:solidFill>
                          <a:latin typeface="Kanit"/>
                        </a:rPr>
                        <a:t>2.40%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5051145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080406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5064861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ยอดจดทะเบียนครั้งแรกของกรมการขนส่งทางบก ระดับรายรุ่น ย้อนหลัง 12 เดือน ระดับประเทศเท่านั้น — ไม่มีคอลัมน์รายจังหวัด ยอดจดทะเบียนครั้งแรกคือกองหลักประกัน ในอนาคต ไม่ใช่จำนวนรถที่วิ่งอยู่บนถนน และไม่ใช่ยอดขายรถมือสอง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524347"/>
            <a:ext cx="11365992" cy="100761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524347"/>
            <a:ext cx="50292" cy="100761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67065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สองตลาด คนละทิศทาง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5875121"/>
            <a:ext cx="11036808" cy="5105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• กระบะ: Toyota + Isuzu ครอง 78.7% ลดลงเพียง 1.8 จุดในหนึ่งปี กองรถเล็กลง แต่รูปทรงแทบไม่เปลี่ยน
• รถยนต์: เสียส่วนแบ่งไป 9.4 จุดในหนึ่งปี รถยนต์ใหม่ 26.8% ไม่มีสถิติราคามือสองในไทย
• เรารู้ว่า Hilux อายุห้าปีมีมูลค่าเท่าไร แต่เรายังไม่รู้ว่า BYD อายุห้าปีมีมูลค่าเท่าไร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10D · รุ่นรถ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กระบะ 5 รุ่นแรกคิดเป็น 78.0% ของตลาด ส่วนรถยนต์รุ่นที่ใหญ่ที่สุดมีเพียง 12.5%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รุ่นกระบะ 5 อันดับแรก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78.0%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จากกระบะและ PPV 183,277 คันที่จดทะเบียนใน 12 เดือน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รุ่นรถยนต์ 5 อันดับแรก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จากรถยนต์ 443,641 คัน — เกณฑ์ห้ารุ่นเดียวกัน ได้ไม่ถึงครึ่ง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รุ่นกระบะที่ใหญ่สุด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31.3%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HILUX REVO · 57,445 คัน · -21.5% เทียบปีก่อน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42415"/>
          </a:xfrm>
          <a:prstGeom prst="roundRect">
            <a:avLst>
              <a:gd name="adj" fmla="val 7894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รุ่นรถยนต์ที่ใหญ่สุด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12.5%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2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TOYOTA YARIS ATIV · 55,544 คัน · +18.3% เทียบปีก่อน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77439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รุ่นกระบะ — สัดส่วนของตลาดกระบะ + PPV 183,277 คัน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77439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รุ่นรถยนต์ — สัดส่วนของตลาดรถยนต์ 443,641 คัน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596896"/>
          <a:ext cx="5568696" cy="221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20"/>
                <a:gridCol w="548640"/>
                <a:gridCol w="1234440"/>
                <a:gridCol w="11430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รุ่นกระบะ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สัดส่วนกระบะ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เทียบปีก่อน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REVO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57,445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31.34%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-21.5%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D-MAX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49,425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26.97%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-23.0%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FORTUNER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7.72%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+0.3%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MU-X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11,916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6.50%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-8.7%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RANGER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5.49%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-30.0%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TRITON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7,989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4.36%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CHAMP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4.32%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-18.8%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EVEREST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PPV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7,733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4.22%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-14.3%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596896"/>
          <a:ext cx="5568696" cy="2216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3160"/>
                <a:gridCol w="1234440"/>
                <a:gridCol w="1143000"/>
                <a:gridCol w="768096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รุ่นรถยนต์นั่ง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หน่วย 12 เดือน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สัดส่วนรถยนต์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เทียบปีก่อน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ATIV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55,544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12.52%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+18.3%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CROSS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34,669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7.81%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-2.6%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HR-V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23,155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5.22%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+9.6%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 HATCHBACK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16,533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3.73%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+6.3%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COROLLA CROSS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14,324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3.23%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-10.4%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BYD DOLPHIN (435KM-STD)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14,109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3.18%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+295.9%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12,502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2.82%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-28.4%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JAECOO 5 EV LONG RANGE 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12,293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2.77%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5C242"/>
                          </a:solidFill>
                          <a:latin typeface="Kanit"/>
                        </a:rPr>
                        <a:t>รุ่นใหม่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4932273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961534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4945989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ยอดจดทะเบียนครั้งแรกของกรมการขนส่งทางบก ตามระดับ ยี่ห้อ + รุ่น ของนายทะเบียนเอง ย้อนหลัง 12 เดือน ถึง 2026-01, ระดับประเทศเท่านั้น สัดส่วนกระบะคิดจากกระบะ + PPV รวมกัน สัดส่วนรถยนต์คิดจากรถยนต์ แต่ละฝั่งจึงเป็นสัดส่วนของตลาดตัวเอง มีข้อควรระวังหนึ่งข้อที่กระทบเฉพาะตารางขวา: ขบ. แจ้งรุ่นรถยนต์แยกตามรุ่นย่อย — มีชื่อรุ่นรถยนต์ต่างกัน 1,235 ชื่อ จากรถ 443,641 คัน เฉพาะ Toyota แจ้งถึง 172 ชื่อ ดังนั้นสัดส่วนรถยนต์แต่ละรุ่นเป็นค่าต่ำสุด การรวมรุ่นย่อยทั้งหมดก็ยังไม่ปิดช่องว่างนี้: ยอดรถยนต์ทั้งหมดของ BYD อยู่ที่ 11.3% ซึ่งยังต่ำกว่ารุ่นกระบะรุ่นเดียวที่ใหญ่ที่สุด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573496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9780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รุ่นกระบะ 5 อันดับแรกครอง 78.0% ของตลาด — ตีราคาได้จากสถิติราคามือสองในไทยหลายปี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846292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832576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รุ่นรถยนต์ 5 อันดับแรกครองเพียง 32.5% และรุ่นที่ใหญ่ที่สุดมีแค่ 12.5%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119088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05372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แบรนด์ใหม่ — BYD, MG, Jaecoo, AION, Deepal — ไม่มีสถิติราคามือสองในไทย บางรุ่นเพิ่งจดทะเบียนปีนี้เป็นปีแรก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391884"/>
            <a:ext cx="164592" cy="1760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86"/>
              </a:lnSpc>
            </a:pPr>
            <a:r>
              <a:rPr sz="1050" b="1">
                <a:solidFill>
                  <a:srgbClr val="CC0000"/>
                </a:solidFill>
                <a:latin typeface="Kanit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378168"/>
            <a:ext cx="11183112" cy="1813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อัตราปล่อยกู้กำหนดเป็นรายรุ่น ฝั่งกระบะมีห้าแถวที่เราตีราคาได้ ส่วนรถยนต์เป็นหางยาวที่เรายังตีราคาไม่ได้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10F · รุ่นรถ ย้อนหลังสี่ปี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กระบะที่เข้าสู่ท้องถนนลดลง 59% ตั้งแต่ปี 2022 ขณะที่รถยนต์เพิ่มขึ้น 7%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กระบะ + PPV ปี 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453,745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จดทะเบียนครั้งแรกในปีนั้น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กระบะ + PPV ปี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186,405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−58.9% ในสี่ปี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รถยนต์นั่ง ปี 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388,164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จดทะเบียนครั้งแรกในปีนั้น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05840"/>
          </a:xfrm>
          <a:prstGeom prst="roundRect">
            <a:avLst>
              <a:gd name="adj" fmla="val 8181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รถยนต์นั่ง ปี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413,968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+6.6% ในสี่ปี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322576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รุ่นกระบะ + PPV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322576"/>
            <a:ext cx="5568696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รุ่นรถยนต์นั่ง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542032"/>
          <a:ext cx="5568696" cy="2006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749808"/>
                <a:gridCol w="749808"/>
                <a:gridCol w="749808"/>
                <a:gridCol w="749808"/>
                <a:gridCol w="8778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รุ่นรถ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2022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4 ปี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Revo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145,408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114,556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76,608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60,075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−59%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D-Max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181,373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127,279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66,266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51,255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−72%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Fortuner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27,131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25,636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14,526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14,264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−47%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Mu-X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19,376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22,394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13,051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12,131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−37%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Ranger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27,697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24,732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15,156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10,274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−63%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Triton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23,061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14,509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7,966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8,597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−63%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Hilux Champ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8,929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8,249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08776" y="2542032"/>
          <a:ext cx="5568696" cy="20061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749808"/>
                <a:gridCol w="749808"/>
                <a:gridCol w="749808"/>
                <a:gridCol w="749808"/>
                <a:gridCol w="877824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รุ่นรถ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2022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2023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2024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2025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4 ปี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Ativ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26,404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55,527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47,538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53,642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+103%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Yaris Cross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34,822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34,709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606060"/>
                          </a:solidFill>
                          <a:latin typeface="Kanit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Hr-V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14,825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22,442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22,161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22,051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5795F"/>
                          </a:solidFill>
                          <a:latin typeface="Kanit"/>
                        </a:rPr>
                        <a:t>+49%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 Hatchback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22,348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22,677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15,283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16,344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Toyota Corolla Cross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21,443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19,857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16,469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14,458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−33%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City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23,873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20,583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18,416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12,753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−47%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39572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F5C"/>
                          </a:solidFill>
                          <a:latin typeface="Kanit"/>
                        </a:rPr>
                        <a:t>Honda Civic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15,542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13,370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10,679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E2F5C"/>
                          </a:solidFill>
                          <a:latin typeface="Kanit"/>
                        </a:rPr>
                        <a:t>11,140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CC0000"/>
                          </a:solidFill>
                          <a:latin typeface="Kanit"/>
                        </a:rPr>
                        <a:t>−28%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11480" y="4676241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05502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5385" y="4689957"/>
            <a:ext cx="10502086" cy="4629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ยอดจดทะเบียนครั้งแรกของกรมการขนส่งทางบก ตามระดับ ยี่ห้อ + รุ่น ของนายทะเบียนเอง อ่านจากไฟล์สรุปรายปี เพื่อไม่ให้เดือน 2023-12 ที่ขาดไปในชุดข้อมูลบิดเบือนตัวเลขทั้งปี ปี 2022–2025 เป็นปีที่เผยแพร่ครบเพียงเท่านี้ ตัวเลขเหล่านี้คือรถที่ เข้าสู่ กองรถ ไม่ใช่จำนวนรถที่วิ่งอยู่บนถนน — ไม่มีชุดข้อมูลของ ขบ. ใดที่มีคอลัมน์ยี่ห้อหรือรุ่นควบคู่กับรถจดทะเบียนสะสม ดังนั้นจำนวนรถทั้งหมดแยกตามรุ่นจึงไม่มีอยู่ และไม่ได้แสดงไว้ที่นี่ เครื่องหมายขีดหมายถึงรุ่นนั้นอยู่นอก 15, อันดับแรกของปีนั้น ไม่ได้หมายความว่าไม่มีการจดทะเบียนเลย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285460"/>
            <a:ext cx="11365992" cy="83743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285460"/>
            <a:ext cx="50292" cy="83743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5431764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กองหลักประกันหดตัวเร็วกว่าที่รูปทรงจะเปลี่ยน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5636234"/>
            <a:ext cx="11036808" cy="34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สี่ปีที่ผ่านมาดึงกระบะออกจากยอดจดทะเบียนไป 267,340 คันต่อปี — คิดเป็น 59% — ขณะที่รถยนต์แทบไม่เปลี่ยน กระบะใหม่ที่น้อยลงวันนี้หมายถึงกระบะอายุห้าปีที่จะให้กู้ได้ในอนาคตจะน้อยลงตามไปด้วย และรุ่นรถก็ยังเป็นรุ่นเดิม: นี่คือปัญหาปริมาณ ไม่ใช่ปัญหาส่วนผสม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10E · ตลาดรถมือสอง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กระบะคิดเป็น 17% ของรถทั้งหมด — รถยนต์ 34% จักรยานยนต์ 46%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รถกระบะจดทะเบียน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CC0000"/>
                </a:solidFill>
                <a:latin typeface="Kanit"/>
              </a:rPr>
              <a:t>6.98 ล้าน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กระบะจดทะเบียนทั้งประเทศ · -0.77% เทียบปีก่อน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7268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4428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รถยนต์นั่งจดทะเบียน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4428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5795F"/>
                </a:solidFill>
                <a:latin typeface="Kanit"/>
              </a:rPr>
              <a:t>12.98 ล้าน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4428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+1.81% เทียบปีก่อน · +19.3% ตั้งแต่ปี 2563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สัดส่วนดีเซล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1E2F5C"/>
                </a:solidFill>
                <a:latin typeface="Kanit"/>
              </a:rPr>
              <a:t>56.3%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จากรถ 44.3 ล้านคัน — สิ่งที่ตลาดใช้อยู่วันนี้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8844" y="1152144"/>
            <a:ext cx="2738628" cy="1024128"/>
          </a:xfrm>
          <a:prstGeom prst="roundRect">
            <a:avLst>
              <a:gd name="adj" fmla="val 8035"/>
            </a:avLst>
          </a:prstGeom>
          <a:solidFill>
            <a:srgbClr val="F4F6FA"/>
          </a:solidFill>
          <a:ln w="9525">
            <a:solidFill>
              <a:srgbClr val="D9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6004" y="1252728"/>
            <a:ext cx="2464308" cy="1592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4"/>
              </a:lnSpc>
            </a:pPr>
            <a:r>
              <a:rPr sz="950" b="0">
                <a:solidFill>
                  <a:srgbClr val="606060"/>
                </a:solidFill>
                <a:latin typeface="Kanit"/>
              </a:rPr>
              <a:t>สัดส่วน BEV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6004" y="1426464"/>
            <a:ext cx="2464308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100" b="1">
                <a:solidFill>
                  <a:srgbClr val="F5C242"/>
                </a:solidFill>
                <a:latin typeface="Kanit"/>
              </a:rPr>
              <a:t>0.95%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6004" y="1792224"/>
            <a:ext cx="24643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0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ไฟฟ้ารวม 2.57% — ยังไม่ใช่ปัจจัยในไตรมาสนี้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11480" y="2359152"/>
          <a:ext cx="1136599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417320"/>
                <a:gridCol w="1325880"/>
                <a:gridCol w="1325880"/>
                <a:gridCol w="1417320"/>
                <a:gridCol w="1463040"/>
                <a:gridCol w="1463040"/>
                <a:gridCol w="153619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ภาค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จดทะเบียนสะสม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สัดส่วนกระบะ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สัดส่วนรถยนต์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สัดส่วนจักรยานยนต์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อัตราเปลี่ยนมือ กระบะ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อัตราเปลี่ยนมือ รถยนต์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Kanit"/>
                        </a:rPr>
                        <a:t>อัตราเปลี่ยนมือ จยย.</a:t>
                      </a:r>
                    </a:p>
                  </a:txBody>
                  <a:tcPr marL="54864" marR="54864" marT="18288" marB="18288" anchor="ctr">
                    <a:solidFill>
                      <a:srgbClr val="1B2A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กลาง &amp; กทม.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15.86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13.5%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41.7%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40.2%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7.60%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10.18%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6.64%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ตะวันออก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4.15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16.4%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33.4%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48.5%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5.21%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5.61%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6.69%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อีสาน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8.04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22.1%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27.3%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47.8%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5.61%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6.41%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7.30%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เหนือ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6.83 ล้าน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19.4%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26.0%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52.0%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5.95%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7.27%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5.22%</a:t>
                      </a:r>
                    </a:p>
                  </a:txBody>
                  <a:tcPr marL="54864" marR="54864" marT="18288" marB="18288" anchor="ctr"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F5C"/>
                          </a:solidFill>
                          <a:latin typeface="Kanit"/>
                        </a:rPr>
                        <a:t>ใต้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4.82 ล้าน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16.3%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29.3%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53.1%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C0000"/>
                          </a:solidFill>
                          <a:latin typeface="Kanit"/>
                        </a:rPr>
                        <a:t>5.53%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6.54%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E2F5C"/>
                          </a:solidFill>
                          <a:latin typeface="Kanit"/>
                        </a:rPr>
                        <a:t>6.98%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411480" y="4206240"/>
            <a:ext cx="754177" cy="19202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157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235500"/>
            <a:ext cx="754177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056"/>
              </a:lnSpc>
            </a:pPr>
            <a:r>
              <a:rPr sz="800" b="1">
                <a:solidFill>
                  <a:srgbClr val="15795F"/>
                </a:solidFill>
                <a:latin typeface="Kanit"/>
              </a:rPr>
              <a:t>วัดจริง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5385" y="4219955"/>
            <a:ext cx="10502086" cy="3086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5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รถจดทะเบียนสะสมและการโอนกรรมสิทธิ์ของกรมการขนส่งทางบก แยกตามภาคและประเภท (กระบะ · รถยนต์นั่ง · จักรยานยนต์) รวมกับยอดรถทั้งหมดของกระทรวงคมนาคม สัดส่วน = รถจดทะเบียนของประเภทนั้น ÷ รถจดทะเบียนทั้งหมดในภาค อัตราเปลี่ยนมือ = จำนวนการโอน ÷ รถจดทะเบียนสะสม — บอกว่ารถในกองเปลี่ยนมือกันปีละเท่าไร ซึ่งคือความลึกของตลาดที่เล่มทะเบียนที่ยึดมาต้องไปขาย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697729"/>
            <a:ext cx="5568696" cy="1347978"/>
          </a:xfrm>
          <a:prstGeom prst="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4697729"/>
            <a:ext cx="50292" cy="134797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" y="4844033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CC0000"/>
                </a:solidFill>
                <a:latin typeface="Kanit"/>
              </a:rPr>
              <a:t>เล็กและช้า ในเวลาเดียวกัน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" y="5048503"/>
            <a:ext cx="5239512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กระบะคิดเป็นเพียง 17% ของรถทั้งหมด — รถยนต์ 34% จักรยานยนต์ 46% — และยังเปลี่ยนมือช้าที่สุด: กระบะเปลี่ยนมือ 5.2–7.6% ต่อปี เทียบกับรถยนต์ 5.6–10.2% โดยช้าที่สุดที่ภาคตะวันออก
ตลาดที่เล็กและช้ากว่าหมายถึงระยะเวลาขายทอดตลาดที่นานขึ้น และส่วนลดที่กว้างขึ้นเมื่อยึดเล่มทะเบียนมา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08776" y="4697729"/>
            <a:ext cx="5568696" cy="1177798"/>
          </a:xfrm>
          <a:prstGeom prst="rect">
            <a:avLst/>
          </a:prstGeom>
          <a:solidFill>
            <a:srgbClr val="FDF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08776" y="4697729"/>
            <a:ext cx="50292" cy="1177798"/>
          </a:xfrm>
          <a:prstGeom prst="rect">
            <a:avLst/>
          </a:prstGeom>
          <a:solidFill>
            <a:srgbClr val="F5C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2" y="4844033"/>
            <a:ext cx="5239512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9A7411"/>
                </a:solidFill>
                <a:latin typeface="Kanit"/>
              </a:rPr>
              <a:t>รถไฟฟ้าเป็นนาฬิกา ไม่ใช่ปัญหา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5048503"/>
            <a:ext cx="5239512" cy="680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40"/>
              </a:lnSpc>
            </a:pPr>
            <a:r>
              <a:rPr sz="1000" b="0">
                <a:solidFill>
                  <a:srgbClr val="1E2F5C"/>
                </a:solidFill>
                <a:latin typeface="Kanit"/>
              </a:rPr>
              <a:t>รถ BEV คิดเป็น 0.9% ของรถทั้งหมด ไฟฟ้ารวม 2.6% — ยังไม่ใช่ปัจจัยในวันนี้
แต่เล่มทะเบียนขายต่อกันในช่วงห้าถึงสิบปี และรถยนต์ใหม่ 27% ไม่มีสถิติราคามือสองในไทยอยู่แล้ว กองรถนั้นจะแก่ตัวเข้าสู่ตลาดมือสองก่อนปี 2032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8686800" cy="150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"/>
              </a:lnSpc>
            </a:pPr>
            <a:r>
              <a:rPr sz="900" b="1">
                <a:solidFill>
                  <a:srgbClr val="CC0000"/>
                </a:solidFill>
                <a:latin typeface="Kanit"/>
              </a:rPr>
              <a:t>11 · แล้วอย่างไรต่อ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996696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E2F5C"/>
                </a:solidFill>
                <a:latin typeface="Kanit"/>
              </a:rPr>
              <a:t>ห้าสิ่งที่ภาพเศรษฐกิจเรียกร้องจากเรา</a:t>
            </a:r>
          </a:p>
        </p:txBody>
      </p:sp>
      <p:pic>
        <p:nvPicPr>
          <p:cNvPr id="5" name="Picture 4" descr="aut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256032"/>
            <a:ext cx="941832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969264"/>
            <a:ext cx="11365992" cy="20116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69" cy="109728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92824"/>
            <a:ext cx="6400800" cy="134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6"/>
              </a:lnSpc>
            </a:pPr>
            <a:r>
              <a:rPr sz="800" b="0">
                <a:solidFill>
                  <a:srgbClr val="606060"/>
                </a:solidFill>
                <a:latin typeface="Kanit"/>
              </a:rPr>
              <a:t>ข้อมูลจำกัดการเข้าถึง – ห้ามทำซ้ำ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152144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ติดต่อจังหวัดที่ครบสี่สัญญาณก่อน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152144"/>
            <a:ext cx="7799831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อำนาจเจริญเข้าเงื่อนไขทั้งสี่สัญญาณ อีกสามจังหวัดเข้าสามสัญญาณ — สุโขทัย สิงห์บุรี อุบลราชธานี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00759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1963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เฝ้าดูจังหวัดที่ตกขบวน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161963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รายได้จากพืชค่ากลางเพิ่มขึ้น +15.6% แต่มีสี่จังหวัดที่ลดลง — ทั้งหมดอยู่ในแหล่งปลูกมะพร้าว โดยหนักที่สุดคือสมุทรสงครามที่ −64.3%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19798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1686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ติดตามสามพืชที่ยังลดลง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31686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มะพร้าว สับปะรด และอ้อย ราคาหน้าฟาร์ม (ราคาที่เกษตรกรขายได้) ยังลดลงต่อเนื่อง — คิดเป็น 11% ของพื้นที่เพาะปลูกทั้งประเทศ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89521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14090"/>
            <a:ext cx="3291840" cy="2297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ตีราคารถที่เราใช้เป็นหลักประกันใหม่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1409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ราคาขายต่อของกระบะยังต่ำกว่าระดับปี 2015 อยู่ 33 จุด และเป็นประเภทที่ขายช้าที่สุดบนถนน กระบะห้ารุ่นครอง 78% ของตลาดนั้น ส่วนแบรนด์รถยนต์ใหม่ไม่มีสถิติแบบนั้น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92448"/>
            <a:ext cx="11365992" cy="10972"/>
          </a:xfrm>
          <a:prstGeom prst="rect">
            <a:avLst/>
          </a:prstGeom>
          <a:solidFill>
            <a:srgbClr val="D9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711320"/>
            <a:ext cx="3291840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1">
                <a:solidFill>
                  <a:srgbClr val="1E2F5C"/>
                </a:solidFill>
                <a:latin typeface="Kanit"/>
              </a:rPr>
              <a:t>อ่านสองสัญญาณนี้เป็นแบบจำลอง ไม่ใช่ข้อเท็จจริง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711320"/>
            <a:ext cx="7799831" cy="4594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9"/>
              </a:lnSpc>
            </a:pPr>
            <a:r>
              <a:rPr sz="1350" b="0">
                <a:solidFill>
                  <a:srgbClr val="2A3346"/>
                </a:solidFill>
                <a:latin typeface="Kanit"/>
              </a:rPr>
              <a:t>รายได้ขนส่งขยับ −4.8% จากตัวเลขราคาน้ำมันระดับประเทศตัวเดียว โดยไม่มีข้อมูลค่าขนส่งของไทยรองรับ ส่วนภัยแล้งเป็นแบบจำลองปริมาณฝน — ไม่มีใครลงพื้นที่ไปเดินดูอำเภอเหล่านั้น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90847"/>
            <a:ext cx="11365992" cy="675767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490847"/>
            <a:ext cx="50292" cy="675767"/>
          </a:xfrm>
          <a:prstGeom prst="rect">
            <a:avLst/>
          </a:prstGeom>
          <a:solidFill>
            <a:srgbClr val="1E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637151"/>
            <a:ext cx="11036808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50" b="1">
                <a:solidFill>
                  <a:srgbClr val="1E2F5C"/>
                </a:solidFill>
                <a:latin typeface="Kanit"/>
              </a:rPr>
              <a:t>ขอบเขต ระบุชัด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4841620"/>
            <a:ext cx="11036808" cy="1786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7"/>
              </a:lnSpc>
            </a:pPr>
            <a:r>
              <a:rPr sz="1050" b="0">
                <a:solidFill>
                  <a:srgbClr val="1E2F5C"/>
                </a:solidFill>
                <a:latin typeface="Kanit"/>
              </a:rPr>
              <a:t>ข้อมูลภายนอกเท่านั้น — เศรษฐกิจ พืชผล น้ำ รถ หน้านี้ชี้ไปที่พื้นที่ ไม่ใช่ตัวบุคคล การแปลงพื้นที่ให้เป็นรายชื่อสำหรับติดต่อเป็นหน้าที่ของแท็บ Assistance และไม่มีอะไรในนี้ที่เสนอให้เปิด ปิด หรือขยายสิ่งใด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294630"/>
            <a:ext cx="11365992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900" b="0">
                <a:solidFill>
                  <a:srgbClr val="606060"/>
                </a:solidFill>
                <a:latin typeface="Kanit"/>
              </a:rPr>
              <a:t>รุ่นข้อมูล — ราคาโลก 2026M06 · ราคาหน้าฟาร์มไทย 2026-09-09 · ประวัติราคาไทย 2026-09-05 · ต้นทุนการผลิตพืช สศก. ไจอัป 2568 (ปีเพาะปลูก 2568/69, ประมาณการ สศก. มี.ค. 2569) · ภัยแล้ง 2026-06-21 · เงินเฟ้อ 2026-05 · GDP 2026 ไตรมาส 1 · IMF WEO 2026 · ดัชนีราคาขายต่อ 2026-05 · ยอดจดทะเบียนถึง 2026-01 · หนี้ครัวเรือน สสช. SES 2566 · ค่าจ้าง สสช. LFS 2568 · ข้อมูลตรวจวัด 2026-09-10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