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ขอบเขต: แท็บ Macro — เฉพาะปัจจัยภายนอกเท่านั้น เศรษฐกิจ ราคาสินค้าเกษตร และตลาดรถมือสอง ทั้งหมดเผยแพร่โดยหน่วยงานอื่น ส่วนผลกระทบต่อพอร์ตของเราเป็นเรื่องของแท็บ Exposure และ Risk ขณะที่การแข่งขันและมุมมองรายสาขาแยกออกไปอีกส่วนหนึ่ง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ถ้าจะจำได้เรื่องเดียว: เศรษฐกิจนิ่ง พืชผลผสม หลักประกันแย่ลง — และผู้กู้บางอยู่ก่อนแล้วก่อนทั้งหมดนี้ ขอบเขตคือปัจจัยภายนอก ส่วนตัวเลขพอร์ตอยู่ในแท็บ Exposure และ Risk ไม่ใช่ที่นี่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เศรษฐกิจไม่มีปัญหา — ประเด็นอยู่ที่การเทียบภูมิภาคและเส้นหนี้ค้างชำระ โตช้า กันชนการคลังบาง หนี้ค้างชำระเพิ่มขึ้นเกือบทั้งปีที่ผ่านมา และมีพื้นที่ช่วยเหลือน้อยกว่าช่วงปี 2020–21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หน้านี้ไล่จากตัวเลขระดับประเทศลงถึงระดับอำเภอโดยไม่เปลี่ยนเครื่องมือวัด หนี้ครัวเรือนแสดงเป็นจำนวนเดือนของรายได้ ไม่ใช่บาท — นั่นคือกรอบที่เราใช้พิจารณาสินเชื่อ ถ้ามีใครหยิบอัตราว่างงานที่ใกล้ศูนย์มาอ้างว่าผู้กู้ไม่มีปัญหา ให้เปิดหน้านี้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สองประเด็น หนึ่ง ดัชนีโลกกับราคาหน้าฟาร์มไทยหันไปคนละทางได้ และมีเพียงตัวเดียวที่เป็นเงินที่เกษตรกรไทยได้รับ — เนื้อวัวเป็นตัวอย่างที่ชัดที่สุด สอง คอลัมน์สุดท้ายคือเกษตรกร ไม่ใช่บัญชีทั้งหมด: ตัวเลข book exposed ในแอปนับผู้กู้ทุกคนในแหล่งผลิต และประมาณสี่ในห้าไม่ได้ทำเกษตร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ตัวเลขเทียบปีก่อนซ่อนการเคลื่อนไหวช้า ๆ ไว้: น้ำตาลลดลงเกือบทุกเดือนตั้งแต่จุดสูงสุดปี 2023 ไม่ใช่การย่อตัวครั้งเดียว ส่วนยางพาราเพิ่งกลับขึ้นเหนือระดับปี 2021 ของตัวเองได้ เราแปลงเป็นบาทเฉพาะราคาล่าสุด — จุดสูงสุดห้าปีคงเป็นดอลลาร์ เพื่อไม่ให้เอาราคาเก่ามาผสมกับอัตราแลกเปลี่ยนวันนี้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เหตุที่ภาคเกษตรได้มีหมวดของตัวเอง คือความเสี่ยงของมันมาจากภายนอกและพอคาดการณ์ได้ — ราคา ต้นทุน ปริมาณฝน — ซึ่งหาได้ยาก คอลัมน์สัดส่วนพืชตอนนี้เป็นสัดส่วนที่เผยแพร่ครบของแต่ละจังหวัด ทุกพืช รวมได้ 100 — ไม่ใช่เฉพาะพืชหลัก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เราตัดข้อถกเถียงเรื่องกำไรออกโดยเจตนา — มันครอบคลุมแค่ห้าพืช และเปิดทางให้เถียงกันว่าราคาที่เผยแพร่ตัวไหนถูก หน้านี้แสดงราคาที่เกษตรกรได้รับจริง ครบทุกสินค้าที่เราวัดได้ พร้อมเส้นหกเดือนของตัวเอง ประเด็นที่ต้องให้ติด: หลายรายการมีทิศทางไม่ตรงกันระหว่างเทียบปีก่อนกับหกเดือน ตัวเลขรายปีตัวเดียวจึงไม่พอที่จะใช้ตัดสินใจ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สองเรื่อง: รายได้เกษตรเพิ่มขึ้นทุกภาคแต่ยังไม่ถึงครึ่งของค่าจ้างในพื้นที่ — ออกแบบมาตรการจากจังหวัดที่ต่ำสุด ไม่ใช่ค่าเฉลี่ย และพูดตรง ๆ ว่าตัวเลขขนส่งเป็นสมมติฐานระดับประเทศหนึ่งค่า ไม่ใช่การวัดห้าครั้ง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นาฬิกาสองเรือน แยกกันชัดเจน: SPEI คือฤดูกาล (แบบจำลอง รายเดือน) ThaiWater คือวันนี้ (วัดจริง เรียลไทม์) GISTDA เป็นเรื่องที่สาม แยกออกไป — ว่าพื้นที่ไหนท่วมอยู่ดี — มีการ์ดของตัวเอง ไม่เคยผสมเข้ากับตารางใดทั้งสองตาราง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เรียงตามจำนวนสัญญาณที่เข้าเงื่อนไขจากทั้งสี่ตัว ไม่ใช่แค่สองตัว — นั่นคือเหตุที่สิงห์บุรีปรากฏขึ้นมาแม้หนี้จะต่ำ เกณฑ์พืชเข้าเงื่อนไขแทบทุกที่และแยกแยะไม่ได้ ตัวที่แยกได้คือหนี้ การว่างงาน และฝน หน้านี้ชี้ไปที่พื้นที่ ไม่ใช่ตัวบุคคล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ช้าลงตรงนี้ ทุกอย่างก่อนหน้านี้คือสภาพของผู้กู้ ส่วนนี้คือสภาพของหลักประกัน ซึ่งเป็นส่วนที่มีผลต่อการพิจารณาสินเชื่อโดยตรง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สองหน้าต่าง: กระบะ +12.5% ในหกเดือน แต่ −0.4% ในสิบสองเดือน — ราคาหยุดตก ไม่ใช่กลับทิศ ระดับยังต่ำกว่าปี 2015 อยู่มาก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ความชันหกเดือนของกระบะไม่ใช่การฟื้นตัว — หากตัดเดือนผิดปกติออกจะเป็น -986/เดือน เดือนเดียวกันนี้ทำให้การเติบโตรถยนต์พุ่งจาก +11.0% เป็น +34.3% ให้อ้างหน้าต่าง 12 เดือนแทน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กองกระบะเล็กลงแต่รูปทรงไม่เปลี่ยน — มูลค่าคงเหลือยังคาดการณ์ได้ ฝั่งรถยนต์ตรงกันข้าม: สัดส่วนที่โตขึ้นเรื่อย ๆ ไม่มีสถิติราคามือสองในไทยให้ใช้ตีราคา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อัตราปล่อยกู้กำหนดเป็นรายรุ่น ไม่ใช่รายแบรนด์ ฝั่งกระบะมีห้าแถวที่เราตีราคาได้จากสถิติ ฝั่งรถยนต์เป็นหางยาวของรุ่นที่เพิ่งจดทะเบียนปีนี้เป็นปีแรก — ข้อควรระวังเรื่องรุ่นย่อยทำให้สัดส่วนฝั่งรถยนต์เป็นค่าต่ำสุด แต่ไม่เปลี่ยนข้อสรุป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พูดข้อจำกัดก่อน: นี่คือรถที่ เข้าสู่ ท้องถนนในแต่ละปี ไม่ใช่รถที่อยู่บนถนน — ขบ. ไม่ได้เผยแพร่จำนวนรถจดทะเบียนสะสมแยกตามรุ่น จึงสร้างจำนวนรถทั้งหมดแยกตามรุ่นไม่ได้ สิ่งที่หน้านี้แสดงคืออุปทานกระบะที่ทรุดลงต่อเนื่องสี่ปี โดยรุ่นที่อยู่อันดับบนยังเป็นรุ่นเดิมตลอด ซึ่งเป็นปัญหาปริมาณมากกว่าปัญหาส่วนผสม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ประเด็นของตารางนี้: กระบะเป็นทั้งประเภทที่เล็กที่สุดในสามประเภท และเปลี่ยนมือช้าที่สุด อัตราเปลี่ยนมือคือความลึกของตลาดที่รถยึดต้องไปขายจริง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ห้าข้อเสนอสั้น ๆ เป็นหน้าที่อ่านง่ายที่สุดในชุดนี้ ข้อเสนอเรื่องรายได้เกษตรตอนนี้ยืนอยู่บนผลกระทบด้านราคา ไม่ใช่ตารางต้นทุนของ สศก. — ข้อถกเถียงนั้นออกไปพร้อมกับหน้า 06 ปิดท้ายด้วยขอบเขต: ปัจจัยภายนอกเท่านั้น ไม่มีตัวเลขพอร์ต และไม่มีข้อเสนอเปิด ปิด หรือขยาย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เศรษฐกิจมหภาค: สภาพแวดล้อม
ที่เราปล่อยสินเชื่ออยู่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วันพุธที่ 5 สิงหาคม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ส.ค.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คำตอบก่อน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สี่คำถามเกี่ยวกับโลกภายนอกบริษัท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เศรษฐกิจ
คือปัญหาหรือไม่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ไม่ใช่ — นิ่ง แต่ไม่แข็งแรง
• GDP +2.8% เงินเฟ้อ +2.79% — สูงกว่าประมาณการ IMF ปี 2026 ทั้งคู่ ดอกเบี้ยนโยบาย 1.00%
• โตช้าที่สุดใน ASEAN-5: ไทย 1.5% เทียบเวียดนาม 7.1%
• หนี้ภาครัฐ 66.8% ของ GDP เทียบเวียดนาม 29.8% — กันชนบางที่สุดในกลุ่ม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ราคาพืชผล
คือปัญหาหรือไม่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+8.8%.
• Margin over price: a 26% price move becomes an 86%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อะไรที่กำลัง
แย่ลง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หลักประกัน — ตลาดรถกระบะมือสอง
• มูลค่าขายต่อ −50% จากจุดสูงสุด และต่ำกว่าฐานปี 2015 อยู่ -33 จุด
• ยอดจดทะเบียนกระบะใหม่ −15.3% เทียบปีก่อน
• Hilux Revo −21.5% รุ่นที่แย่ที่สุดคือ Ranger −30.0%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แล้วตัวผู้กู้
ล่ะ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บางอยู่ก่อนแล้ว ก่อนที่ทั้งหมดนี้จะเกิด
• อาชีพเกษตรได้ ฿7,157–14,213/เดือน เทียบค่าจ้างลูกจ้าง ฿13,676–17,723
• พืชสามจากห้าชนิดที่มีข้อมูลต้นทุนครบ ขายได้ต่ำกว่าต้นทุนการผลิต
• ครัวเรือน 60% ไม่มีกันชนเงินออม 3 เดือน และหนี้ค้างชำระเพิ่มขึ้นในสามจากสี่ไตรมาสล่าสุด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สศช. · TPSO · ธนาคารแห่งประเทศไทย · BIS · ECB · IMF · ธนาคารโลก · NABC · สศก. · ขบ. · คค. · สสช. · ThaiWater ทุกหน้ามีป้ายกำกับแหล่งที่มาและรุ่นข้อมูลของตัวเอง ตัวเลขใดที่มาจากแบบจำลองไม่ใช่การเผยแพร่จริง จะกำกับว่า ประมาณการ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ลำดับเรื่อง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ภาพเศรษฐกิจ        03–08  เกษตร: ราคา แหล่งผลิต ต้นทุน รายได้ น้ำ        09  ควรติดต่อที่ไหนก่อน        10  หลักประกัน        11  แล้วอย่างไรต่อ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ภาพรวมเศรษฐกิจ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ในประเทศยังนิ่ง แต่โตช้าที่สุดในภูมิภาค และหนี้เสียทั้งระบบเริ่มกลับทิศ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การเติบโต GDP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เทียบปีก่อน · ไตรมาสที่วัดจริง ไม่ใช่ประมาณการ · สศช. 2026 ไตรมาส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เงินเฟ้อ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เงินเฟ้อทั่วไป เทียบปีก่อน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ดอกเบี้ยนโยบาย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ธนาคารแห่งประเทศไทย · 2026-08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33.16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อัตราอ้างอิง ECB · 2026-08-31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ของ GDP · BIS · 2025 ไตรมาส 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นักท่องเที่ยวต่างชาติ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 ล้าน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ย้อนหลัง 12 เดือน · −6.6% เทียบปีก่อน · ธปท.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ประมาณการ IMF ปี 2026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การเติบโต 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เงินเฟ้อ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หนี้รัฐ/GDP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ไทย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เวียดนาม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อินโดนีเซีย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มาเลเซีย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ฟิลิปปินส์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NPL ทั้งระบบ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หนี้เสีย (NPL) ทั้งระบบธนาคารไทย, % ของสินเชื่อ · 40 ไตรมาส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สศช. 2026 ไตรมาส 1 · TPSO 2026-05 · ธนาคารแห่งประเทศไทย 2026-08 · BIS 2025 ไตรมาส 4 · ECB 2026-08-31, ทั้งหมดดึงจากหน่วยงานผู้เผยแพร่โดยตรง ตารางเทียบประเทศใช้ IMF World Economic Outlook 2026 (ดึงข้อมูล 2026-07-25) อัตรา NPL ที่ ธปท. เผยแพร่ — 4.48% ณ 2026 ไตรมาส 1, จาก 4.33% ไตรมาสก่อน เปลี่ยน +0.24 จุดใน 1 ปี และต่ำสุด 3.08% ณ 2021 ไตรมาส 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การเติบโตสูงกว่าประมาณการของ IMF เองปี 2026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การเติบโต: IMF ประมาณการ 1.5% ตัวเลขจริง +2.8%
• เงินเฟ้อ: IMF ประมาณการ 0.9% ตัวเลขจริง +2.79%
• เราใช้ตัวเลขไทยแทนประมาณการทุกครั้งที่มีตัวเลขจริง
• ข้อยกเว้น: ท่องเที่ยว −6.6% เทียบปีก่อน (ย้อนหลัง 12 เดือน) — หนุนรายได้นอกระบบในภาคใต้และภาคตะวันออก ซึ่งข้อมูลพืชและรถมองไม่เห็น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โตช้าที่สุดในภูมิภาค และมีพื้นที่รองรับน้อยที่สุด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ไทยโต 1.5% ส่วนที่เหลือในภูมิภาคโต 4.1–7.1%
• หนี้ภาครัฐ 66.8% ของ GDP เทียบเวียดนาม 29.8%
• พื้นที่การคลังสำหรับมาตรการช่วยเหลือน้อยกว่าช่วงปี 2020–21
• หนี้ค้างชำระทั้งระบบเพิ่มขึ้นในสามจากสี่ไตรมาสล่าสุด — เป็นสินเชื่อธนาคาร ดูเป็นทิศทาง ไม่ใช่เกณฑ์เทียบ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สภาพจริงในพื้นที่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ห้ามุมมอง ตั้งแต่ระดับประเทศลงถึงระดับอำเภอ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ว่างงาน 0.94% · ว่างตามฤดูกาล 0.77% คิดเป็น 325k คน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แรงงานนอกระบบ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ไม่มีสลิปเงินเดือนหรือประกันสังคม · ฐานลูกค้าหลักของเรา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 ล้าน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ดีเซล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จาก 928 อำเภอ · แม่น้ำเกินระดับ 131 จาก 792 สถานี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เดือน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 ÷ รายได้ต่อเดือน ทุกครัวเรือน · 45% มีหนี้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ไม่มีกันชนทางการเงิน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กันชนเงินออม ไม่ใช่หนี้ — อยู่ได้ไม่ถึง 3 เดือนหากขาดรายได้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กำลังแรงงาน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ว่างงานตามฤดูกาล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รถจดทะเบียน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ดีเซล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อำเภอแล้ง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ธุรกิจใหม่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28/157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17/274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25/167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16/51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45/143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สสช. (สำรวจแรงงาน) · ILOSTAT · ขบ. · คค. · กรมพัฒนาธุรกิจการค้า · ThaiWater · หนี้ครัวเรือน ธปท./สสช. ตัวเลขแรงงาน รถ และน้ำ รวมจากจังหวัด → ภาค → ประเทศ ตามน้ำหนักจริงของแต่ละพื้นที่ ไม่ใช่ค่าเฉลี่ยธรรมดา การ์ดหนี้เป็นข้อมูล ธปท./สสช. 2562 (2019) นับ ทุกครัวเรือน — ไม่ใช่เฉพาะ 45% ที่มีหนี้ ส่วนคอลัมน์รายภาคในตารางเป็นชุดข้อมูลใหม่กว่า 2566 (2023) หน่วยเป็นบาท เพราะรายได้ไม่ได้เผยแพร่ในระดับภาคครบพอที่จะแปลงเป็นเดือนได้ ภาคตะวันออกใช้ตัวเลขร่วมกับภาคกลาง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อัตราว่างงาน 0.94% ซ่อนการทำงานนอกระบบไว้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งานในระบบที่หายไปกลับมาเป็นงานนอกระบบ ไม่ใช่การว่างงาน — ค่าจ้างต่ำกว่าและไม่แน่นอนกว่า ให้ดูสัดส่วนนอกระบบ การว่างงานตามฤดูกาล และกันชนเงินออมแทน อีสานว่างงานตามฤดูกาลสูงเป็น 4.8 เท่าของภาคเหนือ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กระดานราคาสินค้าเกษตร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ดัชนีโลกบอกว่าลมส่ง แต่ราคาหน้าฟาร์มไทยไม่ได้บอกอย่างนั้น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ดูหกเดือนคู่กับหนึ่งปี: ทั้งสองชี้คนละทิศบ่อยกว่าที่จะเห็นตรงกันเรื่องขนาด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คอลัมน์สุดท้ายคือลูกค้าอาชีพเกษตรของเราที่อาศัยอยู่ในแหล่งผลิตนั้น — เป็นตัวเลขเดียวจากพอร์ตสินเชื่อในเอกสารชุดนี้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ราคาหน้าฟาร์มที่ลดลง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หมวด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หน้าฟาร์ม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บัญชีอาชีพเกษตรในแหล่งผลิต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สัดส่วนบัญชีทั้งหมดของเรา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มะพร้าว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−67.4%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สับปะรด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ตอ. · ตต. · 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+48.0%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 · กลาง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เงาะ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เนื้อวัว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ปศุสัตว์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 วัดจริง — ราคาหน้าฟาร์มไทยจากราคารายวันของ NABC และราคาอ้อยประกาศของ สอน. ราคาล่าสุด 2026-08-28 การเปลี่ยนแปลงหกเดือนคำนวณจากข้อมูลรายเดือนของ NABC เอง (thai_price_history รุ่นข้อมูล 2026-08-29) พืชที่ไม่มีข้อมูลรายเดือนจะกำกับไว้ ไม่ประมาณการขึ้นมา แหล่งผลิตเป็นการอ่านแบบ ประมาณการ ว่าสินค้าแต่ละชนิดปลูกที่ไหน และแหล่งผลิตทับซ้อนกันได้ บัญชีอาชีพเกษตรเป็นข้อมูลของเราเองและ วัดจริง — บัญชีที่บันทึกอาชีพว่า เกษตร ในจังหวัดแหล่งผลิต จากฐานข้อมูล 382,735 บัญชี ณ 2026-07 ไม่เผยแพร่ช่องที่มีน้อยกว่า 30 บัญชี คนกลุ่มนี้อาศัยอยู่ในพื้นที่ที่ปลูกพืชนั้น แต่ไม่ได้ยืนยันว่าปลูกพืชนั้นเอง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370451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370451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516755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เนื้อวัว: ดัชนีโลกเป็นเครื่องมือที่ผิด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721224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เนื้อวัวตลาดโลก +8.8% ราคาหน้าฟาร์มไทย −6.1% — ต่างกัน 14.9 จุด และไปคนละทาง ลูกค้าอาชีพเกษตรของเรา 31,240 รายอาศัยอยู่ในแหล่งเลี้ยงวัวคืออีสาน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ราคาห้าปี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น้ำตาลไม่ได้ลดลงแค่หนึ่งปี แต่ลดลงมาสี่ปีแล้ว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2030750"/>
            <a:ext cx="6428232" cy="1114034"/>
          </a:xfrm>
          <a:custGeom>
            <a:avLst/>
            <a:gdLst/>
            <a:ahLst/>
            <a:cxnLst/>
            <a:rect l="l" t="t" r="r" b="b"/>
            <a:pathLst>
              <a:path w="6428232" h="1114034">
                <a:moveTo>
                  <a:pt x="0" y="747883"/>
                </a:moveTo>
                <a:lnTo>
                  <a:pt x="108953" y="833577"/>
                </a:lnTo>
                <a:lnTo>
                  <a:pt x="217906" y="771254"/>
                </a:lnTo>
                <a:lnTo>
                  <a:pt x="326859" y="724511"/>
                </a:lnTo>
                <a:lnTo>
                  <a:pt x="435812" y="732302"/>
                </a:lnTo>
                <a:lnTo>
                  <a:pt x="544765" y="693349"/>
                </a:lnTo>
                <a:lnTo>
                  <a:pt x="653718" y="584283"/>
                </a:lnTo>
                <a:lnTo>
                  <a:pt x="762671" y="576493"/>
                </a:lnTo>
                <a:lnTo>
                  <a:pt x="871624" y="599864"/>
                </a:lnTo>
                <a:lnTo>
                  <a:pt x="980577" y="623235"/>
                </a:lnTo>
                <a:lnTo>
                  <a:pt x="1089530" y="646607"/>
                </a:lnTo>
                <a:lnTo>
                  <a:pt x="1198483" y="841368"/>
                </a:lnTo>
                <a:lnTo>
                  <a:pt x="1307437" y="973805"/>
                </a:lnTo>
                <a:lnTo>
                  <a:pt x="1416390" y="1075081"/>
                </a:lnTo>
                <a:lnTo>
                  <a:pt x="1525343" y="1059500"/>
                </a:lnTo>
                <a:lnTo>
                  <a:pt x="1634296" y="1114034"/>
                </a:lnTo>
                <a:lnTo>
                  <a:pt x="1743249" y="1028339"/>
                </a:lnTo>
                <a:lnTo>
                  <a:pt x="1852202" y="958225"/>
                </a:lnTo>
                <a:lnTo>
                  <a:pt x="1961155" y="966015"/>
                </a:lnTo>
                <a:lnTo>
                  <a:pt x="2070108" y="997177"/>
                </a:lnTo>
                <a:lnTo>
                  <a:pt x="2179061" y="1028339"/>
                </a:lnTo>
                <a:lnTo>
                  <a:pt x="2288014" y="1012758"/>
                </a:lnTo>
                <a:lnTo>
                  <a:pt x="2396967" y="1036129"/>
                </a:lnTo>
                <a:lnTo>
                  <a:pt x="2505920" y="1067291"/>
                </a:lnTo>
                <a:lnTo>
                  <a:pt x="2614874" y="1082872"/>
                </a:lnTo>
                <a:lnTo>
                  <a:pt x="2723827" y="1020548"/>
                </a:lnTo>
                <a:lnTo>
                  <a:pt x="2832780" y="973805"/>
                </a:lnTo>
                <a:lnTo>
                  <a:pt x="2941733" y="927063"/>
                </a:lnTo>
                <a:lnTo>
                  <a:pt x="3050686" y="934853"/>
                </a:lnTo>
                <a:lnTo>
                  <a:pt x="3159639" y="825787"/>
                </a:lnTo>
                <a:lnTo>
                  <a:pt x="3268592" y="654397"/>
                </a:lnTo>
                <a:lnTo>
                  <a:pt x="3377545" y="366151"/>
                </a:lnTo>
                <a:lnTo>
                  <a:pt x="3486498" y="451846"/>
                </a:lnTo>
                <a:lnTo>
                  <a:pt x="3595451" y="553121"/>
                </a:lnTo>
                <a:lnTo>
                  <a:pt x="3704404" y="467426"/>
                </a:lnTo>
                <a:lnTo>
                  <a:pt x="3813357" y="623235"/>
                </a:lnTo>
                <a:lnTo>
                  <a:pt x="3922311" y="366151"/>
                </a:lnTo>
                <a:lnTo>
                  <a:pt x="4031264" y="163599"/>
                </a:lnTo>
                <a:lnTo>
                  <a:pt x="4140217" y="179180"/>
                </a:lnTo>
                <a:lnTo>
                  <a:pt x="4249170" y="444055"/>
                </a:lnTo>
                <a:lnTo>
                  <a:pt x="4358123" y="373941"/>
                </a:lnTo>
                <a:lnTo>
                  <a:pt x="4467076" y="381731"/>
                </a:lnTo>
                <a:lnTo>
                  <a:pt x="4576029" y="350570"/>
                </a:lnTo>
                <a:lnTo>
                  <a:pt x="4684982" y="389522"/>
                </a:lnTo>
                <a:lnTo>
                  <a:pt x="4793935" y="568702"/>
                </a:lnTo>
                <a:lnTo>
                  <a:pt x="4902888" y="521960"/>
                </a:lnTo>
                <a:lnTo>
                  <a:pt x="5011841" y="545331"/>
                </a:lnTo>
                <a:lnTo>
                  <a:pt x="5120794" y="490798"/>
                </a:lnTo>
                <a:lnTo>
                  <a:pt x="5229748" y="553121"/>
                </a:lnTo>
                <a:lnTo>
                  <a:pt x="5338701" y="584283"/>
                </a:lnTo>
                <a:lnTo>
                  <a:pt x="5447654" y="669978"/>
                </a:lnTo>
                <a:lnTo>
                  <a:pt x="5556607" y="646607"/>
                </a:lnTo>
                <a:lnTo>
                  <a:pt x="5665560" y="623235"/>
                </a:lnTo>
                <a:lnTo>
                  <a:pt x="5774513" y="560912"/>
                </a:lnTo>
                <a:lnTo>
                  <a:pt x="5883466" y="467426"/>
                </a:lnTo>
                <a:lnTo>
                  <a:pt x="5992419" y="366151"/>
                </a:lnTo>
                <a:lnTo>
                  <a:pt x="6101372" y="272665"/>
                </a:lnTo>
                <a:lnTo>
                  <a:pt x="6210325" y="132437"/>
                </a:lnTo>
                <a:lnTo>
                  <a:pt x="6319278" y="0"/>
                </a:lnTo>
                <a:lnTo>
                  <a:pt x="6428232" y="6232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34693"/>
            <a:ext cx="6428232" cy="1116567"/>
          </a:xfrm>
          <a:custGeom>
            <a:avLst/>
            <a:gdLst/>
            <a:ahLst/>
            <a:cxnLst/>
            <a:rect l="l" t="t" r="r" b="b"/>
            <a:pathLst>
              <a:path w="6428232" h="1116567">
                <a:moveTo>
                  <a:pt x="0" y="943940"/>
                </a:moveTo>
                <a:lnTo>
                  <a:pt x="108953" y="954958"/>
                </a:lnTo>
                <a:lnTo>
                  <a:pt x="217906" y="951285"/>
                </a:lnTo>
                <a:lnTo>
                  <a:pt x="326859" y="954958"/>
                </a:lnTo>
                <a:lnTo>
                  <a:pt x="435812" y="954958"/>
                </a:lnTo>
                <a:lnTo>
                  <a:pt x="544765" y="855790"/>
                </a:lnTo>
                <a:lnTo>
                  <a:pt x="653718" y="855790"/>
                </a:lnTo>
                <a:lnTo>
                  <a:pt x="762671" y="874154"/>
                </a:lnTo>
                <a:lnTo>
                  <a:pt x="871624" y="841098"/>
                </a:lnTo>
                <a:lnTo>
                  <a:pt x="980577" y="719892"/>
                </a:lnTo>
                <a:lnTo>
                  <a:pt x="1089530" y="793350"/>
                </a:lnTo>
                <a:lnTo>
                  <a:pt x="1198483" y="888846"/>
                </a:lnTo>
                <a:lnTo>
                  <a:pt x="1307437" y="841098"/>
                </a:lnTo>
                <a:lnTo>
                  <a:pt x="1416390" y="811715"/>
                </a:lnTo>
                <a:lnTo>
                  <a:pt x="1525343" y="841098"/>
                </a:lnTo>
                <a:lnTo>
                  <a:pt x="1634296" y="808042"/>
                </a:lnTo>
                <a:lnTo>
                  <a:pt x="1743249" y="708873"/>
                </a:lnTo>
                <a:lnTo>
                  <a:pt x="1852202" y="525227"/>
                </a:lnTo>
                <a:lnTo>
                  <a:pt x="1961155" y="617050"/>
                </a:lnTo>
                <a:lnTo>
                  <a:pt x="2070108" y="675817"/>
                </a:lnTo>
                <a:lnTo>
                  <a:pt x="2179061" y="583994"/>
                </a:lnTo>
                <a:lnTo>
                  <a:pt x="2288014" y="550938"/>
                </a:lnTo>
                <a:lnTo>
                  <a:pt x="2396967" y="536246"/>
                </a:lnTo>
                <a:lnTo>
                  <a:pt x="2505920" y="415040"/>
                </a:lnTo>
                <a:lnTo>
                  <a:pt x="2614874" y="91823"/>
                </a:lnTo>
                <a:lnTo>
                  <a:pt x="2723827" y="146917"/>
                </a:lnTo>
                <a:lnTo>
                  <a:pt x="2832780" y="257104"/>
                </a:lnTo>
                <a:lnTo>
                  <a:pt x="2941733" y="227721"/>
                </a:lnTo>
                <a:lnTo>
                  <a:pt x="3050686" y="58767"/>
                </a:lnTo>
                <a:lnTo>
                  <a:pt x="3159639" y="0"/>
                </a:lnTo>
                <a:lnTo>
                  <a:pt x="3268592" y="132225"/>
                </a:lnTo>
                <a:lnTo>
                  <a:pt x="3377545" y="172627"/>
                </a:lnTo>
                <a:lnTo>
                  <a:pt x="3486498" y="249758"/>
                </a:lnTo>
                <a:lnTo>
                  <a:pt x="3595451" y="117533"/>
                </a:lnTo>
                <a:lnTo>
                  <a:pt x="3704404" y="102842"/>
                </a:lnTo>
                <a:lnTo>
                  <a:pt x="3813357" y="257104"/>
                </a:lnTo>
                <a:lnTo>
                  <a:pt x="3922311" y="260777"/>
                </a:lnTo>
                <a:lnTo>
                  <a:pt x="4031264" y="293833"/>
                </a:lnTo>
                <a:lnTo>
                  <a:pt x="4140217" y="532573"/>
                </a:lnTo>
                <a:lnTo>
                  <a:pt x="4249170" y="547265"/>
                </a:lnTo>
                <a:lnTo>
                  <a:pt x="4358123" y="488498"/>
                </a:lnTo>
                <a:lnTo>
                  <a:pt x="4467076" y="668471"/>
                </a:lnTo>
                <a:lnTo>
                  <a:pt x="4576029" y="819060"/>
                </a:lnTo>
                <a:lnTo>
                  <a:pt x="4684982" y="863135"/>
                </a:lnTo>
                <a:lnTo>
                  <a:pt x="4793935" y="899865"/>
                </a:lnTo>
                <a:lnTo>
                  <a:pt x="4902888" y="841098"/>
                </a:lnTo>
                <a:lnTo>
                  <a:pt x="5011841" y="885173"/>
                </a:lnTo>
                <a:lnTo>
                  <a:pt x="5120794" y="984342"/>
                </a:lnTo>
                <a:lnTo>
                  <a:pt x="5229748" y="1046781"/>
                </a:lnTo>
                <a:lnTo>
                  <a:pt x="5338701" y="1050454"/>
                </a:lnTo>
                <a:lnTo>
                  <a:pt x="5447654" y="1116567"/>
                </a:lnTo>
                <a:lnTo>
                  <a:pt x="5556607" y="1072492"/>
                </a:lnTo>
                <a:lnTo>
                  <a:pt x="5665560" y="866808"/>
                </a:lnTo>
                <a:lnTo>
                  <a:pt x="5774513" y="925575"/>
                </a:lnTo>
                <a:lnTo>
                  <a:pt x="5883466" y="921902"/>
                </a:lnTo>
                <a:lnTo>
                  <a:pt x="5992419" y="1024744"/>
                </a:lnTo>
                <a:lnTo>
                  <a:pt x="6101372" y="943940"/>
                </a:lnTo>
                <a:lnTo>
                  <a:pt x="6210325" y="808042"/>
                </a:lnTo>
                <a:lnTo>
                  <a:pt x="6319278" y="609704"/>
                </a:lnTo>
                <a:lnTo>
                  <a:pt x="6428232" y="708873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955587"/>
            <a:ext cx="6428232" cy="1261139"/>
          </a:xfrm>
          <a:custGeom>
            <a:avLst/>
            <a:gdLst/>
            <a:ahLst/>
            <a:cxnLst/>
            <a:rect l="l" t="t" r="r" b="b"/>
            <a:pathLst>
              <a:path w="6428232" h="1261139">
                <a:moveTo>
                  <a:pt x="0" y="823046"/>
                </a:moveTo>
                <a:lnTo>
                  <a:pt x="108953" y="772496"/>
                </a:lnTo>
                <a:lnTo>
                  <a:pt x="217906" y="605295"/>
                </a:lnTo>
                <a:lnTo>
                  <a:pt x="326859" y="565115"/>
                </a:lnTo>
                <a:lnTo>
                  <a:pt x="435812" y="657140"/>
                </a:lnTo>
                <a:lnTo>
                  <a:pt x="544765" y="559930"/>
                </a:lnTo>
                <a:lnTo>
                  <a:pt x="653718" y="330515"/>
                </a:lnTo>
                <a:lnTo>
                  <a:pt x="762671" y="0"/>
                </a:lnTo>
                <a:lnTo>
                  <a:pt x="871624" y="121837"/>
                </a:lnTo>
                <a:lnTo>
                  <a:pt x="980577" y="77768"/>
                </a:lnTo>
                <a:lnTo>
                  <a:pt x="1089530" y="357733"/>
                </a:lnTo>
                <a:lnTo>
                  <a:pt x="1198483" y="933217"/>
                </a:lnTo>
                <a:lnTo>
                  <a:pt x="1307437" y="973397"/>
                </a:lnTo>
                <a:lnTo>
                  <a:pt x="1416390" y="1125045"/>
                </a:lnTo>
                <a:lnTo>
                  <a:pt x="1525343" y="1150967"/>
                </a:lnTo>
                <a:lnTo>
                  <a:pt x="1634296" y="1077088"/>
                </a:lnTo>
                <a:lnTo>
                  <a:pt x="1743249" y="1084865"/>
                </a:lnTo>
                <a:lnTo>
                  <a:pt x="1852202" y="1082272"/>
                </a:lnTo>
                <a:lnTo>
                  <a:pt x="1961155" y="1071903"/>
                </a:lnTo>
                <a:lnTo>
                  <a:pt x="2070108" y="1043388"/>
                </a:lnTo>
                <a:lnTo>
                  <a:pt x="2179061" y="1000616"/>
                </a:lnTo>
                <a:lnTo>
                  <a:pt x="2288014" y="1092641"/>
                </a:lnTo>
                <a:lnTo>
                  <a:pt x="2396967" y="1244289"/>
                </a:lnTo>
                <a:lnTo>
                  <a:pt x="2505920" y="1163929"/>
                </a:lnTo>
                <a:lnTo>
                  <a:pt x="2614874" y="1187259"/>
                </a:lnTo>
                <a:lnTo>
                  <a:pt x="2723827" y="1227439"/>
                </a:lnTo>
                <a:lnTo>
                  <a:pt x="2832780" y="1261139"/>
                </a:lnTo>
                <a:lnTo>
                  <a:pt x="2941733" y="1227439"/>
                </a:lnTo>
                <a:lnTo>
                  <a:pt x="3050686" y="1248177"/>
                </a:lnTo>
                <a:lnTo>
                  <a:pt x="3159639" y="1207997"/>
                </a:lnTo>
                <a:lnTo>
                  <a:pt x="3268592" y="1192444"/>
                </a:lnTo>
                <a:lnTo>
                  <a:pt x="3377545" y="1080976"/>
                </a:lnTo>
                <a:lnTo>
                  <a:pt x="3486498" y="1090049"/>
                </a:lnTo>
                <a:lnTo>
                  <a:pt x="3595451" y="1189851"/>
                </a:lnTo>
                <a:lnTo>
                  <a:pt x="3704404" y="1170409"/>
                </a:lnTo>
                <a:lnTo>
                  <a:pt x="3813357" y="1141894"/>
                </a:lnTo>
                <a:lnTo>
                  <a:pt x="3922311" y="1093938"/>
                </a:lnTo>
                <a:lnTo>
                  <a:pt x="4031264" y="1029131"/>
                </a:lnTo>
                <a:lnTo>
                  <a:pt x="4140217" y="907294"/>
                </a:lnTo>
                <a:lnTo>
                  <a:pt x="4249170" y="788050"/>
                </a:lnTo>
                <a:lnTo>
                  <a:pt x="4358123" y="760831"/>
                </a:lnTo>
                <a:lnTo>
                  <a:pt x="4467076" y="916367"/>
                </a:lnTo>
                <a:lnTo>
                  <a:pt x="4576029" y="920256"/>
                </a:lnTo>
                <a:lnTo>
                  <a:pt x="4684982" y="918959"/>
                </a:lnTo>
                <a:lnTo>
                  <a:pt x="4793935" y="1014873"/>
                </a:lnTo>
                <a:lnTo>
                  <a:pt x="4902888" y="1126341"/>
                </a:lnTo>
                <a:lnTo>
                  <a:pt x="5011841" y="1091345"/>
                </a:lnTo>
                <a:lnTo>
                  <a:pt x="5120794" y="1038204"/>
                </a:lnTo>
                <a:lnTo>
                  <a:pt x="5229748" y="973397"/>
                </a:lnTo>
                <a:lnTo>
                  <a:pt x="5338701" y="959140"/>
                </a:lnTo>
                <a:lnTo>
                  <a:pt x="5447654" y="957843"/>
                </a:lnTo>
                <a:lnTo>
                  <a:pt x="5556607" y="1029131"/>
                </a:lnTo>
                <a:lnTo>
                  <a:pt x="5665560" y="1033019"/>
                </a:lnTo>
                <a:lnTo>
                  <a:pt x="5774513" y="1000616"/>
                </a:lnTo>
                <a:lnTo>
                  <a:pt x="5883466" y="956547"/>
                </a:lnTo>
                <a:lnTo>
                  <a:pt x="5992419" y="865818"/>
                </a:lnTo>
                <a:lnTo>
                  <a:pt x="6101372" y="817861"/>
                </a:lnTo>
                <a:lnTo>
                  <a:pt x="6210325" y="830822"/>
                </a:lnTo>
                <a:lnTo>
                  <a:pt x="6319278" y="872299"/>
                </a:lnTo>
                <a:lnTo>
                  <a:pt x="6428232" y="876187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262289"/>
            <a:ext cx="6428232" cy="929418"/>
          </a:xfrm>
          <a:custGeom>
            <a:avLst/>
            <a:gdLst/>
            <a:ahLst/>
            <a:cxnLst/>
            <a:rect l="l" t="t" r="r" b="b"/>
            <a:pathLst>
              <a:path w="6428232" h="929418">
                <a:moveTo>
                  <a:pt x="0" y="516344"/>
                </a:moveTo>
                <a:lnTo>
                  <a:pt x="108953" y="516344"/>
                </a:lnTo>
                <a:lnTo>
                  <a:pt x="217906" y="550766"/>
                </a:lnTo>
                <a:lnTo>
                  <a:pt x="326859" y="516344"/>
                </a:lnTo>
                <a:lnTo>
                  <a:pt x="435812" y="550766"/>
                </a:lnTo>
                <a:lnTo>
                  <a:pt x="544765" y="619612"/>
                </a:lnTo>
                <a:lnTo>
                  <a:pt x="653718" y="654035"/>
                </a:lnTo>
                <a:lnTo>
                  <a:pt x="762671" y="550766"/>
                </a:lnTo>
                <a:lnTo>
                  <a:pt x="871624" y="516344"/>
                </a:lnTo>
                <a:lnTo>
                  <a:pt x="980577" y="516344"/>
                </a:lnTo>
                <a:lnTo>
                  <a:pt x="1089530" y="550766"/>
                </a:lnTo>
                <a:lnTo>
                  <a:pt x="1198483" y="619612"/>
                </a:lnTo>
                <a:lnTo>
                  <a:pt x="1307437" y="654035"/>
                </a:lnTo>
                <a:lnTo>
                  <a:pt x="1416390" y="654035"/>
                </a:lnTo>
                <a:lnTo>
                  <a:pt x="1525343" y="654035"/>
                </a:lnTo>
                <a:lnTo>
                  <a:pt x="1634296" y="585189"/>
                </a:lnTo>
                <a:lnTo>
                  <a:pt x="1743249" y="550766"/>
                </a:lnTo>
                <a:lnTo>
                  <a:pt x="1852202" y="550766"/>
                </a:lnTo>
                <a:lnTo>
                  <a:pt x="1961155" y="447498"/>
                </a:lnTo>
                <a:lnTo>
                  <a:pt x="2070108" y="447498"/>
                </a:lnTo>
                <a:lnTo>
                  <a:pt x="2179061" y="172114"/>
                </a:lnTo>
                <a:lnTo>
                  <a:pt x="2288014" y="68846"/>
                </a:lnTo>
                <a:lnTo>
                  <a:pt x="2396967" y="137692"/>
                </a:lnTo>
                <a:lnTo>
                  <a:pt x="2505920" y="206537"/>
                </a:lnTo>
                <a:lnTo>
                  <a:pt x="2614874" y="172114"/>
                </a:lnTo>
                <a:lnTo>
                  <a:pt x="2723827" y="0"/>
                </a:lnTo>
                <a:lnTo>
                  <a:pt x="2832780" y="34423"/>
                </a:lnTo>
                <a:lnTo>
                  <a:pt x="2941733" y="34423"/>
                </a:lnTo>
                <a:lnTo>
                  <a:pt x="3050686" y="344229"/>
                </a:lnTo>
                <a:lnTo>
                  <a:pt x="3159639" y="344229"/>
                </a:lnTo>
                <a:lnTo>
                  <a:pt x="3268592" y="275383"/>
                </a:lnTo>
                <a:lnTo>
                  <a:pt x="3377545" y="344229"/>
                </a:lnTo>
                <a:lnTo>
                  <a:pt x="3486498" y="447498"/>
                </a:lnTo>
                <a:lnTo>
                  <a:pt x="3595451" y="550766"/>
                </a:lnTo>
                <a:lnTo>
                  <a:pt x="3704404" y="516344"/>
                </a:lnTo>
                <a:lnTo>
                  <a:pt x="3813357" y="516344"/>
                </a:lnTo>
                <a:lnTo>
                  <a:pt x="3922311" y="585189"/>
                </a:lnTo>
                <a:lnTo>
                  <a:pt x="4031264" y="447498"/>
                </a:lnTo>
                <a:lnTo>
                  <a:pt x="4140217" y="413075"/>
                </a:lnTo>
                <a:lnTo>
                  <a:pt x="4249170" y="447498"/>
                </a:lnTo>
                <a:lnTo>
                  <a:pt x="4358123" y="481921"/>
                </a:lnTo>
                <a:lnTo>
                  <a:pt x="4467076" y="619612"/>
                </a:lnTo>
                <a:lnTo>
                  <a:pt x="4576029" y="550766"/>
                </a:lnTo>
                <a:lnTo>
                  <a:pt x="4684982" y="550766"/>
                </a:lnTo>
                <a:lnTo>
                  <a:pt x="4793935" y="619612"/>
                </a:lnTo>
                <a:lnTo>
                  <a:pt x="4902888" y="654035"/>
                </a:lnTo>
                <a:lnTo>
                  <a:pt x="5011841" y="722881"/>
                </a:lnTo>
                <a:lnTo>
                  <a:pt x="5120794" y="722881"/>
                </a:lnTo>
                <a:lnTo>
                  <a:pt x="5229748" y="722881"/>
                </a:lnTo>
                <a:lnTo>
                  <a:pt x="5338701" y="791727"/>
                </a:lnTo>
                <a:lnTo>
                  <a:pt x="5447654" y="826150"/>
                </a:lnTo>
                <a:lnTo>
                  <a:pt x="5556607" y="894995"/>
                </a:lnTo>
                <a:lnTo>
                  <a:pt x="5665560" y="894995"/>
                </a:lnTo>
                <a:lnTo>
                  <a:pt x="5774513" y="894995"/>
                </a:lnTo>
                <a:lnTo>
                  <a:pt x="5883466" y="929418"/>
                </a:lnTo>
                <a:lnTo>
                  <a:pt x="5992419" y="860573"/>
                </a:lnTo>
                <a:lnTo>
                  <a:pt x="6101372" y="894995"/>
                </a:lnTo>
                <a:lnTo>
                  <a:pt x="6210325" y="826150"/>
                </a:lnTo>
                <a:lnTo>
                  <a:pt x="6319278" y="894995"/>
                </a:lnTo>
                <a:lnTo>
                  <a:pt x="6428232" y="82615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369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4850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6005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7161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ราคาโลก ปรับฐานเป็น 100 ณ 2021-07 · ข้อมูลรายเดือน 60 จุด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ตัวเลขเทียบปีก่อนซ่อนรูปทรงไว้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น้ำตาล: ราคาโลก −41% เทียบจุดสูงสุด 2023-09 — ลดลงใน 26 จาก 34 เดือนล่าสุด ไม่ใช่การย่อตัวปีเดียว
• ยางพารา: อยู่ต่ำกว่าระดับปี 2021 ของตัวเองถึง 21 จาก 60 เดือนล่าสุด และเพิ่งกลับขึ้นมาได้ หลังยืนเหนือระดับนั้นมา 30 เดือน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ราคาโลก ห้าปี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5 ปี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 5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ยางพารา ($/กก.)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92.20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-2.8%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ข้าว ($/ตัน)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15,488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ปาล์มน้ำมัน ($/ตัน)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36,515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 ($/กก.)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11.28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-41.4%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แปลงเป็นบาทเฉพาะช่อง ‘ล่าสุด’ — อัตราแลกเปลี่ยนวันนี้ใช้กับราคาวันนี้ ไม่ใช่ราคาปี 2021–23 ช่อง ‘จุดสูงสุด 5 ปี’ จึงคงเป็นดอลลาร์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ราคารายเดือนสกุลดอลลาร์ราคาปัจจุบันจาก World Bank Pink Sheet รุ่นข้อมูล 2026M07 (ข้อมูล 60 จุดต่อรายการ ปรับฐานเป็น 100 ณ 2021-07 เพื่อวาดกราฟ — หน่วยต่างกัน จึงใช้แกนเดียวกับระดับราคาดิบไม่ได้) แปลงเป็นบาทด้วยอัตราอ้างอิง ECB USD/THB 33.165 ณ 2026-08-31 สัดส่วนพื้นที่ปลูก วัดจริง จากสัดส่วนพืชของ สศก./กรมส่งเสริมการเกษตร (crop_mix.json) เป็นราคาปัจจุบัน ไม่ได้ปรับเงินเฟ้อ: ทุกตัวเลข ‘เทียบ 5 ปีก่อน’ มีเงินเฟ้อไทยห้าปีซ่อนอยู่ข้างใต้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แหล่งเพาะปลูก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แต่ละภาคปลูกอะไร และราคารอบนี้ทำอะไรกับรายได้ของเขา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พืชที่มีราคาหน้าฟาร์มไทย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ข้าว ยางพารา อ้อย ปาล์มน้ำมัน มันสำปะหลัง ข้าวโพด มะพร้าว สับปะรด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ราคาหน้าฟาร์มที่ลดลง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มะพร้าว −67.4% สับปะรด −18.4% อ้อย −17.9% เทียบปีก่อน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ผลกระทบรายได้พืช ค่ากลางรายจังหวัด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+16.8%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ประเทศส่วนใหญ่ได้ประโยชน์จากราคารอบนี้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จังหวัดที่รายได้ลดลง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ทั้งสี่จังหวัดอยู่ในแหล่งปลูกมะพร้าวฝั่งอ่าวไทยตะวันตก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ราคาหน้าฟาร์ม (ราคาที่เกษตรกรขายได้) = เงินที่เกษตรกรได้รับเมื่อขายครั้งแรก — ก่อนที่พ่อค้าคนกลาง โรงสี หรือค่าขนส่งจะหักส่วนแบ่งไป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กระทบรายได้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ถอยหลัง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+6.7%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+11.6%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+34.4%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ดีต่อภาคเกษตร แทบทุกพื้นที่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ราคาหน้าฟาร์ม: ยางพารา +40% มันสำปะหลัง +74% ปาล์ม +23% ข้าว +14% รายได้จากพืชเพิ่มขึ้นทุกภาค
•  มีสี่จังหวัดที่ลดลง — ทั้งหมดเป็นมะพร้าว และอยู่ฝั่งอ่าวไทยตะวันตก ราคามะพร้าวลดลง 67%
•  กำไรบนกระดาษยังไม่ใช่เงินสด — ตารางถัดไปหักราคาด้วยต้นทุน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พื้นที่ปลูกมากสุด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สัดส่วนพืช % 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ผลกระทบ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67%, มันสำปะหลัง 12%, อ้อย 12%, ข้าวโพด 7%, ยางพารา 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79%, ยางพารา 12%, มันสำปะหลัง 8%, ข้าวโพด 1%, ปาล์มน้ำมัน &lt;1%, อ้อย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65%, อ้อย 20%, ข้าวโพด 9%, มันสำปะหลัง 6%, ยางพารา &lt;1%,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+11.8%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60%, ปาล์มน้ำมัน 39%, มะพร้าว 1%, ข้าว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82%, ยางพารา 8%, อ้อย 5%, มันสำปะหลัง 4%, ปาล์มน้ำมัน &lt;1%, ข้าวโพด &lt;1%, มะพร้าว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+17.1%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88%, ยางพารา 7%, อ้อย 4%, มันสำปะหลัง 2%, ปาล์มน้ำมัน &lt;1%, มะพร้าว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+15.6%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รายจังหวัด) สัดส่วนพืช วัดจริง — ทุกพืชที่ สศก. เก็บข้อมูลของจังหวัดนั้น เป็นสัดส่วนของพื้นที่ปลูก ปัดเป็นจำนวนเต็ม และแสดงทุกพืช ไม่ใช่เฉพาะพืชหลัก สัดส่วนที่ปัดแล้วเป็นศูนย์แสดงเป็น “&lt;1%” และส่วนต่างจากการปัดแสดงตรงไปตรงมาว่า “อื่น ๆ” การเปลี่ยนแปลงราคาหน้าฟาร์ม วัดจริง (NABC/สอน.) ระดับรายได้เกษตร วัดจริง (สสช./สศก. บาทต่อเดือน) ผลกระทบต่อรายได้เป็น ประมาณการ — ถ่วงน้ำหนักสัดส่วนพืชของแต่ละจังหวัดด้วยการเปลี่ยนแปลงราคาที่วัดได้ คิดเป็นร้อยละของรายได้เกษตรที่วัดได้ แสดง 6 จาก 77 จังหวัด เรียงตามพื้นที่ปลูก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ทุกสินค้าเกษตร ณ ราคาหน้าฟาร์ม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เกษตรกรได้รับเงินเท่าไร และราคาเคลื่อนไปทางไหน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สินค้าเกษตร 17 รายการมีราคาหน้าฟาร์มไทยที่วัดได้จริง (ราคาที่เกษตรกรขายได้) และ 12 รายการมีข้อมูลราคารายเดือนจริง — คือเส้นกราฟด้านล่างนี้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สามรายการมีทิศทางไม่ตรงกันระหว่างเทียบปีก่อนกับหกเดือน ตัวเลขรายปีเพียงตัวเดียวจึงอาจชี้ผิดทางได้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เส้นกราฟแต่ละเส้นปรับสเกลตามช่วงของตัวเอง: ให้ดูรูปทรง ไม่ใช่ความสูง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฿596.84 /ร้อยผล · ใต้·ตอ.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−67.4%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−50.7%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70673"/>
                </a:lnTo>
                <a:lnTo>
                  <a:pt x="825886" y="145193"/>
                </a:lnTo>
                <a:lnTo>
                  <a:pt x="1238829" y="399195"/>
                </a:lnTo>
                <a:lnTo>
                  <a:pt x="1651772" y="457200"/>
                </a:lnTo>
                <a:lnTo>
                  <a:pt x="2064715" y="409348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14220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฿9.77 /กก. · ตอ.·ตต.·เหนือ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+48.0%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6494"/>
                </a:moveTo>
                <a:lnTo>
                  <a:pt x="412943" y="401128"/>
                </a:lnTo>
                <a:lnTo>
                  <a:pt x="825886" y="457200"/>
                </a:lnTo>
                <a:lnTo>
                  <a:pt x="1238829" y="380999"/>
                </a:lnTo>
                <a:lnTo>
                  <a:pt x="1651772" y="21278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กุ้งขาว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฿143.14 /กก. · ชายฝั่งใต้·ตอ.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+0.9%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−2.0%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16948"/>
                </a:moveTo>
                <a:lnTo>
                  <a:pt x="412943" y="415955"/>
                </a:lnTo>
                <a:lnTo>
                  <a:pt x="825886" y="457200"/>
                </a:lnTo>
                <a:lnTo>
                  <a:pt x="1238829" y="420285"/>
                </a:lnTo>
                <a:lnTo>
                  <a:pt x="1651772" y="170341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ไก่เนื้อ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฿43.05 /กก. · กลาง·ตอ.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+3.9%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+2.4%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19484"/>
                </a:lnTo>
                <a:lnTo>
                  <a:pt x="825886" y="305129"/>
                </a:lnTo>
                <a:lnTo>
                  <a:pt x="1238829" y="457200"/>
                </a:lnTo>
                <a:lnTo>
                  <a:pt x="1651772" y="245880"/>
                </a:lnTo>
                <a:lnTo>
                  <a:pt x="2064715" y="91834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49670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ไข่ไก่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฿350.53 /ร้อยฟอง · กลาง·ตอ.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+4.4%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+15.9%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18744"/>
                </a:lnTo>
                <a:lnTo>
                  <a:pt x="825886" y="218744"/>
                </a:lnTo>
                <a:lnTo>
                  <a:pt x="1238829" y="309310"/>
                </a:lnTo>
                <a:lnTo>
                  <a:pt x="1651772" y="12817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สุกร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฿71.18 /กก. · กลาง·ตต.·ตอ.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+13.1%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+28.2%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71819"/>
                </a:moveTo>
                <a:lnTo>
                  <a:pt x="412943" y="140924"/>
                </a:lnTo>
                <a:lnTo>
                  <a:pt x="825886" y="457200"/>
                </a:lnTo>
                <a:lnTo>
                  <a:pt x="1238829" y="309849"/>
                </a:lnTo>
                <a:lnTo>
                  <a:pt x="1651772" y="196008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ข้าวหอมมะลิ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฿17,763 /ตัน · อีสาน·เหนือ·กลาง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+14.0%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+7.7%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41371"/>
                </a:lnTo>
                <a:lnTo>
                  <a:pt x="825886" y="153981"/>
                </a:lnTo>
                <a:lnTo>
                  <a:pt x="1238829" y="34219"/>
                </a:lnTo>
                <a:lnTo>
                  <a:pt x="1651772" y="23720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ข้าวโพดเลี้ยงสัตว์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฿9.76 /กก. · เหนือ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+16.8%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+9.7%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50931"/>
                </a:lnTo>
                <a:lnTo>
                  <a:pt x="825886" y="79083"/>
                </a:lnTo>
                <a:lnTo>
                  <a:pt x="1238829" y="0"/>
                </a:lnTo>
                <a:lnTo>
                  <a:pt x="1651772" y="54369"/>
                </a:lnTo>
                <a:lnTo>
                  <a:pt x="2064715" y="29409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80538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฿8.51 /กก. · ใต้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+23.1%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+24.6%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3709"/>
                </a:moveTo>
                <a:lnTo>
                  <a:pt x="412943" y="439749"/>
                </a:lnTo>
                <a:lnTo>
                  <a:pt x="825886" y="457200"/>
                </a:lnTo>
                <a:lnTo>
                  <a:pt x="1238829" y="293166"/>
                </a:lnTo>
                <a:lnTo>
                  <a:pt x="1651772" y="76781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฿81.23 /กก. · ใต้·ตอ.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+39.8%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+34.6%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82748"/>
                </a:lnTo>
                <a:lnTo>
                  <a:pt x="825886" y="158359"/>
                </a:lnTo>
                <a:lnTo>
                  <a:pt x="1238829" y="0"/>
                </a:lnTo>
                <a:lnTo>
                  <a:pt x="1651772" y="39334"/>
                </a:lnTo>
                <a:lnTo>
                  <a:pt x="2064715" y="12209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63338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฿3.81 /กก. · อีสาน·เหนือ·ตอ.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+73.7%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+51.8%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57809"/>
                </a:lnTo>
                <a:lnTo>
                  <a:pt x="825886" y="278296"/>
                </a:lnTo>
                <a:lnTo>
                  <a:pt x="1238829" y="178905"/>
                </a:lnTo>
                <a:lnTo>
                  <a:pt x="1651772" y="14312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฿146.32 /ร้อยผล · กลาง·ตต.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+111.6%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−30.3%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13177"/>
                </a:moveTo>
                <a:lnTo>
                  <a:pt x="412943" y="0"/>
                </a:lnTo>
                <a:lnTo>
                  <a:pt x="825886" y="259737"/>
                </a:lnTo>
                <a:lnTo>
                  <a:pt x="1238829" y="443342"/>
                </a:lnTo>
                <a:lnTo>
                  <a:pt x="1651772" y="457200"/>
                </a:lnTo>
                <a:lnTo>
                  <a:pt x="2064715" y="416732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5034451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มีราคาแต่ไม่ได้พล็อตกราฟ — ไม่มีข้อมูลรายเดือน: น้ำตาล −17.9% (รายปี ราคาประกาศ) · เงาะ −13.5% · เนื้อวัว −6.1% · ทุเรียน +7.0% · ลำไย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ราคาหน้าฟาร์ม วัดจริง — ราคารายวันของ NABC เฉลี่ยเป็นรายเดือน หน่วยเป็นบาทตามที่เผยแพร่ (ไม่มีการแปลงสกุลเงิน) ราคาล่าสุด 2026-08-28, รุ่นข้อมูลย้อนหลัง 2026-08-29 ราคาหน้าฟาร์ม (ราคาที่เกษตรกรขายได้) คือเงินที่เกษตรกรได้รับเมื่อขายครั้งแรก ก่อนพ่อค้าคนกลาง โรงสี หรือค่าขนส่งจะหักส่วนแบ่ง — ไม่ใช่ดัชนีโลก และไม่ใช่ราคาในซูเปอร์มาร์เก็ต แหล่งผลิตเป็นการอ่านแบบ ประมาณการ ว่าสินค้าแต่ละชนิดผลิตที่ไหน และทับซ้อนกันได้ น้ำตาลเป็นราคาอ้อยประกาศของ สอน. ปีละหนึ่งจุด จึงไม่มีการเปลี่ยนแปลงหกเดือนให้แสดง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รายได้ ณ ปัจจุบัน รายภาค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แต่ละอาชีพมีรายได้เท่าไร จุดต่ำสุดอยู่ตรงไหน และเคลื่อนไปทางใด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รายได้ต่อเดือน ณ ปัจจุบัน แยกตามภาคและอาชีพ — เทียบกับค่าจ้างของภาคนั้นเอง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จังหวัดเกษตรที่อ่อนสุด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โรงงาน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ขนส่ง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ธุรกิจส่วนตัว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ออฟฟิศ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ค่าจ้างลูกจ้าง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เกษตร/ค่าจ้าง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รายได้ วัดจริง — รายได้รายจังหวัดจากการสำรวจภาวะเศรษฐกิจและสังคมของครัวเรือน สสช. (สสช. SES 2566) ค่าจ้างรายภาคจากการสำรวจแรงงาน สสช. (2568 (เฉลี่ย 4 ไตรมาส)) หน่วยบาท/เดือน ค่าของภาค = ค่าเฉลี่ยไม่ถ่วงน้ำหนักของจังหวัดในภาคนั้น การเปลี่ยนแปลงเป็น ประมาณการ — แบบจำลองลำดับที่หนึ่งของรอบราคาและน้ำมัน (ตัวขับเคลื่อนราคาน้ำมัน 2026M07) ใช้ค่าสัมประสิทธิ์ที่มีเอกสารอ้างอิง ไม่ได้ประมาณค่าทางสถิติ ไม่มีข้อมูล SES/LFS รายเดือน จึงไม่มีตัวเลข 6 เดือนวางเทียบไว้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945255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945255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เกษตรกร — เพิ่มขึ้นทุกภาค แต่ยังเป็นพื้นล่างสุด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296028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เป็นอาชีพที่รายได้ขยับดีที่สุดในทุกภาค — และยังได้ค่าตอบแทนต่ำที่สุด
• ภาคเหนือ ฿7,157 เทียบค่าจ้าง ฿15,407 (46%) อีสาน ฿8,030 เทียบ ฿14,805 (54%)
• พื้นล่างสุด: นราธิวาส ฿2,742/เดือน — ออกแบบมาตรการตามตัวเลขนี้ ไม่ใช่ค่าเฉลี่ย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945255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945255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ขนส่ง — ตัวเลขเดียว ไม่ใช่ห้าตัว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2960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 −2.75% ทุกภาค โรงงานเคลื่อนไปทางเดียวกัน ส่วนออฟฟิศนิ่ง — เพราะไม่มีช่องทางส่งผ่านในแบบจำลอง ซึ่งไม่เหมือนกับการไม่เปลี่ยนแปลง
• มาจากการเคลื่อนไหวของราคาน้ำมันดิบที่วัดได้หนึ่งค่า ผ่านค่าสัมประสิทธิ์ที่เลือกไว้หนึ่งค่า ไม่มีข้อมูลดีเซลหรือค่าขนส่งของไทยรองรับ
• ยังสำคัญ: อาชีพนี้ตัวรถคือรายได้ โทรไปก่อนดีกว่าโทรไปสาย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น้ำ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ที่ไหนแล้งที่สุด และที่ไหนน้ำมากที่สุด — ณ ตอนนี้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(ภัยแล้ง) เป็นแบบจำลองที่ปรับเดือนละครั้ง — บอกว่าฤดูกาลเป็นอย่างไร ไม่ใช่อากาศวันนี้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วัดจริงทุกวัน — สถานีวัดฝนและระดับน้ำในแม่น้ำ (น้ำท่วม) แบบเรียลไทม์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เป็นสำมะโนแยกต่างหากย้อนหลัง 12 ปี — พื้นที่ที่เคยท่วมมาก่อน ไม่ใช่สิ่งที่เกิดขึ้นตอนนี้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อำเภอที่แล้ง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928 (36.4%) · ค่าเฉลี่ย SPEI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ระดับรุนแรงมาก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อำเภอที่อยู่ในระดับแล้งรุนแรงมาก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 × พืช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3,295 อำเภอ×พืชที่วัดได้ อยู่ในระดับแล้งรุนแรงขึ้นไป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สถานีน้ำเกินระดับเฝ้าระวัง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131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792 (16.5%) · เรียลไทม์ · 2026-09-02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จังหวัดที่ฝนหนัก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18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ค่าล่าสุดรายวัน · 2026-09-02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พื้นที่ที่ท่วมซ้ำซาก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ที่ตั้งสาขา 685 จาก 2,015 แห่ง เคยท่วม 7+ ใน 12 ปี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ภัยแล้ง — พื้นที่เพาะปลูกที่หนักที่สุด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ฝนและแม่น้ำ (น้ำท่วม) — หนักที่สุดวันนี้ เรียลไทม์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พื้นที่แล้งสุด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ไร่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ฝนมากสุดวันนี้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สถานีวัดฝน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มม./24 ชม.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ฝนหนัก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ระดับน้ำ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สกลนคร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7/12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อุทัยธานี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เลย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บึงกาฬ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36.4%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อุดรธานี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17.1%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3/7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16.7%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ภัยแล้งรุนแรงช่วงเพาะปลูกหมายถึงผลผลิตน้อยลงและเงินสดน้อยลงในฤดูกาลนี้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ระดับน้ำสูงและฝนหนักกำลังคุกคามถนน ไร่นา และสาขาในตอนนี้ — เป็นค่าที่อ่านได้วันนี้ ไม่ใช่พยากรณ์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7383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7676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7520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— ข้อมูลอำเภอ×พืช 3,295 แถว) ภัยแล้งเป็นดัชนี SPEI จาก แบบจำลอง คำนวณจากปริมาณฝนและการคายระเหย ปรับเดือนละครั้ง ดึงข้อมูล 2026-07-20 — เป็นสัญญาณที่ครอบคลุมทั้งประเทศดีที่สุดที่มี แต่ไม่มีใครลงพื้นที่ไปเดินดูอำเภอเหล่านั้น ข้อมูลฝนและระดับน้ำ วัดจริง (ThaiWater เรียลไทม์ ดึงทุกวันและสะสมไว้ — วันที่ดึงไม่สำเร็จจะเว้นเป็นช่องว่าง ไม่ใส่ค่าสมมติ) · ฝนถึง 2026-09-02, ระดับน้ำถึง 2026-09-02 ความเสี่ยงน้ำท่วมเชิงโครงสร้าง วัดจริง (สำมะโนพื้นที่ท่วมซ้ำซาก GISTDA มาตราส่วน 1:50,000 ปี 2005-2016 — เป็นบันทึกภาคพื้นดิน 12 ปี ไม่ใช่การพยากรณ์)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ควรติดต่อที่ไหนก่อน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จังหวัดเรียงตามจำนวนสัญญาณความเครียดที่เข้าเงื่อนไข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หนี้  —  หนี้ต่อรายได้ ≥ 100% ของรายได้ทั้งปี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การว่างงาน  —  อัตราว่างงาน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พืชหลัก  —  พืชหลักขายได้ต่ำกว่าต้นทุน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ฝน  —  ปริมาณฝน &lt; 90% ของค่าปกติ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เรียงตามจำนวนสัญญาณที่เข้าเงื่อนไข หากเท่ากันตัดสินด้วยหนี้ + การว่างงาน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พืชหลัก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เศรษฐกิจของพืช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ฝนเทียบค่าปกติ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สัญญาณ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หนี้ครัวเรือนต่อรายได้ วัดจริง (สสช. SES 2566 — หนี้เป็นสัดส่วนของรายได้ ทั้งปี ดังนั้นเกิน 100% หมายถึงหนี้มากกว่ารายได้หนึ่งปี) การว่างงาน วัดจริง (สำรวจแรงงาน สสช. รายจังหวัด) พืชหลัก วัดจริง (พื้นที่ปลูก สศก. ครบทั้งแปดพืช) เศรษฐกิจของพืชเป็น ประมาณการ จากต้นทุนการผลิตของ สศก. (2568 (ปีเพาะปลูก 2568/69, ประมาณการ สศก. มี.ค. 2569)) ปริมาณฝน วัดจริง เทียบค่าปกติระยะยาว ซึ่งเป็นเครื่องมือคนละตัวกับดัชนี SPEI สองหน้าก่อน มีสองจังหวัดที่ไม่มีสถานีวัดและไม่สามารถเข้าเงื่อนไขสัญญาณนี้ได้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พืชแยกแยะได้ไม่ดี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สัญญาณนี้เข้าเงื่อนไข 70 จาก 77 จังหวัด — เป็นความเสี่ยงระดับประเทศ ไม่ได้บอกว่าควรโทรหาใคร ตัวที่แยกรายการนี้ออกจากกันคือหนี้ การว่างงาน และฝน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หลักประกัน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ครึ่งหลังนี้คือส่วนที่มีการตัดสินใจผูกอยู่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800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เราปล่อยกู้โดยใช้เล่มทะเบียนเป็นหลักประกัน ตลาดรถมือสองจึงเป็นปัจจัยภายนอกที่กำหนดราคาหลักประกันของเราโดยตรง มีห้าเรื่องเคลื่อนไหวพร้อมกัน: รถมือสองมีมูลค่าเท่าไร มีรถเข้ามาในกองมากน้อยแค่ไหน เป็นแบรนด์อะไร อยู่รุ่นไหนภายใต้แบรนด์นั้น และขายต่อได้ง่ายแค่ไหน รุ่นที่ไม่มีสถิติราคามือสองในไทยคือสมมติฐานการเรียกคืนที่ยังไม่มีใครตั้งได้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มูลค่าขายต่อ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ราคาหยุดตกแล้ว แต่ระดับยังไม่ฟื้น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ดัชนีราคารถมือสอง ธปท.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ต่ำสุด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เทียบฐานปี 2015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จากจุดสูงสุดตลอดกาล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รถมือสองทุกประเภท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รถยนต์นั่ง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รถกระบะ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ดัชนี 2015 = 100 · รายเดือน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สองหน้าต่าง ข้อความเดียว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 +12.5% ใน 6 เดือน และ −0.4% ใน 12 เดือน — ราคาหยุดตกแล้ว
• รถยนต์ +6.0% ใน 6 เดือน และ −8.3% ใน 12 เดือน — รูปทรงเดียวกัน แต่ระดับอ่อนกว่า
• กระบะต่ำกว่าฐานปี 2015 อยู่ 33 จุด รถยนต์ 12 จุด
• อัตราปล่อยกู้ที่ตั้งไว้ก่อนปี 2022 ตีราคาตลาดที่ไม่มีอยู่แล้ว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ดัชนีราคารถมือสองของธนาคารแห่งประเทศไทย (EC_EI_040) ข้อมูลรายเดือน 185 จุด การเปลี่ยนแปลง 6 และ 12 เดือนคำนวณจากชุดข้อมูลที่เผยแพร่ ปรับฐานเป็น 2015 = 100 กระบะ = รถกระบะที่ยืนยันแล้ว ไม่ใช่รถบรรทุกหนัก (ตามวิธีวัด Stat-Horizon ของ ธปท. ปี 2019) เดือนล่าสุดเป็นข้อมูลเบื้องต้น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อุปทานหลักประกัน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เคลื่อนไปคนละทาง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ตามนิยามกระบะของ AutoX เอง — กระบะหรือ PPV ทุกประเภท เทียบหน้าต่างหกเดือนกับ 12 เดือนคู่กัน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 เดือน 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6 เดือน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 เดือน เทียบปีก่อน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แนวโน้ม 6 ด. ตัดเดือนผิดปกติ คัน/ด.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 + 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เดือนที่ถูกตั้งข้อสังเกตในช่วงนี้: 2025-12, 2026-01 — ยอดจดทะเบียนถูกเร่งมาก่อนหมดเขตมาตรการส่งเสริม ตัดออกเฉพาะเดือนสุดท้ายจากคอลัมน์แนวโน้ม ส่วนคอลัมน์เทียบปีก่อนทั้งสองยังคงนับรวมไว้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ยอดจดทะเบียนรายเดือน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ยอดจดทะเบียนรายเดือน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“แนวโน้ม” ของกระบะคือเดือนผิดปกติเดือนเดียว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ลดลงห้าเดือนติด แล้วมีหนึ่งเดือนกระโดด — เป็นแท่งเดียว ไม่ใช่การกลับทิศ
• ความชันเมื่อรวมเดือนนั้น: +131/เดือน หากตัดออก: -986/เดือน
• แม้แต่เดือนนั้นเองกระบะก็ยัง −14.6% เทียบปีก่อน — ยังลดลงอยู่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“การเติบโต” ของรถยนต์ส่วนใหญ่มาจากเดือนเดียว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การเติบโตรถยนต์ 6 เดือน: +34.3% หากตัดเดือนผิดปกติ: +11.0%
• เดือนนั้นเดือนเดียว +69.3% เทียบปีก่อน — เป็นการเร่งยอดมาก่อน ไม่ใช่ความต้องการจริง
• ตัวเลข 12 เดือนที่ +19.8% เป็นค่าที่อ่านได้ปลอดภัยกว่า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 วัดจริง — ยอดจดทะเบียนครั้งแรกจาก gdcatalog ของกรมการขนส่งทางบก 48 เดือน ตั้งแต่ 2022-01 ตัวเลขที่ตัดเดือนผิดปกติออกเป็นการคำนวณของเราเองบนชุดข้อมูลนั้น — ประมาณการ และเป็นการใช้วิจารณญาณว่าจะเชื่อเดือนไหน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การกระจุกตัวของแบรนด์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และมีเพียงตลาดเดียวที่ยังรักษารูปทรงไว้ได้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 2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ปีก่อนอยู่ที่ 80.5%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 5 อันดับแรก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ลดลง 9.4 จุดในหนึ่งปี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แบรนด์กระบะอันดับ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ถัดไปคือ MITSUBISHI ที่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แบรนด์รถยนต์ใหม่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ไม่มีสถิติราคามือสองในไทย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จดทะเบียน 183,277 คันใน 12 เดือน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จดทะเบียน 443,641 คันใน 12 เดือน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แบรนด์กระบะ + PPV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ระดับรายรุ่น ย้อนหลัง 12 เดือน ระดับประเทศเท่านั้น — ไม่มีคอลัมน์รายจังหวัด ยอดจดทะเบียนครั้งแรกคือกองหลักประกัน ในอนาคต ไม่ใช่จำนวนรถที่วิ่งอยู่บนถนน และไม่ใช่ยอดขายรถมือสอง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สองตลาด คนละทิศทาง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กระบะ: Toyota + Isuzu ครอง 78.7% ลดลงเพียง 1.8 จุดในหนึ่งปี กองรถเล็กลง แต่รูปทรงแทบไม่เปลี่ยน
• รถยนต์: เสียส่วนแบ่งไป 9.4 จุดในหนึ่งปี รถยนต์ใหม่ 26.8% ไม่มีสถิติราคามือสองในไทย
• เรารู้ว่า Hilux อายุห้าปีมีมูลค่าเท่าไร แต่เรายังไม่รู้ว่า BYD อายุห้าปีมีมูลค่าเท่าไร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รุ่นรถ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 5 รุ่นแรกคิดเป็น 78.0% ของตลาด ส่วนรถยนต์รุ่นที่ใหญ่ที่สุดมีเพียง 12.5%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 5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จากกระบะและ PPV 183,277 คันที่จดทะเบียนใน 12 เดือน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 5 อันดับแรก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จากรถยนต์ 443,641 คัน — เกณฑ์ห้ารุ่นเดียวกัน ได้ไม่ถึงครึ่ง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รุ่นกระบะที่ใหญ่สุด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คัน · -21.5% เทียบปีก่อน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รุ่นรถยนต์ที่ใหญ่สุด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คัน · +18.3% เทียบปีก่อน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— สัดส่วนของตลาดกระบะ + PPV 183,277 คัน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 — สัดส่วนของตลาดรถยนต์ 443,641 คัน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รุ่นใหม่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ย้อนหลัง 12 เดือน ถึง 2026-01, ระดับประเทศเท่านั้น สัดส่วนกระบะคิดจากกระบะ + PPV รวมกัน สัดส่วนรถยนต์คิดจากรถยนต์ แต่ละฝั่งจึงเป็นสัดส่วนของตลาดตัวเอง มีข้อควรระวังหนึ่งข้อที่กระทบเฉพาะตารางขวา: ขบ. แจ้งรุ่นรถยนต์แยกตามรุ่นย่อย — มีชื่อรุ่นรถยนต์ต่างกัน 1,235 ชื่อ จากรถ 443,641 คัน เฉพาะ Toyota แจ้งถึง 172 ชื่อ ดังนั้นสัดส่วนรถยนต์แต่ละรุ่นเป็นค่าต่ำสุด การรวมรุ่นย่อยทั้งหมดก็ยังไม่ปิดช่องว่างนี้: ยอดรถยนต์ทั้งหมดของ BYD อยู่ที่ 11.3% ซึ่งยังต่ำกว่ารุ่นกระบะรุ่นเดียวที่ใหญ่ที่สุด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รุ่นกระบะ 5 อันดับแรกครอง 78.0% ของตลาด — ตีราคาได้จากสถิติราคามือสองในไทยหลายปี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รุ่นรถยนต์ 5 อันดับแรกครองเพียง 32.5% และรุ่นที่ใหญ่ที่สุดมีแค่ 12.5%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แบรนด์ใหม่ — BYD, MG, Jaecoo, AION, Deepal — ไม่มีสถิติราคามือสองในไทย บางรุ่นเพิ่งจดทะเบียนปีนี้เป็นปีแรก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อัตราปล่อยกู้กำหนดเป็นรายรุ่น ฝั่งกระบะมีห้าแถวที่เราตีราคาได้ ส่วนรถยนต์เป็นหางยาวที่เรายังตีราคาไม่ได้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รุ่นรถ ย้อนหลังสี่ปี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กระบะที่เข้าสู่ท้องถนนลดลง 59% ตั้งแต่ปี 2022 ขณะที่รถยนต์เพิ่มขึ้น 7%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ในสี่ปี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ในสี่ปี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+ PPV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รุ่นรถยนต์นั่ง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อ่านจากไฟล์สรุปรายปี เพื่อไม่ให้เดือน 2023-12 ที่ขาดไปในชุดข้อมูลบิดเบือนตัวเลขทั้งปี ปี 2022–2025 เป็นปีที่เผยแพร่ครบเพียงเท่านี้ ตัวเลขเหล่านี้คือรถที่ เข้าสู่ กองรถ ไม่ใช่จำนวนรถที่วิ่งอยู่บนถนน — ไม่มีชุดข้อมูลของ ขบ. ใดที่มีคอลัมน์ยี่ห้อหรือรุ่นควบคู่กับรถจดทะเบียนสะสม ดังนั้นจำนวนรถทั้งหมดแยกตามรุ่นจึงไม่มีอยู่ และไม่ได้แสดงไว้ที่นี่ เครื่องหมายขีดหมายถึงรุ่นนั้นอยู่นอก 15, อันดับแรกของปีนั้น ไม่ได้หมายความว่าไม่มีการจดทะเบียนเลย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กองหลักประกันหดตัวเร็วกว่าที่รูปทรงจะเปลี่ยน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สี่ปีที่ผ่านมาดึงกระบะออกจากยอดจดทะเบียนไป 267,340 คันต่อปี — คิดเป็น 59% — ขณะที่รถยนต์แทบไม่เปลี่ยน กระบะใหม่ที่น้อยลงวันนี้หมายถึงกระบะอายุห้าปีที่จะให้กู้ได้ในอนาคตจะน้อยลงตามไปด้วย และรุ่นรถก็ยังเป็นรุ่นเดิม: นี่คือปัญหาปริมาณ ไม่ใช่ปัญหาส่วนผสม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ตลาดรถมือสอง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กระบะคิดเป็น 17% ของรถทั้งหมด — รถยนต์ 34% จักรยานยนต์ 46%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รถกระบะจดทะเบียน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กระบะจดทะเบียนทั้งประเทศ · -0.77% เทียบปีก่อน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รถยนต์นั่งจดทะเบียน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 ล้าน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เทียบปีก่อน · +19.3% ตั้งแต่ปี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สัดส่วนดีเซล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 44.3 ล้านคัน — สิ่งที่ตลาดใช้อยู่วันนี้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 BEV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ไฟฟ้ารวม 2.57% — ยังไม่ใช่ปัจจัยในไตรมาสนี้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จดทะเบียนสะสม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สัดส่วนจักรยานยนต์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จยย.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รถจดทะเบียนสะสมและการโอนกรรมสิทธิ์ของกรมการขนส่งทางบก แยกตามภาคและประเภท (กระบะ · รถยนต์นั่ง · จักรยานยนต์) รวมกับยอดรถทั้งหมดของกระทรวงคมนาคม สัดส่วน = รถจดทะเบียนของประเภทนั้น ÷ รถจดทะเบียนทั้งหมดในภาค อัตราเปลี่ยนมือ = จำนวนการโอน ÷ รถจดทะเบียนสะสม — บอกว่ารถในกองเปลี่ยนมือกันปีละเท่าไร ซึ่งคือความลึกของตลาดที่เล่มทะเบียนที่ยึดมาต้องไปขาย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เล็กและช้า ในเวลาเดียวกัน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กระบะคิดเป็นเพียง 17% ของรถทั้งหมด — รถยนต์ 34% จักรยานยนต์ 46% — และยังเปลี่ยนมือช้าที่สุด: กระบะเปลี่ยนมือ 5.2–7.6% ต่อปี เทียบกับรถยนต์ 5.6–10.2% โดยช้าที่สุดที่ภาคตะวันออก
ตลาดที่เล็กและช้ากว่าหมายถึงระยะเวลาขายทอดตลาดที่นานขึ้น และส่วนลดที่กว้างขึ้นเมื่อยึดเล่มทะเบียนมา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รถไฟฟ้าเป็นนาฬิกา ไม่ใช่ปัญหา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รถ BEV คิดเป็น 0.9% ของรถทั้งหมด ไฟฟ้ารวม 2.6% — ยังไม่ใช่ปัจจัยในวันนี้
แต่เล่มทะเบียนขายต่อกันในช่วงห้าถึงสิบปี และรถยนต์ใหม่ 27% ไม่มีสถิติราคามือสองในไทยอยู่แล้ว กองรถนั้นจะแก่ตัวเข้าสู่ตลาดมือสองก่อนปี 2032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แล้วอย่างไรต่อ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ห้าสิ่งที่ภาพเศรษฐกิจเรียกร้องจากเรา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ติดต่อจังหวัดที่ครบสี่สัญญาณก่อน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อำนาจเจริญเข้าเงื่อนไขทั้งสี่สัญญาณ อีกสามจังหวัดเข้าสามสัญญาณ — สุโขทัย สิงห์บุรี อุบลราชธานี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เฝ้าดูจังหวัดที่ตกขบวน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รายได้จากพืชค่ากลางเพิ่มขึ้น +16.8% แต่มีสี่จังหวัดที่ลดลง — ทั้งหมดอยู่ในแหล่งปลูกมะพร้าว โดยหนักที่สุดคือสมุทรสงครามที่ −63.0%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ติดตามสามพืชที่ยังลดลง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มะพร้าว สับปะรด และอ้อย ราคาหน้าฟาร์ม (ราคาที่เกษตรกรขายได้) ยังลดลงต่อเนื่อง — คิดเป็น 11% ของพื้นที่เพาะปลูกทั้งประเทศ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ตีราคารถที่เราใช้เป็นหลักประกันใหม่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ราคาขายต่อของกระบะยังต่ำกว่าระดับปี 2015 อยู่ 33 จุด และเป็นประเภทที่ขายช้าที่สุดบนถนน กระบะห้ารุ่นครอง 78% ของตลาดนั้น ส่วนแบรนด์รถยนต์ใหม่ไม่มีสถิติแบบนั้น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อ่านสองสัญญาณนี้เป็นแบบจำลอง ไม่ใช่ข้อเท็จจริง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รายได้ขนส่งขยับ −2.8% จากตัวเลขราคาน้ำมันระดับประเทศตัวเดียว โดยไม่มีข้อมูลค่าขนส่งของไทยรองรับ ส่วนภัยแล้งเป็นแบบจำลองปริมาณฝน — ไม่มีใครลงพื้นที่ไปเดินดูอำเภอเหล่านั้น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675767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675767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ขอบเขต ระบุชัด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ข้อมูลภายนอกเท่านั้น — เศรษฐกิจ พืชผล น้ำ รถ หน้านี้ชี้ไปที่พื้นที่ ไม่ใช่ตัวบุคคล การแปลงพื้นที่ให้เป็นรายชื่อสำหรับติดต่อเป็นหน้าที่ของแท็บ Assistance และไม่มีอะไรในนี้ที่เสนอให้เปิด ปิด หรือขยายสิ่งใด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294630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รุ่นข้อมูล — ราคาโลก 2026M06 · ราคาหน้าฟาร์มไทย 2026-08-28 · ประวัติราคาไทย 2026-08-29 · ต้นทุนการผลิตพืช สศก. ไจอัป 2568 (ปีเพาะปลูก 2568/69, ประมาณการ สศก. มี.ค. 2569) · ภัยแล้ง 2026-06-21 · เงินเฟ้อ 2026-05 · GDP 2026 ไตรมาส 1 · IMF WEO 2026 · ดัชนีราคาขายต่อ 2026-05 · ยอดจดทะเบียนถึง 2026-01 · หนี้ครัวเรือน สสช. SES 2566 · ค่าจ้าง สสช. LFS 2568 · ข้อมูลตรวจวัด 2026-09-02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