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96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Scope: the Macro tab. External conditions, and what each is already doing to our money — this tab crosses every layer with the real tape, so the book is on it too. Competition and the branch views are separate conversations.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they take one thing: the macro is stable, the crops are mixed, the collateral is deteriorating — and the borrower was already thin before any of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chip here is a Thai official source with its vintage stamped. Where the IMF and a Thai measurement disagree, we show the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let anyone read 14.87 vs 4.48 as us being three times worse than the banks — different borrower, product and definition. The signal is that system arrears are turning up.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sum the accounts column — the belts overlap. The divergence rows are the point: the world index and the Thai farm gate can face opposite directions.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YoY is a poor instrument for a slow decline. Sugar's −13.5% is the fourth year of one move, not a new event.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Farm is 12.1% at 90+ against 14.87% book-wide — not the worst part of the book. What earns it a section is that its hazards are external and forecastable, which almost nothing else in the book is.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present one agriculture slide, present this. Rubber's price is up 38% and it still carries the thinnest margin on the table.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฿9,337 is the number to say out loud. If asked why it fell while income rose: crop input costs +64.3% against crop income +33.8% over the same four years.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Zero double-stressed provinces is a world-price result. สุพรรณบุรี is the worked counter-example — say it rather than presenting a clean zero.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here. Everything before was conditions; this is the part with an underwriting consequence.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2022 break is the useful part. A structural gap would be a fact of the asset class; a four-year-old gap is something that happened, and can be diagnosed.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Correction worth making out loud: the pickup six-month slope is NOT a recovery — strip the flagged January and it is about −986 units a month. Same month inflates the car boom from +11% to +34%. Quote the twelve-month windows.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pickup nameplate on the left table is down double digits — there is no pickup nameplate growing. The commercial point: we know what a five-year-old Hilux is worth. We do not know what a five-year-old BYD or Jaecoo is worth, and a fifth of new cars are now those.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pickup at ฿17.82bn. If asked why motorcycles matter less: 5.8% of the money, worst arrears, ฿1,383 profit an account.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Honda line is motorcycles under a car brand's name. Do not let it read as a judgement on Honda vehicles.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Turnover is the depth we would actually recover into. Pickup is both our largest exposure and the slowest-turning class, and the East is the worst version of that combination.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drill lets you go from a national number to a branch without changing instrument. If someone reaches for 0.94% unemployment as evidence the borrower is fine, this is the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 of branches on repeatedly-flooded ground is a hazard flag on the footprint we already run. Not a loss estimate, not an argument to close anything.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scope: a risk lens on the footprint we already run — no open, close or expand recommendation, by design.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Rectangle 2"/>
          <p:cNvSpPr/>
          <p:nvPr/>
        </p:nvSpPr>
        <p:spPr>
          <a:xfrm>
            <a:off x="9811512" y="0"/>
            <a:ext cx="2377440" cy="6858000"/>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Rectangle 3"/>
          <p:cNvSpPr/>
          <p:nvPr/>
        </p:nvSpPr>
        <p:spPr>
          <a:xfrm>
            <a:off x="9811512" y="0"/>
            <a:ext cx="109728" cy="685800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5" name="Picture 4" descr="chaiyo.png"/>
          <p:cNvPicPr>
            <a:picLocks noChangeAspect="1"/>
          </p:cNvPicPr>
          <p:nvPr/>
        </p:nvPicPr>
        <p:blipFill>
          <a:blip r:embed="rId2"/>
          <a:stretch>
            <a:fillRect/>
          </a:stretch>
        </p:blipFill>
        <p:spPr>
          <a:xfrm>
            <a:off x="640080" y="640080"/>
            <a:ext cx="2926080" cy="1828800"/>
          </a:xfrm>
          <a:prstGeom prst="rect">
            <a:avLst/>
          </a:prstGeom>
        </p:spPr>
      </p:pic>
      <p:sp>
        <p:nvSpPr>
          <p:cNvPr id="6" name="TextBox 5"/>
          <p:cNvSpPr txBox="1"/>
          <p:nvPr/>
        </p:nvSpPr>
        <p:spPr>
          <a:xfrm>
            <a:off x="685800" y="2743200"/>
            <a:ext cx="8503920" cy="965200"/>
          </a:xfrm>
          <a:prstGeom prst="rect">
            <a:avLst/>
          </a:prstGeom>
          <a:noFill/>
        </p:spPr>
        <p:txBody>
          <a:bodyPr wrap="square" lIns="0" rIns="0" tIns="0" bIns="0" anchor="t">
            <a:noAutofit/>
          </a:bodyPr>
          <a:lstStyle/>
          <a:p>
            <a:pPr algn="l">
              <a:lnSpc>
                <a:spcPts val="3800"/>
              </a:lnSpc>
            </a:pPr>
            <a:r>
              <a:rPr sz="3000" b="1">
                <a:solidFill>
                  <a:srgbClr val="FFFFFF"/>
                </a:solidFill>
                <a:latin typeface="Kanit"/>
              </a:rPr>
              <a:t>Macro: the external conditions
moving the book.</a:t>
            </a:r>
          </a:p>
        </p:txBody>
      </p:sp>
      <p:sp>
        <p:nvSpPr>
          <p:cNvPr id="7" name="TextBox 6"/>
          <p:cNvSpPr txBox="1"/>
          <p:nvPr/>
        </p:nvSpPr>
        <p:spPr>
          <a:xfrm>
            <a:off x="685800" y="4224528"/>
            <a:ext cx="8503920" cy="241300"/>
          </a:xfrm>
          <a:prstGeom prst="rect">
            <a:avLst/>
          </a:prstGeom>
          <a:noFill/>
        </p:spPr>
        <p:txBody>
          <a:bodyPr wrap="square" lIns="0" rIns="0" tIns="0" bIns="0" anchor="t">
            <a:noAutofit/>
          </a:bodyPr>
          <a:lstStyle/>
          <a:p>
            <a:pPr algn="l">
              <a:lnSpc>
                <a:spcPts val="1900"/>
              </a:lnSpc>
            </a:pPr>
            <a:r>
              <a:rPr sz="1300" b="0">
                <a:solidFill>
                  <a:srgbClr val="F5C242"/>
                </a:solidFill>
                <a:latin typeface="Kanit"/>
              </a:rPr>
              <a:t>MCOM · Wednesday 5 August 2026 · AutoX / บริษัท ออโต้ เอกซ์ จำกัด (เงินไชโย)</a:t>
            </a:r>
          </a:p>
        </p:txBody>
      </p:sp>
      <p:sp>
        <p:nvSpPr>
          <p:cNvPr id="8" name="TextBox 7"/>
          <p:cNvSpPr txBox="1"/>
          <p:nvPr/>
        </p:nvSpPr>
        <p:spPr>
          <a:xfrm>
            <a:off x="685800" y="5760720"/>
            <a:ext cx="5486400" cy="268224"/>
          </a:xfrm>
          <a:prstGeom prst="rect">
            <a:avLst/>
          </a:prstGeom>
          <a:noFill/>
        </p:spPr>
        <p:txBody>
          <a:bodyPr wrap="square" lIns="0" rIns="0" tIns="0" bIns="0" anchor="t">
            <a:noAutofit/>
          </a:bodyPr>
          <a:lstStyle/>
          <a:p>
            <a:pPr algn="l">
              <a:lnSpc>
                <a:spcPts val="2112"/>
              </a:lnSpc>
            </a:pPr>
            <a:r>
              <a:rPr sz="1600" b="1">
                <a:solidFill>
                  <a:srgbClr val="FFFFFF"/>
                </a:solidFill>
                <a:latin typeface="Kanit"/>
              </a:rPr>
              <a:t>Aug ’26</a:t>
            </a:r>
          </a:p>
        </p:txBody>
      </p:sp>
      <p:sp>
        <p:nvSpPr>
          <p:cNvPr id="9" name="TextBox 8"/>
          <p:cNvSpPr txBox="1"/>
          <p:nvPr/>
        </p:nvSpPr>
        <p:spPr>
          <a:xfrm>
            <a:off x="365760" y="6547104"/>
            <a:ext cx="6400800" cy="134112"/>
          </a:xfrm>
          <a:prstGeom prst="rect">
            <a:avLst/>
          </a:prstGeom>
          <a:noFill/>
        </p:spPr>
        <p:txBody>
          <a:bodyPr wrap="square" lIns="0" rIns="0" tIns="0" bIns="0" anchor="t">
            <a:noAutofit/>
          </a:bodyPr>
          <a:lstStyle/>
          <a:p>
            <a:pPr algn="l">
              <a:lnSpc>
                <a:spcPts val="1056"/>
              </a:lnSpc>
            </a:pPr>
            <a:r>
              <a:rPr sz="800" b="0">
                <a:solidFill>
                  <a:srgbClr val="FFFFFF"/>
                </a:solidFill>
                <a:latin typeface="Kanit"/>
              </a:rPr>
              <a:t>Restricted Data – Reproduction is prohibited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THE ANSWER FIRST</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Four questions, and the fourth one is the deck.</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TextBox 8"/>
          <p:cNvSpPr txBox="1"/>
          <p:nvPr/>
        </p:nvSpPr>
        <p:spPr>
          <a:xfrm>
            <a:off x="411480" y="1152144"/>
            <a:ext cx="11365992" cy="393700"/>
          </a:xfrm>
          <a:prstGeom prst="rect">
            <a:avLst/>
          </a:prstGeom>
          <a:noFill/>
        </p:spPr>
        <p:txBody>
          <a:bodyPr wrap="square" lIns="0" rIns="0" tIns="0" bIns="0" anchor="t">
            <a:noAutofit/>
          </a:bodyPr>
          <a:lstStyle/>
          <a:p>
            <a:pPr algn="l">
              <a:lnSpc>
                <a:spcPts val="1550"/>
              </a:lnSpc>
            </a:pPr>
            <a:r>
              <a:rPr sz="1150" b="0">
                <a:solidFill>
                  <a:srgbClr val="606060"/>
                </a:solidFill>
                <a:latin typeface="Kanit"/>
              </a:rPr>
              <a:t>Every external layer here is crossed with the real loan tape at four grains — national, region, province, branch — so each answer carries the baht it is worth to us, not just a direction.</a:t>
            </a:r>
          </a:p>
        </p:txBody>
      </p:sp>
      <p:sp>
        <p:nvSpPr>
          <p:cNvPr id="10" name="TextBox 9"/>
          <p:cNvSpPr txBox="1"/>
          <p:nvPr/>
        </p:nvSpPr>
        <p:spPr>
          <a:xfrm>
            <a:off x="411480" y="1728724"/>
            <a:ext cx="3017520" cy="204216"/>
          </a:xfrm>
          <a:prstGeom prst="rect">
            <a:avLst/>
          </a:prstGeom>
          <a:noFill/>
        </p:spPr>
        <p:txBody>
          <a:bodyPr wrap="square" lIns="0" rIns="0" tIns="0" bIns="0" anchor="t">
            <a:noAutofit/>
          </a:bodyPr>
          <a:lstStyle/>
          <a:p>
            <a:pPr algn="l">
              <a:lnSpc>
                <a:spcPts val="1608"/>
              </a:lnSpc>
            </a:pPr>
            <a:r>
              <a:rPr sz="1200" b="1">
                <a:solidFill>
                  <a:srgbClr val="1E2F5C"/>
                </a:solidFill>
                <a:latin typeface="Kanit"/>
              </a:rPr>
              <a:t>Is the economy the problem?</a:t>
            </a:r>
          </a:p>
        </p:txBody>
      </p:sp>
      <p:sp>
        <p:nvSpPr>
          <p:cNvPr id="11" name="TextBox 10"/>
          <p:cNvSpPr txBox="1"/>
          <p:nvPr/>
        </p:nvSpPr>
        <p:spPr>
          <a:xfrm>
            <a:off x="3703320" y="1728724"/>
            <a:ext cx="8074151" cy="408432"/>
          </a:xfrm>
          <a:prstGeom prst="rect">
            <a:avLst/>
          </a:prstGeom>
          <a:noFill/>
        </p:spPr>
        <p:txBody>
          <a:bodyPr wrap="square" lIns="0" rIns="0" tIns="0" bIns="0" anchor="t">
            <a:noAutofit/>
          </a:bodyPr>
          <a:lstStyle/>
          <a:p>
            <a:pPr algn="l">
              <a:lnSpc>
                <a:spcPts val="1608"/>
              </a:lnSpc>
            </a:pPr>
            <a:r>
              <a:rPr sz="1200" b="0">
                <a:solidFill>
                  <a:srgbClr val="2A3346"/>
                </a:solidFill>
                <a:latin typeface="Kanit"/>
              </a:rPr>
              <a:t>No. Growth and inflation both came in above what the IMF projected for 2026 and the policy rate is 1.00%. But Thailand is projected to grow slowest in ASEAN-5 — 1.5% against Vietnam’s 7.1%. Stable, not strong.</a:t>
            </a:r>
          </a:p>
        </p:txBody>
      </p:sp>
      <p:sp>
        <p:nvSpPr>
          <p:cNvPr id="12" name="Rectangle 11"/>
          <p:cNvSpPr/>
          <p:nvPr/>
        </p:nvSpPr>
        <p:spPr>
          <a:xfrm>
            <a:off x="411480" y="2256028"/>
            <a:ext cx="11365992" cy="10972"/>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411480" y="2374900"/>
            <a:ext cx="3017520" cy="204216"/>
          </a:xfrm>
          <a:prstGeom prst="rect">
            <a:avLst/>
          </a:prstGeom>
          <a:noFill/>
        </p:spPr>
        <p:txBody>
          <a:bodyPr wrap="square" lIns="0" rIns="0" tIns="0" bIns="0" anchor="t">
            <a:noAutofit/>
          </a:bodyPr>
          <a:lstStyle/>
          <a:p>
            <a:pPr algn="l">
              <a:lnSpc>
                <a:spcPts val="1608"/>
              </a:lnSpc>
            </a:pPr>
            <a:r>
              <a:rPr sz="1200" b="1">
                <a:solidFill>
                  <a:srgbClr val="1E2F5C"/>
                </a:solidFill>
                <a:latin typeface="Kanit"/>
              </a:rPr>
              <a:t>Are crop prices the problem?</a:t>
            </a:r>
          </a:p>
        </p:txBody>
      </p:sp>
      <p:sp>
        <p:nvSpPr>
          <p:cNvPr id="14" name="TextBox 13"/>
          <p:cNvSpPr txBox="1"/>
          <p:nvPr/>
        </p:nvSpPr>
        <p:spPr>
          <a:xfrm>
            <a:off x="3703320" y="2374900"/>
            <a:ext cx="8074151" cy="612648"/>
          </a:xfrm>
          <a:prstGeom prst="rect">
            <a:avLst/>
          </a:prstGeom>
          <a:noFill/>
        </p:spPr>
        <p:txBody>
          <a:bodyPr wrap="square" lIns="0" rIns="0" tIns="0" bIns="0" anchor="t">
            <a:noAutofit/>
          </a:bodyPr>
          <a:lstStyle/>
          <a:p>
            <a:pPr algn="l">
              <a:lnSpc>
                <a:spcPts val="1608"/>
              </a:lnSpc>
            </a:pPr>
            <a:r>
              <a:rPr sz="1200" b="0">
                <a:solidFill>
                  <a:srgbClr val="2A3346"/>
                </a:solidFill>
                <a:latin typeface="Kanit"/>
              </a:rPr>
              <a:t>Not on the world index. On the measured Thai farm gate nine commodities are falling, and the falling crops carry 12.2% of our farm book. Margin matters more than price: netted of cost, a 24% price move becomes a 73% swing in crop income.</a:t>
            </a:r>
          </a:p>
        </p:txBody>
      </p:sp>
      <p:sp>
        <p:nvSpPr>
          <p:cNvPr id="15" name="Rectangle 14"/>
          <p:cNvSpPr/>
          <p:nvPr/>
        </p:nvSpPr>
        <p:spPr>
          <a:xfrm>
            <a:off x="411480" y="3106420"/>
            <a:ext cx="11365992" cy="10972"/>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411480" y="3225292"/>
            <a:ext cx="3017520" cy="204216"/>
          </a:xfrm>
          <a:prstGeom prst="rect">
            <a:avLst/>
          </a:prstGeom>
          <a:noFill/>
        </p:spPr>
        <p:txBody>
          <a:bodyPr wrap="square" lIns="0" rIns="0" tIns="0" bIns="0" anchor="t">
            <a:noAutofit/>
          </a:bodyPr>
          <a:lstStyle/>
          <a:p>
            <a:pPr algn="l">
              <a:lnSpc>
                <a:spcPts val="1608"/>
              </a:lnSpc>
            </a:pPr>
            <a:r>
              <a:rPr sz="1200" b="1">
                <a:solidFill>
                  <a:srgbClr val="1E2F5C"/>
                </a:solidFill>
                <a:latin typeface="Kanit"/>
              </a:rPr>
              <a:t>So what is deteriorating?</a:t>
            </a:r>
          </a:p>
        </p:txBody>
      </p:sp>
      <p:sp>
        <p:nvSpPr>
          <p:cNvPr id="17" name="TextBox 16"/>
          <p:cNvSpPr txBox="1"/>
          <p:nvPr/>
        </p:nvSpPr>
        <p:spPr>
          <a:xfrm>
            <a:off x="3703320" y="3225292"/>
            <a:ext cx="8074151" cy="408432"/>
          </a:xfrm>
          <a:prstGeom prst="rect">
            <a:avLst/>
          </a:prstGeom>
          <a:noFill/>
        </p:spPr>
        <p:txBody>
          <a:bodyPr wrap="square" lIns="0" rIns="0" tIns="0" bIns="0" anchor="t">
            <a:noAutofit/>
          </a:bodyPr>
          <a:lstStyle/>
          <a:p>
            <a:pPr algn="l">
              <a:lnSpc>
                <a:spcPts val="1608"/>
              </a:lnSpc>
            </a:pPr>
            <a:r>
              <a:rPr sz="1200" b="0">
                <a:solidFill>
                  <a:srgbClr val="2A3346"/>
                </a:solidFill>
                <a:latin typeface="Kanit"/>
              </a:rPr>
              <a:t>The collateral. Used pickup values sit 50% below their peak and 33 points below their own 2015 base, and new pickup registrations are down 15.3% on the year. Pickup titles are 38% of our outstanding — ฿17.82bn.</a:t>
            </a:r>
          </a:p>
        </p:txBody>
      </p:sp>
      <p:sp>
        <p:nvSpPr>
          <p:cNvPr id="18" name="Rectangle 17"/>
          <p:cNvSpPr/>
          <p:nvPr/>
        </p:nvSpPr>
        <p:spPr>
          <a:xfrm>
            <a:off x="411480" y="3752596"/>
            <a:ext cx="11365992" cy="10972"/>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411480" y="3871468"/>
            <a:ext cx="3017520" cy="204216"/>
          </a:xfrm>
          <a:prstGeom prst="rect">
            <a:avLst/>
          </a:prstGeom>
          <a:noFill/>
        </p:spPr>
        <p:txBody>
          <a:bodyPr wrap="square" lIns="0" rIns="0" tIns="0" bIns="0" anchor="t">
            <a:noAutofit/>
          </a:bodyPr>
          <a:lstStyle/>
          <a:p>
            <a:pPr algn="l">
              <a:lnSpc>
                <a:spcPts val="1608"/>
              </a:lnSpc>
            </a:pPr>
            <a:r>
              <a:rPr sz="1200" b="1">
                <a:solidFill>
                  <a:srgbClr val="1E2F5C"/>
                </a:solidFill>
                <a:latin typeface="Kanit"/>
              </a:rPr>
              <a:t>And the borrower?</a:t>
            </a:r>
          </a:p>
        </p:txBody>
      </p:sp>
      <p:sp>
        <p:nvSpPr>
          <p:cNvPr id="20" name="TextBox 19"/>
          <p:cNvSpPr txBox="1"/>
          <p:nvPr/>
        </p:nvSpPr>
        <p:spPr>
          <a:xfrm>
            <a:off x="3703320" y="3871468"/>
            <a:ext cx="8074151" cy="408432"/>
          </a:xfrm>
          <a:prstGeom prst="rect">
            <a:avLst/>
          </a:prstGeom>
          <a:noFill/>
        </p:spPr>
        <p:txBody>
          <a:bodyPr wrap="square" lIns="0" rIns="0" tIns="0" bIns="0" anchor="t">
            <a:noAutofit/>
          </a:bodyPr>
          <a:lstStyle/>
          <a:p>
            <a:pPr algn="l">
              <a:lnSpc>
                <a:spcPts val="1608"/>
              </a:lnSpc>
            </a:pPr>
            <a:r>
              <a:rPr sz="1200" b="0">
                <a:solidFill>
                  <a:srgbClr val="2A3346"/>
                </a:solidFill>
                <a:latin typeface="Kanit"/>
              </a:rPr>
              <a:t>Thin before any of this. A farm household nets ฿9,337 a month and half its income is not farming; 60% of households could not cover three months. Our own book is already 14.87% at 90+.</a:t>
            </a:r>
          </a:p>
        </p:txBody>
      </p:sp>
      <p:sp>
        <p:nvSpPr>
          <p:cNvPr id="21" name="Rounded Rectangle 20"/>
          <p:cNvSpPr/>
          <p:nvPr/>
        </p:nvSpPr>
        <p:spPr>
          <a:xfrm>
            <a:off x="411480" y="4618228"/>
            <a:ext cx="535747" cy="192024"/>
          </a:xfrm>
          <a:prstGeom prst="roundRect">
            <a:avLst>
              <a:gd name="adj" fmla="val 50000"/>
            </a:avLst>
          </a:prstGeom>
          <a:noFill/>
          <a:ln w="9525">
            <a:solidFill>
              <a:srgbClr val="1E2F5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411480" y="4647488"/>
            <a:ext cx="535747" cy="134112"/>
          </a:xfrm>
          <a:prstGeom prst="rect">
            <a:avLst/>
          </a:prstGeom>
          <a:noFill/>
        </p:spPr>
        <p:txBody>
          <a:bodyPr wrap="square" lIns="0" rIns="0" tIns="0" bIns="0" anchor="t">
            <a:noAutofit/>
          </a:bodyPr>
          <a:lstStyle/>
          <a:p>
            <a:pPr algn="ctr">
              <a:lnSpc>
                <a:spcPts val="1056"/>
              </a:lnSpc>
            </a:pPr>
            <a:r>
              <a:rPr sz="800" b="1">
                <a:solidFill>
                  <a:srgbClr val="1E2F5C"/>
                </a:solidFill>
                <a:latin typeface="Kanit"/>
              </a:rPr>
              <a:t>MIXED</a:t>
            </a:r>
          </a:p>
        </p:txBody>
      </p:sp>
      <p:sp>
        <p:nvSpPr>
          <p:cNvPr id="23" name="TextBox 22"/>
          <p:cNvSpPr txBox="1"/>
          <p:nvPr/>
        </p:nvSpPr>
        <p:spPr>
          <a:xfrm>
            <a:off x="1056955" y="4631944"/>
            <a:ext cx="10720516" cy="162877"/>
          </a:xfrm>
          <a:prstGeom prst="rect">
            <a:avLst/>
          </a:prstGeom>
          <a:noFill/>
        </p:spPr>
        <p:txBody>
          <a:bodyPr wrap="square" lIns="0" rIns="0" tIns="0" bIns="0" anchor="t">
            <a:noAutofit/>
          </a:bodyPr>
          <a:lstStyle/>
          <a:p>
            <a:pPr algn="l">
              <a:lnSpc>
                <a:spcPts val="1282"/>
              </a:lnSpc>
            </a:pPr>
            <a:r>
              <a:rPr sz="950" b="0">
                <a:solidFill>
                  <a:srgbClr val="606060"/>
                </a:solidFill>
                <a:latin typeface="Kanit"/>
              </a:rPr>
              <a:t>Book figures are MEASURED from the real loan tape — 382,735 accounts, no-PII aggregates, nothing published below a 30-account cell floor. External layers carry their own chip on each page.</a:t>
            </a:r>
          </a:p>
        </p:txBody>
      </p:sp>
      <p:sp>
        <p:nvSpPr>
          <p:cNvPr id="24" name="TextBox 23"/>
          <p:cNvSpPr txBox="1"/>
          <p:nvPr/>
        </p:nvSpPr>
        <p:spPr>
          <a:xfrm>
            <a:off x="411480" y="5018849"/>
            <a:ext cx="11365992" cy="167640"/>
          </a:xfrm>
          <a:prstGeom prst="rect">
            <a:avLst/>
          </a:prstGeom>
          <a:noFill/>
        </p:spPr>
        <p:txBody>
          <a:bodyPr wrap="square" lIns="0" rIns="0" tIns="0" bIns="0" anchor="t">
            <a:noAutofit/>
          </a:bodyPr>
          <a:lstStyle/>
          <a:p>
            <a:pPr algn="l">
              <a:lnSpc>
                <a:spcPts val="1320"/>
              </a:lnSpc>
            </a:pPr>
            <a:r>
              <a:rPr sz="1000" b="1">
                <a:solidFill>
                  <a:srgbClr val="1E2F5C"/>
                </a:solidFill>
                <a:latin typeface="Kanit"/>
              </a:rPr>
              <a:t>What follows</a:t>
            </a:r>
          </a:p>
        </p:txBody>
      </p:sp>
      <p:sp>
        <p:nvSpPr>
          <p:cNvPr id="25" name="TextBox 24"/>
          <p:cNvSpPr txBox="1"/>
          <p:nvPr/>
        </p:nvSpPr>
        <p:spPr>
          <a:xfrm>
            <a:off x="411480" y="5238305"/>
            <a:ext cx="11365992" cy="355600"/>
          </a:xfrm>
          <a:prstGeom prst="rect">
            <a:avLst/>
          </a:prstGeom>
          <a:noFill/>
        </p:spPr>
        <p:txBody>
          <a:bodyPr wrap="square" lIns="0" rIns="0" tIns="0" bIns="0" anchor="t">
            <a:noAutofit/>
          </a:bodyPr>
          <a:lstStyle/>
          <a:p>
            <a:pPr algn="l">
              <a:lnSpc>
                <a:spcPts val="1400"/>
              </a:lnSpc>
            </a:pPr>
            <a:r>
              <a:rPr sz="1000" b="0">
                <a:solidFill>
                  <a:srgbClr val="606060"/>
                </a:solidFill>
                <a:latin typeface="Kanit"/>
              </a:rPr>
              <a:t>01–02  the macro backdrop and where Thailand sits in the region        03–08  agriculture: world price against the Thai farm gate, margin, the household, drought        09  collateral, in six parts        10–12  conditions at our own grain, and what it asks of us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01 · MACRO OVERLAY</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The backdrop is benign, and it is current.</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Rounded Rectangle 8"/>
          <p:cNvSpPr/>
          <p:nvPr/>
        </p:nvSpPr>
        <p:spPr>
          <a:xfrm>
            <a:off x="411480" y="1152144"/>
            <a:ext cx="3697223" cy="1005840"/>
          </a:xfrm>
          <a:prstGeom prst="roundRect">
            <a:avLst>
              <a:gd name="adj" fmla="val 8181"/>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548640" y="1252728"/>
            <a:ext cx="3422904"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GDP growth</a:t>
            </a:r>
          </a:p>
        </p:txBody>
      </p:sp>
      <p:sp>
        <p:nvSpPr>
          <p:cNvPr id="11" name="TextBox 10"/>
          <p:cNvSpPr txBox="1"/>
          <p:nvPr/>
        </p:nvSpPr>
        <p:spPr>
          <a:xfrm>
            <a:off x="548640" y="1426464"/>
            <a:ext cx="3422904" cy="330200"/>
          </a:xfrm>
          <a:prstGeom prst="rect">
            <a:avLst/>
          </a:prstGeom>
          <a:noFill/>
        </p:spPr>
        <p:txBody>
          <a:bodyPr wrap="square" lIns="0" rIns="0" tIns="0" bIns="0" anchor="t">
            <a:noAutofit/>
          </a:bodyPr>
          <a:lstStyle/>
          <a:p>
            <a:pPr algn="l">
              <a:lnSpc>
                <a:spcPts val="2600"/>
              </a:lnSpc>
            </a:pPr>
            <a:r>
              <a:rPr sz="2100" b="1">
                <a:solidFill>
                  <a:srgbClr val="15795F"/>
                </a:solidFill>
                <a:latin typeface="Kanit"/>
              </a:rPr>
              <a:t>+2.8%</a:t>
            </a:r>
          </a:p>
        </p:txBody>
      </p:sp>
      <p:sp>
        <p:nvSpPr>
          <p:cNvPr id="12" name="TextBox 11"/>
          <p:cNvSpPr txBox="1"/>
          <p:nvPr/>
        </p:nvSpPr>
        <p:spPr>
          <a:xfrm>
            <a:off x="548640" y="1792224"/>
            <a:ext cx="3422904" cy="292608"/>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YoY · a measured quarter, not a projection · NESDC 2026-Q1</a:t>
            </a:r>
          </a:p>
        </p:txBody>
      </p:sp>
      <p:sp>
        <p:nvSpPr>
          <p:cNvPr id="13" name="Rounded Rectangle 12"/>
          <p:cNvSpPr/>
          <p:nvPr/>
        </p:nvSpPr>
        <p:spPr>
          <a:xfrm>
            <a:off x="4245864" y="1152144"/>
            <a:ext cx="3697223" cy="1005840"/>
          </a:xfrm>
          <a:prstGeom prst="roundRect">
            <a:avLst>
              <a:gd name="adj" fmla="val 8181"/>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4383024" y="1252728"/>
            <a:ext cx="3422904"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Inflation</a:t>
            </a:r>
          </a:p>
        </p:txBody>
      </p:sp>
      <p:sp>
        <p:nvSpPr>
          <p:cNvPr id="15" name="TextBox 14"/>
          <p:cNvSpPr txBox="1"/>
          <p:nvPr/>
        </p:nvSpPr>
        <p:spPr>
          <a:xfrm>
            <a:off x="4383024" y="1426464"/>
            <a:ext cx="3422904" cy="330200"/>
          </a:xfrm>
          <a:prstGeom prst="rect">
            <a:avLst/>
          </a:prstGeom>
          <a:noFill/>
        </p:spPr>
        <p:txBody>
          <a:bodyPr wrap="square" lIns="0" rIns="0" tIns="0" bIns="0" anchor="t">
            <a:noAutofit/>
          </a:bodyPr>
          <a:lstStyle/>
          <a:p>
            <a:pPr algn="l">
              <a:lnSpc>
                <a:spcPts val="2600"/>
              </a:lnSpc>
            </a:pPr>
            <a:r>
              <a:rPr sz="2100" b="1">
                <a:solidFill>
                  <a:srgbClr val="F5C242"/>
                </a:solidFill>
                <a:latin typeface="Kanit"/>
              </a:rPr>
              <a:t>+2.79%</a:t>
            </a:r>
          </a:p>
        </p:txBody>
      </p:sp>
      <p:sp>
        <p:nvSpPr>
          <p:cNvPr id="16" name="TextBox 15"/>
          <p:cNvSpPr txBox="1"/>
          <p:nvPr/>
        </p:nvSpPr>
        <p:spPr>
          <a:xfrm>
            <a:off x="4383024" y="1792224"/>
            <a:ext cx="3422904" cy="292608"/>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headline CPI YoY · TPSO, Ministry of Commerce · 2026-05</a:t>
            </a:r>
          </a:p>
        </p:txBody>
      </p:sp>
      <p:sp>
        <p:nvSpPr>
          <p:cNvPr id="17" name="Rounded Rectangle 16"/>
          <p:cNvSpPr/>
          <p:nvPr/>
        </p:nvSpPr>
        <p:spPr>
          <a:xfrm>
            <a:off x="8080247" y="1152144"/>
            <a:ext cx="3697223" cy="1005840"/>
          </a:xfrm>
          <a:prstGeom prst="roundRect">
            <a:avLst>
              <a:gd name="adj" fmla="val 8181"/>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8217408" y="1252728"/>
            <a:ext cx="3422904"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Policy rate</a:t>
            </a:r>
          </a:p>
        </p:txBody>
      </p:sp>
      <p:sp>
        <p:nvSpPr>
          <p:cNvPr id="19" name="TextBox 18"/>
          <p:cNvSpPr txBox="1"/>
          <p:nvPr/>
        </p:nvSpPr>
        <p:spPr>
          <a:xfrm>
            <a:off x="8217408" y="1426464"/>
            <a:ext cx="3422904" cy="330200"/>
          </a:xfrm>
          <a:prstGeom prst="rect">
            <a:avLst/>
          </a:prstGeom>
          <a:noFill/>
        </p:spPr>
        <p:txBody>
          <a:bodyPr wrap="square" lIns="0" rIns="0" tIns="0" bIns="0" anchor="t">
            <a:noAutofit/>
          </a:bodyPr>
          <a:lstStyle/>
          <a:p>
            <a:pPr algn="l">
              <a:lnSpc>
                <a:spcPts val="2600"/>
              </a:lnSpc>
            </a:pPr>
            <a:r>
              <a:rPr sz="2100" b="1">
                <a:solidFill>
                  <a:srgbClr val="1E2F5C"/>
                </a:solidFill>
                <a:latin typeface="Kanit"/>
              </a:rPr>
              <a:t>1.00%</a:t>
            </a:r>
          </a:p>
        </p:txBody>
      </p:sp>
      <p:sp>
        <p:nvSpPr>
          <p:cNvPr id="20" name="TextBox 19"/>
          <p:cNvSpPr txBox="1"/>
          <p:nvPr/>
        </p:nvSpPr>
        <p:spPr>
          <a:xfrm>
            <a:off x="8217408" y="1792224"/>
            <a:ext cx="3422904" cy="292608"/>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Bank of Thailand policy rate · 2026-06</a:t>
            </a:r>
          </a:p>
        </p:txBody>
      </p:sp>
      <p:sp>
        <p:nvSpPr>
          <p:cNvPr id="21" name="Rounded Rectangle 20"/>
          <p:cNvSpPr/>
          <p:nvPr/>
        </p:nvSpPr>
        <p:spPr>
          <a:xfrm>
            <a:off x="411480" y="2295144"/>
            <a:ext cx="3697223" cy="1005840"/>
          </a:xfrm>
          <a:prstGeom prst="roundRect">
            <a:avLst>
              <a:gd name="adj" fmla="val 8181"/>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548640" y="2395727"/>
            <a:ext cx="3422904"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USD / THB</a:t>
            </a:r>
          </a:p>
        </p:txBody>
      </p:sp>
      <p:sp>
        <p:nvSpPr>
          <p:cNvPr id="23" name="TextBox 22"/>
          <p:cNvSpPr txBox="1"/>
          <p:nvPr/>
        </p:nvSpPr>
        <p:spPr>
          <a:xfrm>
            <a:off x="548640" y="2569463"/>
            <a:ext cx="3422904" cy="330200"/>
          </a:xfrm>
          <a:prstGeom prst="rect">
            <a:avLst/>
          </a:prstGeom>
          <a:noFill/>
        </p:spPr>
        <p:txBody>
          <a:bodyPr wrap="square" lIns="0" rIns="0" tIns="0" bIns="0" anchor="t">
            <a:noAutofit/>
          </a:bodyPr>
          <a:lstStyle/>
          <a:p>
            <a:pPr algn="l">
              <a:lnSpc>
                <a:spcPts val="2600"/>
              </a:lnSpc>
            </a:pPr>
            <a:r>
              <a:rPr sz="2100" b="1">
                <a:solidFill>
                  <a:srgbClr val="1E2F5C"/>
                </a:solidFill>
                <a:latin typeface="Kanit"/>
              </a:rPr>
              <a:t>33.47</a:t>
            </a:r>
          </a:p>
        </p:txBody>
      </p:sp>
      <p:sp>
        <p:nvSpPr>
          <p:cNvPr id="24" name="TextBox 23"/>
          <p:cNvSpPr txBox="1"/>
          <p:nvPr/>
        </p:nvSpPr>
        <p:spPr>
          <a:xfrm>
            <a:off x="548640" y="2935224"/>
            <a:ext cx="3422904" cy="292608"/>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ECB reference rate · 2026-07-31</a:t>
            </a:r>
          </a:p>
        </p:txBody>
      </p:sp>
      <p:sp>
        <p:nvSpPr>
          <p:cNvPr id="25" name="Rounded Rectangle 24"/>
          <p:cNvSpPr/>
          <p:nvPr/>
        </p:nvSpPr>
        <p:spPr>
          <a:xfrm>
            <a:off x="4245864" y="2295144"/>
            <a:ext cx="3697223" cy="1005840"/>
          </a:xfrm>
          <a:prstGeom prst="roundRect">
            <a:avLst>
              <a:gd name="adj" fmla="val 8181"/>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4383024" y="2395727"/>
            <a:ext cx="3422904"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Household debt</a:t>
            </a:r>
          </a:p>
        </p:txBody>
      </p:sp>
      <p:sp>
        <p:nvSpPr>
          <p:cNvPr id="27" name="TextBox 26"/>
          <p:cNvSpPr txBox="1"/>
          <p:nvPr/>
        </p:nvSpPr>
        <p:spPr>
          <a:xfrm>
            <a:off x="4383024" y="2569463"/>
            <a:ext cx="3422904" cy="330200"/>
          </a:xfrm>
          <a:prstGeom prst="rect">
            <a:avLst/>
          </a:prstGeom>
          <a:noFill/>
        </p:spPr>
        <p:txBody>
          <a:bodyPr wrap="square" lIns="0" rIns="0" tIns="0" bIns="0" anchor="t">
            <a:noAutofit/>
          </a:bodyPr>
          <a:lstStyle/>
          <a:p>
            <a:pPr algn="l">
              <a:lnSpc>
                <a:spcPts val="2600"/>
              </a:lnSpc>
            </a:pPr>
            <a:r>
              <a:rPr sz="2100" b="1">
                <a:solidFill>
                  <a:srgbClr val="F5C242"/>
                </a:solidFill>
                <a:latin typeface="Kanit"/>
              </a:rPr>
              <a:t>87.5%</a:t>
            </a:r>
          </a:p>
        </p:txBody>
      </p:sp>
      <p:sp>
        <p:nvSpPr>
          <p:cNvPr id="28" name="TextBox 27"/>
          <p:cNvSpPr txBox="1"/>
          <p:nvPr/>
        </p:nvSpPr>
        <p:spPr>
          <a:xfrm>
            <a:off x="4383024" y="2935224"/>
            <a:ext cx="3422904" cy="292608"/>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of GDP · BIS · 2025-Q4</a:t>
            </a:r>
          </a:p>
        </p:txBody>
      </p:sp>
      <p:sp>
        <p:nvSpPr>
          <p:cNvPr id="29" name="Rounded Rectangle 28"/>
          <p:cNvSpPr/>
          <p:nvPr/>
        </p:nvSpPr>
        <p:spPr>
          <a:xfrm>
            <a:off x="8080247" y="2295144"/>
            <a:ext cx="3697223" cy="1005840"/>
          </a:xfrm>
          <a:prstGeom prst="roundRect">
            <a:avLst>
              <a:gd name="adj" fmla="val 8181"/>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8217408" y="2395727"/>
            <a:ext cx="3422904"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Tourist arrivals</a:t>
            </a:r>
          </a:p>
        </p:txBody>
      </p:sp>
      <p:sp>
        <p:nvSpPr>
          <p:cNvPr id="31" name="TextBox 30"/>
          <p:cNvSpPr txBox="1"/>
          <p:nvPr/>
        </p:nvSpPr>
        <p:spPr>
          <a:xfrm>
            <a:off x="8217408" y="2569463"/>
            <a:ext cx="3422904" cy="330200"/>
          </a:xfrm>
          <a:prstGeom prst="rect">
            <a:avLst/>
          </a:prstGeom>
          <a:noFill/>
        </p:spPr>
        <p:txBody>
          <a:bodyPr wrap="square" lIns="0" rIns="0" tIns="0" bIns="0" anchor="t">
            <a:noAutofit/>
          </a:bodyPr>
          <a:lstStyle/>
          <a:p>
            <a:pPr algn="l">
              <a:lnSpc>
                <a:spcPts val="2600"/>
              </a:lnSpc>
            </a:pPr>
            <a:r>
              <a:rPr sz="2100" b="1">
                <a:solidFill>
                  <a:srgbClr val="CC0000"/>
                </a:solidFill>
                <a:latin typeface="Kanit"/>
              </a:rPr>
              <a:t>32.2M</a:t>
            </a:r>
          </a:p>
        </p:txBody>
      </p:sp>
      <p:sp>
        <p:nvSpPr>
          <p:cNvPr id="32" name="TextBox 31"/>
          <p:cNvSpPr txBox="1"/>
          <p:nvPr/>
        </p:nvSpPr>
        <p:spPr>
          <a:xfrm>
            <a:off x="8217408" y="2935224"/>
            <a:ext cx="3422904" cy="292608"/>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trailing 12 months · −6.6% YoY · BoT 2026-06</a:t>
            </a:r>
          </a:p>
        </p:txBody>
      </p:sp>
      <p:sp>
        <p:nvSpPr>
          <p:cNvPr id="33" name="Rounded Rectangle 32"/>
          <p:cNvSpPr/>
          <p:nvPr/>
        </p:nvSpPr>
        <p:spPr>
          <a:xfrm>
            <a:off x="411480" y="3465576"/>
            <a:ext cx="754177" cy="192024"/>
          </a:xfrm>
          <a:prstGeom prst="roundRect">
            <a:avLst>
              <a:gd name="adj" fmla="val 50000"/>
            </a:avLst>
          </a:prstGeom>
          <a:noFill/>
          <a:ln w="9525">
            <a:solidFill>
              <a:srgbClr val="15795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4" name="TextBox 33"/>
          <p:cNvSpPr txBox="1"/>
          <p:nvPr/>
        </p:nvSpPr>
        <p:spPr>
          <a:xfrm>
            <a:off x="411480" y="3494836"/>
            <a:ext cx="754177" cy="134112"/>
          </a:xfrm>
          <a:prstGeom prst="rect">
            <a:avLst/>
          </a:prstGeom>
          <a:noFill/>
        </p:spPr>
        <p:txBody>
          <a:bodyPr wrap="square" lIns="0" rIns="0" tIns="0" bIns="0" anchor="t">
            <a:noAutofit/>
          </a:bodyPr>
          <a:lstStyle/>
          <a:p>
            <a:pPr algn="ctr">
              <a:lnSpc>
                <a:spcPts val="1056"/>
              </a:lnSpc>
            </a:pPr>
            <a:r>
              <a:rPr sz="800" b="1">
                <a:solidFill>
                  <a:srgbClr val="15795F"/>
                </a:solidFill>
                <a:latin typeface="Kanit"/>
              </a:rPr>
              <a:t>MEASURED</a:t>
            </a:r>
          </a:p>
        </p:txBody>
      </p:sp>
      <p:sp>
        <p:nvSpPr>
          <p:cNvPr id="35" name="TextBox 34"/>
          <p:cNvSpPr txBox="1"/>
          <p:nvPr/>
        </p:nvSpPr>
        <p:spPr>
          <a:xfrm>
            <a:off x="1275385" y="3479292"/>
            <a:ext cx="10502086" cy="162877"/>
          </a:xfrm>
          <a:prstGeom prst="rect">
            <a:avLst/>
          </a:prstGeom>
          <a:noFill/>
        </p:spPr>
        <p:txBody>
          <a:bodyPr wrap="square" lIns="0" rIns="0" tIns="0" bIns="0" anchor="t">
            <a:noAutofit/>
          </a:bodyPr>
          <a:lstStyle/>
          <a:p>
            <a:pPr algn="l">
              <a:lnSpc>
                <a:spcPts val="1282"/>
              </a:lnSpc>
            </a:pPr>
            <a:r>
              <a:rPr sz="950" b="0">
                <a:solidFill>
                  <a:srgbClr val="606060"/>
                </a:solidFill>
                <a:latin typeface="Kanit"/>
              </a:rPr>
              <a:t>All six pulled from the publishing agency, not typed in. NESDC · TPSO · Bank of Thailand · BIS · ECB.</a:t>
            </a:r>
          </a:p>
        </p:txBody>
      </p:sp>
      <p:sp>
        <p:nvSpPr>
          <p:cNvPr id="36" name="Rectangle 35"/>
          <p:cNvSpPr/>
          <p:nvPr/>
        </p:nvSpPr>
        <p:spPr>
          <a:xfrm>
            <a:off x="411480" y="3811333"/>
            <a:ext cx="11365992" cy="854456"/>
          </a:xfrm>
          <a:prstGeom prst="rect">
            <a:avLst/>
          </a:prstGeom>
          <a:solidFill>
            <a:srgbClr val="EE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Rectangle 36"/>
          <p:cNvSpPr/>
          <p:nvPr/>
        </p:nvSpPr>
        <p:spPr>
          <a:xfrm>
            <a:off x="411480" y="3811333"/>
            <a:ext cx="50292" cy="85445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8" name="TextBox 37"/>
          <p:cNvSpPr txBox="1"/>
          <p:nvPr/>
        </p:nvSpPr>
        <p:spPr>
          <a:xfrm>
            <a:off x="630936" y="3957637"/>
            <a:ext cx="11036808" cy="158750"/>
          </a:xfrm>
          <a:prstGeom prst="rect">
            <a:avLst/>
          </a:prstGeom>
          <a:noFill/>
        </p:spPr>
        <p:txBody>
          <a:bodyPr wrap="square" lIns="0" rIns="0" tIns="0" bIns="0" anchor="t">
            <a:noAutofit/>
          </a:bodyPr>
          <a:lstStyle/>
          <a:p>
            <a:pPr algn="l">
              <a:lnSpc>
                <a:spcPts val="1250"/>
              </a:lnSpc>
            </a:pPr>
            <a:r>
              <a:rPr sz="950" b="1">
                <a:solidFill>
                  <a:srgbClr val="1E2F5C"/>
                </a:solidFill>
                <a:latin typeface="Kanit"/>
              </a:rPr>
              <a:t>Thailand has already overtaken the IMF’s 2026 projection</a:t>
            </a:r>
          </a:p>
        </p:txBody>
      </p:sp>
      <p:sp>
        <p:nvSpPr>
          <p:cNvPr id="39" name="TextBox 38"/>
          <p:cNvSpPr txBox="1"/>
          <p:nvPr/>
        </p:nvSpPr>
        <p:spPr>
          <a:xfrm>
            <a:off x="630936" y="4162107"/>
            <a:ext cx="11036808" cy="357378"/>
          </a:xfrm>
          <a:prstGeom prst="rect">
            <a:avLst/>
          </a:prstGeom>
          <a:noFill/>
        </p:spPr>
        <p:txBody>
          <a:bodyPr wrap="square" lIns="0" rIns="0" tIns="0" bIns="0" anchor="t">
            <a:noAutofit/>
          </a:bodyPr>
          <a:lstStyle/>
          <a:p>
            <a:pPr algn="l">
              <a:lnSpc>
                <a:spcPts val="1407"/>
              </a:lnSpc>
            </a:pPr>
            <a:r>
              <a:rPr sz="1050" b="0">
                <a:solidFill>
                  <a:srgbClr val="1E2F5C"/>
                </a:solidFill>
                <a:latin typeface="Kanit"/>
              </a:rPr>
              <a:t>The IMF projected 1.5% growth and 0.9% inflation for 2026. The measured outturns are +2.8% and +2.79% — 1.3 and 1.9 points higher. Where a Thai measurement exists we show it instead of the projection and say which is which.</a:t>
            </a:r>
          </a:p>
        </p:txBody>
      </p:sp>
      <p:sp>
        <p:nvSpPr>
          <p:cNvPr id="40" name="Rectangle 39"/>
          <p:cNvSpPr/>
          <p:nvPr/>
        </p:nvSpPr>
        <p:spPr>
          <a:xfrm>
            <a:off x="411480" y="4812093"/>
            <a:ext cx="11365992" cy="854456"/>
          </a:xfrm>
          <a:prstGeom prst="rect">
            <a:avLst/>
          </a:prstGeom>
          <a:solidFill>
            <a:srgbClr val="FDF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1" name="Rectangle 40"/>
          <p:cNvSpPr/>
          <p:nvPr/>
        </p:nvSpPr>
        <p:spPr>
          <a:xfrm>
            <a:off x="411480" y="4812093"/>
            <a:ext cx="50292" cy="854456"/>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2" name="TextBox 41"/>
          <p:cNvSpPr txBox="1"/>
          <p:nvPr/>
        </p:nvSpPr>
        <p:spPr>
          <a:xfrm>
            <a:off x="630936" y="4958397"/>
            <a:ext cx="11036808" cy="158750"/>
          </a:xfrm>
          <a:prstGeom prst="rect">
            <a:avLst/>
          </a:prstGeom>
          <a:noFill/>
        </p:spPr>
        <p:txBody>
          <a:bodyPr wrap="square" lIns="0" rIns="0" tIns="0" bIns="0" anchor="t">
            <a:noAutofit/>
          </a:bodyPr>
          <a:lstStyle/>
          <a:p>
            <a:pPr algn="l">
              <a:lnSpc>
                <a:spcPts val="1250"/>
              </a:lnSpc>
            </a:pPr>
            <a:r>
              <a:rPr sz="950" b="1">
                <a:solidFill>
                  <a:srgbClr val="9A7411"/>
                </a:solidFill>
                <a:latin typeface="Kanit"/>
              </a:rPr>
              <a:t>The one chip that is falling is the one that touches our southern book</a:t>
            </a:r>
          </a:p>
        </p:txBody>
      </p:sp>
      <p:sp>
        <p:nvSpPr>
          <p:cNvPr id="43" name="TextBox 42"/>
          <p:cNvSpPr txBox="1"/>
          <p:nvPr/>
        </p:nvSpPr>
        <p:spPr>
          <a:xfrm>
            <a:off x="630936" y="5162867"/>
            <a:ext cx="11036808" cy="357378"/>
          </a:xfrm>
          <a:prstGeom prst="rect">
            <a:avLst/>
          </a:prstGeom>
          <a:noFill/>
        </p:spPr>
        <p:txBody>
          <a:bodyPr wrap="square" lIns="0" rIns="0" tIns="0" bIns="0" anchor="t">
            <a:noAutofit/>
          </a:bodyPr>
          <a:lstStyle/>
          <a:p>
            <a:pPr algn="l">
              <a:lnSpc>
                <a:spcPts val="1407"/>
              </a:lnSpc>
            </a:pPr>
            <a:r>
              <a:rPr sz="1050" b="0">
                <a:solidFill>
                  <a:srgbClr val="1E2F5C"/>
                </a:solidFill>
                <a:latin typeface="Kanit"/>
              </a:rPr>
              <a:t>Tourist arrivals are −6.6% year on year on a trailing-twelve-month basis. Tourism income is a large part of the informal cash economy in the South and around the eastern seaboard, and it appears nowhere in the crop or fleet data.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02 · THAILAND IN THE REGION</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Slowest growth in ASEAN-5, and system arrears are turning.</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graphicFrame>
        <p:nvGraphicFramePr>
          <p:cNvPr id="9" name="Table 8"/>
          <p:cNvGraphicFramePr>
            <a:graphicFrameLocks noGrp="1"/>
          </p:cNvGraphicFramePr>
          <p:nvPr/>
        </p:nvGraphicFramePr>
        <p:xfrm>
          <a:off x="411480" y="1152144"/>
          <a:ext cx="5897880" cy="2043684"/>
        </p:xfrm>
        <a:graphic>
          <a:graphicData uri="http://schemas.openxmlformats.org/drawingml/2006/table">
            <a:tbl>
              <a:tblPr>
                <a:tableStyleId>{5C22544A-7EE6-4342-B048-85BDC9FD1C3A}</a:tableStyleId>
              </a:tblPr>
              <a:tblGrid>
                <a:gridCol w="1619026"/>
                <a:gridCol w="1002254"/>
                <a:gridCol w="886609"/>
                <a:gridCol w="1156447"/>
                <a:gridCol w="1233544"/>
              </a:tblGrid>
              <a:tr h="329184">
                <a:tc>
                  <a:txBody>
                    <a:bodyPr wrap="square"/>
                    <a:lstStyle/>
                    <a:p>
                      <a:pPr algn="l"/>
                      <a:r>
                        <a:rPr sz="1050" b="1">
                          <a:solidFill>
                            <a:srgbClr val="FFFFFF"/>
                          </a:solidFill>
                          <a:latin typeface="Kanit"/>
                        </a:rPr>
                        <a:t>IMF 2026 projection</a:t>
                      </a:r>
                    </a:p>
                  </a:txBody>
                  <a:tcPr marL="54864" marR="54864" marT="18288" marB="18288" anchor="ctr">
                    <a:solidFill>
                      <a:srgbClr val="1B2A6B"/>
                    </a:solidFill>
                  </a:tcPr>
                </a:tc>
                <a:tc>
                  <a:txBody>
                    <a:bodyPr wrap="square"/>
                    <a:lstStyle/>
                    <a:p>
                      <a:pPr algn="r"/>
                      <a:r>
                        <a:rPr sz="1050" b="1">
                          <a:solidFill>
                            <a:srgbClr val="FFFFFF"/>
                          </a:solidFill>
                          <a:latin typeface="Kanit"/>
                        </a:rPr>
                        <a:t>GDP growth</a:t>
                      </a:r>
                    </a:p>
                  </a:txBody>
                  <a:tcPr marL="54864" marR="54864" marT="18288" marB="18288" anchor="ctr">
                    <a:solidFill>
                      <a:srgbClr val="1B2A6B"/>
                    </a:solidFill>
                  </a:tcPr>
                </a:tc>
                <a:tc>
                  <a:txBody>
                    <a:bodyPr wrap="square"/>
                    <a:lstStyle/>
                    <a:p>
                      <a:pPr algn="r"/>
                      <a:r>
                        <a:rPr sz="1050" b="1">
                          <a:solidFill>
                            <a:srgbClr val="FFFFFF"/>
                          </a:solidFill>
                          <a:latin typeface="Kanit"/>
                        </a:rPr>
                        <a:t>Inflation</a:t>
                      </a:r>
                    </a:p>
                  </a:txBody>
                  <a:tcPr marL="54864" marR="54864" marT="18288" marB="18288" anchor="ctr">
                    <a:solidFill>
                      <a:srgbClr val="1B2A6B"/>
                    </a:solidFill>
                  </a:tcPr>
                </a:tc>
                <a:tc>
                  <a:txBody>
                    <a:bodyPr wrap="square"/>
                    <a:lstStyle/>
                    <a:p>
                      <a:pPr algn="r"/>
                      <a:r>
                        <a:rPr sz="1050" b="1">
                          <a:solidFill>
                            <a:srgbClr val="FFFFFF"/>
                          </a:solidFill>
                          <a:latin typeface="Kanit"/>
                        </a:rPr>
                        <a:t>Unemployment</a:t>
                      </a:r>
                    </a:p>
                  </a:txBody>
                  <a:tcPr marL="54864" marR="54864" marT="18288" marB="18288" anchor="ctr">
                    <a:solidFill>
                      <a:srgbClr val="1B2A6B"/>
                    </a:solidFill>
                  </a:tcPr>
                </a:tc>
                <a:tc>
                  <a:txBody>
                    <a:bodyPr wrap="square"/>
                    <a:lstStyle/>
                    <a:p>
                      <a:pPr algn="r"/>
                      <a:r>
                        <a:rPr sz="1050" b="1">
                          <a:solidFill>
                            <a:srgbClr val="FFFFFF"/>
                          </a:solidFill>
                          <a:latin typeface="Kanit"/>
                        </a:rPr>
                        <a:t>Govt debt/GDP</a:t>
                      </a:r>
                    </a:p>
                  </a:txBody>
                  <a:tcPr marL="54864" marR="54864" marT="18288" marB="18288" anchor="ctr">
                    <a:solidFill>
                      <a:srgbClr val="1B2A6B"/>
                    </a:solidFill>
                  </a:tcPr>
                </a:tc>
              </a:tr>
              <a:tr h="342900">
                <a:tc>
                  <a:txBody>
                    <a:bodyPr wrap="square"/>
                    <a:lstStyle/>
                    <a:p>
                      <a:pPr algn="l"/>
                      <a:r>
                        <a:rPr sz="1000" b="1">
                          <a:solidFill>
                            <a:srgbClr val="1E2F5C"/>
                          </a:solidFill>
                          <a:latin typeface="Kanit"/>
                        </a:rPr>
                        <a:t>Thailand</a:t>
                      </a:r>
                    </a:p>
                  </a:txBody>
                  <a:tcPr marL="54864" marR="54864" marT="18288" marB="18288" anchor="ctr">
                    <a:solidFill>
                      <a:srgbClr val="FFFFFF"/>
                    </a:solidFill>
                  </a:tcPr>
                </a:tc>
                <a:tc>
                  <a:txBody>
                    <a:bodyPr wrap="square"/>
                    <a:lstStyle/>
                    <a:p>
                      <a:pPr algn="r"/>
                      <a:r>
                        <a:rPr sz="1000" b="1">
                          <a:solidFill>
                            <a:srgbClr val="CC0000"/>
                          </a:solidFill>
                          <a:latin typeface="Kanit"/>
                        </a:rPr>
                        <a:t>1.5%</a:t>
                      </a:r>
                    </a:p>
                  </a:txBody>
                  <a:tcPr marL="54864" marR="54864" marT="18288" marB="18288" anchor="ctr">
                    <a:solidFill>
                      <a:srgbClr val="FFFFFF"/>
                    </a:solidFill>
                  </a:tcPr>
                </a:tc>
                <a:tc>
                  <a:txBody>
                    <a:bodyPr wrap="square"/>
                    <a:lstStyle/>
                    <a:p>
                      <a:pPr algn="r"/>
                      <a:r>
                        <a:rPr sz="1000" b="0">
                          <a:solidFill>
                            <a:srgbClr val="1E2F5C"/>
                          </a:solidFill>
                          <a:latin typeface="Kanit"/>
                        </a:rPr>
                        <a:t>0.9%</a:t>
                      </a:r>
                    </a:p>
                  </a:txBody>
                  <a:tcPr marL="54864" marR="54864" marT="18288" marB="18288" anchor="ctr">
                    <a:solidFill>
                      <a:srgbClr val="FFFFFF"/>
                    </a:solidFill>
                  </a:tcPr>
                </a:tc>
                <a:tc>
                  <a:txBody>
                    <a:bodyPr wrap="square"/>
                    <a:lstStyle/>
                    <a:p>
                      <a:pPr algn="r"/>
                      <a:r>
                        <a:rPr sz="1000" b="0">
                          <a:solidFill>
                            <a:srgbClr val="1E2F5C"/>
                          </a:solidFill>
                          <a:latin typeface="Kanit"/>
                        </a:rPr>
                        <a:t>1.0%</a:t>
                      </a:r>
                    </a:p>
                  </a:txBody>
                  <a:tcPr marL="54864" marR="54864" marT="18288" marB="18288" anchor="ctr">
                    <a:solidFill>
                      <a:srgbClr val="FFFFFF"/>
                    </a:solidFill>
                  </a:tcPr>
                </a:tc>
                <a:tc>
                  <a:txBody>
                    <a:bodyPr wrap="square"/>
                    <a:lstStyle/>
                    <a:p>
                      <a:pPr algn="r"/>
                      <a:r>
                        <a:rPr sz="1000" b="0">
                          <a:solidFill>
                            <a:srgbClr val="1E2F5C"/>
                          </a:solidFill>
                          <a:latin typeface="Kanit"/>
                        </a:rPr>
                        <a:t>66.8%</a:t>
                      </a:r>
                    </a:p>
                  </a:txBody>
                  <a:tcPr marL="54864" marR="54864" marT="18288" marB="18288" anchor="ctr">
                    <a:solidFill>
                      <a:srgbClr val="FFFFFF"/>
                    </a:solidFill>
                  </a:tcPr>
                </a:tc>
              </a:tr>
              <a:tr h="342900">
                <a:tc>
                  <a:txBody>
                    <a:bodyPr wrap="square"/>
                    <a:lstStyle/>
                    <a:p>
                      <a:pPr algn="l"/>
                      <a:r>
                        <a:rPr sz="1000" b="0">
                          <a:solidFill>
                            <a:srgbClr val="1E2F5C"/>
                          </a:solidFill>
                          <a:latin typeface="Kanit"/>
                        </a:rPr>
                        <a:t>Vietnam</a:t>
                      </a:r>
                    </a:p>
                  </a:txBody>
                  <a:tcPr marL="54864" marR="54864" marT="18288" marB="18288" anchor="ctr">
                    <a:solidFill>
                      <a:srgbClr val="F7F9FC"/>
                    </a:solidFill>
                  </a:tcPr>
                </a:tc>
                <a:tc>
                  <a:txBody>
                    <a:bodyPr wrap="square"/>
                    <a:lstStyle/>
                    <a:p>
                      <a:pPr algn="r"/>
                      <a:r>
                        <a:rPr sz="1000" b="1">
                          <a:solidFill>
                            <a:srgbClr val="1E2F5C"/>
                          </a:solidFill>
                          <a:latin typeface="Kanit"/>
                        </a:rPr>
                        <a:t>7.1%</a:t>
                      </a:r>
                    </a:p>
                  </a:txBody>
                  <a:tcPr marL="54864" marR="54864" marT="18288" marB="18288" anchor="ctr">
                    <a:solidFill>
                      <a:srgbClr val="F7F9FC"/>
                    </a:solidFill>
                  </a:tcPr>
                </a:tc>
                <a:tc>
                  <a:txBody>
                    <a:bodyPr wrap="square"/>
                    <a:lstStyle/>
                    <a:p>
                      <a:pPr algn="r"/>
                      <a:r>
                        <a:rPr sz="1000" b="0">
                          <a:solidFill>
                            <a:srgbClr val="1E2F5C"/>
                          </a:solidFill>
                          <a:latin typeface="Kanit"/>
                        </a:rPr>
                        <a:t>4.9%</a:t>
                      </a:r>
                    </a:p>
                  </a:txBody>
                  <a:tcPr marL="54864" marR="54864" marT="18288" marB="18288" anchor="ctr">
                    <a:solidFill>
                      <a:srgbClr val="F7F9FC"/>
                    </a:solidFill>
                  </a:tcPr>
                </a:tc>
                <a:tc>
                  <a:txBody>
                    <a:bodyPr wrap="square"/>
                    <a:lstStyle/>
                    <a:p>
                      <a:pPr algn="r"/>
                      <a:r>
                        <a:rPr sz="1000" b="0">
                          <a:solidFill>
                            <a:srgbClr val="1E2F5C"/>
                          </a:solidFill>
                          <a:latin typeface="Kanit"/>
                        </a:rPr>
                        <a:t>2.1%</a:t>
                      </a:r>
                    </a:p>
                  </a:txBody>
                  <a:tcPr marL="54864" marR="54864" marT="18288" marB="18288" anchor="ctr">
                    <a:solidFill>
                      <a:srgbClr val="F7F9FC"/>
                    </a:solidFill>
                  </a:tcPr>
                </a:tc>
                <a:tc>
                  <a:txBody>
                    <a:bodyPr wrap="square"/>
                    <a:lstStyle/>
                    <a:p>
                      <a:pPr algn="r"/>
                      <a:r>
                        <a:rPr sz="1000" b="0">
                          <a:solidFill>
                            <a:srgbClr val="1E2F5C"/>
                          </a:solidFill>
                          <a:latin typeface="Kanit"/>
                        </a:rPr>
                        <a:t>29.8%</a:t>
                      </a:r>
                    </a:p>
                  </a:txBody>
                  <a:tcPr marL="54864" marR="54864" marT="18288" marB="18288" anchor="ctr">
                    <a:solidFill>
                      <a:srgbClr val="F7F9FC"/>
                    </a:solidFill>
                  </a:tcPr>
                </a:tc>
              </a:tr>
              <a:tr h="342900">
                <a:tc>
                  <a:txBody>
                    <a:bodyPr wrap="square"/>
                    <a:lstStyle/>
                    <a:p>
                      <a:pPr algn="l"/>
                      <a:r>
                        <a:rPr sz="1000" b="0">
                          <a:solidFill>
                            <a:srgbClr val="1E2F5C"/>
                          </a:solidFill>
                          <a:latin typeface="Kanit"/>
                        </a:rPr>
                        <a:t>Indonesia</a:t>
                      </a:r>
                    </a:p>
                  </a:txBody>
                  <a:tcPr marL="54864" marR="54864" marT="18288" marB="18288" anchor="ctr">
                    <a:solidFill>
                      <a:srgbClr val="FFFFFF"/>
                    </a:solidFill>
                  </a:tcPr>
                </a:tc>
                <a:tc>
                  <a:txBody>
                    <a:bodyPr wrap="square"/>
                    <a:lstStyle/>
                    <a:p>
                      <a:pPr algn="r"/>
                      <a:r>
                        <a:rPr sz="1000" b="1">
                          <a:solidFill>
                            <a:srgbClr val="1E2F5C"/>
                          </a:solidFill>
                          <a:latin typeface="Kanit"/>
                        </a:rPr>
                        <a:t>5.0%</a:t>
                      </a:r>
                    </a:p>
                  </a:txBody>
                  <a:tcPr marL="54864" marR="54864" marT="18288" marB="18288" anchor="ctr">
                    <a:solidFill>
                      <a:srgbClr val="FFFFFF"/>
                    </a:solidFill>
                  </a:tcPr>
                </a:tc>
                <a:tc>
                  <a:txBody>
                    <a:bodyPr wrap="square"/>
                    <a:lstStyle/>
                    <a:p>
                      <a:pPr algn="r"/>
                      <a:r>
                        <a:rPr sz="1000" b="0">
                          <a:solidFill>
                            <a:srgbClr val="1E2F5C"/>
                          </a:solidFill>
                          <a:latin typeface="Kanit"/>
                        </a:rPr>
                        <a:t>3.0%</a:t>
                      </a:r>
                    </a:p>
                  </a:txBody>
                  <a:tcPr marL="54864" marR="54864" marT="18288" marB="18288" anchor="ctr">
                    <a:solidFill>
                      <a:srgbClr val="FFFFFF"/>
                    </a:solidFill>
                  </a:tcPr>
                </a:tc>
                <a:tc>
                  <a:txBody>
                    <a:bodyPr wrap="square"/>
                    <a:lstStyle/>
                    <a:p>
                      <a:pPr algn="r"/>
                      <a:r>
                        <a:rPr sz="1000" b="0">
                          <a:solidFill>
                            <a:srgbClr val="1E2F5C"/>
                          </a:solidFill>
                          <a:latin typeface="Kanit"/>
                        </a:rPr>
                        <a:t>4.9%</a:t>
                      </a:r>
                    </a:p>
                  </a:txBody>
                  <a:tcPr marL="54864" marR="54864" marT="18288" marB="18288" anchor="ctr">
                    <a:solidFill>
                      <a:srgbClr val="FFFFFF"/>
                    </a:solidFill>
                  </a:tcPr>
                </a:tc>
                <a:tc>
                  <a:txBody>
                    <a:bodyPr wrap="square"/>
                    <a:lstStyle/>
                    <a:p>
                      <a:pPr algn="r"/>
                      <a:r>
                        <a:rPr sz="1000" b="0">
                          <a:solidFill>
                            <a:srgbClr val="1E2F5C"/>
                          </a:solidFill>
                          <a:latin typeface="Kanit"/>
                        </a:rPr>
                        <a:t>41.5%</a:t>
                      </a:r>
                    </a:p>
                  </a:txBody>
                  <a:tcPr marL="54864" marR="54864" marT="18288" marB="18288" anchor="ctr">
                    <a:solidFill>
                      <a:srgbClr val="FFFFFF"/>
                    </a:solidFill>
                  </a:tcPr>
                </a:tc>
              </a:tr>
              <a:tr h="342900">
                <a:tc>
                  <a:txBody>
                    <a:bodyPr wrap="square"/>
                    <a:lstStyle/>
                    <a:p>
                      <a:pPr algn="l"/>
                      <a:r>
                        <a:rPr sz="1000" b="0">
                          <a:solidFill>
                            <a:srgbClr val="1E2F5C"/>
                          </a:solidFill>
                          <a:latin typeface="Kanit"/>
                        </a:rPr>
                        <a:t>Malaysia</a:t>
                      </a:r>
                    </a:p>
                  </a:txBody>
                  <a:tcPr marL="54864" marR="54864" marT="18288" marB="18288" anchor="ctr">
                    <a:solidFill>
                      <a:srgbClr val="F7F9FC"/>
                    </a:solidFill>
                  </a:tcPr>
                </a:tc>
                <a:tc>
                  <a:txBody>
                    <a:bodyPr wrap="square"/>
                    <a:lstStyle/>
                    <a:p>
                      <a:pPr algn="r"/>
                      <a:r>
                        <a:rPr sz="1000" b="1">
                          <a:solidFill>
                            <a:srgbClr val="1E2F5C"/>
                          </a:solidFill>
                          <a:latin typeface="Kanit"/>
                        </a:rPr>
                        <a:t>4.7%</a:t>
                      </a:r>
                    </a:p>
                  </a:txBody>
                  <a:tcPr marL="54864" marR="54864" marT="18288" marB="18288" anchor="ctr">
                    <a:solidFill>
                      <a:srgbClr val="F7F9FC"/>
                    </a:solidFill>
                  </a:tcPr>
                </a:tc>
                <a:tc>
                  <a:txBody>
                    <a:bodyPr wrap="square"/>
                    <a:lstStyle/>
                    <a:p>
                      <a:pPr algn="r"/>
                      <a:r>
                        <a:rPr sz="1000" b="0">
                          <a:solidFill>
                            <a:srgbClr val="1E2F5C"/>
                          </a:solidFill>
                          <a:latin typeface="Kanit"/>
                        </a:rPr>
                        <a:t>1.9%</a:t>
                      </a:r>
                    </a:p>
                  </a:txBody>
                  <a:tcPr marL="54864" marR="54864" marT="18288" marB="18288" anchor="ctr">
                    <a:solidFill>
                      <a:srgbClr val="F7F9FC"/>
                    </a:solidFill>
                  </a:tcPr>
                </a:tc>
                <a:tc>
                  <a:txBody>
                    <a:bodyPr wrap="square"/>
                    <a:lstStyle/>
                    <a:p>
                      <a:pPr algn="r"/>
                      <a:r>
                        <a:rPr sz="1000" b="0">
                          <a:solidFill>
                            <a:srgbClr val="1E2F5C"/>
                          </a:solidFill>
                          <a:latin typeface="Kanit"/>
                        </a:rPr>
                        <a:t>3.0%</a:t>
                      </a:r>
                    </a:p>
                  </a:txBody>
                  <a:tcPr marL="54864" marR="54864" marT="18288" marB="18288" anchor="ctr">
                    <a:solidFill>
                      <a:srgbClr val="F7F9FC"/>
                    </a:solidFill>
                  </a:tcPr>
                </a:tc>
                <a:tc>
                  <a:txBody>
                    <a:bodyPr wrap="square"/>
                    <a:lstStyle/>
                    <a:p>
                      <a:pPr algn="r"/>
                      <a:r>
                        <a:rPr sz="1000" b="0">
                          <a:solidFill>
                            <a:srgbClr val="1E2F5C"/>
                          </a:solidFill>
                          <a:latin typeface="Kanit"/>
                        </a:rPr>
                        <a:t>69.5%</a:t>
                      </a:r>
                    </a:p>
                  </a:txBody>
                  <a:tcPr marL="54864" marR="54864" marT="18288" marB="18288" anchor="ctr">
                    <a:solidFill>
                      <a:srgbClr val="F7F9FC"/>
                    </a:solidFill>
                  </a:tcPr>
                </a:tc>
              </a:tr>
              <a:tr h="342900">
                <a:tc>
                  <a:txBody>
                    <a:bodyPr wrap="square"/>
                    <a:lstStyle/>
                    <a:p>
                      <a:pPr algn="l"/>
                      <a:r>
                        <a:rPr sz="1000" b="0">
                          <a:solidFill>
                            <a:srgbClr val="1E2F5C"/>
                          </a:solidFill>
                          <a:latin typeface="Kanit"/>
                        </a:rPr>
                        <a:t>Philippines</a:t>
                      </a:r>
                    </a:p>
                  </a:txBody>
                  <a:tcPr marL="54864" marR="54864" marT="18288" marB="18288" anchor="ctr">
                    <a:solidFill>
                      <a:srgbClr val="FFFFFF"/>
                    </a:solidFill>
                  </a:tcPr>
                </a:tc>
                <a:tc>
                  <a:txBody>
                    <a:bodyPr wrap="square"/>
                    <a:lstStyle/>
                    <a:p>
                      <a:pPr algn="r"/>
                      <a:r>
                        <a:rPr sz="1000" b="1">
                          <a:solidFill>
                            <a:srgbClr val="1E2F5C"/>
                          </a:solidFill>
                          <a:latin typeface="Kanit"/>
                        </a:rPr>
                        <a:t>4.1%</a:t>
                      </a:r>
                    </a:p>
                  </a:txBody>
                  <a:tcPr marL="54864" marR="54864" marT="18288" marB="18288" anchor="ctr">
                    <a:solidFill>
                      <a:srgbClr val="FFFFFF"/>
                    </a:solidFill>
                  </a:tcPr>
                </a:tc>
                <a:tc>
                  <a:txBody>
                    <a:bodyPr wrap="square"/>
                    <a:lstStyle/>
                    <a:p>
                      <a:pPr algn="r"/>
                      <a:r>
                        <a:rPr sz="1000" b="0">
                          <a:solidFill>
                            <a:srgbClr val="1E2F5C"/>
                          </a:solidFill>
                          <a:latin typeface="Kanit"/>
                        </a:rPr>
                        <a:t>4.3%</a:t>
                      </a:r>
                    </a:p>
                  </a:txBody>
                  <a:tcPr marL="54864" marR="54864" marT="18288" marB="18288" anchor="ctr">
                    <a:solidFill>
                      <a:srgbClr val="FFFFFF"/>
                    </a:solidFill>
                  </a:tcPr>
                </a:tc>
                <a:tc>
                  <a:txBody>
                    <a:bodyPr wrap="square"/>
                    <a:lstStyle/>
                    <a:p>
                      <a:pPr algn="r"/>
                      <a:r>
                        <a:rPr sz="1000" b="0">
                          <a:solidFill>
                            <a:srgbClr val="1E2F5C"/>
                          </a:solidFill>
                          <a:latin typeface="Kanit"/>
                        </a:rPr>
                        <a:t>4.7%</a:t>
                      </a:r>
                    </a:p>
                  </a:txBody>
                  <a:tcPr marL="54864" marR="54864" marT="18288" marB="18288" anchor="ctr">
                    <a:solidFill>
                      <a:srgbClr val="FFFFFF"/>
                    </a:solidFill>
                  </a:tcPr>
                </a:tc>
                <a:tc>
                  <a:txBody>
                    <a:bodyPr wrap="square"/>
                    <a:lstStyle/>
                    <a:p>
                      <a:pPr algn="r"/>
                      <a:r>
                        <a:rPr sz="1000" b="0">
                          <a:solidFill>
                            <a:srgbClr val="1E2F5C"/>
                          </a:solidFill>
                          <a:latin typeface="Kanit"/>
                        </a:rPr>
                        <a:t>60.2%</a:t>
                      </a:r>
                    </a:p>
                  </a:txBody>
                  <a:tcPr marL="54864" marR="54864" marT="18288" marB="18288" anchor="ctr">
                    <a:solidFill>
                      <a:srgbClr val="FFFFFF"/>
                    </a:solidFill>
                  </a:tcPr>
                </a:tc>
              </a:tr>
            </a:tbl>
          </a:graphicData>
        </a:graphic>
      </p:graphicFrame>
      <p:sp>
        <p:nvSpPr>
          <p:cNvPr id="10" name="Rectangle 9"/>
          <p:cNvSpPr/>
          <p:nvPr/>
        </p:nvSpPr>
        <p:spPr>
          <a:xfrm>
            <a:off x="6583680" y="877824"/>
            <a:ext cx="5193792" cy="2468880"/>
          </a:xfrm>
          <a:prstGeom prst="rect">
            <a:avLst/>
          </a:prstGeom>
          <a:solidFill>
            <a:srgbClr val="FBFCFE"/>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6967728" y="3072384"/>
            <a:ext cx="4718304" cy="6400"/>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6601968" y="3003804"/>
            <a:ext cx="329184" cy="125730"/>
          </a:xfrm>
          <a:prstGeom prst="rect">
            <a:avLst/>
          </a:prstGeom>
          <a:noFill/>
        </p:spPr>
        <p:txBody>
          <a:bodyPr wrap="square" lIns="0" rIns="0" tIns="0" bIns="0" anchor="t">
            <a:noAutofit/>
          </a:bodyPr>
          <a:lstStyle/>
          <a:p>
            <a:pPr algn="r">
              <a:lnSpc>
                <a:spcPts val="990"/>
              </a:lnSpc>
            </a:pPr>
            <a:r>
              <a:rPr sz="750" b="0">
                <a:solidFill>
                  <a:srgbClr val="9AA3B2"/>
                </a:solidFill>
                <a:latin typeface="Kanit"/>
              </a:rPr>
              <a:t>2</a:t>
            </a:r>
          </a:p>
        </p:txBody>
      </p:sp>
      <p:sp>
        <p:nvSpPr>
          <p:cNvPr id="13" name="Rectangle 12"/>
          <p:cNvSpPr/>
          <p:nvPr/>
        </p:nvSpPr>
        <p:spPr>
          <a:xfrm>
            <a:off x="6967728" y="1024128"/>
            <a:ext cx="4718304" cy="6400"/>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6601968" y="955548"/>
            <a:ext cx="329184" cy="125730"/>
          </a:xfrm>
          <a:prstGeom prst="rect">
            <a:avLst/>
          </a:prstGeom>
          <a:noFill/>
        </p:spPr>
        <p:txBody>
          <a:bodyPr wrap="square" lIns="0" rIns="0" tIns="0" bIns="0" anchor="t">
            <a:noAutofit/>
          </a:bodyPr>
          <a:lstStyle/>
          <a:p>
            <a:pPr algn="r">
              <a:lnSpc>
                <a:spcPts val="990"/>
              </a:lnSpc>
            </a:pPr>
            <a:r>
              <a:rPr sz="750" b="0">
                <a:solidFill>
                  <a:srgbClr val="9AA3B2"/>
                </a:solidFill>
                <a:latin typeface="Kanit"/>
              </a:rPr>
              <a:t>6</a:t>
            </a:r>
          </a:p>
        </p:txBody>
      </p:sp>
      <p:sp>
        <p:nvSpPr>
          <p:cNvPr id="15" name="TextBox 14"/>
          <p:cNvSpPr txBox="1"/>
          <p:nvPr/>
        </p:nvSpPr>
        <p:spPr>
          <a:xfrm>
            <a:off x="11050079" y="1005840"/>
            <a:ext cx="544512" cy="134112"/>
          </a:xfrm>
          <a:prstGeom prst="rect">
            <a:avLst/>
          </a:prstGeom>
          <a:noFill/>
        </p:spPr>
        <p:txBody>
          <a:bodyPr wrap="square" lIns="0" rIns="0" tIns="0" bIns="0" anchor="t">
            <a:noAutofit/>
          </a:bodyPr>
          <a:lstStyle/>
          <a:p>
            <a:pPr algn="l">
              <a:lnSpc>
                <a:spcPts val="1056"/>
              </a:lnSpc>
            </a:pPr>
            <a:r>
              <a:rPr sz="800" b="1">
                <a:solidFill>
                  <a:srgbClr val="CC0000"/>
                </a:solidFill>
                <a:latin typeface="Kanit"/>
              </a:rPr>
              <a:t>System NPL</a:t>
            </a:r>
          </a:p>
        </p:txBody>
      </p:sp>
      <p:sp>
        <p:nvSpPr>
          <p:cNvPr id="16" name="Rectangle 15"/>
          <p:cNvSpPr/>
          <p:nvPr/>
        </p:nvSpPr>
        <p:spPr>
          <a:xfrm>
            <a:off x="10812335" y="1065276"/>
            <a:ext cx="164592" cy="25603"/>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Freeform 16"/>
          <p:cNvSpPr/>
          <p:nvPr/>
        </p:nvSpPr>
        <p:spPr>
          <a:xfrm>
            <a:off x="6967728" y="1152144"/>
            <a:ext cx="4718304" cy="1367210"/>
          </a:xfrm>
          <a:custGeom>
            <a:avLst/>
            <a:gdLst/>
            <a:ahLst/>
            <a:cxnLst/>
            <a:rect l="l" t="t" r="r" b="b"/>
            <a:pathLst>
              <a:path w="4718304" h="1367210">
                <a:moveTo>
                  <a:pt x="0" y="593994"/>
                </a:moveTo>
                <a:lnTo>
                  <a:pt x="120982" y="471098"/>
                </a:lnTo>
                <a:lnTo>
                  <a:pt x="241964" y="634959"/>
                </a:lnTo>
                <a:lnTo>
                  <a:pt x="362946" y="675924"/>
                </a:lnTo>
                <a:lnTo>
                  <a:pt x="483928" y="1100937"/>
                </a:lnTo>
                <a:lnTo>
                  <a:pt x="604910" y="916594"/>
                </a:lnTo>
                <a:lnTo>
                  <a:pt x="725892" y="1095816"/>
                </a:lnTo>
                <a:lnTo>
                  <a:pt x="846875" y="1187988"/>
                </a:lnTo>
                <a:lnTo>
                  <a:pt x="967857" y="1141902"/>
                </a:lnTo>
                <a:lnTo>
                  <a:pt x="1088839" y="1034369"/>
                </a:lnTo>
                <a:lnTo>
                  <a:pt x="1209821" y="1095816"/>
                </a:lnTo>
                <a:lnTo>
                  <a:pt x="1330803" y="1111178"/>
                </a:lnTo>
                <a:lnTo>
                  <a:pt x="1451785" y="1003645"/>
                </a:lnTo>
                <a:lnTo>
                  <a:pt x="1572768" y="931956"/>
                </a:lnTo>
                <a:lnTo>
                  <a:pt x="1693750" y="1065093"/>
                </a:lnTo>
                <a:lnTo>
                  <a:pt x="1814732" y="952439"/>
                </a:lnTo>
                <a:lnTo>
                  <a:pt x="1935714" y="1080455"/>
                </a:lnTo>
                <a:lnTo>
                  <a:pt x="2056696" y="1121420"/>
                </a:lnTo>
                <a:lnTo>
                  <a:pt x="2177678" y="1300642"/>
                </a:lnTo>
                <a:lnTo>
                  <a:pt x="2298660" y="1367210"/>
                </a:lnTo>
                <a:lnTo>
                  <a:pt x="2419643" y="1290401"/>
                </a:lnTo>
                <a:lnTo>
                  <a:pt x="2540625" y="1157264"/>
                </a:lnTo>
                <a:lnTo>
                  <a:pt x="2661607" y="865388"/>
                </a:lnTo>
                <a:lnTo>
                  <a:pt x="2782589" y="860267"/>
                </a:lnTo>
                <a:lnTo>
                  <a:pt x="2903571" y="271393"/>
                </a:lnTo>
                <a:lnTo>
                  <a:pt x="3024553" y="0"/>
                </a:lnTo>
                <a:lnTo>
                  <a:pt x="3145536" y="583752"/>
                </a:lnTo>
                <a:lnTo>
                  <a:pt x="3266518" y="783457"/>
                </a:lnTo>
                <a:lnTo>
                  <a:pt x="3387500" y="670803"/>
                </a:lnTo>
                <a:lnTo>
                  <a:pt x="3508482" y="655441"/>
                </a:lnTo>
                <a:lnTo>
                  <a:pt x="3629464" y="1054851"/>
                </a:lnTo>
                <a:lnTo>
                  <a:pt x="3750446" y="824423"/>
                </a:lnTo>
                <a:lnTo>
                  <a:pt x="3871428" y="517184"/>
                </a:lnTo>
                <a:lnTo>
                  <a:pt x="3992411" y="363565"/>
                </a:lnTo>
                <a:lnTo>
                  <a:pt x="4113393" y="593994"/>
                </a:lnTo>
                <a:lnTo>
                  <a:pt x="4234375" y="773216"/>
                </a:lnTo>
                <a:lnTo>
                  <a:pt x="4355357" y="686165"/>
                </a:lnTo>
                <a:lnTo>
                  <a:pt x="4476339" y="629838"/>
                </a:lnTo>
                <a:lnTo>
                  <a:pt x="4597321" y="727130"/>
                </a:lnTo>
                <a:lnTo>
                  <a:pt x="4718304" y="650321"/>
                </a:lnTo>
              </a:path>
            </a:pathLst>
          </a:custGeom>
          <a:noFill/>
          <a:ln w="20320">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47794" y="3145536"/>
            <a:ext cx="365760" cy="125730"/>
          </a:xfrm>
          <a:prstGeom prst="rect">
            <a:avLst/>
          </a:prstGeom>
          <a:noFill/>
        </p:spPr>
        <p:txBody>
          <a:bodyPr wrap="square" lIns="0" rIns="0" tIns="0" bIns="0" anchor="t">
            <a:noAutofit/>
          </a:bodyPr>
          <a:lstStyle/>
          <a:p>
            <a:pPr algn="ctr">
              <a:lnSpc>
                <a:spcPts val="990"/>
              </a:lnSpc>
            </a:pPr>
            <a:r>
              <a:rPr sz="750" b="0">
                <a:solidFill>
                  <a:srgbClr val="606060"/>
                </a:solidFill>
                <a:latin typeface="Kanit"/>
              </a:rPr>
              <a:t>2017</a:t>
            </a:r>
          </a:p>
        </p:txBody>
      </p:sp>
      <p:sp>
        <p:nvSpPr>
          <p:cNvPr id="19" name="TextBox 18"/>
          <p:cNvSpPr txBox="1"/>
          <p:nvPr/>
        </p:nvSpPr>
        <p:spPr>
          <a:xfrm>
            <a:off x="8599580" y="3145536"/>
            <a:ext cx="365760" cy="125730"/>
          </a:xfrm>
          <a:prstGeom prst="rect">
            <a:avLst/>
          </a:prstGeom>
          <a:noFill/>
        </p:spPr>
        <p:txBody>
          <a:bodyPr wrap="square" lIns="0" rIns="0" tIns="0" bIns="0" anchor="t">
            <a:noAutofit/>
          </a:bodyPr>
          <a:lstStyle/>
          <a:p>
            <a:pPr algn="ctr">
              <a:lnSpc>
                <a:spcPts val="990"/>
              </a:lnSpc>
            </a:pPr>
            <a:r>
              <a:rPr sz="750" b="0">
                <a:solidFill>
                  <a:srgbClr val="606060"/>
                </a:solidFill>
                <a:latin typeface="Kanit"/>
              </a:rPr>
              <a:t>2020</a:t>
            </a:r>
          </a:p>
        </p:txBody>
      </p:sp>
      <p:sp>
        <p:nvSpPr>
          <p:cNvPr id="20" name="TextBox 19"/>
          <p:cNvSpPr txBox="1"/>
          <p:nvPr/>
        </p:nvSpPr>
        <p:spPr>
          <a:xfrm>
            <a:off x="10051366" y="3145536"/>
            <a:ext cx="365760" cy="125730"/>
          </a:xfrm>
          <a:prstGeom prst="rect">
            <a:avLst/>
          </a:prstGeom>
          <a:noFill/>
        </p:spPr>
        <p:txBody>
          <a:bodyPr wrap="square" lIns="0" rIns="0" tIns="0" bIns="0" anchor="t">
            <a:noAutofit/>
          </a:bodyPr>
          <a:lstStyle/>
          <a:p>
            <a:pPr algn="ctr">
              <a:lnSpc>
                <a:spcPts val="990"/>
              </a:lnSpc>
            </a:pPr>
            <a:r>
              <a:rPr sz="750" b="0">
                <a:solidFill>
                  <a:srgbClr val="606060"/>
                </a:solidFill>
                <a:latin typeface="Kanit"/>
              </a:rPr>
              <a:t>2023</a:t>
            </a:r>
          </a:p>
        </p:txBody>
      </p:sp>
      <p:sp>
        <p:nvSpPr>
          <p:cNvPr id="21" name="TextBox 20"/>
          <p:cNvSpPr txBox="1"/>
          <p:nvPr/>
        </p:nvSpPr>
        <p:spPr>
          <a:xfrm>
            <a:off x="11503152" y="3145536"/>
            <a:ext cx="365760" cy="125730"/>
          </a:xfrm>
          <a:prstGeom prst="rect">
            <a:avLst/>
          </a:prstGeom>
          <a:noFill/>
        </p:spPr>
        <p:txBody>
          <a:bodyPr wrap="square" lIns="0" rIns="0" tIns="0" bIns="0" anchor="t">
            <a:noAutofit/>
          </a:bodyPr>
          <a:lstStyle/>
          <a:p>
            <a:pPr algn="ctr">
              <a:lnSpc>
                <a:spcPts val="990"/>
              </a:lnSpc>
            </a:pPr>
            <a:r>
              <a:rPr sz="750" b="0">
                <a:solidFill>
                  <a:srgbClr val="606060"/>
                </a:solidFill>
                <a:latin typeface="Kanit"/>
              </a:rPr>
              <a:t>2026</a:t>
            </a:r>
          </a:p>
        </p:txBody>
      </p:sp>
      <p:sp>
        <p:nvSpPr>
          <p:cNvPr id="22" name="TextBox 21"/>
          <p:cNvSpPr txBox="1"/>
          <p:nvPr/>
        </p:nvSpPr>
        <p:spPr>
          <a:xfrm>
            <a:off x="6601968" y="886968"/>
            <a:ext cx="5102352"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Thai banking-system NPL, % of loans · 40 quarters</a:t>
            </a:r>
          </a:p>
        </p:txBody>
      </p:sp>
      <p:sp>
        <p:nvSpPr>
          <p:cNvPr id="23" name="Rounded Rectangle 22"/>
          <p:cNvSpPr/>
          <p:nvPr/>
        </p:nvSpPr>
        <p:spPr>
          <a:xfrm>
            <a:off x="411480" y="3419856"/>
            <a:ext cx="754177" cy="192024"/>
          </a:xfrm>
          <a:prstGeom prst="roundRect">
            <a:avLst>
              <a:gd name="adj" fmla="val 50000"/>
            </a:avLst>
          </a:prstGeom>
          <a:noFill/>
          <a:ln w="9525">
            <a:solidFill>
              <a:srgbClr val="15795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411480" y="3449116"/>
            <a:ext cx="754177" cy="134112"/>
          </a:xfrm>
          <a:prstGeom prst="rect">
            <a:avLst/>
          </a:prstGeom>
          <a:noFill/>
        </p:spPr>
        <p:txBody>
          <a:bodyPr wrap="square" lIns="0" rIns="0" tIns="0" bIns="0" anchor="t">
            <a:noAutofit/>
          </a:bodyPr>
          <a:lstStyle/>
          <a:p>
            <a:pPr algn="ctr">
              <a:lnSpc>
                <a:spcPts val="1056"/>
              </a:lnSpc>
            </a:pPr>
            <a:r>
              <a:rPr sz="800" b="1">
                <a:solidFill>
                  <a:srgbClr val="15795F"/>
                </a:solidFill>
                <a:latin typeface="Kanit"/>
              </a:rPr>
              <a:t>MEASURED</a:t>
            </a:r>
          </a:p>
        </p:txBody>
      </p:sp>
      <p:sp>
        <p:nvSpPr>
          <p:cNvPr id="25" name="TextBox 24"/>
          <p:cNvSpPr txBox="1"/>
          <p:nvPr/>
        </p:nvSpPr>
        <p:spPr>
          <a:xfrm>
            <a:off x="1275385" y="3433572"/>
            <a:ext cx="10502086" cy="325755"/>
          </a:xfrm>
          <a:prstGeom prst="rect">
            <a:avLst/>
          </a:prstGeom>
          <a:noFill/>
        </p:spPr>
        <p:txBody>
          <a:bodyPr wrap="square" lIns="0" rIns="0" tIns="0" bIns="0" anchor="t">
            <a:noAutofit/>
          </a:bodyPr>
          <a:lstStyle/>
          <a:p>
            <a:pPr algn="l">
              <a:lnSpc>
                <a:spcPts val="1282"/>
              </a:lnSpc>
            </a:pPr>
            <a:r>
              <a:rPr sz="950" b="0">
                <a:solidFill>
                  <a:srgbClr val="606060"/>
                </a:solidFill>
                <a:latin typeface="Kanit"/>
              </a:rPr>
              <a:t>IMF World Economic Outlook 2026 projections; Bank of Thailand published NPL ratio — latest 4.48% at 2026-Q1, from 4.33% the quarter before, +0.24 points on the year, against a 3.08% low in 2021-Q1.</a:t>
            </a:r>
          </a:p>
        </p:txBody>
      </p:sp>
      <p:sp>
        <p:nvSpPr>
          <p:cNvPr id="26" name="Rectangle 25"/>
          <p:cNvSpPr/>
          <p:nvPr/>
        </p:nvSpPr>
        <p:spPr>
          <a:xfrm>
            <a:off x="411480" y="3946779"/>
            <a:ext cx="5568696" cy="1688338"/>
          </a:xfrm>
          <a:prstGeom prst="rect">
            <a:avLst/>
          </a:prstGeom>
          <a:solidFill>
            <a:srgbClr val="FCEFE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411480" y="3946779"/>
            <a:ext cx="50292" cy="168833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630936" y="4093083"/>
            <a:ext cx="5239512" cy="158750"/>
          </a:xfrm>
          <a:prstGeom prst="rect">
            <a:avLst/>
          </a:prstGeom>
          <a:noFill/>
        </p:spPr>
        <p:txBody>
          <a:bodyPr wrap="square" lIns="0" rIns="0" tIns="0" bIns="0" anchor="t">
            <a:noAutofit/>
          </a:bodyPr>
          <a:lstStyle/>
          <a:p>
            <a:pPr algn="l">
              <a:lnSpc>
                <a:spcPts val="1250"/>
              </a:lnSpc>
            </a:pPr>
            <a:r>
              <a:rPr sz="950" b="1">
                <a:solidFill>
                  <a:srgbClr val="CC0000"/>
                </a:solidFill>
                <a:latin typeface="Kanit"/>
              </a:rPr>
              <a:t>Read our 14.87% against that 4.48% carefully</a:t>
            </a:r>
          </a:p>
        </p:txBody>
      </p:sp>
      <p:sp>
        <p:nvSpPr>
          <p:cNvPr id="29" name="TextBox 28"/>
          <p:cNvSpPr txBox="1"/>
          <p:nvPr/>
        </p:nvSpPr>
        <p:spPr>
          <a:xfrm>
            <a:off x="630936" y="4297553"/>
            <a:ext cx="5239512" cy="119126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They are not the same measure. The system ratio is bank loans on a regulatory NPL definition; ours is non-bank title lending to a borrower with informal income, on a 90-plus-days measure. The LEVELS are not comparable and should not be put side by side as a benchmark.
The DIRECTION is: system arrears have risen in three of the last four quarters, and that is the environment our book is collecting in.</a:t>
            </a:r>
          </a:p>
        </p:txBody>
      </p:sp>
      <p:sp>
        <p:nvSpPr>
          <p:cNvPr id="30" name="Rectangle 29"/>
          <p:cNvSpPr/>
          <p:nvPr/>
        </p:nvSpPr>
        <p:spPr>
          <a:xfrm>
            <a:off x="6208776" y="3946779"/>
            <a:ext cx="5568696" cy="1518158"/>
          </a:xfrm>
          <a:prstGeom prst="rect">
            <a:avLst/>
          </a:prstGeom>
          <a:solidFill>
            <a:srgbClr val="FDF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1" name="Rectangle 30"/>
          <p:cNvSpPr/>
          <p:nvPr/>
        </p:nvSpPr>
        <p:spPr>
          <a:xfrm>
            <a:off x="6208776" y="3946779"/>
            <a:ext cx="50292" cy="1518158"/>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TextBox 31"/>
          <p:cNvSpPr txBox="1"/>
          <p:nvPr/>
        </p:nvSpPr>
        <p:spPr>
          <a:xfrm>
            <a:off x="6428232" y="4093083"/>
            <a:ext cx="5239512" cy="158750"/>
          </a:xfrm>
          <a:prstGeom prst="rect">
            <a:avLst/>
          </a:prstGeom>
          <a:noFill/>
        </p:spPr>
        <p:txBody>
          <a:bodyPr wrap="square" lIns="0" rIns="0" tIns="0" bIns="0" anchor="t">
            <a:noAutofit/>
          </a:bodyPr>
          <a:lstStyle/>
          <a:p>
            <a:pPr algn="l">
              <a:lnSpc>
                <a:spcPts val="1250"/>
              </a:lnSpc>
            </a:pPr>
            <a:r>
              <a:rPr sz="950" b="1">
                <a:solidFill>
                  <a:srgbClr val="9A7411"/>
                </a:solidFill>
                <a:latin typeface="Kanit"/>
              </a:rPr>
              <a:t>Two things the peer table implies for us</a:t>
            </a:r>
          </a:p>
        </p:txBody>
      </p:sp>
      <p:sp>
        <p:nvSpPr>
          <p:cNvPr id="33" name="TextBox 32"/>
          <p:cNvSpPr txBox="1"/>
          <p:nvPr/>
        </p:nvSpPr>
        <p:spPr>
          <a:xfrm>
            <a:off x="6428232" y="4297553"/>
            <a:ext cx="5239512" cy="102108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Growth is the ceiling on our borrower's income. Thailand at 1.5% while the region runs 4–7% means the informal wage our book is repaid out of is not going to be lifted by the cycle.
And the room to cushion it is smaller than it was. Government debt is 66.8% of GDP against Vietnam's 29.8% — the fiscal space for the kind of household relief programme that carried borrowers through 2020–21 is materially narrower this time.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03 · COMMODITY BOARD</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The world index says tailwind. The Thai farm gate does not.</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TextBox 8"/>
          <p:cNvSpPr txBox="1"/>
          <p:nvPr/>
        </p:nvSpPr>
        <p:spPr>
          <a:xfrm>
            <a:off x="411480" y="1152144"/>
            <a:ext cx="11365992" cy="190500"/>
          </a:xfrm>
          <a:prstGeom prst="rect">
            <a:avLst/>
          </a:prstGeom>
          <a:noFill/>
        </p:spPr>
        <p:txBody>
          <a:bodyPr wrap="square" lIns="0" rIns="0" tIns="0" bIns="0" anchor="t">
            <a:noAutofit/>
          </a:bodyPr>
          <a:lstStyle/>
          <a:p>
            <a:pPr algn="l">
              <a:lnSpc>
                <a:spcPts val="1500"/>
              </a:lnSpc>
            </a:pPr>
            <a:r>
              <a:rPr sz="1100" b="0">
                <a:solidFill>
                  <a:srgbClr val="606060"/>
                </a:solidFill>
                <a:latin typeface="Kanit"/>
              </a:rPr>
              <a:t>The board carries 21 commodities. Seventeen have a measured Thai farm-gate price beside the world index, and nine of those seventeen are negative year on year.</a:t>
            </a:r>
          </a:p>
        </p:txBody>
      </p:sp>
      <p:graphicFrame>
        <p:nvGraphicFramePr>
          <p:cNvPr id="10" name="Table 9"/>
          <p:cNvGraphicFramePr>
            <a:graphicFrameLocks noGrp="1"/>
          </p:cNvGraphicFramePr>
          <p:nvPr/>
        </p:nvGraphicFramePr>
        <p:xfrm>
          <a:off x="411480" y="1488948"/>
          <a:ext cx="11365992" cy="2617011"/>
        </p:xfrm>
        <a:graphic>
          <a:graphicData uri="http://schemas.openxmlformats.org/drawingml/2006/table">
            <a:tbl>
              <a:tblPr>
                <a:tableStyleId>{5C22544A-7EE6-4342-B048-85BDC9FD1C3A}</a:tableStyleId>
              </a:tblPr>
              <a:tblGrid>
                <a:gridCol w="2108208"/>
                <a:gridCol w="1374918"/>
                <a:gridCol w="1833225"/>
                <a:gridCol w="2016547"/>
                <a:gridCol w="1833225"/>
                <a:gridCol w="2199869"/>
              </a:tblGrid>
              <a:tr h="329184">
                <a:tc>
                  <a:txBody>
                    <a:bodyPr wrap="square"/>
                    <a:lstStyle/>
                    <a:p>
                      <a:pPr algn="l"/>
                      <a:r>
                        <a:rPr sz="1050" b="1">
                          <a:solidFill>
                            <a:srgbClr val="FFFFFF"/>
                          </a:solidFill>
                          <a:latin typeface="Kanit"/>
                        </a:rPr>
                        <a:t>Falling at the farm gate</a:t>
                      </a:r>
                    </a:p>
                  </a:txBody>
                  <a:tcPr marL="54864" marR="54864" marT="18288" marB="18288" anchor="ctr">
                    <a:solidFill>
                      <a:srgbClr val="1B2A6B"/>
                    </a:solidFill>
                  </a:tcPr>
                </a:tc>
                <a:tc>
                  <a:txBody>
                    <a:bodyPr wrap="square"/>
                    <a:lstStyle/>
                    <a:p>
                      <a:pPr algn="l"/>
                      <a:r>
                        <a:rPr sz="1050" b="1">
                          <a:solidFill>
                            <a:srgbClr val="FFFFFF"/>
                          </a:solidFill>
                          <a:latin typeface="Kanit"/>
                        </a:rPr>
                        <a:t>Segment</a:t>
                      </a:r>
                    </a:p>
                  </a:txBody>
                  <a:tcPr marL="54864" marR="54864" marT="18288" marB="18288" anchor="ctr">
                    <a:solidFill>
                      <a:srgbClr val="1B2A6B"/>
                    </a:solidFill>
                  </a:tcPr>
                </a:tc>
                <a:tc>
                  <a:txBody>
                    <a:bodyPr wrap="square"/>
                    <a:lstStyle/>
                    <a:p>
                      <a:pPr algn="l"/>
                      <a:r>
                        <a:rPr sz="1050" b="1">
                          <a:solidFill>
                            <a:srgbClr val="FFFFFF"/>
                          </a:solidFill>
                          <a:latin typeface="Kanit"/>
                        </a:rPr>
                        <a:t>Belt</a:t>
                      </a:r>
                    </a:p>
                  </a:txBody>
                  <a:tcPr marL="54864" marR="54864" marT="18288" marB="18288" anchor="ctr">
                    <a:solidFill>
                      <a:srgbClr val="1B2A6B"/>
                    </a:solidFill>
                  </a:tcPr>
                </a:tc>
                <a:tc>
                  <a:txBody>
                    <a:bodyPr wrap="square"/>
                    <a:lstStyle/>
                    <a:p>
                      <a:pPr algn="r"/>
                      <a:r>
                        <a:rPr sz="1050" b="1">
                          <a:solidFill>
                            <a:srgbClr val="FFFFFF"/>
                          </a:solidFill>
                          <a:latin typeface="Kanit"/>
                        </a:rPr>
                        <a:t>Thai farm-gate YoY</a:t>
                      </a:r>
                    </a:p>
                  </a:txBody>
                  <a:tcPr marL="54864" marR="54864" marT="18288" marB="18288" anchor="ctr">
                    <a:solidFill>
                      <a:srgbClr val="1B2A6B"/>
                    </a:solidFill>
                  </a:tcPr>
                </a:tc>
                <a:tc>
                  <a:txBody>
                    <a:bodyPr wrap="square"/>
                    <a:lstStyle/>
                    <a:p>
                      <a:pPr algn="r"/>
                      <a:r>
                        <a:rPr sz="1050" b="1">
                          <a:solidFill>
                            <a:srgbClr val="FFFFFF"/>
                          </a:solidFill>
                          <a:latin typeface="Kanit"/>
                        </a:rPr>
                        <a:t>World index YoY</a:t>
                      </a:r>
                    </a:p>
                  </a:txBody>
                  <a:tcPr marL="54864" marR="54864" marT="18288" marB="18288" anchor="ctr">
                    <a:solidFill>
                      <a:srgbClr val="1B2A6B"/>
                    </a:solidFill>
                  </a:tcPr>
                </a:tc>
                <a:tc>
                  <a:txBody>
                    <a:bodyPr wrap="square"/>
                    <a:lstStyle/>
                    <a:p>
                      <a:pPr algn="r"/>
                      <a:r>
                        <a:rPr sz="1050" b="1">
                          <a:solidFill>
                            <a:srgbClr val="FFFFFF"/>
                          </a:solidFill>
                          <a:latin typeface="Kanit"/>
                        </a:rPr>
                        <a:t>Accounts in the belt</a:t>
                      </a:r>
                    </a:p>
                  </a:txBody>
                  <a:tcPr marL="54864" marR="54864" marT="18288" marB="18288" anchor="ctr">
                    <a:solidFill>
                      <a:srgbClr val="1B2A6B"/>
                    </a:solidFill>
                  </a:tcPr>
                </a:tc>
              </a:tr>
              <a:tr h="254203">
                <a:tc>
                  <a:txBody>
                    <a:bodyPr wrap="square"/>
                    <a:lstStyle/>
                    <a:p>
                      <a:pPr algn="l"/>
                      <a:r>
                        <a:rPr sz="1000" b="1">
                          <a:solidFill>
                            <a:srgbClr val="1E2F5C"/>
                          </a:solidFill>
                          <a:latin typeface="Kanit"/>
                        </a:rPr>
                        <a:t>Coconut</a:t>
                      </a:r>
                    </a:p>
                  </a:txBody>
                  <a:tcPr marL="54864" marR="54864" marT="18288" marB="18288" anchor="ctr">
                    <a:solidFill>
                      <a:srgbClr val="FFFFFF"/>
                    </a:solidFill>
                  </a:tcPr>
                </a:tc>
                <a:tc>
                  <a:txBody>
                    <a:bodyPr wrap="square"/>
                    <a:lstStyle/>
                    <a:p>
                      <a:pPr algn="l"/>
                      <a:r>
                        <a:rPr sz="1000" b="0">
                          <a:solidFill>
                            <a:srgbClr val="1E2F5C"/>
                          </a:solidFill>
                          <a:latin typeface="Kanit"/>
                        </a:rPr>
                        <a:t>Crops</a:t>
                      </a:r>
                    </a:p>
                  </a:txBody>
                  <a:tcPr marL="54864" marR="54864" marT="18288" marB="18288" anchor="ctr">
                    <a:solidFill>
                      <a:srgbClr val="FFFFFF"/>
                    </a:solidFill>
                  </a:tcPr>
                </a:tc>
                <a:tc>
                  <a:txBody>
                    <a:bodyPr wrap="square"/>
                    <a:lstStyle/>
                    <a:p>
                      <a:pPr algn="l"/>
                      <a:r>
                        <a:rPr sz="1000" b="0">
                          <a:solidFill>
                            <a:srgbClr val="1E2F5C"/>
                          </a:solidFill>
                          <a:latin typeface="Kanit"/>
                        </a:rPr>
                        <a:t>S · E</a:t>
                      </a:r>
                    </a:p>
                  </a:txBody>
                  <a:tcPr marL="54864" marR="54864" marT="18288" marB="18288" anchor="ctr">
                    <a:solidFill>
                      <a:srgbClr val="FFFFFF"/>
                    </a:solidFill>
                  </a:tcPr>
                </a:tc>
                <a:tc>
                  <a:txBody>
                    <a:bodyPr wrap="square"/>
                    <a:lstStyle/>
                    <a:p>
                      <a:pPr algn="r"/>
                      <a:r>
                        <a:rPr sz="1000" b="1">
                          <a:solidFill>
                            <a:srgbClr val="CC0000"/>
                          </a:solidFill>
                          <a:latin typeface="Kanit"/>
                        </a:rPr>
                        <a:t>−70.9%</a:t>
                      </a:r>
                    </a:p>
                  </a:txBody>
                  <a:tcPr marL="54864" marR="54864" marT="18288" marB="18288" anchor="ctr">
                    <a:solidFill>
                      <a:srgbClr val="FFFFFF"/>
                    </a:solidFill>
                  </a:tcPr>
                </a:tc>
                <a:tc>
                  <a:txBody>
                    <a:bodyPr wrap="square"/>
                    <a:lstStyle/>
                    <a:p>
                      <a:pPr algn="r"/>
                      <a:r>
                        <a:rPr sz="1000" b="0">
                          <a:solidFill>
                            <a:srgbClr val="606060"/>
                          </a:solidFill>
                          <a:latin typeface="Kanit"/>
                        </a:rPr>
                        <a:t>—</a:t>
                      </a:r>
                    </a:p>
                  </a:txBody>
                  <a:tcPr marL="54864" marR="54864" marT="18288" marB="18288" anchor="ctr">
                    <a:solidFill>
                      <a:srgbClr val="FFFFFF"/>
                    </a:solidFill>
                  </a:tcPr>
                </a:tc>
                <a:tc>
                  <a:txBody>
                    <a:bodyPr wrap="square"/>
                    <a:lstStyle/>
                    <a:p>
                      <a:pPr algn="r"/>
                      <a:r>
                        <a:rPr sz="1000" b="0">
                          <a:solidFill>
                            <a:srgbClr val="1E2F5C"/>
                          </a:solidFill>
                          <a:latin typeface="Kanit"/>
                        </a:rPr>
                        <a:t>40,394</a:t>
                      </a:r>
                    </a:p>
                  </a:txBody>
                  <a:tcPr marL="54864" marR="54864" marT="18288" marB="18288" anchor="ctr">
                    <a:solidFill>
                      <a:srgbClr val="FFFFFF"/>
                    </a:solidFill>
                  </a:tcPr>
                </a:tc>
              </a:tr>
              <a:tr h="254203">
                <a:tc>
                  <a:txBody>
                    <a:bodyPr wrap="square"/>
                    <a:lstStyle/>
                    <a:p>
                      <a:pPr algn="l"/>
                      <a:r>
                        <a:rPr sz="1000" b="1">
                          <a:solidFill>
                            <a:srgbClr val="1E2F5C"/>
                          </a:solidFill>
                          <a:latin typeface="Kanit"/>
                        </a:rPr>
                        <a:t>Pineapple</a:t>
                      </a:r>
                    </a:p>
                  </a:txBody>
                  <a:tcPr marL="54864" marR="54864" marT="18288" marB="18288" anchor="ctr">
                    <a:solidFill>
                      <a:srgbClr val="F7F9FC"/>
                    </a:solidFill>
                  </a:tcPr>
                </a:tc>
                <a:tc>
                  <a:txBody>
                    <a:bodyPr wrap="square"/>
                    <a:lstStyle/>
                    <a:p>
                      <a:pPr algn="l"/>
                      <a:r>
                        <a:rPr sz="1000" b="0">
                          <a:solidFill>
                            <a:srgbClr val="1E2F5C"/>
                          </a:solidFill>
                          <a:latin typeface="Kanit"/>
                        </a:rPr>
                        <a:t>Crops</a:t>
                      </a:r>
                    </a:p>
                  </a:txBody>
                  <a:tcPr marL="54864" marR="54864" marT="18288" marB="18288" anchor="ctr">
                    <a:solidFill>
                      <a:srgbClr val="F7F9FC"/>
                    </a:solidFill>
                  </a:tcPr>
                </a:tc>
                <a:tc>
                  <a:txBody>
                    <a:bodyPr wrap="square"/>
                    <a:lstStyle/>
                    <a:p>
                      <a:pPr algn="l"/>
                      <a:r>
                        <a:rPr sz="1000" b="0">
                          <a:solidFill>
                            <a:srgbClr val="1E2F5C"/>
                          </a:solidFill>
                          <a:latin typeface="Kanit"/>
                        </a:rPr>
                        <a:t>E · W · N</a:t>
                      </a:r>
                    </a:p>
                  </a:txBody>
                  <a:tcPr marL="54864" marR="54864" marT="18288" marB="18288" anchor="ctr">
                    <a:solidFill>
                      <a:srgbClr val="F7F9FC"/>
                    </a:solidFill>
                  </a:tcPr>
                </a:tc>
                <a:tc>
                  <a:txBody>
                    <a:bodyPr wrap="square"/>
                    <a:lstStyle/>
                    <a:p>
                      <a:pPr algn="r"/>
                      <a:r>
                        <a:rPr sz="1000" b="1">
                          <a:solidFill>
                            <a:srgbClr val="CC0000"/>
                          </a:solidFill>
                          <a:latin typeface="Kanit"/>
                        </a:rPr>
                        <a:t>−20.0%</a:t>
                      </a:r>
                    </a:p>
                  </a:txBody>
                  <a:tcPr marL="54864" marR="54864" marT="18288" marB="18288" anchor="ctr">
                    <a:solidFill>
                      <a:srgbClr val="F7F9FC"/>
                    </a:solidFill>
                  </a:tcPr>
                </a:tc>
                <a:tc>
                  <a:txBody>
                    <a:bodyPr wrap="square"/>
                    <a:lstStyle/>
                    <a:p>
                      <a:pPr algn="r"/>
                      <a:r>
                        <a:rPr sz="1000" b="0">
                          <a:solidFill>
                            <a:srgbClr val="606060"/>
                          </a:solidFill>
                          <a:latin typeface="Kanit"/>
                        </a:rPr>
                        <a:t>—</a:t>
                      </a:r>
                    </a:p>
                  </a:txBody>
                  <a:tcPr marL="54864" marR="54864" marT="18288" marB="18288" anchor="ctr">
                    <a:solidFill>
                      <a:srgbClr val="F7F9FC"/>
                    </a:solidFill>
                  </a:tcPr>
                </a:tc>
                <a:tc>
                  <a:txBody>
                    <a:bodyPr wrap="square"/>
                    <a:lstStyle/>
                    <a:p>
                      <a:pPr algn="r"/>
                      <a:r>
                        <a:rPr sz="1000" b="0">
                          <a:solidFill>
                            <a:srgbClr val="1E2F5C"/>
                          </a:solidFill>
                          <a:latin typeface="Kanit"/>
                        </a:rPr>
                        <a:t>27,227</a:t>
                      </a:r>
                    </a:p>
                  </a:txBody>
                  <a:tcPr marL="54864" marR="54864" marT="18288" marB="18288" anchor="ctr">
                    <a:solidFill>
                      <a:srgbClr val="F7F9FC"/>
                    </a:solidFill>
                  </a:tcPr>
                </a:tc>
              </a:tr>
              <a:tr h="254203">
                <a:tc>
                  <a:txBody>
                    <a:bodyPr wrap="square"/>
                    <a:lstStyle/>
                    <a:p>
                      <a:pPr algn="l"/>
                      <a:r>
                        <a:rPr sz="1000" b="1">
                          <a:solidFill>
                            <a:srgbClr val="1E2F5C"/>
                          </a:solidFill>
                          <a:latin typeface="Kanit"/>
                        </a:rPr>
                        <a:t>Sugar</a:t>
                      </a:r>
                    </a:p>
                  </a:txBody>
                  <a:tcPr marL="54864" marR="54864" marT="18288" marB="18288" anchor="ctr">
                    <a:solidFill>
                      <a:srgbClr val="FFFFFF"/>
                    </a:solidFill>
                  </a:tcPr>
                </a:tc>
                <a:tc>
                  <a:txBody>
                    <a:bodyPr wrap="square"/>
                    <a:lstStyle/>
                    <a:p>
                      <a:pPr algn="l"/>
                      <a:r>
                        <a:rPr sz="1000" b="0">
                          <a:solidFill>
                            <a:srgbClr val="1E2F5C"/>
                          </a:solidFill>
                          <a:latin typeface="Kanit"/>
                        </a:rPr>
                        <a:t>Crops</a:t>
                      </a:r>
                    </a:p>
                  </a:txBody>
                  <a:tcPr marL="54864" marR="54864" marT="18288" marB="18288" anchor="ctr">
                    <a:solidFill>
                      <a:srgbClr val="FFFFFF"/>
                    </a:solidFill>
                  </a:tcPr>
                </a:tc>
                <a:tc>
                  <a:txBody>
                    <a:bodyPr wrap="square"/>
                    <a:lstStyle/>
                    <a:p>
                      <a:pPr algn="l"/>
                      <a:r>
                        <a:rPr sz="1000" b="0">
                          <a:solidFill>
                            <a:srgbClr val="1E2F5C"/>
                          </a:solidFill>
                          <a:latin typeface="Kanit"/>
                        </a:rPr>
                        <a:t>Isan · Central</a:t>
                      </a:r>
                    </a:p>
                  </a:txBody>
                  <a:tcPr marL="54864" marR="54864" marT="18288" marB="18288" anchor="ctr">
                    <a:solidFill>
                      <a:srgbClr val="FFFFFF"/>
                    </a:solidFill>
                  </a:tcPr>
                </a:tc>
                <a:tc>
                  <a:txBody>
                    <a:bodyPr wrap="square"/>
                    <a:lstStyle/>
                    <a:p>
                      <a:pPr algn="r"/>
                      <a:r>
                        <a:rPr sz="1000" b="1">
                          <a:solidFill>
                            <a:srgbClr val="CC0000"/>
                          </a:solidFill>
                          <a:latin typeface="Kanit"/>
                        </a:rPr>
                        <a:t>−17.9%</a:t>
                      </a:r>
                    </a:p>
                  </a:txBody>
                  <a:tcPr marL="54864" marR="54864" marT="18288" marB="18288" anchor="ctr">
                    <a:solidFill>
                      <a:srgbClr val="FFFFFF"/>
                    </a:solidFill>
                  </a:tcPr>
                </a:tc>
                <a:tc>
                  <a:txBody>
                    <a:bodyPr wrap="square"/>
                    <a:lstStyle/>
                    <a:p>
                      <a:pPr algn="r"/>
                      <a:r>
                        <a:rPr sz="1000" b="0">
                          <a:solidFill>
                            <a:srgbClr val="CC0000"/>
                          </a:solidFill>
                          <a:latin typeface="Kanit"/>
                        </a:rPr>
                        <a:t>−13.5%</a:t>
                      </a:r>
                    </a:p>
                  </a:txBody>
                  <a:tcPr marL="54864" marR="54864" marT="18288" marB="18288" anchor="ctr">
                    <a:solidFill>
                      <a:srgbClr val="FFFFFF"/>
                    </a:solidFill>
                  </a:tcPr>
                </a:tc>
                <a:tc>
                  <a:txBody>
                    <a:bodyPr wrap="square"/>
                    <a:lstStyle/>
                    <a:p>
                      <a:pPr algn="r"/>
                      <a:r>
                        <a:rPr sz="1000" b="0">
                          <a:solidFill>
                            <a:srgbClr val="1E2F5C"/>
                          </a:solidFill>
                          <a:latin typeface="Kanit"/>
                        </a:rPr>
                        <a:t>90,216</a:t>
                      </a:r>
                    </a:p>
                  </a:txBody>
                  <a:tcPr marL="54864" marR="54864" marT="18288" marB="18288" anchor="ctr">
                    <a:solidFill>
                      <a:srgbClr val="FFFFFF"/>
                    </a:solidFill>
                  </a:tcPr>
                </a:tc>
              </a:tr>
              <a:tr h="254203">
                <a:tc>
                  <a:txBody>
                    <a:bodyPr wrap="square"/>
                    <a:lstStyle/>
                    <a:p>
                      <a:pPr algn="l"/>
                      <a:r>
                        <a:rPr sz="1000" b="1">
                          <a:solidFill>
                            <a:srgbClr val="1E2F5C"/>
                          </a:solidFill>
                          <a:latin typeface="Kanit"/>
                        </a:rPr>
                        <a:t>Rambutan</a:t>
                      </a:r>
                    </a:p>
                  </a:txBody>
                  <a:tcPr marL="54864" marR="54864" marT="18288" marB="18288" anchor="ctr">
                    <a:solidFill>
                      <a:srgbClr val="F7F9FC"/>
                    </a:solidFill>
                  </a:tcPr>
                </a:tc>
                <a:tc>
                  <a:txBody>
                    <a:bodyPr wrap="square"/>
                    <a:lstStyle/>
                    <a:p>
                      <a:pPr algn="l"/>
                      <a:r>
                        <a:rPr sz="1000" b="0">
                          <a:solidFill>
                            <a:srgbClr val="1E2F5C"/>
                          </a:solidFill>
                          <a:latin typeface="Kanit"/>
                        </a:rPr>
                        <a:t>Crops</a:t>
                      </a:r>
                    </a:p>
                  </a:txBody>
                  <a:tcPr marL="54864" marR="54864" marT="18288" marB="18288" anchor="ctr">
                    <a:solidFill>
                      <a:srgbClr val="F7F9FC"/>
                    </a:solidFill>
                  </a:tcPr>
                </a:tc>
                <a:tc>
                  <a:txBody>
                    <a:bodyPr wrap="square"/>
                    <a:lstStyle/>
                    <a:p>
                      <a:pPr algn="l"/>
                      <a:r>
                        <a:rPr sz="1000" b="0">
                          <a:solidFill>
                            <a:srgbClr val="1E2F5C"/>
                          </a:solidFill>
                          <a:latin typeface="Kanit"/>
                        </a:rPr>
                        <a:t>S · E</a:t>
                      </a:r>
                    </a:p>
                  </a:txBody>
                  <a:tcPr marL="54864" marR="54864" marT="18288" marB="18288" anchor="ctr">
                    <a:solidFill>
                      <a:srgbClr val="F7F9FC"/>
                    </a:solidFill>
                  </a:tcPr>
                </a:tc>
                <a:tc>
                  <a:txBody>
                    <a:bodyPr wrap="square"/>
                    <a:lstStyle/>
                    <a:p>
                      <a:pPr algn="r"/>
                      <a:r>
                        <a:rPr sz="1000" b="1">
                          <a:solidFill>
                            <a:srgbClr val="CC0000"/>
                          </a:solidFill>
                          <a:latin typeface="Kanit"/>
                        </a:rPr>
                        <a:t>−13.5%</a:t>
                      </a:r>
                    </a:p>
                  </a:txBody>
                  <a:tcPr marL="54864" marR="54864" marT="18288" marB="18288" anchor="ctr">
                    <a:solidFill>
                      <a:srgbClr val="F7F9FC"/>
                    </a:solidFill>
                  </a:tcPr>
                </a:tc>
                <a:tc>
                  <a:txBody>
                    <a:bodyPr wrap="square"/>
                    <a:lstStyle/>
                    <a:p>
                      <a:pPr algn="r"/>
                      <a:r>
                        <a:rPr sz="1000" b="0">
                          <a:solidFill>
                            <a:srgbClr val="606060"/>
                          </a:solidFill>
                          <a:latin typeface="Kanit"/>
                        </a:rPr>
                        <a:t>—</a:t>
                      </a:r>
                    </a:p>
                  </a:txBody>
                  <a:tcPr marL="54864" marR="54864" marT="18288" marB="18288" anchor="ctr">
                    <a:solidFill>
                      <a:srgbClr val="F7F9FC"/>
                    </a:solidFill>
                  </a:tcPr>
                </a:tc>
                <a:tc>
                  <a:txBody>
                    <a:bodyPr wrap="square"/>
                    <a:lstStyle/>
                    <a:p>
                      <a:pPr algn="r"/>
                      <a:r>
                        <a:rPr sz="1000" b="0">
                          <a:solidFill>
                            <a:srgbClr val="1E2F5C"/>
                          </a:solidFill>
                          <a:latin typeface="Kanit"/>
                        </a:rPr>
                        <a:t>42,960</a:t>
                      </a:r>
                    </a:p>
                  </a:txBody>
                  <a:tcPr marL="54864" marR="54864" marT="18288" marB="18288" anchor="ctr">
                    <a:solidFill>
                      <a:srgbClr val="F7F9FC"/>
                    </a:solidFill>
                  </a:tcPr>
                </a:tc>
              </a:tr>
              <a:tr h="254203">
                <a:tc>
                  <a:txBody>
                    <a:bodyPr wrap="square"/>
                    <a:lstStyle/>
                    <a:p>
                      <a:pPr algn="l"/>
                      <a:r>
                        <a:rPr sz="1000" b="1">
                          <a:solidFill>
                            <a:srgbClr val="1E2F5C"/>
                          </a:solidFill>
                          <a:latin typeface="Kanit"/>
                        </a:rPr>
                        <a:t>Pork</a:t>
                      </a:r>
                    </a:p>
                  </a:txBody>
                  <a:tcPr marL="54864" marR="54864" marT="18288" marB="18288" anchor="ctr">
                    <a:solidFill>
                      <a:srgbClr val="FFFFFF"/>
                    </a:solidFill>
                  </a:tcPr>
                </a:tc>
                <a:tc>
                  <a:txBody>
                    <a:bodyPr wrap="square"/>
                    <a:lstStyle/>
                    <a:p>
                      <a:pPr algn="l"/>
                      <a:r>
                        <a:rPr sz="1000" b="0">
                          <a:solidFill>
                            <a:srgbClr val="1E2F5C"/>
                          </a:solidFill>
                          <a:latin typeface="Kanit"/>
                        </a:rPr>
                        <a:t>Livestock</a:t>
                      </a:r>
                    </a:p>
                  </a:txBody>
                  <a:tcPr marL="54864" marR="54864" marT="18288" marB="18288" anchor="ctr">
                    <a:solidFill>
                      <a:srgbClr val="FFFFFF"/>
                    </a:solidFill>
                  </a:tcPr>
                </a:tc>
                <a:tc>
                  <a:txBody>
                    <a:bodyPr wrap="square"/>
                    <a:lstStyle/>
                    <a:p>
                      <a:pPr algn="l"/>
                      <a:r>
                        <a:rPr sz="1000" b="0">
                          <a:solidFill>
                            <a:srgbClr val="1E2F5C"/>
                          </a:solidFill>
                          <a:latin typeface="Kanit"/>
                        </a:rPr>
                        <a:t>C · W · E</a:t>
                      </a:r>
                    </a:p>
                  </a:txBody>
                  <a:tcPr marL="54864" marR="54864" marT="18288" marB="18288" anchor="ctr">
                    <a:solidFill>
                      <a:srgbClr val="FFFFFF"/>
                    </a:solidFill>
                  </a:tcPr>
                </a:tc>
                <a:tc>
                  <a:txBody>
                    <a:bodyPr wrap="square"/>
                    <a:lstStyle/>
                    <a:p>
                      <a:pPr algn="r"/>
                      <a:r>
                        <a:rPr sz="1000" b="1">
                          <a:solidFill>
                            <a:srgbClr val="CC0000"/>
                          </a:solidFill>
                          <a:latin typeface="Kanit"/>
                        </a:rPr>
                        <a:t>−6.7%</a:t>
                      </a:r>
                    </a:p>
                  </a:txBody>
                  <a:tcPr marL="54864" marR="54864" marT="18288" marB="18288" anchor="ctr">
                    <a:solidFill>
                      <a:srgbClr val="FFFFFF"/>
                    </a:solidFill>
                  </a:tcPr>
                </a:tc>
                <a:tc>
                  <a:txBody>
                    <a:bodyPr wrap="square"/>
                    <a:lstStyle/>
                    <a:p>
                      <a:pPr algn="r"/>
                      <a:r>
                        <a:rPr sz="1000" b="0">
                          <a:solidFill>
                            <a:srgbClr val="606060"/>
                          </a:solidFill>
                          <a:latin typeface="Kanit"/>
                        </a:rPr>
                        <a:t>—</a:t>
                      </a:r>
                    </a:p>
                  </a:txBody>
                  <a:tcPr marL="54864" marR="54864" marT="18288" marB="18288" anchor="ctr">
                    <a:solidFill>
                      <a:srgbClr val="FFFFFF"/>
                    </a:solidFill>
                  </a:tcPr>
                </a:tc>
                <a:tc>
                  <a:txBody>
                    <a:bodyPr wrap="square"/>
                    <a:lstStyle/>
                    <a:p>
                      <a:pPr algn="r"/>
                      <a:r>
                        <a:rPr sz="1000" b="0">
                          <a:solidFill>
                            <a:srgbClr val="1E2F5C"/>
                          </a:solidFill>
                          <a:latin typeface="Kanit"/>
                        </a:rPr>
                        <a:t>145,045</a:t>
                      </a:r>
                    </a:p>
                  </a:txBody>
                  <a:tcPr marL="54864" marR="54864" marT="18288" marB="18288" anchor="ctr">
                    <a:solidFill>
                      <a:srgbClr val="FFFFFF"/>
                    </a:solidFill>
                  </a:tcPr>
                </a:tc>
              </a:tr>
              <a:tr h="254203">
                <a:tc>
                  <a:txBody>
                    <a:bodyPr wrap="square"/>
                    <a:lstStyle/>
                    <a:p>
                      <a:pPr algn="l"/>
                      <a:r>
                        <a:rPr sz="1000" b="1">
                          <a:solidFill>
                            <a:srgbClr val="1E2F5C"/>
                          </a:solidFill>
                          <a:latin typeface="Kanit"/>
                        </a:rPr>
                        <a:t>Beef</a:t>
                      </a:r>
                    </a:p>
                  </a:txBody>
                  <a:tcPr marL="54864" marR="54864" marT="18288" marB="18288" anchor="ctr">
                    <a:solidFill>
                      <a:srgbClr val="F7F9FC"/>
                    </a:solidFill>
                  </a:tcPr>
                </a:tc>
                <a:tc>
                  <a:txBody>
                    <a:bodyPr wrap="square"/>
                    <a:lstStyle/>
                    <a:p>
                      <a:pPr algn="l"/>
                      <a:r>
                        <a:rPr sz="1000" b="0">
                          <a:solidFill>
                            <a:srgbClr val="1E2F5C"/>
                          </a:solidFill>
                          <a:latin typeface="Kanit"/>
                        </a:rPr>
                        <a:t>Livestock</a:t>
                      </a:r>
                    </a:p>
                  </a:txBody>
                  <a:tcPr marL="54864" marR="54864" marT="18288" marB="18288" anchor="ctr">
                    <a:solidFill>
                      <a:srgbClr val="F7F9FC"/>
                    </a:solidFill>
                  </a:tcPr>
                </a:tc>
                <a:tc>
                  <a:txBody>
                    <a:bodyPr wrap="square"/>
                    <a:lstStyle/>
                    <a:p>
                      <a:pPr algn="l"/>
                      <a:r>
                        <a:rPr sz="1000" b="0">
                          <a:solidFill>
                            <a:srgbClr val="1E2F5C"/>
                          </a:solidFill>
                          <a:latin typeface="Kanit"/>
                        </a:rPr>
                        <a:t>Isan</a:t>
                      </a:r>
                    </a:p>
                  </a:txBody>
                  <a:tcPr marL="54864" marR="54864" marT="18288" marB="18288" anchor="ctr">
                    <a:solidFill>
                      <a:srgbClr val="F7F9FC"/>
                    </a:solidFill>
                  </a:tcPr>
                </a:tc>
                <a:tc>
                  <a:txBody>
                    <a:bodyPr wrap="square"/>
                    <a:lstStyle/>
                    <a:p>
                      <a:pPr algn="r"/>
                      <a:r>
                        <a:rPr sz="1000" b="1">
                          <a:solidFill>
                            <a:srgbClr val="CC0000"/>
                          </a:solidFill>
                          <a:latin typeface="Kanit"/>
                        </a:rPr>
                        <a:t>−6.1%</a:t>
                      </a:r>
                    </a:p>
                  </a:txBody>
                  <a:tcPr marL="54864" marR="54864" marT="18288" marB="18288" anchor="ctr">
                    <a:solidFill>
                      <a:srgbClr val="F7F9FC"/>
                    </a:solidFill>
                  </a:tcPr>
                </a:tc>
                <a:tc>
                  <a:txBody>
                    <a:bodyPr wrap="square"/>
                    <a:lstStyle/>
                    <a:p>
                      <a:pPr algn="r"/>
                      <a:r>
                        <a:rPr sz="1000" b="1">
                          <a:solidFill>
                            <a:srgbClr val="15795F"/>
                          </a:solidFill>
                          <a:latin typeface="Kanit"/>
                        </a:rPr>
                        <a:t>+11.8%</a:t>
                      </a:r>
                    </a:p>
                  </a:txBody>
                  <a:tcPr marL="54864" marR="54864" marT="18288" marB="18288" anchor="ctr">
                    <a:solidFill>
                      <a:srgbClr val="F7F9FC"/>
                    </a:solidFill>
                  </a:tcPr>
                </a:tc>
                <a:tc>
                  <a:txBody>
                    <a:bodyPr wrap="square"/>
                    <a:lstStyle/>
                    <a:p>
                      <a:pPr algn="r"/>
                      <a:r>
                        <a:rPr sz="1000" b="0">
                          <a:solidFill>
                            <a:srgbClr val="1E2F5C"/>
                          </a:solidFill>
                          <a:latin typeface="Kanit"/>
                        </a:rPr>
                        <a:t>136,293</a:t>
                      </a:r>
                    </a:p>
                  </a:txBody>
                  <a:tcPr marL="54864" marR="54864" marT="18288" marB="18288" anchor="ctr">
                    <a:solidFill>
                      <a:srgbClr val="F7F9FC"/>
                    </a:solidFill>
                  </a:tcPr>
                </a:tc>
              </a:tr>
              <a:tr h="254203">
                <a:tc>
                  <a:txBody>
                    <a:bodyPr wrap="square"/>
                    <a:lstStyle/>
                    <a:p>
                      <a:pPr algn="l"/>
                      <a:r>
                        <a:rPr sz="1000" b="1">
                          <a:solidFill>
                            <a:srgbClr val="1E2F5C"/>
                          </a:solidFill>
                          <a:latin typeface="Kanit"/>
                        </a:rPr>
                        <a:t>White shrimp</a:t>
                      </a:r>
                    </a:p>
                  </a:txBody>
                  <a:tcPr marL="54864" marR="54864" marT="18288" marB="18288" anchor="ctr">
                    <a:solidFill>
                      <a:srgbClr val="FFFFFF"/>
                    </a:solidFill>
                  </a:tcPr>
                </a:tc>
                <a:tc>
                  <a:txBody>
                    <a:bodyPr wrap="square"/>
                    <a:lstStyle/>
                    <a:p>
                      <a:pPr algn="l"/>
                      <a:r>
                        <a:rPr sz="1000" b="0">
                          <a:solidFill>
                            <a:srgbClr val="1E2F5C"/>
                          </a:solidFill>
                          <a:latin typeface="Kanit"/>
                        </a:rPr>
                        <a:t>Fisheries</a:t>
                      </a:r>
                    </a:p>
                  </a:txBody>
                  <a:tcPr marL="54864" marR="54864" marT="18288" marB="18288" anchor="ctr">
                    <a:solidFill>
                      <a:srgbClr val="FFFFFF"/>
                    </a:solidFill>
                  </a:tcPr>
                </a:tc>
                <a:tc>
                  <a:txBody>
                    <a:bodyPr wrap="square"/>
                    <a:lstStyle/>
                    <a:p>
                      <a:pPr algn="l"/>
                      <a:r>
                        <a:rPr sz="1000" b="0">
                          <a:solidFill>
                            <a:srgbClr val="1E2F5C"/>
                          </a:solidFill>
                          <a:latin typeface="Kanit"/>
                        </a:rPr>
                        <a:t>S · E coast</a:t>
                      </a:r>
                    </a:p>
                  </a:txBody>
                  <a:tcPr marL="54864" marR="54864" marT="18288" marB="18288" anchor="ctr">
                    <a:solidFill>
                      <a:srgbClr val="FFFFFF"/>
                    </a:solidFill>
                  </a:tcPr>
                </a:tc>
                <a:tc>
                  <a:txBody>
                    <a:bodyPr wrap="square"/>
                    <a:lstStyle/>
                    <a:p>
                      <a:pPr algn="r"/>
                      <a:r>
                        <a:rPr sz="1000" b="1">
                          <a:solidFill>
                            <a:srgbClr val="CC0000"/>
                          </a:solidFill>
                          <a:latin typeface="Kanit"/>
                        </a:rPr>
                        <a:t>−4.3%</a:t>
                      </a:r>
                    </a:p>
                  </a:txBody>
                  <a:tcPr marL="54864" marR="54864" marT="18288" marB="18288" anchor="ctr">
                    <a:solidFill>
                      <a:srgbClr val="FFFFFF"/>
                    </a:solidFill>
                  </a:tcPr>
                </a:tc>
                <a:tc>
                  <a:txBody>
                    <a:bodyPr wrap="square"/>
                    <a:lstStyle/>
                    <a:p>
                      <a:pPr algn="r"/>
                      <a:r>
                        <a:rPr sz="1000" b="0">
                          <a:solidFill>
                            <a:srgbClr val="606060"/>
                          </a:solidFill>
                          <a:latin typeface="Kanit"/>
                        </a:rPr>
                        <a:t>—</a:t>
                      </a:r>
                    </a:p>
                  </a:txBody>
                  <a:tcPr marL="54864" marR="54864" marT="18288" marB="18288" anchor="ctr">
                    <a:solidFill>
                      <a:srgbClr val="FFFFFF"/>
                    </a:solidFill>
                  </a:tcPr>
                </a:tc>
                <a:tc>
                  <a:txBody>
                    <a:bodyPr wrap="square"/>
                    <a:lstStyle/>
                    <a:p>
                      <a:pPr algn="r"/>
                      <a:r>
                        <a:rPr sz="1000" b="0">
                          <a:solidFill>
                            <a:srgbClr val="1E2F5C"/>
                          </a:solidFill>
                          <a:latin typeface="Kanit"/>
                        </a:rPr>
                        <a:t>102,961</a:t>
                      </a:r>
                    </a:p>
                  </a:txBody>
                  <a:tcPr marL="54864" marR="54864" marT="18288" marB="18288" anchor="ctr">
                    <a:solidFill>
                      <a:srgbClr val="FFFFFF"/>
                    </a:solidFill>
                  </a:tcPr>
                </a:tc>
              </a:tr>
              <a:tr h="254203">
                <a:tc>
                  <a:txBody>
                    <a:bodyPr wrap="square"/>
                    <a:lstStyle/>
                    <a:p>
                      <a:pPr algn="l"/>
                      <a:r>
                        <a:rPr sz="1000" b="1">
                          <a:solidFill>
                            <a:srgbClr val="1E2F5C"/>
                          </a:solidFill>
                          <a:latin typeface="Kanit"/>
                        </a:rPr>
                        <a:t>Chicken</a:t>
                      </a:r>
                    </a:p>
                  </a:txBody>
                  <a:tcPr marL="54864" marR="54864" marT="18288" marB="18288" anchor="ctr">
                    <a:solidFill>
                      <a:srgbClr val="F7F9FC"/>
                    </a:solidFill>
                  </a:tcPr>
                </a:tc>
                <a:tc>
                  <a:txBody>
                    <a:bodyPr wrap="square"/>
                    <a:lstStyle/>
                    <a:p>
                      <a:pPr algn="l"/>
                      <a:r>
                        <a:rPr sz="1000" b="0">
                          <a:solidFill>
                            <a:srgbClr val="1E2F5C"/>
                          </a:solidFill>
                          <a:latin typeface="Kanit"/>
                        </a:rPr>
                        <a:t>Livestock</a:t>
                      </a:r>
                    </a:p>
                  </a:txBody>
                  <a:tcPr marL="54864" marR="54864" marT="18288" marB="18288" anchor="ctr">
                    <a:solidFill>
                      <a:srgbClr val="F7F9FC"/>
                    </a:solidFill>
                  </a:tcPr>
                </a:tc>
                <a:tc>
                  <a:txBody>
                    <a:bodyPr wrap="square"/>
                    <a:lstStyle/>
                    <a:p>
                      <a:pPr algn="l"/>
                      <a:r>
                        <a:rPr sz="1000" b="0">
                          <a:solidFill>
                            <a:srgbClr val="1E2F5C"/>
                          </a:solidFill>
                          <a:latin typeface="Kanit"/>
                        </a:rPr>
                        <a:t>C · E</a:t>
                      </a:r>
                    </a:p>
                  </a:txBody>
                  <a:tcPr marL="54864" marR="54864" marT="18288" marB="18288" anchor="ctr">
                    <a:solidFill>
                      <a:srgbClr val="F7F9FC"/>
                    </a:solidFill>
                  </a:tcPr>
                </a:tc>
                <a:tc>
                  <a:txBody>
                    <a:bodyPr wrap="square"/>
                    <a:lstStyle/>
                    <a:p>
                      <a:pPr algn="r"/>
                      <a:r>
                        <a:rPr sz="1000" b="1">
                          <a:solidFill>
                            <a:srgbClr val="CC0000"/>
                          </a:solidFill>
                          <a:latin typeface="Kanit"/>
                        </a:rPr>
                        <a:t>−2.4%</a:t>
                      </a:r>
                    </a:p>
                  </a:txBody>
                  <a:tcPr marL="54864" marR="54864" marT="18288" marB="18288" anchor="ctr">
                    <a:solidFill>
                      <a:srgbClr val="F7F9FC"/>
                    </a:solidFill>
                  </a:tcPr>
                </a:tc>
                <a:tc>
                  <a:txBody>
                    <a:bodyPr wrap="square"/>
                    <a:lstStyle/>
                    <a:p>
                      <a:pPr algn="r"/>
                      <a:r>
                        <a:rPr sz="1000" b="0">
                          <a:solidFill>
                            <a:srgbClr val="606060"/>
                          </a:solidFill>
                          <a:latin typeface="Kanit"/>
                        </a:rPr>
                        <a:t>−0.6%</a:t>
                      </a:r>
                    </a:p>
                  </a:txBody>
                  <a:tcPr marL="54864" marR="54864" marT="18288" marB="18288" anchor="ctr">
                    <a:solidFill>
                      <a:srgbClr val="F7F9FC"/>
                    </a:solidFill>
                  </a:tcPr>
                </a:tc>
                <a:tc>
                  <a:txBody>
                    <a:bodyPr wrap="square"/>
                    <a:lstStyle/>
                    <a:p>
                      <a:pPr algn="r"/>
                      <a:r>
                        <a:rPr sz="1000" b="0">
                          <a:solidFill>
                            <a:srgbClr val="1E2F5C"/>
                          </a:solidFill>
                          <a:latin typeface="Kanit"/>
                        </a:rPr>
                        <a:t>181,413</a:t>
                      </a:r>
                    </a:p>
                  </a:txBody>
                  <a:tcPr marL="54864" marR="54864" marT="18288" marB="18288" anchor="ctr">
                    <a:solidFill>
                      <a:srgbClr val="F7F9FC"/>
                    </a:solidFill>
                  </a:tcPr>
                </a:tc>
              </a:tr>
              <a:tr h="254203">
                <a:tc>
                  <a:txBody>
                    <a:bodyPr wrap="square"/>
                    <a:lstStyle/>
                    <a:p>
                      <a:pPr algn="l"/>
                      <a:r>
                        <a:rPr sz="1000" b="1">
                          <a:solidFill>
                            <a:srgbClr val="1E2F5C"/>
                          </a:solidFill>
                          <a:latin typeface="Kanit"/>
                        </a:rPr>
                        <a:t>Eggs</a:t>
                      </a:r>
                    </a:p>
                  </a:txBody>
                  <a:tcPr marL="54864" marR="54864" marT="18288" marB="18288" anchor="ctr">
                    <a:solidFill>
                      <a:srgbClr val="FFFFFF"/>
                    </a:solidFill>
                  </a:tcPr>
                </a:tc>
                <a:tc>
                  <a:txBody>
                    <a:bodyPr wrap="square"/>
                    <a:lstStyle/>
                    <a:p>
                      <a:pPr algn="l"/>
                      <a:r>
                        <a:rPr sz="1000" b="0">
                          <a:solidFill>
                            <a:srgbClr val="1E2F5C"/>
                          </a:solidFill>
                          <a:latin typeface="Kanit"/>
                        </a:rPr>
                        <a:t>Livestock</a:t>
                      </a:r>
                    </a:p>
                  </a:txBody>
                  <a:tcPr marL="54864" marR="54864" marT="18288" marB="18288" anchor="ctr">
                    <a:solidFill>
                      <a:srgbClr val="FFFFFF"/>
                    </a:solidFill>
                  </a:tcPr>
                </a:tc>
                <a:tc>
                  <a:txBody>
                    <a:bodyPr wrap="square"/>
                    <a:lstStyle/>
                    <a:p>
                      <a:pPr algn="l"/>
                      <a:r>
                        <a:rPr sz="1000" b="0">
                          <a:solidFill>
                            <a:srgbClr val="1E2F5C"/>
                          </a:solidFill>
                          <a:latin typeface="Kanit"/>
                        </a:rPr>
                        <a:t>C · E</a:t>
                      </a:r>
                    </a:p>
                  </a:txBody>
                  <a:tcPr marL="54864" marR="54864" marT="18288" marB="18288" anchor="ctr">
                    <a:solidFill>
                      <a:srgbClr val="FFFFFF"/>
                    </a:solidFill>
                  </a:tcPr>
                </a:tc>
                <a:tc>
                  <a:txBody>
                    <a:bodyPr wrap="square"/>
                    <a:lstStyle/>
                    <a:p>
                      <a:pPr algn="r"/>
                      <a:r>
                        <a:rPr sz="1000" b="1">
                          <a:solidFill>
                            <a:srgbClr val="CC0000"/>
                          </a:solidFill>
                          <a:latin typeface="Kanit"/>
                        </a:rPr>
                        <a:t>−1.7%</a:t>
                      </a:r>
                    </a:p>
                  </a:txBody>
                  <a:tcPr marL="54864" marR="54864" marT="18288" marB="18288" anchor="ctr">
                    <a:solidFill>
                      <a:srgbClr val="FFFFFF"/>
                    </a:solidFill>
                  </a:tcPr>
                </a:tc>
                <a:tc>
                  <a:txBody>
                    <a:bodyPr wrap="square"/>
                    <a:lstStyle/>
                    <a:p>
                      <a:pPr algn="r"/>
                      <a:r>
                        <a:rPr sz="1000" b="0">
                          <a:solidFill>
                            <a:srgbClr val="606060"/>
                          </a:solidFill>
                          <a:latin typeface="Kanit"/>
                        </a:rPr>
                        <a:t>—</a:t>
                      </a:r>
                    </a:p>
                  </a:txBody>
                  <a:tcPr marL="54864" marR="54864" marT="18288" marB="18288" anchor="ctr">
                    <a:solidFill>
                      <a:srgbClr val="FFFFFF"/>
                    </a:solidFill>
                  </a:tcPr>
                </a:tc>
                <a:tc>
                  <a:txBody>
                    <a:bodyPr wrap="square"/>
                    <a:lstStyle/>
                    <a:p>
                      <a:pPr algn="r"/>
                      <a:r>
                        <a:rPr sz="1000" b="0">
                          <a:solidFill>
                            <a:srgbClr val="1E2F5C"/>
                          </a:solidFill>
                          <a:latin typeface="Kanit"/>
                        </a:rPr>
                        <a:t>181,413</a:t>
                      </a:r>
                    </a:p>
                  </a:txBody>
                  <a:tcPr marL="54864" marR="54864" marT="18288" marB="18288" anchor="ctr">
                    <a:solidFill>
                      <a:srgbClr val="FFFFFF"/>
                    </a:solidFill>
                  </a:tcPr>
                </a:tc>
              </a:tr>
            </a:tbl>
          </a:graphicData>
        </a:graphic>
      </p:graphicFrame>
      <p:sp>
        <p:nvSpPr>
          <p:cNvPr id="11" name="Rounded Rectangle 10"/>
          <p:cNvSpPr/>
          <p:nvPr/>
        </p:nvSpPr>
        <p:spPr>
          <a:xfrm>
            <a:off x="411480" y="4233976"/>
            <a:ext cx="535747" cy="192024"/>
          </a:xfrm>
          <a:prstGeom prst="roundRect">
            <a:avLst>
              <a:gd name="adj" fmla="val 50000"/>
            </a:avLst>
          </a:prstGeom>
          <a:noFill/>
          <a:ln w="9525">
            <a:solidFill>
              <a:srgbClr val="1E2F5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411480" y="4263237"/>
            <a:ext cx="535747" cy="134112"/>
          </a:xfrm>
          <a:prstGeom prst="rect">
            <a:avLst/>
          </a:prstGeom>
          <a:noFill/>
        </p:spPr>
        <p:txBody>
          <a:bodyPr wrap="square" lIns="0" rIns="0" tIns="0" bIns="0" anchor="t">
            <a:noAutofit/>
          </a:bodyPr>
          <a:lstStyle/>
          <a:p>
            <a:pPr algn="ctr">
              <a:lnSpc>
                <a:spcPts val="1056"/>
              </a:lnSpc>
            </a:pPr>
            <a:r>
              <a:rPr sz="800" b="1">
                <a:solidFill>
                  <a:srgbClr val="1E2F5C"/>
                </a:solidFill>
                <a:latin typeface="Kanit"/>
              </a:rPr>
              <a:t>MIXED</a:t>
            </a:r>
          </a:p>
        </p:txBody>
      </p:sp>
      <p:sp>
        <p:nvSpPr>
          <p:cNvPr id="13" name="TextBox 12"/>
          <p:cNvSpPr txBox="1"/>
          <p:nvPr/>
        </p:nvSpPr>
        <p:spPr>
          <a:xfrm>
            <a:off x="1056955" y="4247692"/>
            <a:ext cx="10720516" cy="308610"/>
          </a:xfrm>
          <a:prstGeom prst="rect">
            <a:avLst/>
          </a:prstGeom>
          <a:noFill/>
        </p:spPr>
        <p:txBody>
          <a:bodyPr wrap="square" lIns="0" rIns="0" tIns="0" bIns="0" anchor="t">
            <a:noAutofit/>
          </a:bodyPr>
          <a:lstStyle/>
          <a:p>
            <a:pPr algn="l">
              <a:lnSpc>
                <a:spcPts val="1215"/>
              </a:lnSpc>
            </a:pPr>
            <a:r>
              <a:rPr sz="900" b="0">
                <a:solidFill>
                  <a:srgbClr val="606060"/>
                </a:solidFill>
                <a:latin typeface="Kanit"/>
              </a:rPr>
              <a:t>Prices MEASURED — NABC daily and monthly market feeds, Thai farm gate, OCSB announced cane price, World Bank Pink Sheet 2026M06; farm-gate vintage 2026-08-02. Account counts are an ESTIMATED belt read and they OVERLAP heavily — eggs and chicken are the same 181,413 poultry keepers. Do not add the column up.</a:t>
            </a:r>
          </a:p>
        </p:txBody>
      </p:sp>
      <p:sp>
        <p:nvSpPr>
          <p:cNvPr id="14" name="Rectangle 13"/>
          <p:cNvSpPr/>
          <p:nvPr/>
        </p:nvSpPr>
        <p:spPr>
          <a:xfrm>
            <a:off x="411480" y="4688890"/>
            <a:ext cx="11365992" cy="854456"/>
          </a:xfrm>
          <a:prstGeom prst="rect">
            <a:avLst/>
          </a:prstGeom>
          <a:solidFill>
            <a:srgbClr val="FCEFE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Rectangle 14"/>
          <p:cNvSpPr/>
          <p:nvPr/>
        </p:nvSpPr>
        <p:spPr>
          <a:xfrm>
            <a:off x="411480" y="4688890"/>
            <a:ext cx="50292" cy="854456"/>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630936" y="4835194"/>
            <a:ext cx="11036808" cy="158750"/>
          </a:xfrm>
          <a:prstGeom prst="rect">
            <a:avLst/>
          </a:prstGeom>
          <a:noFill/>
        </p:spPr>
        <p:txBody>
          <a:bodyPr wrap="square" lIns="0" rIns="0" tIns="0" bIns="0" anchor="t">
            <a:noAutofit/>
          </a:bodyPr>
          <a:lstStyle/>
          <a:p>
            <a:pPr algn="l">
              <a:lnSpc>
                <a:spcPts val="1250"/>
              </a:lnSpc>
            </a:pPr>
            <a:r>
              <a:rPr sz="950" b="1">
                <a:solidFill>
                  <a:srgbClr val="CC0000"/>
                </a:solidFill>
                <a:latin typeface="Kanit"/>
              </a:rPr>
              <a:t>Beef is the row that shows why the world index is the wrong instrument</a:t>
            </a:r>
          </a:p>
        </p:txBody>
      </p:sp>
      <p:sp>
        <p:nvSpPr>
          <p:cNvPr id="17" name="TextBox 16"/>
          <p:cNvSpPr txBox="1"/>
          <p:nvPr/>
        </p:nvSpPr>
        <p:spPr>
          <a:xfrm>
            <a:off x="630936" y="5039664"/>
            <a:ext cx="11036808" cy="357378"/>
          </a:xfrm>
          <a:prstGeom prst="rect">
            <a:avLst/>
          </a:prstGeom>
          <a:noFill/>
        </p:spPr>
        <p:txBody>
          <a:bodyPr wrap="square" lIns="0" rIns="0" tIns="0" bIns="0" anchor="t">
            <a:noAutofit/>
          </a:bodyPr>
          <a:lstStyle/>
          <a:p>
            <a:pPr algn="l">
              <a:lnSpc>
                <a:spcPts val="1407"/>
              </a:lnSpc>
            </a:pPr>
            <a:r>
              <a:rPr sz="1050" b="0">
                <a:solidFill>
                  <a:srgbClr val="1E2F5C"/>
                </a:solidFill>
                <a:latin typeface="Kanit"/>
              </a:rPr>
              <a:t>The world beef index is +11.8%. The measured Thai farm-gate price is −6.1% — a 17.9 point divergence. A cattle household in Isan is not experiencing +11.8%. Rubber, palm and cassava run the other way and are genuinely up on both measures.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04 · FIVE YEARS OF PRICE</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Sugar has not fallen for a year. It has fallen for four.</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Rectangle 8"/>
          <p:cNvSpPr/>
          <p:nvPr/>
        </p:nvSpPr>
        <p:spPr>
          <a:xfrm>
            <a:off x="411480" y="1152144"/>
            <a:ext cx="6903720" cy="2788920"/>
          </a:xfrm>
          <a:prstGeom prst="rect">
            <a:avLst/>
          </a:prstGeom>
          <a:solidFill>
            <a:srgbClr val="FBFCFE"/>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Rectangle 9"/>
          <p:cNvSpPr/>
          <p:nvPr/>
        </p:nvSpPr>
        <p:spPr>
          <a:xfrm>
            <a:off x="795528" y="3666744"/>
            <a:ext cx="6428232" cy="6400"/>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429768" y="3598163"/>
            <a:ext cx="329184" cy="125730"/>
          </a:xfrm>
          <a:prstGeom prst="rect">
            <a:avLst/>
          </a:prstGeom>
          <a:noFill/>
        </p:spPr>
        <p:txBody>
          <a:bodyPr wrap="square" lIns="0" rIns="0" tIns="0" bIns="0" anchor="t">
            <a:noAutofit/>
          </a:bodyPr>
          <a:lstStyle/>
          <a:p>
            <a:pPr algn="r">
              <a:lnSpc>
                <a:spcPts val="990"/>
              </a:lnSpc>
            </a:pPr>
            <a:r>
              <a:rPr sz="750" b="0">
                <a:solidFill>
                  <a:srgbClr val="9AA3B2"/>
                </a:solidFill>
                <a:latin typeface="Kanit"/>
              </a:rPr>
              <a:t>40</a:t>
            </a:r>
          </a:p>
        </p:txBody>
      </p:sp>
      <p:sp>
        <p:nvSpPr>
          <p:cNvPr id="12" name="Rectangle 11"/>
          <p:cNvSpPr/>
          <p:nvPr/>
        </p:nvSpPr>
        <p:spPr>
          <a:xfrm>
            <a:off x="795528" y="2778633"/>
            <a:ext cx="6428232" cy="10972"/>
          </a:xfrm>
          <a:prstGeom prst="rect">
            <a:avLst/>
          </a:prstGeom>
          <a:solidFill>
            <a:srgbClr val="606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429768" y="2710052"/>
            <a:ext cx="329184" cy="125730"/>
          </a:xfrm>
          <a:prstGeom prst="rect">
            <a:avLst/>
          </a:prstGeom>
          <a:noFill/>
        </p:spPr>
        <p:txBody>
          <a:bodyPr wrap="square" lIns="0" rIns="0" tIns="0" bIns="0" anchor="t">
            <a:noAutofit/>
          </a:bodyPr>
          <a:lstStyle/>
          <a:p>
            <a:pPr algn="r">
              <a:lnSpc>
                <a:spcPts val="990"/>
              </a:lnSpc>
            </a:pPr>
            <a:r>
              <a:rPr sz="750" b="0">
                <a:solidFill>
                  <a:srgbClr val="606060"/>
                </a:solidFill>
                <a:latin typeface="Kanit"/>
              </a:rPr>
              <a:t>100</a:t>
            </a:r>
          </a:p>
        </p:txBody>
      </p:sp>
      <p:sp>
        <p:nvSpPr>
          <p:cNvPr id="14" name="Rectangle 13"/>
          <p:cNvSpPr/>
          <p:nvPr/>
        </p:nvSpPr>
        <p:spPr>
          <a:xfrm>
            <a:off x="795528" y="1298448"/>
            <a:ext cx="6428232" cy="6400"/>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429768" y="1229868"/>
            <a:ext cx="329184" cy="125730"/>
          </a:xfrm>
          <a:prstGeom prst="rect">
            <a:avLst/>
          </a:prstGeom>
          <a:noFill/>
        </p:spPr>
        <p:txBody>
          <a:bodyPr wrap="square" lIns="0" rIns="0" tIns="0" bIns="0" anchor="t">
            <a:noAutofit/>
          </a:bodyPr>
          <a:lstStyle/>
          <a:p>
            <a:pPr algn="r">
              <a:lnSpc>
                <a:spcPts val="990"/>
              </a:lnSpc>
            </a:pPr>
            <a:r>
              <a:rPr sz="750" b="0">
                <a:solidFill>
                  <a:srgbClr val="9AA3B2"/>
                </a:solidFill>
                <a:latin typeface="Kanit"/>
              </a:rPr>
              <a:t>200</a:t>
            </a:r>
          </a:p>
        </p:txBody>
      </p:sp>
      <p:sp>
        <p:nvSpPr>
          <p:cNvPr id="16" name="TextBox 15"/>
          <p:cNvSpPr txBox="1"/>
          <p:nvPr/>
        </p:nvSpPr>
        <p:spPr>
          <a:xfrm>
            <a:off x="6867405" y="1280160"/>
            <a:ext cx="264914" cy="134112"/>
          </a:xfrm>
          <a:prstGeom prst="rect">
            <a:avLst/>
          </a:prstGeom>
          <a:noFill/>
        </p:spPr>
        <p:txBody>
          <a:bodyPr wrap="square" lIns="0" rIns="0" tIns="0" bIns="0" anchor="t">
            <a:noAutofit/>
          </a:bodyPr>
          <a:lstStyle/>
          <a:p>
            <a:pPr algn="l">
              <a:lnSpc>
                <a:spcPts val="1056"/>
              </a:lnSpc>
            </a:pPr>
            <a:r>
              <a:rPr sz="800" b="1">
                <a:solidFill>
                  <a:srgbClr val="CC0000"/>
                </a:solidFill>
                <a:latin typeface="Kanit"/>
              </a:rPr>
              <a:t>Sugar</a:t>
            </a:r>
          </a:p>
        </p:txBody>
      </p:sp>
      <p:sp>
        <p:nvSpPr>
          <p:cNvPr id="17" name="Rectangle 16"/>
          <p:cNvSpPr/>
          <p:nvPr/>
        </p:nvSpPr>
        <p:spPr>
          <a:xfrm>
            <a:off x="6629661" y="1339596"/>
            <a:ext cx="164592" cy="25603"/>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6105086" y="1280160"/>
            <a:ext cx="378271" cy="134112"/>
          </a:xfrm>
          <a:prstGeom prst="rect">
            <a:avLst/>
          </a:prstGeom>
          <a:noFill/>
        </p:spPr>
        <p:txBody>
          <a:bodyPr wrap="square" lIns="0" rIns="0" tIns="0" bIns="0" anchor="t">
            <a:noAutofit/>
          </a:bodyPr>
          <a:lstStyle/>
          <a:p>
            <a:pPr algn="l">
              <a:lnSpc>
                <a:spcPts val="1056"/>
              </a:lnSpc>
            </a:pPr>
            <a:r>
              <a:rPr sz="800" b="1">
                <a:solidFill>
                  <a:srgbClr val="F5C242"/>
                </a:solidFill>
                <a:latin typeface="Kanit"/>
              </a:rPr>
              <a:t>Palm oil</a:t>
            </a:r>
          </a:p>
        </p:txBody>
      </p:sp>
      <p:sp>
        <p:nvSpPr>
          <p:cNvPr id="19" name="Rectangle 18"/>
          <p:cNvSpPr/>
          <p:nvPr/>
        </p:nvSpPr>
        <p:spPr>
          <a:xfrm>
            <a:off x="5867342" y="1339596"/>
            <a:ext cx="164592" cy="25603"/>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5521112" y="1280160"/>
            <a:ext cx="199925" cy="134112"/>
          </a:xfrm>
          <a:prstGeom prst="rect">
            <a:avLst/>
          </a:prstGeom>
          <a:noFill/>
        </p:spPr>
        <p:txBody>
          <a:bodyPr wrap="square" lIns="0" rIns="0" tIns="0" bIns="0" anchor="t">
            <a:noAutofit/>
          </a:bodyPr>
          <a:lstStyle/>
          <a:p>
            <a:pPr algn="l">
              <a:lnSpc>
                <a:spcPts val="1056"/>
              </a:lnSpc>
            </a:pPr>
            <a:r>
              <a:rPr sz="800" b="1">
                <a:solidFill>
                  <a:srgbClr val="1E2F5C"/>
                </a:solidFill>
                <a:latin typeface="Kanit"/>
              </a:rPr>
              <a:t>Rice</a:t>
            </a:r>
          </a:p>
        </p:txBody>
      </p:sp>
      <p:sp>
        <p:nvSpPr>
          <p:cNvPr id="21" name="Rectangle 20"/>
          <p:cNvSpPr/>
          <p:nvPr/>
        </p:nvSpPr>
        <p:spPr>
          <a:xfrm>
            <a:off x="5283368" y="1339596"/>
            <a:ext cx="164592" cy="25603"/>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4797488" y="1280160"/>
            <a:ext cx="339576" cy="134112"/>
          </a:xfrm>
          <a:prstGeom prst="rect">
            <a:avLst/>
          </a:prstGeom>
          <a:noFill/>
        </p:spPr>
        <p:txBody>
          <a:bodyPr wrap="square" lIns="0" rIns="0" tIns="0" bIns="0" anchor="t">
            <a:noAutofit/>
          </a:bodyPr>
          <a:lstStyle/>
          <a:p>
            <a:pPr algn="l">
              <a:lnSpc>
                <a:spcPts val="1056"/>
              </a:lnSpc>
            </a:pPr>
            <a:r>
              <a:rPr sz="800" b="1">
                <a:solidFill>
                  <a:srgbClr val="15795F"/>
                </a:solidFill>
                <a:latin typeface="Kanit"/>
              </a:rPr>
              <a:t>Rubber</a:t>
            </a:r>
          </a:p>
        </p:txBody>
      </p:sp>
      <p:sp>
        <p:nvSpPr>
          <p:cNvPr id="23" name="Rectangle 22"/>
          <p:cNvSpPr/>
          <p:nvPr/>
        </p:nvSpPr>
        <p:spPr>
          <a:xfrm>
            <a:off x="4559744" y="1339596"/>
            <a:ext cx="164592" cy="25603"/>
          </a:xfrm>
          <a:prstGeom prst="rect">
            <a:avLst/>
          </a:prstGeom>
          <a:solidFill>
            <a:srgbClr val="1579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Freeform 23"/>
          <p:cNvSpPr/>
          <p:nvPr/>
        </p:nvSpPr>
        <p:spPr>
          <a:xfrm>
            <a:off x="795528" y="1995005"/>
            <a:ext cx="6428232" cy="1131906"/>
          </a:xfrm>
          <a:custGeom>
            <a:avLst/>
            <a:gdLst/>
            <a:ahLst/>
            <a:cxnLst/>
            <a:rect l="l" t="t" r="r" b="b"/>
            <a:pathLst>
              <a:path w="6428232" h="1131906">
                <a:moveTo>
                  <a:pt x="0" y="783628"/>
                </a:moveTo>
                <a:lnTo>
                  <a:pt x="108953" y="759881"/>
                </a:lnTo>
                <a:lnTo>
                  <a:pt x="217906" y="846951"/>
                </a:lnTo>
                <a:lnTo>
                  <a:pt x="326859" y="783628"/>
                </a:lnTo>
                <a:lnTo>
                  <a:pt x="435812" y="736135"/>
                </a:lnTo>
                <a:lnTo>
                  <a:pt x="544765" y="744050"/>
                </a:lnTo>
                <a:lnTo>
                  <a:pt x="653718" y="704473"/>
                </a:lnTo>
                <a:lnTo>
                  <a:pt x="762671" y="593657"/>
                </a:lnTo>
                <a:lnTo>
                  <a:pt x="871624" y="585742"/>
                </a:lnTo>
                <a:lnTo>
                  <a:pt x="980577" y="609488"/>
                </a:lnTo>
                <a:lnTo>
                  <a:pt x="1089530" y="633234"/>
                </a:lnTo>
                <a:lnTo>
                  <a:pt x="1198483" y="656981"/>
                </a:lnTo>
                <a:lnTo>
                  <a:pt x="1307437" y="854866"/>
                </a:lnTo>
                <a:lnTo>
                  <a:pt x="1416390" y="989429"/>
                </a:lnTo>
                <a:lnTo>
                  <a:pt x="1525343" y="1092329"/>
                </a:lnTo>
                <a:lnTo>
                  <a:pt x="1634296" y="1076498"/>
                </a:lnTo>
                <a:lnTo>
                  <a:pt x="1743249" y="1131906"/>
                </a:lnTo>
                <a:lnTo>
                  <a:pt x="1852202" y="1044837"/>
                </a:lnTo>
                <a:lnTo>
                  <a:pt x="1961155" y="973598"/>
                </a:lnTo>
                <a:lnTo>
                  <a:pt x="2070108" y="981513"/>
                </a:lnTo>
                <a:lnTo>
                  <a:pt x="2179061" y="1013175"/>
                </a:lnTo>
                <a:lnTo>
                  <a:pt x="2288014" y="1044837"/>
                </a:lnTo>
                <a:lnTo>
                  <a:pt x="2396967" y="1029006"/>
                </a:lnTo>
                <a:lnTo>
                  <a:pt x="2505920" y="1052752"/>
                </a:lnTo>
                <a:lnTo>
                  <a:pt x="2614874" y="1084414"/>
                </a:lnTo>
                <a:lnTo>
                  <a:pt x="2723827" y="1100245"/>
                </a:lnTo>
                <a:lnTo>
                  <a:pt x="2832780" y="1036921"/>
                </a:lnTo>
                <a:lnTo>
                  <a:pt x="2941733" y="989429"/>
                </a:lnTo>
                <a:lnTo>
                  <a:pt x="3050686" y="941936"/>
                </a:lnTo>
                <a:lnTo>
                  <a:pt x="3159639" y="949851"/>
                </a:lnTo>
                <a:lnTo>
                  <a:pt x="3268592" y="839035"/>
                </a:lnTo>
                <a:lnTo>
                  <a:pt x="3377545" y="664896"/>
                </a:lnTo>
                <a:lnTo>
                  <a:pt x="3486498" y="372025"/>
                </a:lnTo>
                <a:lnTo>
                  <a:pt x="3595451" y="459095"/>
                </a:lnTo>
                <a:lnTo>
                  <a:pt x="3704404" y="561996"/>
                </a:lnTo>
                <a:lnTo>
                  <a:pt x="3813357" y="474926"/>
                </a:lnTo>
                <a:lnTo>
                  <a:pt x="3922311" y="633234"/>
                </a:lnTo>
                <a:lnTo>
                  <a:pt x="4031264" y="372025"/>
                </a:lnTo>
                <a:lnTo>
                  <a:pt x="4140217" y="166224"/>
                </a:lnTo>
                <a:lnTo>
                  <a:pt x="4249170" y="182055"/>
                </a:lnTo>
                <a:lnTo>
                  <a:pt x="4358123" y="451180"/>
                </a:lnTo>
                <a:lnTo>
                  <a:pt x="4467076" y="379941"/>
                </a:lnTo>
                <a:lnTo>
                  <a:pt x="4576029" y="387856"/>
                </a:lnTo>
                <a:lnTo>
                  <a:pt x="4684982" y="356194"/>
                </a:lnTo>
                <a:lnTo>
                  <a:pt x="4793935" y="395772"/>
                </a:lnTo>
                <a:lnTo>
                  <a:pt x="4902888" y="577826"/>
                </a:lnTo>
                <a:lnTo>
                  <a:pt x="5011841" y="530334"/>
                </a:lnTo>
                <a:lnTo>
                  <a:pt x="5120794" y="554080"/>
                </a:lnTo>
                <a:lnTo>
                  <a:pt x="5229748" y="498672"/>
                </a:lnTo>
                <a:lnTo>
                  <a:pt x="5338701" y="561996"/>
                </a:lnTo>
                <a:lnTo>
                  <a:pt x="5447654" y="593657"/>
                </a:lnTo>
                <a:lnTo>
                  <a:pt x="5556607" y="680727"/>
                </a:lnTo>
                <a:lnTo>
                  <a:pt x="5665560" y="656981"/>
                </a:lnTo>
                <a:lnTo>
                  <a:pt x="5774513" y="633234"/>
                </a:lnTo>
                <a:lnTo>
                  <a:pt x="5883466" y="569911"/>
                </a:lnTo>
                <a:lnTo>
                  <a:pt x="5992419" y="474926"/>
                </a:lnTo>
                <a:lnTo>
                  <a:pt x="6101372" y="372025"/>
                </a:lnTo>
                <a:lnTo>
                  <a:pt x="6210325" y="277040"/>
                </a:lnTo>
                <a:lnTo>
                  <a:pt x="6319278" y="134562"/>
                </a:lnTo>
                <a:lnTo>
                  <a:pt x="6428232" y="0"/>
                </a:lnTo>
              </a:path>
            </a:pathLst>
          </a:custGeom>
          <a:noFill/>
          <a:ln w="20320">
            <a:solidFill>
              <a:srgbClr val="1579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Freeform 24"/>
          <p:cNvSpPr/>
          <p:nvPr/>
        </p:nvSpPr>
        <p:spPr>
          <a:xfrm>
            <a:off x="795528" y="1899102"/>
            <a:ext cx="6428232" cy="1086899"/>
          </a:xfrm>
          <a:custGeom>
            <a:avLst/>
            <a:gdLst/>
            <a:ahLst/>
            <a:cxnLst/>
            <a:rect l="l" t="t" r="r" b="b"/>
            <a:pathLst>
              <a:path w="6428232" h="1086899">
                <a:moveTo>
                  <a:pt x="0" y="879531"/>
                </a:moveTo>
                <a:lnTo>
                  <a:pt x="108953" y="918859"/>
                </a:lnTo>
                <a:lnTo>
                  <a:pt x="217906" y="929585"/>
                </a:lnTo>
                <a:lnTo>
                  <a:pt x="326859" y="926010"/>
                </a:lnTo>
                <a:lnTo>
                  <a:pt x="435812" y="929585"/>
                </a:lnTo>
                <a:lnTo>
                  <a:pt x="544765" y="929585"/>
                </a:lnTo>
                <a:lnTo>
                  <a:pt x="653718" y="833051"/>
                </a:lnTo>
                <a:lnTo>
                  <a:pt x="762671" y="833051"/>
                </a:lnTo>
                <a:lnTo>
                  <a:pt x="871624" y="850928"/>
                </a:lnTo>
                <a:lnTo>
                  <a:pt x="980577" y="818750"/>
                </a:lnTo>
                <a:lnTo>
                  <a:pt x="1089530" y="700764"/>
                </a:lnTo>
                <a:lnTo>
                  <a:pt x="1198483" y="772271"/>
                </a:lnTo>
                <a:lnTo>
                  <a:pt x="1307437" y="865229"/>
                </a:lnTo>
                <a:lnTo>
                  <a:pt x="1416390" y="818750"/>
                </a:lnTo>
                <a:lnTo>
                  <a:pt x="1525343" y="790147"/>
                </a:lnTo>
                <a:lnTo>
                  <a:pt x="1634296" y="818750"/>
                </a:lnTo>
                <a:lnTo>
                  <a:pt x="1743249" y="786572"/>
                </a:lnTo>
                <a:lnTo>
                  <a:pt x="1852202" y="690038"/>
                </a:lnTo>
                <a:lnTo>
                  <a:pt x="1961155" y="511272"/>
                </a:lnTo>
                <a:lnTo>
                  <a:pt x="2070108" y="600655"/>
                </a:lnTo>
                <a:lnTo>
                  <a:pt x="2179061" y="657860"/>
                </a:lnTo>
                <a:lnTo>
                  <a:pt x="2288014" y="568477"/>
                </a:lnTo>
                <a:lnTo>
                  <a:pt x="2396967" y="536299"/>
                </a:lnTo>
                <a:lnTo>
                  <a:pt x="2505920" y="521998"/>
                </a:lnTo>
                <a:lnTo>
                  <a:pt x="2614874" y="404012"/>
                </a:lnTo>
                <a:lnTo>
                  <a:pt x="2723827" y="89383"/>
                </a:lnTo>
                <a:lnTo>
                  <a:pt x="2832780" y="143013"/>
                </a:lnTo>
                <a:lnTo>
                  <a:pt x="2941733" y="250273"/>
                </a:lnTo>
                <a:lnTo>
                  <a:pt x="3050686" y="221670"/>
                </a:lnTo>
                <a:lnTo>
                  <a:pt x="3159639" y="57206"/>
                </a:lnTo>
                <a:lnTo>
                  <a:pt x="3268592" y="0"/>
                </a:lnTo>
                <a:lnTo>
                  <a:pt x="3377545" y="128712"/>
                </a:lnTo>
                <a:lnTo>
                  <a:pt x="3486498" y="168041"/>
                </a:lnTo>
                <a:lnTo>
                  <a:pt x="3595451" y="243122"/>
                </a:lnTo>
                <a:lnTo>
                  <a:pt x="3704404" y="114411"/>
                </a:lnTo>
                <a:lnTo>
                  <a:pt x="3813357" y="100109"/>
                </a:lnTo>
                <a:lnTo>
                  <a:pt x="3922311" y="250273"/>
                </a:lnTo>
                <a:lnTo>
                  <a:pt x="4031264" y="253848"/>
                </a:lnTo>
                <a:lnTo>
                  <a:pt x="4140217" y="286026"/>
                </a:lnTo>
                <a:lnTo>
                  <a:pt x="4249170" y="518423"/>
                </a:lnTo>
                <a:lnTo>
                  <a:pt x="4358123" y="532724"/>
                </a:lnTo>
                <a:lnTo>
                  <a:pt x="4467076" y="475519"/>
                </a:lnTo>
                <a:lnTo>
                  <a:pt x="4576029" y="650710"/>
                </a:lnTo>
                <a:lnTo>
                  <a:pt x="4684982" y="797298"/>
                </a:lnTo>
                <a:lnTo>
                  <a:pt x="4793935" y="840202"/>
                </a:lnTo>
                <a:lnTo>
                  <a:pt x="4902888" y="875955"/>
                </a:lnTo>
                <a:lnTo>
                  <a:pt x="5011841" y="818750"/>
                </a:lnTo>
                <a:lnTo>
                  <a:pt x="5120794" y="861654"/>
                </a:lnTo>
                <a:lnTo>
                  <a:pt x="5229748" y="958188"/>
                </a:lnTo>
                <a:lnTo>
                  <a:pt x="5338701" y="1018968"/>
                </a:lnTo>
                <a:lnTo>
                  <a:pt x="5447654" y="1022544"/>
                </a:lnTo>
                <a:lnTo>
                  <a:pt x="5556607" y="1086899"/>
                </a:lnTo>
                <a:lnTo>
                  <a:pt x="5665560" y="1043996"/>
                </a:lnTo>
                <a:lnTo>
                  <a:pt x="5774513" y="843777"/>
                </a:lnTo>
                <a:lnTo>
                  <a:pt x="5883466" y="900982"/>
                </a:lnTo>
                <a:lnTo>
                  <a:pt x="5992419" y="897407"/>
                </a:lnTo>
                <a:lnTo>
                  <a:pt x="6101372" y="997516"/>
                </a:lnTo>
                <a:lnTo>
                  <a:pt x="6210325" y="918859"/>
                </a:lnTo>
                <a:lnTo>
                  <a:pt x="6319278" y="786572"/>
                </a:lnTo>
                <a:lnTo>
                  <a:pt x="6428232" y="593504"/>
                </a:lnTo>
              </a:path>
            </a:pathLst>
          </a:custGeom>
          <a:noFill/>
          <a:ln w="20320">
            <a:solidFill>
              <a:srgbClr val="1E2F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Freeform 25"/>
          <p:cNvSpPr/>
          <p:nvPr/>
        </p:nvSpPr>
        <p:spPr>
          <a:xfrm>
            <a:off x="795528" y="1784416"/>
            <a:ext cx="6428232" cy="1354864"/>
          </a:xfrm>
          <a:custGeom>
            <a:avLst/>
            <a:gdLst/>
            <a:ahLst/>
            <a:cxnLst/>
            <a:rect l="l" t="t" r="r" b="b"/>
            <a:pathLst>
              <a:path w="6428232" h="1354864">
                <a:moveTo>
                  <a:pt x="0" y="994217"/>
                </a:moveTo>
                <a:lnTo>
                  <a:pt x="108953" y="884212"/>
                </a:lnTo>
                <a:lnTo>
                  <a:pt x="217906" y="829906"/>
                </a:lnTo>
                <a:lnTo>
                  <a:pt x="326859" y="650279"/>
                </a:lnTo>
                <a:lnTo>
                  <a:pt x="435812" y="607113"/>
                </a:lnTo>
                <a:lnTo>
                  <a:pt x="544765" y="705977"/>
                </a:lnTo>
                <a:lnTo>
                  <a:pt x="653718" y="601543"/>
                </a:lnTo>
                <a:lnTo>
                  <a:pt x="762671" y="355077"/>
                </a:lnTo>
                <a:lnTo>
                  <a:pt x="871624" y="0"/>
                </a:lnTo>
                <a:lnTo>
                  <a:pt x="980577" y="130891"/>
                </a:lnTo>
                <a:lnTo>
                  <a:pt x="1089530" y="83548"/>
                </a:lnTo>
                <a:lnTo>
                  <a:pt x="1198483" y="384319"/>
                </a:lnTo>
                <a:lnTo>
                  <a:pt x="1307437" y="1002571"/>
                </a:lnTo>
                <a:lnTo>
                  <a:pt x="1416390" y="1045738"/>
                </a:lnTo>
                <a:lnTo>
                  <a:pt x="1525343" y="1208655"/>
                </a:lnTo>
                <a:lnTo>
                  <a:pt x="1634296" y="1236505"/>
                </a:lnTo>
                <a:lnTo>
                  <a:pt x="1743249" y="1157134"/>
                </a:lnTo>
                <a:lnTo>
                  <a:pt x="1852202" y="1165489"/>
                </a:lnTo>
                <a:lnTo>
                  <a:pt x="1961155" y="1162704"/>
                </a:lnTo>
                <a:lnTo>
                  <a:pt x="2070108" y="1151564"/>
                </a:lnTo>
                <a:lnTo>
                  <a:pt x="2179061" y="1120930"/>
                </a:lnTo>
                <a:lnTo>
                  <a:pt x="2288014" y="1074979"/>
                </a:lnTo>
                <a:lnTo>
                  <a:pt x="2396967" y="1173844"/>
                </a:lnTo>
                <a:lnTo>
                  <a:pt x="2505920" y="1336762"/>
                </a:lnTo>
                <a:lnTo>
                  <a:pt x="2614874" y="1250429"/>
                </a:lnTo>
                <a:lnTo>
                  <a:pt x="2723827" y="1275493"/>
                </a:lnTo>
                <a:lnTo>
                  <a:pt x="2832780" y="1318660"/>
                </a:lnTo>
                <a:lnTo>
                  <a:pt x="2941733" y="1354864"/>
                </a:lnTo>
                <a:lnTo>
                  <a:pt x="3050686" y="1318660"/>
                </a:lnTo>
                <a:lnTo>
                  <a:pt x="3159639" y="1340939"/>
                </a:lnTo>
                <a:lnTo>
                  <a:pt x="3268592" y="1297773"/>
                </a:lnTo>
                <a:lnTo>
                  <a:pt x="3377545" y="1281063"/>
                </a:lnTo>
                <a:lnTo>
                  <a:pt x="3486498" y="1161312"/>
                </a:lnTo>
                <a:lnTo>
                  <a:pt x="3595451" y="1171059"/>
                </a:lnTo>
                <a:lnTo>
                  <a:pt x="3704404" y="1278278"/>
                </a:lnTo>
                <a:lnTo>
                  <a:pt x="3813357" y="1257391"/>
                </a:lnTo>
                <a:lnTo>
                  <a:pt x="3922311" y="1226757"/>
                </a:lnTo>
                <a:lnTo>
                  <a:pt x="4031264" y="1175236"/>
                </a:lnTo>
                <a:lnTo>
                  <a:pt x="4140217" y="1105613"/>
                </a:lnTo>
                <a:lnTo>
                  <a:pt x="4249170" y="974722"/>
                </a:lnTo>
                <a:lnTo>
                  <a:pt x="4358123" y="846616"/>
                </a:lnTo>
                <a:lnTo>
                  <a:pt x="4467076" y="817374"/>
                </a:lnTo>
                <a:lnTo>
                  <a:pt x="4576029" y="984469"/>
                </a:lnTo>
                <a:lnTo>
                  <a:pt x="4684982" y="988647"/>
                </a:lnTo>
                <a:lnTo>
                  <a:pt x="4793935" y="987254"/>
                </a:lnTo>
                <a:lnTo>
                  <a:pt x="4902888" y="1090296"/>
                </a:lnTo>
                <a:lnTo>
                  <a:pt x="5011841" y="1210048"/>
                </a:lnTo>
                <a:lnTo>
                  <a:pt x="5120794" y="1172451"/>
                </a:lnTo>
                <a:lnTo>
                  <a:pt x="5229748" y="1115361"/>
                </a:lnTo>
                <a:lnTo>
                  <a:pt x="5338701" y="1045738"/>
                </a:lnTo>
                <a:lnTo>
                  <a:pt x="5447654" y="1030420"/>
                </a:lnTo>
                <a:lnTo>
                  <a:pt x="5556607" y="1029028"/>
                </a:lnTo>
                <a:lnTo>
                  <a:pt x="5665560" y="1105613"/>
                </a:lnTo>
                <a:lnTo>
                  <a:pt x="5774513" y="1109791"/>
                </a:lnTo>
                <a:lnTo>
                  <a:pt x="5883466" y="1074979"/>
                </a:lnTo>
                <a:lnTo>
                  <a:pt x="5992419" y="1027636"/>
                </a:lnTo>
                <a:lnTo>
                  <a:pt x="6101372" y="930163"/>
                </a:lnTo>
                <a:lnTo>
                  <a:pt x="6210325" y="878642"/>
                </a:lnTo>
                <a:lnTo>
                  <a:pt x="6319278" y="892567"/>
                </a:lnTo>
                <a:lnTo>
                  <a:pt x="6428232" y="935733"/>
                </a:lnTo>
              </a:path>
            </a:pathLst>
          </a:custGeom>
          <a:noFill/>
          <a:ln w="20320">
            <a:solidFill>
              <a:srgbClr val="F5C2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Freeform 26"/>
          <p:cNvSpPr/>
          <p:nvPr/>
        </p:nvSpPr>
        <p:spPr>
          <a:xfrm>
            <a:off x="795528" y="2057517"/>
            <a:ext cx="6428232" cy="1024743"/>
          </a:xfrm>
          <a:custGeom>
            <a:avLst/>
            <a:gdLst/>
            <a:ahLst/>
            <a:cxnLst/>
            <a:rect l="l" t="t" r="r" b="b"/>
            <a:pathLst>
              <a:path w="6428232" h="1024743">
                <a:moveTo>
                  <a:pt x="0" y="721116"/>
                </a:moveTo>
                <a:lnTo>
                  <a:pt x="108953" y="569302"/>
                </a:lnTo>
                <a:lnTo>
                  <a:pt x="217906" y="569302"/>
                </a:lnTo>
                <a:lnTo>
                  <a:pt x="326859" y="607255"/>
                </a:lnTo>
                <a:lnTo>
                  <a:pt x="435812" y="569302"/>
                </a:lnTo>
                <a:lnTo>
                  <a:pt x="544765" y="607255"/>
                </a:lnTo>
                <a:lnTo>
                  <a:pt x="653718" y="683162"/>
                </a:lnTo>
                <a:lnTo>
                  <a:pt x="762671" y="721116"/>
                </a:lnTo>
                <a:lnTo>
                  <a:pt x="871624" y="607255"/>
                </a:lnTo>
                <a:lnTo>
                  <a:pt x="980577" y="569302"/>
                </a:lnTo>
                <a:lnTo>
                  <a:pt x="1089530" y="569302"/>
                </a:lnTo>
                <a:lnTo>
                  <a:pt x="1198483" y="607255"/>
                </a:lnTo>
                <a:lnTo>
                  <a:pt x="1307437" y="683162"/>
                </a:lnTo>
                <a:lnTo>
                  <a:pt x="1416390" y="721116"/>
                </a:lnTo>
                <a:lnTo>
                  <a:pt x="1525343" y="721116"/>
                </a:lnTo>
                <a:lnTo>
                  <a:pt x="1634296" y="721116"/>
                </a:lnTo>
                <a:lnTo>
                  <a:pt x="1743249" y="645209"/>
                </a:lnTo>
                <a:lnTo>
                  <a:pt x="1852202" y="607255"/>
                </a:lnTo>
                <a:lnTo>
                  <a:pt x="1961155" y="607255"/>
                </a:lnTo>
                <a:lnTo>
                  <a:pt x="2070108" y="493395"/>
                </a:lnTo>
                <a:lnTo>
                  <a:pt x="2179061" y="493395"/>
                </a:lnTo>
                <a:lnTo>
                  <a:pt x="2288014" y="189767"/>
                </a:lnTo>
                <a:lnTo>
                  <a:pt x="2396967" y="75907"/>
                </a:lnTo>
                <a:lnTo>
                  <a:pt x="2505920" y="151814"/>
                </a:lnTo>
                <a:lnTo>
                  <a:pt x="2614874" y="227721"/>
                </a:lnTo>
                <a:lnTo>
                  <a:pt x="2723827" y="189767"/>
                </a:lnTo>
                <a:lnTo>
                  <a:pt x="2832780" y="0"/>
                </a:lnTo>
                <a:lnTo>
                  <a:pt x="2941733" y="37953"/>
                </a:lnTo>
                <a:lnTo>
                  <a:pt x="3050686" y="37953"/>
                </a:lnTo>
                <a:lnTo>
                  <a:pt x="3159639" y="379534"/>
                </a:lnTo>
                <a:lnTo>
                  <a:pt x="3268592" y="379534"/>
                </a:lnTo>
                <a:lnTo>
                  <a:pt x="3377545" y="303627"/>
                </a:lnTo>
                <a:lnTo>
                  <a:pt x="3486498" y="379534"/>
                </a:lnTo>
                <a:lnTo>
                  <a:pt x="3595451" y="493395"/>
                </a:lnTo>
                <a:lnTo>
                  <a:pt x="3704404" y="607255"/>
                </a:lnTo>
                <a:lnTo>
                  <a:pt x="3813357" y="569302"/>
                </a:lnTo>
                <a:lnTo>
                  <a:pt x="3922311" y="569302"/>
                </a:lnTo>
                <a:lnTo>
                  <a:pt x="4031264" y="645209"/>
                </a:lnTo>
                <a:lnTo>
                  <a:pt x="4140217" y="493395"/>
                </a:lnTo>
                <a:lnTo>
                  <a:pt x="4249170" y="455441"/>
                </a:lnTo>
                <a:lnTo>
                  <a:pt x="4358123" y="493395"/>
                </a:lnTo>
                <a:lnTo>
                  <a:pt x="4467076" y="531348"/>
                </a:lnTo>
                <a:lnTo>
                  <a:pt x="4576029" y="683162"/>
                </a:lnTo>
                <a:lnTo>
                  <a:pt x="4684982" y="607255"/>
                </a:lnTo>
                <a:lnTo>
                  <a:pt x="4793935" y="607255"/>
                </a:lnTo>
                <a:lnTo>
                  <a:pt x="4902888" y="683162"/>
                </a:lnTo>
                <a:lnTo>
                  <a:pt x="5011841" y="721116"/>
                </a:lnTo>
                <a:lnTo>
                  <a:pt x="5120794" y="797022"/>
                </a:lnTo>
                <a:lnTo>
                  <a:pt x="5229748" y="797022"/>
                </a:lnTo>
                <a:lnTo>
                  <a:pt x="5338701" y="797022"/>
                </a:lnTo>
                <a:lnTo>
                  <a:pt x="5447654" y="872929"/>
                </a:lnTo>
                <a:lnTo>
                  <a:pt x="5556607" y="910883"/>
                </a:lnTo>
                <a:lnTo>
                  <a:pt x="5665560" y="986790"/>
                </a:lnTo>
                <a:lnTo>
                  <a:pt x="5774513" y="986790"/>
                </a:lnTo>
                <a:lnTo>
                  <a:pt x="5883466" y="986790"/>
                </a:lnTo>
                <a:lnTo>
                  <a:pt x="5992419" y="1024743"/>
                </a:lnTo>
                <a:lnTo>
                  <a:pt x="6101372" y="948836"/>
                </a:lnTo>
                <a:lnTo>
                  <a:pt x="6210325" y="986790"/>
                </a:lnTo>
                <a:lnTo>
                  <a:pt x="6319278" y="910883"/>
                </a:lnTo>
                <a:lnTo>
                  <a:pt x="6428232" y="986790"/>
                </a:lnTo>
              </a:path>
            </a:pathLst>
          </a:custGeom>
          <a:noFill/>
          <a:ln w="20320">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2647" y="3739896"/>
            <a:ext cx="365760" cy="125730"/>
          </a:xfrm>
          <a:prstGeom prst="rect">
            <a:avLst/>
          </a:prstGeom>
          <a:noFill/>
        </p:spPr>
        <p:txBody>
          <a:bodyPr wrap="square" lIns="0" rIns="0" tIns="0" bIns="0" anchor="t">
            <a:noAutofit/>
          </a:bodyPr>
          <a:lstStyle/>
          <a:p>
            <a:pPr algn="ctr">
              <a:lnSpc>
                <a:spcPts val="990"/>
              </a:lnSpc>
            </a:pPr>
            <a:r>
              <a:rPr sz="750" b="0">
                <a:solidFill>
                  <a:srgbClr val="606060"/>
                </a:solidFill>
                <a:latin typeface="Kanit"/>
              </a:rPr>
              <a:t>2021</a:t>
            </a:r>
          </a:p>
        </p:txBody>
      </p:sp>
      <p:sp>
        <p:nvSpPr>
          <p:cNvPr id="29" name="TextBox 28"/>
          <p:cNvSpPr txBox="1"/>
          <p:nvPr/>
        </p:nvSpPr>
        <p:spPr>
          <a:xfrm>
            <a:off x="2573803" y="3739896"/>
            <a:ext cx="365760" cy="125730"/>
          </a:xfrm>
          <a:prstGeom prst="rect">
            <a:avLst/>
          </a:prstGeom>
          <a:noFill/>
        </p:spPr>
        <p:txBody>
          <a:bodyPr wrap="square" lIns="0" rIns="0" tIns="0" bIns="0" anchor="t">
            <a:noAutofit/>
          </a:bodyPr>
          <a:lstStyle/>
          <a:p>
            <a:pPr algn="ctr">
              <a:lnSpc>
                <a:spcPts val="990"/>
              </a:lnSpc>
            </a:pPr>
            <a:r>
              <a:rPr sz="750" b="0">
                <a:solidFill>
                  <a:srgbClr val="606060"/>
                </a:solidFill>
                <a:latin typeface="Kanit"/>
              </a:rPr>
              <a:t>2023</a:t>
            </a:r>
          </a:p>
        </p:txBody>
      </p:sp>
      <p:sp>
        <p:nvSpPr>
          <p:cNvPr id="30" name="TextBox 29"/>
          <p:cNvSpPr txBox="1"/>
          <p:nvPr/>
        </p:nvSpPr>
        <p:spPr>
          <a:xfrm>
            <a:off x="4534959" y="3739896"/>
            <a:ext cx="365760" cy="125730"/>
          </a:xfrm>
          <a:prstGeom prst="rect">
            <a:avLst/>
          </a:prstGeom>
          <a:noFill/>
        </p:spPr>
        <p:txBody>
          <a:bodyPr wrap="square" lIns="0" rIns="0" tIns="0" bIns="0" anchor="t">
            <a:noAutofit/>
          </a:bodyPr>
          <a:lstStyle/>
          <a:p>
            <a:pPr algn="ctr">
              <a:lnSpc>
                <a:spcPts val="990"/>
              </a:lnSpc>
            </a:pPr>
            <a:r>
              <a:rPr sz="750" b="0">
                <a:solidFill>
                  <a:srgbClr val="606060"/>
                </a:solidFill>
                <a:latin typeface="Kanit"/>
              </a:rPr>
              <a:t>2024</a:t>
            </a:r>
          </a:p>
        </p:txBody>
      </p:sp>
      <p:sp>
        <p:nvSpPr>
          <p:cNvPr id="31" name="TextBox 30"/>
          <p:cNvSpPr txBox="1"/>
          <p:nvPr/>
        </p:nvSpPr>
        <p:spPr>
          <a:xfrm>
            <a:off x="6496114" y="3739896"/>
            <a:ext cx="365760" cy="125730"/>
          </a:xfrm>
          <a:prstGeom prst="rect">
            <a:avLst/>
          </a:prstGeom>
          <a:noFill/>
        </p:spPr>
        <p:txBody>
          <a:bodyPr wrap="square" lIns="0" rIns="0" tIns="0" bIns="0" anchor="t">
            <a:noAutofit/>
          </a:bodyPr>
          <a:lstStyle/>
          <a:p>
            <a:pPr algn="ctr">
              <a:lnSpc>
                <a:spcPts val="990"/>
              </a:lnSpc>
            </a:pPr>
            <a:r>
              <a:rPr sz="750" b="0">
                <a:solidFill>
                  <a:srgbClr val="606060"/>
                </a:solidFill>
                <a:latin typeface="Kanit"/>
              </a:rPr>
              <a:t>2026</a:t>
            </a:r>
          </a:p>
        </p:txBody>
      </p:sp>
      <p:sp>
        <p:nvSpPr>
          <p:cNvPr id="32" name="TextBox 31"/>
          <p:cNvSpPr txBox="1"/>
          <p:nvPr/>
        </p:nvSpPr>
        <p:spPr>
          <a:xfrm>
            <a:off x="429768" y="1161288"/>
            <a:ext cx="681228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World price rebased to 100 at 2021-07 · 60 monthly observations</a:t>
            </a:r>
          </a:p>
        </p:txBody>
      </p:sp>
      <p:sp>
        <p:nvSpPr>
          <p:cNvPr id="33" name="Rectangle 32"/>
          <p:cNvSpPr/>
          <p:nvPr/>
        </p:nvSpPr>
        <p:spPr>
          <a:xfrm>
            <a:off x="7498079" y="1152144"/>
            <a:ext cx="4279392" cy="1858518"/>
          </a:xfrm>
          <a:prstGeom prst="rect">
            <a:avLst/>
          </a:prstGeom>
          <a:solidFill>
            <a:srgbClr val="FDF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4" name="Rectangle 33"/>
          <p:cNvSpPr/>
          <p:nvPr/>
        </p:nvSpPr>
        <p:spPr>
          <a:xfrm>
            <a:off x="7498079" y="1152144"/>
            <a:ext cx="50292" cy="1858518"/>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5" name="TextBox 34"/>
          <p:cNvSpPr txBox="1"/>
          <p:nvPr/>
        </p:nvSpPr>
        <p:spPr>
          <a:xfrm>
            <a:off x="7717536" y="1298448"/>
            <a:ext cx="3950207" cy="158750"/>
          </a:xfrm>
          <a:prstGeom prst="rect">
            <a:avLst/>
          </a:prstGeom>
          <a:noFill/>
        </p:spPr>
        <p:txBody>
          <a:bodyPr wrap="square" lIns="0" rIns="0" tIns="0" bIns="0" anchor="t">
            <a:noAutofit/>
          </a:bodyPr>
          <a:lstStyle/>
          <a:p>
            <a:pPr algn="l">
              <a:lnSpc>
                <a:spcPts val="1250"/>
              </a:lnSpc>
            </a:pPr>
            <a:r>
              <a:rPr sz="950" b="1">
                <a:solidFill>
                  <a:srgbClr val="9A7411"/>
                </a:solidFill>
                <a:latin typeface="Kanit"/>
              </a:rPr>
              <a:t>A year-on-year number hides the shape</a:t>
            </a:r>
          </a:p>
        </p:txBody>
      </p:sp>
      <p:sp>
        <p:nvSpPr>
          <p:cNvPr id="36" name="TextBox 35"/>
          <p:cNvSpPr txBox="1"/>
          <p:nvPr/>
        </p:nvSpPr>
        <p:spPr>
          <a:xfrm>
            <a:off x="7717536" y="1502918"/>
            <a:ext cx="3950207" cy="136144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Sugar reads −13.5% on the year. Across five it has gone from a 0.58 $/kg peak to 0.32 — roughly 45% off, falling almost continuously since early 2023. A grower who planted against 2023 economics has had three bad years, not one.
Rubber is the mirror image: three years below its 2021 base, recovering only in the last eighteen months. Those households are repairing a balance sheet, not enjoying a windfall.</a:t>
            </a:r>
          </a:p>
        </p:txBody>
      </p:sp>
      <p:graphicFrame>
        <p:nvGraphicFramePr>
          <p:cNvPr id="37" name="Table 36"/>
          <p:cNvGraphicFramePr>
            <a:graphicFrameLocks noGrp="1"/>
          </p:cNvGraphicFramePr>
          <p:nvPr/>
        </p:nvGraphicFramePr>
        <p:xfrm>
          <a:off x="411480" y="4123944"/>
          <a:ext cx="7863840" cy="1345996"/>
        </p:xfrm>
        <a:graphic>
          <a:graphicData uri="http://schemas.openxmlformats.org/drawingml/2006/table">
            <a:tbl>
              <a:tblPr>
                <a:tableStyleId>{5C22544A-7EE6-4342-B048-85BDC9FD1C3A}</a:tableStyleId>
              </a:tblPr>
              <a:tblGrid>
                <a:gridCol w="2377440"/>
                <a:gridCol w="1188720"/>
                <a:gridCol w="1097280"/>
                <a:gridCol w="1005840"/>
                <a:gridCol w="1097280"/>
                <a:gridCol w="1097280"/>
              </a:tblGrid>
              <a:tr h="329184">
                <a:tc>
                  <a:txBody>
                    <a:bodyPr wrap="square"/>
                    <a:lstStyle/>
                    <a:p>
                      <a:pPr algn="l"/>
                      <a:r>
                        <a:rPr sz="1050" b="1">
                          <a:solidFill>
                            <a:srgbClr val="FFFFFF"/>
                          </a:solidFill>
                          <a:latin typeface="Kanit"/>
                        </a:rPr>
                        <a:t>World price, five years</a:t>
                      </a:r>
                    </a:p>
                  </a:txBody>
                  <a:tcPr marL="54864" marR="54864" marT="18288" marB="18288" anchor="ctr">
                    <a:solidFill>
                      <a:srgbClr val="1B2A6B"/>
                    </a:solidFill>
                  </a:tcPr>
                </a:tc>
                <a:tc>
                  <a:txBody>
                    <a:bodyPr wrap="square"/>
                    <a:lstStyle/>
                    <a:p>
                      <a:pPr algn="r"/>
                      <a:r>
                        <a:rPr sz="1050" b="1">
                          <a:solidFill>
                            <a:srgbClr val="FFFFFF"/>
                          </a:solidFill>
                          <a:latin typeface="Kanit"/>
                        </a:rPr>
                        <a:t>of farm book</a:t>
                      </a:r>
                    </a:p>
                  </a:txBody>
                  <a:tcPr marL="54864" marR="54864" marT="18288" marB="18288" anchor="ctr">
                    <a:solidFill>
                      <a:srgbClr val="1B2A6B"/>
                    </a:solidFill>
                  </a:tcPr>
                </a:tc>
                <a:tc>
                  <a:txBody>
                    <a:bodyPr wrap="square"/>
                    <a:lstStyle/>
                    <a:p>
                      <a:pPr algn="r"/>
                      <a:r>
                        <a:rPr sz="1050" b="1">
                          <a:solidFill>
                            <a:srgbClr val="FFFFFF"/>
                          </a:solidFill>
                          <a:latin typeface="Kanit"/>
                        </a:rPr>
                        <a:t>5-yr peak</a:t>
                      </a:r>
                    </a:p>
                  </a:txBody>
                  <a:tcPr marL="54864" marR="54864" marT="18288" marB="18288" anchor="ctr">
                    <a:solidFill>
                      <a:srgbClr val="1B2A6B"/>
                    </a:solidFill>
                  </a:tcPr>
                </a:tc>
                <a:tc>
                  <a:txBody>
                    <a:bodyPr wrap="square"/>
                    <a:lstStyle/>
                    <a:p>
                      <a:pPr algn="r"/>
                      <a:r>
                        <a:rPr sz="1050" b="1">
                          <a:solidFill>
                            <a:srgbClr val="FFFFFF"/>
                          </a:solidFill>
                          <a:latin typeface="Kanit"/>
                        </a:rPr>
                        <a:t>latest</a:t>
                      </a:r>
                    </a:p>
                  </a:txBody>
                  <a:tcPr marL="54864" marR="54864" marT="18288" marB="18288" anchor="ctr">
                    <a:solidFill>
                      <a:srgbClr val="1B2A6B"/>
                    </a:solidFill>
                  </a:tcPr>
                </a:tc>
                <a:tc>
                  <a:txBody>
                    <a:bodyPr wrap="square"/>
                    <a:lstStyle/>
                    <a:p>
                      <a:pPr algn="r"/>
                      <a:r>
                        <a:rPr sz="1050" b="1">
                          <a:solidFill>
                            <a:srgbClr val="FFFFFF"/>
                          </a:solidFill>
                          <a:latin typeface="Kanit"/>
                        </a:rPr>
                        <a:t>off peak</a:t>
                      </a:r>
                    </a:p>
                  </a:txBody>
                  <a:tcPr marL="54864" marR="54864" marT="18288" marB="18288" anchor="ctr">
                    <a:solidFill>
                      <a:srgbClr val="1B2A6B"/>
                    </a:solidFill>
                  </a:tcPr>
                </a:tc>
                <a:tc>
                  <a:txBody>
                    <a:bodyPr wrap="square"/>
                    <a:lstStyle/>
                    <a:p>
                      <a:pPr algn="r"/>
                      <a:r>
                        <a:rPr sz="1050" b="1">
                          <a:solidFill>
                            <a:srgbClr val="FFFFFF"/>
                          </a:solidFill>
                          <a:latin typeface="Kanit"/>
                        </a:rPr>
                        <a:t>vs 5 yrs ago</a:t>
                      </a:r>
                    </a:p>
                  </a:txBody>
                  <a:tcPr marL="54864" marR="54864" marT="18288" marB="18288" anchor="ctr">
                    <a:solidFill>
                      <a:srgbClr val="1B2A6B"/>
                    </a:solidFill>
                  </a:tcPr>
                </a:tc>
              </a:tr>
              <a:tr h="254203">
                <a:tc>
                  <a:txBody>
                    <a:bodyPr wrap="square"/>
                    <a:lstStyle/>
                    <a:p>
                      <a:pPr algn="l"/>
                      <a:r>
                        <a:rPr sz="1000" b="1">
                          <a:solidFill>
                            <a:srgbClr val="1E2F5C"/>
                          </a:solidFill>
                          <a:latin typeface="Kanit"/>
                        </a:rPr>
                        <a:t>Rubber ($/kg)</a:t>
                      </a:r>
                    </a:p>
                  </a:txBody>
                  <a:tcPr marL="54864" marR="54864" marT="18288" marB="18288" anchor="ctr">
                    <a:solidFill>
                      <a:srgbClr val="FFFFFF"/>
                    </a:solidFill>
                  </a:tcPr>
                </a:tc>
                <a:tc>
                  <a:txBody>
                    <a:bodyPr wrap="square"/>
                    <a:lstStyle/>
                    <a:p>
                      <a:pPr algn="r"/>
                      <a:r>
                        <a:rPr sz="1000" b="0">
                          <a:solidFill>
                            <a:srgbClr val="1E2F5C"/>
                          </a:solidFill>
                          <a:latin typeface="Kanit"/>
                        </a:rPr>
                        <a:t>23.6%</a:t>
                      </a:r>
                    </a:p>
                  </a:txBody>
                  <a:tcPr marL="54864" marR="54864" marT="18288" marB="18288" anchor="ctr">
                    <a:solidFill>
                      <a:srgbClr val="FFFFFF"/>
                    </a:solidFill>
                  </a:tcPr>
                </a:tc>
                <a:tc>
                  <a:txBody>
                    <a:bodyPr wrap="square"/>
                    <a:lstStyle/>
                    <a:p>
                      <a:pPr algn="r"/>
                      <a:r>
                        <a:rPr sz="1000" b="0">
                          <a:solidFill>
                            <a:srgbClr val="1E2F5C"/>
                          </a:solidFill>
                          <a:latin typeface="Kanit"/>
                        </a:rPr>
                        <a:t>2.86</a:t>
                      </a:r>
                    </a:p>
                  </a:txBody>
                  <a:tcPr marL="54864" marR="54864" marT="18288" marB="18288" anchor="ctr">
                    <a:solidFill>
                      <a:srgbClr val="FFFFFF"/>
                    </a:solidFill>
                  </a:tcPr>
                </a:tc>
                <a:tc>
                  <a:txBody>
                    <a:bodyPr wrap="square"/>
                    <a:lstStyle/>
                    <a:p>
                      <a:pPr algn="r"/>
                      <a:r>
                        <a:rPr sz="1000" b="1">
                          <a:solidFill>
                            <a:srgbClr val="1E2F5C"/>
                          </a:solidFill>
                          <a:latin typeface="Kanit"/>
                        </a:rPr>
                        <a:t>2.86</a:t>
                      </a:r>
                    </a:p>
                  </a:txBody>
                  <a:tcPr marL="54864" marR="54864" marT="18288" marB="18288" anchor="ctr">
                    <a:solidFill>
                      <a:srgbClr val="FFFFFF"/>
                    </a:solidFill>
                  </a:tcPr>
                </a:tc>
                <a:tc>
                  <a:txBody>
                    <a:bodyPr wrap="square"/>
                    <a:lstStyle/>
                    <a:p>
                      <a:pPr algn="r"/>
                      <a:r>
                        <a:rPr sz="1000" b="1">
                          <a:solidFill>
                            <a:srgbClr val="1E2F5C"/>
                          </a:solidFill>
                          <a:latin typeface="Kanit"/>
                        </a:rPr>
                        <a:t>+0.0%</a:t>
                      </a:r>
                    </a:p>
                  </a:txBody>
                  <a:tcPr marL="54864" marR="54864" marT="18288" marB="18288" anchor="ctr">
                    <a:solidFill>
                      <a:srgbClr val="FFFFFF"/>
                    </a:solidFill>
                  </a:tcPr>
                </a:tc>
                <a:tc>
                  <a:txBody>
                    <a:bodyPr wrap="square"/>
                    <a:lstStyle/>
                    <a:p>
                      <a:pPr algn="r"/>
                      <a:r>
                        <a:rPr sz="1000" b="1">
                          <a:solidFill>
                            <a:srgbClr val="15795F"/>
                          </a:solidFill>
                          <a:latin typeface="Kanit"/>
                        </a:rPr>
                        <a:t>+52.9%</a:t>
                      </a:r>
                    </a:p>
                  </a:txBody>
                  <a:tcPr marL="54864" marR="54864" marT="18288" marB="18288" anchor="ctr">
                    <a:solidFill>
                      <a:srgbClr val="FFFFFF"/>
                    </a:solidFill>
                  </a:tcPr>
                </a:tc>
              </a:tr>
              <a:tr h="254203">
                <a:tc>
                  <a:txBody>
                    <a:bodyPr wrap="square"/>
                    <a:lstStyle/>
                    <a:p>
                      <a:pPr algn="l"/>
                      <a:r>
                        <a:rPr sz="1000" b="1">
                          <a:solidFill>
                            <a:srgbClr val="1E2F5C"/>
                          </a:solidFill>
                          <a:latin typeface="Kanit"/>
                        </a:rPr>
                        <a:t>Rice ($/mt)</a:t>
                      </a:r>
                    </a:p>
                  </a:txBody>
                  <a:tcPr marL="54864" marR="54864" marT="18288" marB="18288" anchor="ctr">
                    <a:solidFill>
                      <a:srgbClr val="F7F9FC"/>
                    </a:solidFill>
                  </a:tcPr>
                </a:tc>
                <a:tc>
                  <a:txBody>
                    <a:bodyPr wrap="square"/>
                    <a:lstStyle/>
                    <a:p>
                      <a:pPr algn="r"/>
                      <a:r>
                        <a:rPr sz="1000" b="0">
                          <a:solidFill>
                            <a:srgbClr val="1E2F5C"/>
                          </a:solidFill>
                          <a:latin typeface="Kanit"/>
                        </a:rPr>
                        <a:t>48.6%</a:t>
                      </a:r>
                    </a:p>
                  </a:txBody>
                  <a:tcPr marL="54864" marR="54864" marT="18288" marB="18288" anchor="ctr">
                    <a:solidFill>
                      <a:srgbClr val="F7F9FC"/>
                    </a:solidFill>
                  </a:tcPr>
                </a:tc>
                <a:tc>
                  <a:txBody>
                    <a:bodyPr wrap="square"/>
                    <a:lstStyle/>
                    <a:p>
                      <a:pPr algn="r"/>
                      <a:r>
                        <a:rPr sz="1000" b="0">
                          <a:solidFill>
                            <a:srgbClr val="1E2F5C"/>
                          </a:solidFill>
                          <a:latin typeface="Kanit"/>
                        </a:rPr>
                        <a:t>660.00</a:t>
                      </a:r>
                    </a:p>
                  </a:txBody>
                  <a:tcPr marL="54864" marR="54864" marT="18288" marB="18288" anchor="ctr">
                    <a:solidFill>
                      <a:srgbClr val="F7F9FC"/>
                    </a:solidFill>
                  </a:tcPr>
                </a:tc>
                <a:tc>
                  <a:txBody>
                    <a:bodyPr wrap="square"/>
                    <a:lstStyle/>
                    <a:p>
                      <a:pPr algn="r"/>
                      <a:r>
                        <a:rPr sz="1000" b="1">
                          <a:solidFill>
                            <a:srgbClr val="1E2F5C"/>
                          </a:solidFill>
                          <a:latin typeface="Kanit"/>
                        </a:rPr>
                        <a:t>494.00</a:t>
                      </a:r>
                    </a:p>
                  </a:txBody>
                  <a:tcPr marL="54864" marR="54864" marT="18288" marB="18288" anchor="ctr">
                    <a:solidFill>
                      <a:srgbClr val="F7F9FC"/>
                    </a:solidFill>
                  </a:tcPr>
                </a:tc>
                <a:tc>
                  <a:txBody>
                    <a:bodyPr wrap="square"/>
                    <a:lstStyle/>
                    <a:p>
                      <a:pPr algn="r"/>
                      <a:r>
                        <a:rPr sz="1000" b="1">
                          <a:solidFill>
                            <a:srgbClr val="CC0000"/>
                          </a:solidFill>
                          <a:latin typeface="Kanit"/>
                        </a:rPr>
                        <a:t>-25.2%</a:t>
                      </a:r>
                    </a:p>
                  </a:txBody>
                  <a:tcPr marL="54864" marR="54864" marT="18288" marB="18288" anchor="ctr">
                    <a:solidFill>
                      <a:srgbClr val="F7F9FC"/>
                    </a:solidFill>
                  </a:tcPr>
                </a:tc>
                <a:tc>
                  <a:txBody>
                    <a:bodyPr wrap="square"/>
                    <a:lstStyle/>
                    <a:p>
                      <a:pPr algn="r"/>
                      <a:r>
                        <a:rPr sz="1000" b="1">
                          <a:solidFill>
                            <a:srgbClr val="15795F"/>
                          </a:solidFill>
                          <a:latin typeface="Kanit"/>
                        </a:rPr>
                        <a:t>+19.3%</a:t>
                      </a:r>
                    </a:p>
                  </a:txBody>
                  <a:tcPr marL="54864" marR="54864" marT="18288" marB="18288" anchor="ctr">
                    <a:solidFill>
                      <a:srgbClr val="F7F9FC"/>
                    </a:solidFill>
                  </a:tcPr>
                </a:tc>
              </a:tr>
              <a:tr h="254203">
                <a:tc>
                  <a:txBody>
                    <a:bodyPr wrap="square"/>
                    <a:lstStyle/>
                    <a:p>
                      <a:pPr algn="l"/>
                      <a:r>
                        <a:rPr sz="1000" b="1">
                          <a:solidFill>
                            <a:srgbClr val="1E2F5C"/>
                          </a:solidFill>
                          <a:latin typeface="Kanit"/>
                        </a:rPr>
                        <a:t>Palm oil ($/mt)</a:t>
                      </a:r>
                    </a:p>
                  </a:txBody>
                  <a:tcPr marL="54864" marR="54864" marT="18288" marB="18288" anchor="ctr">
                    <a:solidFill>
                      <a:srgbClr val="FFFFFF"/>
                    </a:solidFill>
                  </a:tcPr>
                </a:tc>
                <a:tc>
                  <a:txBody>
                    <a:bodyPr wrap="square"/>
                    <a:lstStyle/>
                    <a:p>
                      <a:pPr algn="r"/>
                      <a:r>
                        <a:rPr sz="1000" b="0">
                          <a:solidFill>
                            <a:srgbClr val="1E2F5C"/>
                          </a:solidFill>
                          <a:latin typeface="Kanit"/>
                        </a:rPr>
                        <a:t>7.5%</a:t>
                      </a:r>
                    </a:p>
                  </a:txBody>
                  <a:tcPr marL="54864" marR="54864" marT="18288" marB="18288" anchor="ctr">
                    <a:solidFill>
                      <a:srgbClr val="FFFFFF"/>
                    </a:solidFill>
                  </a:tcPr>
                </a:tc>
                <a:tc>
                  <a:txBody>
                    <a:bodyPr wrap="square"/>
                    <a:lstStyle/>
                    <a:p>
                      <a:pPr algn="r"/>
                      <a:r>
                        <a:rPr sz="1000" b="0">
                          <a:solidFill>
                            <a:srgbClr val="1E2F5C"/>
                          </a:solidFill>
                          <a:latin typeface="Kanit"/>
                        </a:rPr>
                        <a:t>1,777.00</a:t>
                      </a:r>
                    </a:p>
                  </a:txBody>
                  <a:tcPr marL="54864" marR="54864" marT="18288" marB="18288" anchor="ctr">
                    <a:solidFill>
                      <a:srgbClr val="FFFFFF"/>
                    </a:solidFill>
                  </a:tcPr>
                </a:tc>
                <a:tc>
                  <a:txBody>
                    <a:bodyPr wrap="square"/>
                    <a:lstStyle/>
                    <a:p>
                      <a:pPr algn="r"/>
                      <a:r>
                        <a:rPr sz="1000" b="1">
                          <a:solidFill>
                            <a:srgbClr val="1E2F5C"/>
                          </a:solidFill>
                          <a:latin typeface="Kanit"/>
                        </a:rPr>
                        <a:t>1,105.00</a:t>
                      </a:r>
                    </a:p>
                  </a:txBody>
                  <a:tcPr marL="54864" marR="54864" marT="18288" marB="18288" anchor="ctr">
                    <a:solidFill>
                      <a:srgbClr val="FFFFFF"/>
                    </a:solidFill>
                  </a:tcPr>
                </a:tc>
                <a:tc>
                  <a:txBody>
                    <a:bodyPr wrap="square"/>
                    <a:lstStyle/>
                    <a:p>
                      <a:pPr algn="r"/>
                      <a:r>
                        <a:rPr sz="1000" b="1">
                          <a:solidFill>
                            <a:srgbClr val="CC0000"/>
                          </a:solidFill>
                          <a:latin typeface="Kanit"/>
                        </a:rPr>
                        <a:t>-37.8%</a:t>
                      </a:r>
                    </a:p>
                  </a:txBody>
                  <a:tcPr marL="54864" marR="54864" marT="18288" marB="18288" anchor="ctr">
                    <a:solidFill>
                      <a:srgbClr val="FFFFFF"/>
                    </a:solidFill>
                  </a:tcPr>
                </a:tc>
                <a:tc>
                  <a:txBody>
                    <a:bodyPr wrap="square"/>
                    <a:lstStyle/>
                    <a:p>
                      <a:pPr algn="r"/>
                      <a:r>
                        <a:rPr sz="1000" b="1">
                          <a:solidFill>
                            <a:srgbClr val="15795F"/>
                          </a:solidFill>
                          <a:latin typeface="Kanit"/>
                        </a:rPr>
                        <a:t>+4.0%</a:t>
                      </a:r>
                    </a:p>
                  </a:txBody>
                  <a:tcPr marL="54864" marR="54864" marT="18288" marB="18288" anchor="ctr">
                    <a:solidFill>
                      <a:srgbClr val="FFFFFF"/>
                    </a:solidFill>
                  </a:tcPr>
                </a:tc>
              </a:tr>
              <a:tr h="254203">
                <a:tc>
                  <a:txBody>
                    <a:bodyPr wrap="square"/>
                    <a:lstStyle/>
                    <a:p>
                      <a:pPr algn="l"/>
                      <a:r>
                        <a:rPr sz="1000" b="1">
                          <a:solidFill>
                            <a:srgbClr val="1E2F5C"/>
                          </a:solidFill>
                          <a:latin typeface="Kanit"/>
                        </a:rPr>
                        <a:t>Sugar ($/kg)</a:t>
                      </a:r>
                    </a:p>
                  </a:txBody>
                  <a:tcPr marL="54864" marR="54864" marT="18288" marB="18288" anchor="ctr">
                    <a:solidFill>
                      <a:srgbClr val="F7F9FC"/>
                    </a:solidFill>
                  </a:tcPr>
                </a:tc>
                <a:tc>
                  <a:txBody>
                    <a:bodyPr wrap="square"/>
                    <a:lstStyle/>
                    <a:p>
                      <a:pPr algn="r"/>
                      <a:r>
                        <a:rPr sz="1000" b="0">
                          <a:solidFill>
                            <a:srgbClr val="1E2F5C"/>
                          </a:solidFill>
                          <a:latin typeface="Kanit"/>
                        </a:rPr>
                        <a:t>10.8%</a:t>
                      </a:r>
                    </a:p>
                  </a:txBody>
                  <a:tcPr marL="54864" marR="54864" marT="18288" marB="18288" anchor="ctr">
                    <a:solidFill>
                      <a:srgbClr val="F7F9FC"/>
                    </a:solidFill>
                  </a:tcPr>
                </a:tc>
                <a:tc>
                  <a:txBody>
                    <a:bodyPr wrap="square"/>
                    <a:lstStyle/>
                    <a:p>
                      <a:pPr algn="r"/>
                      <a:r>
                        <a:rPr sz="1000" b="0">
                          <a:solidFill>
                            <a:srgbClr val="1E2F5C"/>
                          </a:solidFill>
                          <a:latin typeface="Kanit"/>
                        </a:rPr>
                        <a:t>0.58</a:t>
                      </a:r>
                    </a:p>
                  </a:txBody>
                  <a:tcPr marL="54864" marR="54864" marT="18288" marB="18288" anchor="ctr">
                    <a:solidFill>
                      <a:srgbClr val="F7F9FC"/>
                    </a:solidFill>
                  </a:tcPr>
                </a:tc>
                <a:tc>
                  <a:txBody>
                    <a:bodyPr wrap="square"/>
                    <a:lstStyle/>
                    <a:p>
                      <a:pPr algn="r"/>
                      <a:r>
                        <a:rPr sz="1000" b="1">
                          <a:solidFill>
                            <a:srgbClr val="1E2F5C"/>
                          </a:solidFill>
                          <a:latin typeface="Kanit"/>
                        </a:rPr>
                        <a:t>0.32</a:t>
                      </a:r>
                    </a:p>
                  </a:txBody>
                  <a:tcPr marL="54864" marR="54864" marT="18288" marB="18288" anchor="ctr">
                    <a:solidFill>
                      <a:srgbClr val="F7F9FC"/>
                    </a:solidFill>
                  </a:tcPr>
                </a:tc>
                <a:tc>
                  <a:txBody>
                    <a:bodyPr wrap="square"/>
                    <a:lstStyle/>
                    <a:p>
                      <a:pPr algn="r"/>
                      <a:r>
                        <a:rPr sz="1000" b="1">
                          <a:solidFill>
                            <a:srgbClr val="CC0000"/>
                          </a:solidFill>
                          <a:latin typeface="Kanit"/>
                        </a:rPr>
                        <a:t>-44.8%</a:t>
                      </a:r>
                    </a:p>
                  </a:txBody>
                  <a:tcPr marL="54864" marR="54864" marT="18288" marB="18288" anchor="ctr">
                    <a:solidFill>
                      <a:srgbClr val="F7F9FC"/>
                    </a:solidFill>
                  </a:tcPr>
                </a:tc>
                <a:tc>
                  <a:txBody>
                    <a:bodyPr wrap="square"/>
                    <a:lstStyle/>
                    <a:p>
                      <a:pPr algn="r"/>
                      <a:r>
                        <a:rPr sz="1000" b="1">
                          <a:solidFill>
                            <a:srgbClr val="CC0000"/>
                          </a:solidFill>
                          <a:latin typeface="Kanit"/>
                        </a:rPr>
                        <a:t>-17.9%</a:t>
                      </a:r>
                    </a:p>
                  </a:txBody>
                  <a:tcPr marL="54864" marR="54864" marT="18288" marB="18288" anchor="ctr">
                    <a:solidFill>
                      <a:srgbClr val="F7F9FC"/>
                    </a:solidFill>
                  </a:tcPr>
                </a:tc>
              </a:tr>
            </a:tbl>
          </a:graphicData>
        </a:graphic>
      </p:graphicFrame>
      <p:sp>
        <p:nvSpPr>
          <p:cNvPr id="38" name="Rounded Rectangle 37"/>
          <p:cNvSpPr/>
          <p:nvPr/>
        </p:nvSpPr>
        <p:spPr>
          <a:xfrm>
            <a:off x="411480" y="5634532"/>
            <a:ext cx="754177" cy="192024"/>
          </a:xfrm>
          <a:prstGeom prst="roundRect">
            <a:avLst>
              <a:gd name="adj" fmla="val 50000"/>
            </a:avLst>
          </a:prstGeom>
          <a:noFill/>
          <a:ln w="9525">
            <a:solidFill>
              <a:srgbClr val="15795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9" name="TextBox 38"/>
          <p:cNvSpPr txBox="1"/>
          <p:nvPr/>
        </p:nvSpPr>
        <p:spPr>
          <a:xfrm>
            <a:off x="411480" y="5663793"/>
            <a:ext cx="754177" cy="134112"/>
          </a:xfrm>
          <a:prstGeom prst="rect">
            <a:avLst/>
          </a:prstGeom>
          <a:noFill/>
        </p:spPr>
        <p:txBody>
          <a:bodyPr wrap="square" lIns="0" rIns="0" tIns="0" bIns="0" anchor="t">
            <a:noAutofit/>
          </a:bodyPr>
          <a:lstStyle/>
          <a:p>
            <a:pPr algn="ctr">
              <a:lnSpc>
                <a:spcPts val="1056"/>
              </a:lnSpc>
            </a:pPr>
            <a:r>
              <a:rPr sz="800" b="1">
                <a:solidFill>
                  <a:srgbClr val="15795F"/>
                </a:solidFill>
                <a:latin typeface="Kanit"/>
              </a:rPr>
              <a:t>MEASURED</a:t>
            </a:r>
          </a:p>
        </p:txBody>
      </p:sp>
      <p:sp>
        <p:nvSpPr>
          <p:cNvPr id="40" name="TextBox 39"/>
          <p:cNvSpPr txBox="1"/>
          <p:nvPr/>
        </p:nvSpPr>
        <p:spPr>
          <a:xfrm>
            <a:off x="1275385" y="5648248"/>
            <a:ext cx="10502086" cy="308610"/>
          </a:xfrm>
          <a:prstGeom prst="rect">
            <a:avLst/>
          </a:prstGeom>
          <a:noFill/>
        </p:spPr>
        <p:txBody>
          <a:bodyPr wrap="square" lIns="0" rIns="0" tIns="0" bIns="0" anchor="t">
            <a:noAutofit/>
          </a:bodyPr>
          <a:lstStyle/>
          <a:p>
            <a:pPr algn="l">
              <a:lnSpc>
                <a:spcPts val="1215"/>
              </a:lnSpc>
            </a:pPr>
            <a:r>
              <a:rPr sz="900" b="0">
                <a:solidFill>
                  <a:srgbClr val="606060"/>
                </a:solidFill>
                <a:latin typeface="Kanit"/>
              </a:rPr>
              <a:t>World Bank Pink Sheet nominal-USD monthly prices, last 60 observations per series, rebased to 100 at 2021-07 for the chart — the series are quoted in different units and cannot otherwise share an axis. The table is in each series’ own published unit. Nominal, not deflated: five years of Thai CPI sits under every ‘vs 5 yrs ago’ figure.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05 · THE FARM BOOK</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What the farm exposure is: ฿7.17bn on 58,856 accounts.</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Rounded Rectangle 8"/>
          <p:cNvSpPr/>
          <p:nvPr/>
        </p:nvSpPr>
        <p:spPr>
          <a:xfrm>
            <a:off x="411480" y="1152144"/>
            <a:ext cx="2738628" cy="1024128"/>
          </a:xfrm>
          <a:prstGeom prst="roundRect">
            <a:avLst>
              <a:gd name="adj" fmla="val 8035"/>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548640"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Farm accounts</a:t>
            </a:r>
          </a:p>
        </p:txBody>
      </p:sp>
      <p:sp>
        <p:nvSpPr>
          <p:cNvPr id="11" name="TextBox 10"/>
          <p:cNvSpPr txBox="1"/>
          <p:nvPr/>
        </p:nvSpPr>
        <p:spPr>
          <a:xfrm>
            <a:off x="548640" y="1426464"/>
            <a:ext cx="2464308" cy="330200"/>
          </a:xfrm>
          <a:prstGeom prst="rect">
            <a:avLst/>
          </a:prstGeom>
          <a:noFill/>
        </p:spPr>
        <p:txBody>
          <a:bodyPr wrap="square" lIns="0" rIns="0" tIns="0" bIns="0" anchor="t">
            <a:noAutofit/>
          </a:bodyPr>
          <a:lstStyle/>
          <a:p>
            <a:pPr algn="l">
              <a:lnSpc>
                <a:spcPts val="2600"/>
              </a:lnSpc>
            </a:pPr>
            <a:r>
              <a:rPr sz="2100" b="1">
                <a:solidFill>
                  <a:srgbClr val="1E2F5C"/>
                </a:solidFill>
                <a:latin typeface="Kanit"/>
              </a:rPr>
              <a:t>58,856</a:t>
            </a:r>
          </a:p>
        </p:txBody>
      </p:sp>
      <p:sp>
        <p:nvSpPr>
          <p:cNvPr id="12" name="TextBox 11"/>
          <p:cNvSpPr txBox="1"/>
          <p:nvPr/>
        </p:nvSpPr>
        <p:spPr>
          <a:xfrm>
            <a:off x="548640" y="1792224"/>
            <a:ext cx="2464308" cy="310896"/>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฿7.17bn outstanding across 75 provinces</a:t>
            </a:r>
          </a:p>
        </p:txBody>
      </p:sp>
      <p:sp>
        <p:nvSpPr>
          <p:cNvPr id="13" name="Rounded Rectangle 12"/>
          <p:cNvSpPr/>
          <p:nvPr/>
        </p:nvSpPr>
        <p:spPr>
          <a:xfrm>
            <a:off x="3287268" y="1152144"/>
            <a:ext cx="2738628" cy="1024128"/>
          </a:xfrm>
          <a:prstGeom prst="roundRect">
            <a:avLst>
              <a:gd name="adj" fmla="val 8035"/>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3424428"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Already at 90+</a:t>
            </a:r>
          </a:p>
        </p:txBody>
      </p:sp>
      <p:sp>
        <p:nvSpPr>
          <p:cNvPr id="15" name="TextBox 14"/>
          <p:cNvSpPr txBox="1"/>
          <p:nvPr/>
        </p:nvSpPr>
        <p:spPr>
          <a:xfrm>
            <a:off x="3424428" y="1426464"/>
            <a:ext cx="2464308" cy="330200"/>
          </a:xfrm>
          <a:prstGeom prst="rect">
            <a:avLst/>
          </a:prstGeom>
          <a:noFill/>
        </p:spPr>
        <p:txBody>
          <a:bodyPr wrap="square" lIns="0" rIns="0" tIns="0" bIns="0" anchor="t">
            <a:noAutofit/>
          </a:bodyPr>
          <a:lstStyle/>
          <a:p>
            <a:pPr algn="l">
              <a:lnSpc>
                <a:spcPts val="2600"/>
              </a:lnSpc>
            </a:pPr>
            <a:r>
              <a:rPr sz="2100" b="1">
                <a:solidFill>
                  <a:srgbClr val="CC0000"/>
                </a:solidFill>
                <a:latin typeface="Kanit"/>
              </a:rPr>
              <a:t>12.1%</a:t>
            </a:r>
          </a:p>
        </p:txBody>
      </p:sp>
      <p:sp>
        <p:nvSpPr>
          <p:cNvPr id="16" name="TextBox 15"/>
          <p:cNvSpPr txBox="1"/>
          <p:nvPr/>
        </p:nvSpPr>
        <p:spPr>
          <a:xfrm>
            <a:off x="3424428" y="1792224"/>
            <a:ext cx="2464308" cy="310896"/>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7,126 accounts · against 14.87% book-wide</a:t>
            </a:r>
          </a:p>
        </p:txBody>
      </p:sp>
      <p:sp>
        <p:nvSpPr>
          <p:cNvPr id="17" name="Rounded Rectangle 16"/>
          <p:cNvSpPr/>
          <p:nvPr/>
        </p:nvSpPr>
        <p:spPr>
          <a:xfrm>
            <a:off x="6163056" y="1152144"/>
            <a:ext cx="2738628" cy="1024128"/>
          </a:xfrm>
          <a:prstGeom prst="roundRect">
            <a:avLst>
              <a:gd name="adj" fmla="val 8035"/>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6300216"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Current</a:t>
            </a:r>
          </a:p>
        </p:txBody>
      </p:sp>
      <p:sp>
        <p:nvSpPr>
          <p:cNvPr id="19" name="TextBox 18"/>
          <p:cNvSpPr txBox="1"/>
          <p:nvPr/>
        </p:nvSpPr>
        <p:spPr>
          <a:xfrm>
            <a:off x="6300216" y="1426464"/>
            <a:ext cx="2464308" cy="330200"/>
          </a:xfrm>
          <a:prstGeom prst="rect">
            <a:avLst/>
          </a:prstGeom>
          <a:noFill/>
        </p:spPr>
        <p:txBody>
          <a:bodyPr wrap="square" lIns="0" rIns="0" tIns="0" bIns="0" anchor="t">
            <a:noAutofit/>
          </a:bodyPr>
          <a:lstStyle/>
          <a:p>
            <a:pPr algn="l">
              <a:lnSpc>
                <a:spcPts val="2600"/>
              </a:lnSpc>
            </a:pPr>
            <a:r>
              <a:rPr sz="2100" b="1">
                <a:solidFill>
                  <a:srgbClr val="15795F"/>
                </a:solidFill>
                <a:latin typeface="Kanit"/>
              </a:rPr>
              <a:t>53.0%</a:t>
            </a:r>
          </a:p>
        </p:txBody>
      </p:sp>
      <p:sp>
        <p:nvSpPr>
          <p:cNvPr id="20" name="TextBox 19"/>
          <p:cNvSpPr txBox="1"/>
          <p:nvPr/>
        </p:nvSpPr>
        <p:spPr>
          <a:xfrm>
            <a:off x="6300216" y="1792224"/>
            <a:ext cx="2464308" cy="310896"/>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31,175 accounts paying to term</a:t>
            </a:r>
          </a:p>
        </p:txBody>
      </p:sp>
      <p:sp>
        <p:nvSpPr>
          <p:cNvPr id="21" name="Rounded Rectangle 20"/>
          <p:cNvSpPr/>
          <p:nvPr/>
        </p:nvSpPr>
        <p:spPr>
          <a:xfrm>
            <a:off x="9038844" y="1152144"/>
            <a:ext cx="2738628" cy="1024128"/>
          </a:xfrm>
          <a:prstGeom prst="roundRect">
            <a:avLst>
              <a:gd name="adj" fmla="val 8035"/>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9176004"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On a falling crop</a:t>
            </a:r>
          </a:p>
        </p:txBody>
      </p:sp>
      <p:sp>
        <p:nvSpPr>
          <p:cNvPr id="23" name="TextBox 22"/>
          <p:cNvSpPr txBox="1"/>
          <p:nvPr/>
        </p:nvSpPr>
        <p:spPr>
          <a:xfrm>
            <a:off x="9176004" y="1426464"/>
            <a:ext cx="2464308" cy="330200"/>
          </a:xfrm>
          <a:prstGeom prst="rect">
            <a:avLst/>
          </a:prstGeom>
          <a:noFill/>
        </p:spPr>
        <p:txBody>
          <a:bodyPr wrap="square" lIns="0" rIns="0" tIns="0" bIns="0" anchor="t">
            <a:noAutofit/>
          </a:bodyPr>
          <a:lstStyle/>
          <a:p>
            <a:pPr algn="l">
              <a:lnSpc>
                <a:spcPts val="2600"/>
              </a:lnSpc>
            </a:pPr>
            <a:r>
              <a:rPr sz="2100" b="1">
                <a:solidFill>
                  <a:srgbClr val="F5C242"/>
                </a:solidFill>
                <a:latin typeface="Kanit"/>
              </a:rPr>
              <a:t>12.2%</a:t>
            </a:r>
          </a:p>
        </p:txBody>
      </p:sp>
      <p:sp>
        <p:nvSpPr>
          <p:cNvPr id="24" name="TextBox 23"/>
          <p:cNvSpPr txBox="1"/>
          <p:nvPr/>
        </p:nvSpPr>
        <p:spPr>
          <a:xfrm>
            <a:off x="9176004" y="1792224"/>
            <a:ext cx="2464308" cy="310896"/>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of farm outstanding is sugarcane, coconut or pineapple — ฿0.88bn</a:t>
            </a:r>
          </a:p>
        </p:txBody>
      </p:sp>
      <p:sp>
        <p:nvSpPr>
          <p:cNvPr id="25" name="TextBox 24"/>
          <p:cNvSpPr txBox="1"/>
          <p:nvPr/>
        </p:nvSpPr>
        <p:spPr>
          <a:xfrm>
            <a:off x="411480" y="2377440"/>
            <a:ext cx="11365992" cy="167640"/>
          </a:xfrm>
          <a:prstGeom prst="rect">
            <a:avLst/>
          </a:prstGeom>
          <a:noFill/>
        </p:spPr>
        <p:txBody>
          <a:bodyPr wrap="square" lIns="0" rIns="0" tIns="0" bIns="0" anchor="t">
            <a:noAutofit/>
          </a:bodyPr>
          <a:lstStyle/>
          <a:p>
            <a:pPr algn="l">
              <a:lnSpc>
                <a:spcPts val="1320"/>
              </a:lnSpc>
            </a:pPr>
            <a:r>
              <a:rPr sz="1000" b="1">
                <a:solidFill>
                  <a:srgbClr val="1E2F5C"/>
                </a:solidFill>
                <a:latin typeface="Kanit"/>
              </a:rPr>
              <a:t>Arrears ladder — farm accounts</a:t>
            </a:r>
          </a:p>
        </p:txBody>
      </p:sp>
      <p:sp>
        <p:nvSpPr>
          <p:cNvPr id="26" name="Rectangle 25"/>
          <p:cNvSpPr/>
          <p:nvPr/>
        </p:nvSpPr>
        <p:spPr>
          <a:xfrm>
            <a:off x="411480" y="2609088"/>
            <a:ext cx="5969512" cy="274320"/>
          </a:xfrm>
          <a:prstGeom prst="rect">
            <a:avLst/>
          </a:prstGeom>
          <a:solidFill>
            <a:srgbClr val="1579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6412996" y="2609088"/>
            <a:ext cx="2673690" cy="274320"/>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Rectangle 27"/>
          <p:cNvSpPr/>
          <p:nvPr/>
        </p:nvSpPr>
        <p:spPr>
          <a:xfrm>
            <a:off x="9118691" y="2609088"/>
            <a:ext cx="1262262" cy="274320"/>
          </a:xfrm>
          <a:prstGeom prst="rect">
            <a:avLst/>
          </a:prstGeom>
          <a:solidFill>
            <a:srgbClr val="D97A3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9" name="Rectangle 28"/>
          <p:cNvSpPr/>
          <p:nvPr/>
        </p:nvSpPr>
        <p:spPr>
          <a:xfrm>
            <a:off x="10412957" y="2609088"/>
            <a:ext cx="1364514" cy="2743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Rectangle 29"/>
          <p:cNvSpPr/>
          <p:nvPr/>
        </p:nvSpPr>
        <p:spPr>
          <a:xfrm>
            <a:off x="411480" y="3015996"/>
            <a:ext cx="137160" cy="91440"/>
          </a:xfrm>
          <a:prstGeom prst="rect">
            <a:avLst/>
          </a:prstGeom>
          <a:solidFill>
            <a:srgbClr val="1579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1" name="TextBox 30"/>
          <p:cNvSpPr txBox="1"/>
          <p:nvPr/>
        </p:nvSpPr>
        <p:spPr>
          <a:xfrm>
            <a:off x="603504" y="2974848"/>
            <a:ext cx="979318" cy="150876"/>
          </a:xfrm>
          <a:prstGeom prst="rect">
            <a:avLst/>
          </a:prstGeom>
          <a:noFill/>
        </p:spPr>
        <p:txBody>
          <a:bodyPr wrap="square" lIns="0" rIns="0" tIns="0" bIns="0" anchor="t">
            <a:noAutofit/>
          </a:bodyPr>
          <a:lstStyle/>
          <a:p>
            <a:pPr algn="l">
              <a:lnSpc>
                <a:spcPts val="1188"/>
              </a:lnSpc>
            </a:pPr>
            <a:r>
              <a:rPr sz="900" b="0">
                <a:solidFill>
                  <a:srgbClr val="1E2F5C"/>
                </a:solidFill>
                <a:latin typeface="Kanit"/>
              </a:rPr>
              <a:t>Current 53.0%</a:t>
            </a:r>
          </a:p>
        </p:txBody>
      </p:sp>
      <p:sp>
        <p:nvSpPr>
          <p:cNvPr id="32" name="Rectangle 31"/>
          <p:cNvSpPr/>
          <p:nvPr/>
        </p:nvSpPr>
        <p:spPr>
          <a:xfrm>
            <a:off x="1390798" y="3015996"/>
            <a:ext cx="137160" cy="91440"/>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3" name="TextBox 32"/>
          <p:cNvSpPr txBox="1"/>
          <p:nvPr/>
        </p:nvSpPr>
        <p:spPr>
          <a:xfrm>
            <a:off x="1582822" y="2974848"/>
            <a:ext cx="1297364" cy="150876"/>
          </a:xfrm>
          <a:prstGeom prst="rect">
            <a:avLst/>
          </a:prstGeom>
          <a:noFill/>
        </p:spPr>
        <p:txBody>
          <a:bodyPr wrap="square" lIns="0" rIns="0" tIns="0" bIns="0" anchor="t">
            <a:noAutofit/>
          </a:bodyPr>
          <a:lstStyle/>
          <a:p>
            <a:pPr algn="l">
              <a:lnSpc>
                <a:spcPts val="1188"/>
              </a:lnSpc>
            </a:pPr>
            <a:r>
              <a:rPr sz="900" b="0">
                <a:solidFill>
                  <a:srgbClr val="1E2F5C"/>
                </a:solidFill>
                <a:latin typeface="Kanit"/>
              </a:rPr>
              <a:t>Watch, pre-30 23.7%</a:t>
            </a:r>
          </a:p>
        </p:txBody>
      </p:sp>
      <p:sp>
        <p:nvSpPr>
          <p:cNvPr id="34" name="Rectangle 33"/>
          <p:cNvSpPr/>
          <p:nvPr/>
        </p:nvSpPr>
        <p:spPr>
          <a:xfrm>
            <a:off x="2688163" y="3015996"/>
            <a:ext cx="137160" cy="91440"/>
          </a:xfrm>
          <a:prstGeom prst="rect">
            <a:avLst/>
          </a:prstGeom>
          <a:solidFill>
            <a:srgbClr val="D97A3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5" name="TextBox 34"/>
          <p:cNvSpPr txBox="1"/>
          <p:nvPr/>
        </p:nvSpPr>
        <p:spPr>
          <a:xfrm>
            <a:off x="2880187" y="2974848"/>
            <a:ext cx="1247407" cy="150876"/>
          </a:xfrm>
          <a:prstGeom prst="rect">
            <a:avLst/>
          </a:prstGeom>
          <a:noFill/>
        </p:spPr>
        <p:txBody>
          <a:bodyPr wrap="square" lIns="0" rIns="0" tIns="0" bIns="0" anchor="t">
            <a:noAutofit/>
          </a:bodyPr>
          <a:lstStyle/>
          <a:p>
            <a:pPr algn="l">
              <a:lnSpc>
                <a:spcPts val="1188"/>
              </a:lnSpc>
            </a:pPr>
            <a:r>
              <a:rPr sz="900" b="0">
                <a:solidFill>
                  <a:srgbClr val="1E2F5C"/>
                </a:solidFill>
                <a:latin typeface="Kanit"/>
              </a:rPr>
              <a:t>Rolling 30–89 11.2%</a:t>
            </a:r>
          </a:p>
        </p:txBody>
      </p:sp>
      <p:sp>
        <p:nvSpPr>
          <p:cNvPr id="36" name="Rectangle 35"/>
          <p:cNvSpPr/>
          <p:nvPr/>
        </p:nvSpPr>
        <p:spPr>
          <a:xfrm>
            <a:off x="3935571" y="3015996"/>
            <a:ext cx="137160" cy="9144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TextBox 36"/>
          <p:cNvSpPr txBox="1"/>
          <p:nvPr/>
        </p:nvSpPr>
        <p:spPr>
          <a:xfrm>
            <a:off x="4127595" y="2974848"/>
            <a:ext cx="1084589" cy="150876"/>
          </a:xfrm>
          <a:prstGeom prst="rect">
            <a:avLst/>
          </a:prstGeom>
          <a:noFill/>
        </p:spPr>
        <p:txBody>
          <a:bodyPr wrap="square" lIns="0" rIns="0" tIns="0" bIns="0" anchor="t">
            <a:noAutofit/>
          </a:bodyPr>
          <a:lstStyle/>
          <a:p>
            <a:pPr algn="l">
              <a:lnSpc>
                <a:spcPts val="1188"/>
              </a:lnSpc>
            </a:pPr>
            <a:r>
              <a:rPr sz="900" b="0">
                <a:solidFill>
                  <a:srgbClr val="1E2F5C"/>
                </a:solidFill>
                <a:latin typeface="Kanit"/>
              </a:rPr>
              <a:t>At risk 90+ 12.1%</a:t>
            </a:r>
          </a:p>
        </p:txBody>
      </p:sp>
      <p:sp>
        <p:nvSpPr>
          <p:cNvPr id="38" name="TextBox 37"/>
          <p:cNvSpPr txBox="1"/>
          <p:nvPr/>
        </p:nvSpPr>
        <p:spPr>
          <a:xfrm>
            <a:off x="411480" y="3341750"/>
            <a:ext cx="11365992" cy="167640"/>
          </a:xfrm>
          <a:prstGeom prst="rect">
            <a:avLst/>
          </a:prstGeom>
          <a:noFill/>
        </p:spPr>
        <p:txBody>
          <a:bodyPr wrap="square" lIns="0" rIns="0" tIns="0" bIns="0" anchor="t">
            <a:noAutofit/>
          </a:bodyPr>
          <a:lstStyle/>
          <a:p>
            <a:pPr algn="l">
              <a:lnSpc>
                <a:spcPts val="1320"/>
              </a:lnSpc>
            </a:pPr>
            <a:r>
              <a:rPr sz="1000" b="1">
                <a:solidFill>
                  <a:srgbClr val="1E2F5C"/>
                </a:solidFill>
                <a:latin typeface="Kanit"/>
              </a:rPr>
              <a:t>Farm book by crop — share of outstanding</a:t>
            </a:r>
          </a:p>
        </p:txBody>
      </p:sp>
      <p:sp>
        <p:nvSpPr>
          <p:cNvPr id="39" name="Rectangle 38"/>
          <p:cNvSpPr/>
          <p:nvPr/>
        </p:nvSpPr>
        <p:spPr>
          <a:xfrm>
            <a:off x="411480" y="3573399"/>
            <a:ext cx="5430548" cy="274320"/>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0" name="Rectangle 39"/>
          <p:cNvSpPr/>
          <p:nvPr/>
        </p:nvSpPr>
        <p:spPr>
          <a:xfrm>
            <a:off x="5874032" y="3573399"/>
            <a:ext cx="2637056" cy="274320"/>
          </a:xfrm>
          <a:prstGeom prst="rect">
            <a:avLst/>
          </a:prstGeom>
          <a:solidFill>
            <a:srgbClr val="1579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1" name="Rectangle 40"/>
          <p:cNvSpPr/>
          <p:nvPr/>
        </p:nvSpPr>
        <p:spPr>
          <a:xfrm>
            <a:off x="8543092" y="3573399"/>
            <a:ext cx="1206788" cy="2743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2" name="Rectangle 41"/>
          <p:cNvSpPr/>
          <p:nvPr/>
        </p:nvSpPr>
        <p:spPr>
          <a:xfrm>
            <a:off x="9781885" y="3573399"/>
            <a:ext cx="838047" cy="274320"/>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3" name="Rectangle 42"/>
          <p:cNvSpPr/>
          <p:nvPr/>
        </p:nvSpPr>
        <p:spPr>
          <a:xfrm>
            <a:off x="10651937" y="3573399"/>
            <a:ext cx="614568" cy="274320"/>
          </a:xfrm>
          <a:prstGeom prst="rect">
            <a:avLst/>
          </a:prstGeom>
          <a:solidFill>
            <a:srgbClr val="7A4F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4" name="Rectangle 43"/>
          <p:cNvSpPr/>
          <p:nvPr/>
        </p:nvSpPr>
        <p:spPr>
          <a:xfrm>
            <a:off x="11298509" y="3573399"/>
            <a:ext cx="290523" cy="274320"/>
          </a:xfrm>
          <a:prstGeom prst="rect">
            <a:avLst/>
          </a:prstGeom>
          <a:solidFill>
            <a:srgbClr val="1C8C7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5" name="Rectangle 44"/>
          <p:cNvSpPr/>
          <p:nvPr/>
        </p:nvSpPr>
        <p:spPr>
          <a:xfrm>
            <a:off x="11621036" y="3573399"/>
            <a:ext cx="156435" cy="274320"/>
          </a:xfrm>
          <a:prstGeom prst="rect">
            <a:avLst/>
          </a:prstGeom>
          <a:solidFill>
            <a:srgbClr val="8A93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6" name="Rectangle 45"/>
          <p:cNvSpPr/>
          <p:nvPr/>
        </p:nvSpPr>
        <p:spPr>
          <a:xfrm>
            <a:off x="411480" y="3980306"/>
            <a:ext cx="137160" cy="91440"/>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7" name="TextBox 46"/>
          <p:cNvSpPr txBox="1"/>
          <p:nvPr/>
        </p:nvSpPr>
        <p:spPr>
          <a:xfrm>
            <a:off x="603504" y="3939158"/>
            <a:ext cx="815211" cy="150876"/>
          </a:xfrm>
          <a:prstGeom prst="rect">
            <a:avLst/>
          </a:prstGeom>
          <a:noFill/>
        </p:spPr>
        <p:txBody>
          <a:bodyPr wrap="square" lIns="0" rIns="0" tIns="0" bIns="0" anchor="t">
            <a:noAutofit/>
          </a:bodyPr>
          <a:lstStyle/>
          <a:p>
            <a:pPr algn="l">
              <a:lnSpc>
                <a:spcPts val="1188"/>
              </a:lnSpc>
            </a:pPr>
            <a:r>
              <a:rPr sz="900" b="0">
                <a:solidFill>
                  <a:srgbClr val="1E2F5C"/>
                </a:solidFill>
                <a:latin typeface="Kanit"/>
              </a:rPr>
              <a:t>Rice 48.6%</a:t>
            </a:r>
          </a:p>
        </p:txBody>
      </p:sp>
      <p:sp>
        <p:nvSpPr>
          <p:cNvPr id="48" name="Rectangle 47"/>
          <p:cNvSpPr/>
          <p:nvPr/>
        </p:nvSpPr>
        <p:spPr>
          <a:xfrm>
            <a:off x="1226691" y="3980306"/>
            <a:ext cx="137160" cy="91440"/>
          </a:xfrm>
          <a:prstGeom prst="rect">
            <a:avLst/>
          </a:prstGeom>
          <a:solidFill>
            <a:srgbClr val="1579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9" name="TextBox 48"/>
          <p:cNvSpPr txBox="1"/>
          <p:nvPr/>
        </p:nvSpPr>
        <p:spPr>
          <a:xfrm>
            <a:off x="1418715" y="3939158"/>
            <a:ext cx="958383" cy="150876"/>
          </a:xfrm>
          <a:prstGeom prst="rect">
            <a:avLst/>
          </a:prstGeom>
          <a:noFill/>
        </p:spPr>
        <p:txBody>
          <a:bodyPr wrap="square" lIns="0" rIns="0" tIns="0" bIns="0" anchor="t">
            <a:noAutofit/>
          </a:bodyPr>
          <a:lstStyle/>
          <a:p>
            <a:pPr algn="l">
              <a:lnSpc>
                <a:spcPts val="1188"/>
              </a:lnSpc>
            </a:pPr>
            <a:r>
              <a:rPr sz="900" b="0">
                <a:solidFill>
                  <a:srgbClr val="1E2F5C"/>
                </a:solidFill>
                <a:latin typeface="Kanit"/>
              </a:rPr>
              <a:t>Rubber 23.6%</a:t>
            </a:r>
          </a:p>
        </p:txBody>
      </p:sp>
      <p:sp>
        <p:nvSpPr>
          <p:cNvPr id="50" name="Rectangle 49"/>
          <p:cNvSpPr/>
          <p:nvPr/>
        </p:nvSpPr>
        <p:spPr>
          <a:xfrm>
            <a:off x="2185074" y="3980306"/>
            <a:ext cx="137160" cy="9144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1" name="TextBox 50"/>
          <p:cNvSpPr txBox="1"/>
          <p:nvPr/>
        </p:nvSpPr>
        <p:spPr>
          <a:xfrm>
            <a:off x="2377098" y="3939158"/>
            <a:ext cx="1114355" cy="150876"/>
          </a:xfrm>
          <a:prstGeom prst="rect">
            <a:avLst/>
          </a:prstGeom>
          <a:noFill/>
        </p:spPr>
        <p:txBody>
          <a:bodyPr wrap="square" lIns="0" rIns="0" tIns="0" bIns="0" anchor="t">
            <a:noAutofit/>
          </a:bodyPr>
          <a:lstStyle/>
          <a:p>
            <a:pPr algn="l">
              <a:lnSpc>
                <a:spcPts val="1188"/>
              </a:lnSpc>
            </a:pPr>
            <a:r>
              <a:rPr sz="900" b="0">
                <a:solidFill>
                  <a:srgbClr val="1E2F5C"/>
                </a:solidFill>
                <a:latin typeface="Kanit"/>
              </a:rPr>
              <a:t>Sugarcane 10.8%</a:t>
            </a:r>
          </a:p>
        </p:txBody>
      </p:sp>
      <p:sp>
        <p:nvSpPr>
          <p:cNvPr id="52" name="Rectangle 51"/>
          <p:cNvSpPr/>
          <p:nvPr/>
        </p:nvSpPr>
        <p:spPr>
          <a:xfrm>
            <a:off x="3299430" y="3980306"/>
            <a:ext cx="137160" cy="91440"/>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3" name="TextBox 52"/>
          <p:cNvSpPr txBox="1"/>
          <p:nvPr/>
        </p:nvSpPr>
        <p:spPr>
          <a:xfrm>
            <a:off x="3491454" y="3939158"/>
            <a:ext cx="946378" cy="150876"/>
          </a:xfrm>
          <a:prstGeom prst="rect">
            <a:avLst/>
          </a:prstGeom>
          <a:noFill/>
        </p:spPr>
        <p:txBody>
          <a:bodyPr wrap="square" lIns="0" rIns="0" tIns="0" bIns="0" anchor="t">
            <a:noAutofit/>
          </a:bodyPr>
          <a:lstStyle/>
          <a:p>
            <a:pPr algn="l">
              <a:lnSpc>
                <a:spcPts val="1188"/>
              </a:lnSpc>
            </a:pPr>
            <a:r>
              <a:rPr sz="900" b="0">
                <a:solidFill>
                  <a:srgbClr val="1E2F5C"/>
                </a:solidFill>
                <a:latin typeface="Kanit"/>
              </a:rPr>
              <a:t>Oil palm 7.5%</a:t>
            </a:r>
          </a:p>
        </p:txBody>
      </p:sp>
      <p:sp>
        <p:nvSpPr>
          <p:cNvPr id="54" name="Rectangle 53"/>
          <p:cNvSpPr/>
          <p:nvPr/>
        </p:nvSpPr>
        <p:spPr>
          <a:xfrm>
            <a:off x="4245808" y="3980306"/>
            <a:ext cx="137160" cy="91440"/>
          </a:xfrm>
          <a:prstGeom prst="rect">
            <a:avLst/>
          </a:prstGeom>
          <a:solidFill>
            <a:srgbClr val="7A4F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5" name="TextBox 54"/>
          <p:cNvSpPr txBox="1"/>
          <p:nvPr/>
        </p:nvSpPr>
        <p:spPr>
          <a:xfrm>
            <a:off x="4437832" y="3939158"/>
            <a:ext cx="934868" cy="150876"/>
          </a:xfrm>
          <a:prstGeom prst="rect">
            <a:avLst/>
          </a:prstGeom>
          <a:noFill/>
        </p:spPr>
        <p:txBody>
          <a:bodyPr wrap="square" lIns="0" rIns="0" tIns="0" bIns="0" anchor="t">
            <a:noAutofit/>
          </a:bodyPr>
          <a:lstStyle/>
          <a:p>
            <a:pPr algn="l">
              <a:lnSpc>
                <a:spcPts val="1188"/>
              </a:lnSpc>
            </a:pPr>
            <a:r>
              <a:rPr sz="900" b="0">
                <a:solidFill>
                  <a:srgbClr val="1E2F5C"/>
                </a:solidFill>
                <a:latin typeface="Kanit"/>
              </a:rPr>
              <a:t>Cassava 5.5%</a:t>
            </a:r>
          </a:p>
        </p:txBody>
      </p:sp>
      <p:sp>
        <p:nvSpPr>
          <p:cNvPr id="56" name="Rectangle 55"/>
          <p:cNvSpPr/>
          <p:nvPr/>
        </p:nvSpPr>
        <p:spPr>
          <a:xfrm>
            <a:off x="5180677" y="3980306"/>
            <a:ext cx="137160" cy="91440"/>
          </a:xfrm>
          <a:prstGeom prst="rect">
            <a:avLst/>
          </a:prstGeom>
          <a:solidFill>
            <a:srgbClr val="1C8C7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7" name="TextBox 56"/>
          <p:cNvSpPr txBox="1"/>
          <p:nvPr/>
        </p:nvSpPr>
        <p:spPr>
          <a:xfrm>
            <a:off x="5372701" y="3939158"/>
            <a:ext cx="824190" cy="150876"/>
          </a:xfrm>
          <a:prstGeom prst="rect">
            <a:avLst/>
          </a:prstGeom>
          <a:noFill/>
        </p:spPr>
        <p:txBody>
          <a:bodyPr wrap="square" lIns="0" rIns="0" tIns="0" bIns="0" anchor="t">
            <a:noAutofit/>
          </a:bodyPr>
          <a:lstStyle/>
          <a:p>
            <a:pPr algn="l">
              <a:lnSpc>
                <a:spcPts val="1188"/>
              </a:lnSpc>
            </a:pPr>
            <a:r>
              <a:rPr sz="900" b="0">
                <a:solidFill>
                  <a:srgbClr val="1E2F5C"/>
                </a:solidFill>
                <a:latin typeface="Kanit"/>
              </a:rPr>
              <a:t>Maize 2.6%</a:t>
            </a:r>
          </a:p>
        </p:txBody>
      </p:sp>
      <p:sp>
        <p:nvSpPr>
          <p:cNvPr id="58" name="Rectangle 57"/>
          <p:cNvSpPr/>
          <p:nvPr/>
        </p:nvSpPr>
        <p:spPr>
          <a:xfrm>
            <a:off x="6004867" y="3980306"/>
            <a:ext cx="137160" cy="91440"/>
          </a:xfrm>
          <a:prstGeom prst="rect">
            <a:avLst/>
          </a:prstGeom>
          <a:solidFill>
            <a:srgbClr val="8A93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9" name="TextBox 58"/>
          <p:cNvSpPr txBox="1"/>
          <p:nvPr/>
        </p:nvSpPr>
        <p:spPr>
          <a:xfrm>
            <a:off x="6196891" y="3939158"/>
            <a:ext cx="1549479" cy="150876"/>
          </a:xfrm>
          <a:prstGeom prst="rect">
            <a:avLst/>
          </a:prstGeom>
          <a:noFill/>
        </p:spPr>
        <p:txBody>
          <a:bodyPr wrap="square" lIns="0" rIns="0" tIns="0" bIns="0" anchor="t">
            <a:noAutofit/>
          </a:bodyPr>
          <a:lstStyle/>
          <a:p>
            <a:pPr algn="l">
              <a:lnSpc>
                <a:spcPts val="1188"/>
              </a:lnSpc>
            </a:pPr>
            <a:r>
              <a:rPr sz="900" b="0">
                <a:solidFill>
                  <a:srgbClr val="1E2F5C"/>
                </a:solidFill>
                <a:latin typeface="Kanit"/>
              </a:rPr>
              <a:t>Coconut + pineapple 1.4%</a:t>
            </a:r>
          </a:p>
        </p:txBody>
      </p:sp>
      <p:graphicFrame>
        <p:nvGraphicFramePr>
          <p:cNvPr id="60" name="Table 59"/>
          <p:cNvGraphicFramePr>
            <a:graphicFrameLocks noGrp="1"/>
          </p:cNvGraphicFramePr>
          <p:nvPr/>
        </p:nvGraphicFramePr>
        <p:xfrm>
          <a:off x="411480" y="4287774"/>
          <a:ext cx="11365992" cy="1799538"/>
        </p:xfrm>
        <a:graphic>
          <a:graphicData uri="http://schemas.openxmlformats.org/drawingml/2006/table">
            <a:tbl>
              <a:tblPr>
                <a:tableStyleId>{5C22544A-7EE6-4342-B048-85BDC9FD1C3A}</a:tableStyleId>
              </a:tblPr>
              <a:tblGrid>
                <a:gridCol w="1737360"/>
                <a:gridCol w="1188720"/>
                <a:gridCol w="1097280"/>
                <a:gridCol w="1005840"/>
                <a:gridCol w="822960"/>
                <a:gridCol w="1005840"/>
                <a:gridCol w="2743200"/>
                <a:gridCol w="1764792"/>
              </a:tblGrid>
              <a:tr h="329184">
                <a:tc>
                  <a:txBody>
                    <a:bodyPr wrap="square"/>
                    <a:lstStyle/>
                    <a:p>
                      <a:pPr algn="l"/>
                      <a:r>
                        <a:rPr sz="1050" b="1">
                          <a:solidFill>
                            <a:srgbClr val="FFFFFF"/>
                          </a:solidFill>
                          <a:latin typeface="Kanit"/>
                        </a:rPr>
                        <a:t>Largest farm books</a:t>
                      </a:r>
                    </a:p>
                  </a:txBody>
                  <a:tcPr marL="54864" marR="54864" marT="18288" marB="18288" anchor="ctr">
                    <a:solidFill>
                      <a:srgbClr val="1B2A6B"/>
                    </a:solidFill>
                  </a:tcPr>
                </a:tc>
                <a:tc>
                  <a:txBody>
                    <a:bodyPr wrap="square"/>
                    <a:lstStyle/>
                    <a:p>
                      <a:pPr algn="l"/>
                      <a:r>
                        <a:rPr sz="1050" b="1">
                          <a:solidFill>
                            <a:srgbClr val="FFFFFF"/>
                          </a:solidFill>
                          <a:latin typeface="Kanit"/>
                        </a:rPr>
                        <a:t>region</a:t>
                      </a:r>
                    </a:p>
                  </a:txBody>
                  <a:tcPr marL="54864" marR="54864" marT="18288" marB="18288" anchor="ctr">
                    <a:solidFill>
                      <a:srgbClr val="1B2A6B"/>
                    </a:solidFill>
                  </a:tcPr>
                </a:tc>
                <a:tc>
                  <a:txBody>
                    <a:bodyPr wrap="square"/>
                    <a:lstStyle/>
                    <a:p>
                      <a:pPr algn="r"/>
                      <a:r>
                        <a:rPr sz="1050" b="1">
                          <a:solidFill>
                            <a:srgbClr val="FFFFFF"/>
                          </a:solidFill>
                          <a:latin typeface="Kanit"/>
                        </a:rPr>
                        <a:t>accounts</a:t>
                      </a:r>
                    </a:p>
                  </a:txBody>
                  <a:tcPr marL="54864" marR="54864" marT="18288" marB="18288" anchor="ctr">
                    <a:solidFill>
                      <a:srgbClr val="1B2A6B"/>
                    </a:solidFill>
                  </a:tcPr>
                </a:tc>
                <a:tc>
                  <a:txBody>
                    <a:bodyPr wrap="square"/>
                    <a:lstStyle/>
                    <a:p>
                      <a:pPr algn="r"/>
                      <a:r>
                        <a:rPr sz="1050" b="1">
                          <a:solidFill>
                            <a:srgbClr val="FFFFFF"/>
                          </a:solidFill>
                          <a:latin typeface="Kanit"/>
                        </a:rPr>
                        <a:t>฿m out</a:t>
                      </a:r>
                    </a:p>
                  </a:txBody>
                  <a:tcPr marL="54864" marR="54864" marT="18288" marB="18288" anchor="ctr">
                    <a:solidFill>
                      <a:srgbClr val="1B2A6B"/>
                    </a:solidFill>
                  </a:tcPr>
                </a:tc>
                <a:tc>
                  <a:txBody>
                    <a:bodyPr wrap="square"/>
                    <a:lstStyle/>
                    <a:p>
                      <a:pPr algn="r"/>
                      <a:r>
                        <a:rPr sz="1050" b="1">
                          <a:solidFill>
                            <a:srgbClr val="FFFFFF"/>
                          </a:solidFill>
                          <a:latin typeface="Kanit"/>
                        </a:rPr>
                        <a:t>90+</a:t>
                      </a:r>
                    </a:p>
                  </a:txBody>
                  <a:tcPr marL="54864" marR="54864" marT="18288" marB="18288" anchor="ctr">
                    <a:solidFill>
                      <a:srgbClr val="1B2A6B"/>
                    </a:solidFill>
                  </a:tcPr>
                </a:tc>
                <a:tc>
                  <a:txBody>
                    <a:bodyPr wrap="square"/>
                    <a:lstStyle/>
                    <a:p>
                      <a:pPr algn="r"/>
                      <a:r>
                        <a:rPr sz="1050" b="1">
                          <a:solidFill>
                            <a:srgbClr val="FFFFFF"/>
                          </a:solidFill>
                          <a:latin typeface="Kanit"/>
                        </a:rPr>
                        <a:t>farm mix</a:t>
                      </a:r>
                    </a:p>
                  </a:txBody>
                  <a:tcPr marL="54864" marR="54864" marT="18288" marB="18288" anchor="ctr">
                    <a:solidFill>
                      <a:srgbClr val="1B2A6B"/>
                    </a:solidFill>
                  </a:tcPr>
                </a:tc>
                <a:tc>
                  <a:txBody>
                    <a:bodyPr wrap="square"/>
                    <a:lstStyle/>
                    <a:p>
                      <a:pPr algn="l"/>
                      <a:r>
                        <a:rPr sz="1050" b="1">
                          <a:solidFill>
                            <a:srgbClr val="FFFFFF"/>
                          </a:solidFill>
                          <a:latin typeface="Kanit"/>
                        </a:rPr>
                        <a:t>lead crop, share and farm-gate YoY</a:t>
                      </a:r>
                    </a:p>
                  </a:txBody>
                  <a:tcPr marL="54864" marR="54864" marT="18288" marB="18288" anchor="ctr">
                    <a:solidFill>
                      <a:srgbClr val="1B2A6B"/>
                    </a:solidFill>
                  </a:tcPr>
                </a:tc>
                <a:tc>
                  <a:txBody>
                    <a:bodyPr wrap="square"/>
                    <a:lstStyle/>
                    <a:p>
                      <a:pPr algn="l"/>
                      <a:r>
                        <a:rPr sz="1050" b="1">
                          <a:solidFill>
                            <a:srgbClr val="FFFFFF"/>
                          </a:solidFill>
                          <a:latin typeface="Kanit"/>
                        </a:rPr>
                        <a:t>the drag</a:t>
                      </a:r>
                    </a:p>
                  </a:txBody>
                  <a:tcPr marL="54864" marR="54864" marT="18288" marB="18288" anchor="ctr">
                    <a:solidFill>
                      <a:srgbClr val="1B2A6B"/>
                    </a:solidFill>
                  </a:tcPr>
                </a:tc>
              </a:tr>
              <a:tr h="245059">
                <a:tc>
                  <a:txBody>
                    <a:bodyPr wrap="square"/>
                    <a:lstStyle/>
                    <a:p>
                      <a:pPr algn="l"/>
                      <a:r>
                        <a:rPr sz="950" b="1">
                          <a:solidFill>
                            <a:srgbClr val="1E2F5C"/>
                          </a:solidFill>
                          <a:latin typeface="Kanit"/>
                        </a:rPr>
                        <a:t>สุราษฎร์ธานี</a:t>
                      </a:r>
                    </a:p>
                  </a:txBody>
                  <a:tcPr marL="54864" marR="54864" marT="18288" marB="18288" anchor="ctr">
                    <a:solidFill>
                      <a:srgbClr val="FFFFFF"/>
                    </a:solidFill>
                  </a:tcPr>
                </a:tc>
                <a:tc>
                  <a:txBody>
                    <a:bodyPr wrap="square"/>
                    <a:lstStyle/>
                    <a:p>
                      <a:pPr algn="l"/>
                      <a:r>
                        <a:rPr sz="950" b="0">
                          <a:solidFill>
                            <a:srgbClr val="606060"/>
                          </a:solidFill>
                          <a:latin typeface="Kanit"/>
                        </a:rPr>
                        <a:t>South</a:t>
                      </a:r>
                    </a:p>
                  </a:txBody>
                  <a:tcPr marL="54864" marR="54864" marT="18288" marB="18288" anchor="ctr">
                    <a:solidFill>
                      <a:srgbClr val="FFFFFF"/>
                    </a:solidFill>
                  </a:tcPr>
                </a:tc>
                <a:tc>
                  <a:txBody>
                    <a:bodyPr wrap="square"/>
                    <a:lstStyle/>
                    <a:p>
                      <a:pPr algn="r"/>
                      <a:r>
                        <a:rPr sz="950" b="0">
                          <a:solidFill>
                            <a:srgbClr val="1E2F5C"/>
                          </a:solidFill>
                          <a:latin typeface="Kanit"/>
                        </a:rPr>
                        <a:t>2,764</a:t>
                      </a:r>
                    </a:p>
                  </a:txBody>
                  <a:tcPr marL="54864" marR="54864" marT="18288" marB="18288" anchor="ctr">
                    <a:solidFill>
                      <a:srgbClr val="FFFFFF"/>
                    </a:solidFill>
                  </a:tcPr>
                </a:tc>
                <a:tc>
                  <a:txBody>
                    <a:bodyPr wrap="square"/>
                    <a:lstStyle/>
                    <a:p>
                      <a:pPr algn="r"/>
                      <a:r>
                        <a:rPr sz="950" b="1">
                          <a:solidFill>
                            <a:srgbClr val="1E2F5C"/>
                          </a:solidFill>
                          <a:latin typeface="Kanit"/>
                        </a:rPr>
                        <a:t>402</a:t>
                      </a:r>
                    </a:p>
                  </a:txBody>
                  <a:tcPr marL="54864" marR="54864" marT="18288" marB="18288" anchor="ctr">
                    <a:solidFill>
                      <a:srgbClr val="FFFFFF"/>
                    </a:solidFill>
                  </a:tcPr>
                </a:tc>
                <a:tc>
                  <a:txBody>
                    <a:bodyPr wrap="square"/>
                    <a:lstStyle/>
                    <a:p>
                      <a:pPr algn="r"/>
                      <a:r>
                        <a:rPr sz="950" b="1">
                          <a:solidFill>
                            <a:srgbClr val="1E2F5C"/>
                          </a:solidFill>
                          <a:latin typeface="Kanit"/>
                        </a:rPr>
                        <a:t>9.8%</a:t>
                      </a:r>
                    </a:p>
                  </a:txBody>
                  <a:tcPr marL="54864" marR="54864" marT="18288" marB="18288" anchor="ctr">
                    <a:solidFill>
                      <a:srgbClr val="FFFFFF"/>
                    </a:solidFill>
                  </a:tcPr>
                </a:tc>
                <a:tc>
                  <a:txBody>
                    <a:bodyPr wrap="square"/>
                    <a:lstStyle/>
                    <a:p>
                      <a:pPr algn="r"/>
                      <a:r>
                        <a:rPr sz="950" b="0">
                          <a:solidFill>
                            <a:srgbClr val="1E2F5C"/>
                          </a:solidFill>
                          <a:latin typeface="Kanit"/>
                        </a:rPr>
                        <a:t>35%</a:t>
                      </a:r>
                    </a:p>
                  </a:txBody>
                  <a:tcPr marL="54864" marR="54864" marT="18288" marB="18288" anchor="ctr">
                    <a:solidFill>
                      <a:srgbClr val="FFFFFF"/>
                    </a:solidFill>
                  </a:tcPr>
                </a:tc>
                <a:tc>
                  <a:txBody>
                    <a:bodyPr wrap="square"/>
                    <a:lstStyle/>
                    <a:p>
                      <a:pPr algn="l"/>
                      <a:r>
                        <a:rPr sz="950" b="0">
                          <a:solidFill>
                            <a:srgbClr val="15795F"/>
                          </a:solidFill>
                          <a:latin typeface="Kanit"/>
                        </a:rPr>
                        <a:t>rubber 60% (+38%)</a:t>
                      </a:r>
                    </a:p>
                  </a:txBody>
                  <a:tcPr marL="54864" marR="54864" marT="18288" marB="18288" anchor="ctr">
                    <a:solidFill>
                      <a:srgbClr val="FFFFFF"/>
                    </a:solidFill>
                  </a:tcPr>
                </a:tc>
                <a:tc>
                  <a:txBody>
                    <a:bodyPr wrap="square"/>
                    <a:lstStyle/>
                    <a:p>
                      <a:pPr algn="l"/>
                      <a:r>
                        <a:rPr sz="950" b="0">
                          <a:solidFill>
                            <a:srgbClr val="CC0000"/>
                          </a:solidFill>
                          <a:latin typeface="Kanit"/>
                        </a:rPr>
                        <a:t>coconut (-71%)</a:t>
                      </a:r>
                    </a:p>
                  </a:txBody>
                  <a:tcPr marL="54864" marR="54864" marT="18288" marB="18288" anchor="ctr">
                    <a:solidFill>
                      <a:srgbClr val="FFFFFF"/>
                    </a:solidFill>
                  </a:tcPr>
                </a:tc>
              </a:tr>
              <a:tr h="245059">
                <a:tc>
                  <a:txBody>
                    <a:bodyPr wrap="square"/>
                    <a:lstStyle/>
                    <a:p>
                      <a:pPr algn="l"/>
                      <a:r>
                        <a:rPr sz="950" b="1">
                          <a:solidFill>
                            <a:srgbClr val="1E2F5C"/>
                          </a:solidFill>
                          <a:latin typeface="Kanit"/>
                        </a:rPr>
                        <a:t>นครราชสีมา</a:t>
                      </a:r>
                    </a:p>
                  </a:txBody>
                  <a:tcPr marL="54864" marR="54864" marT="18288" marB="18288" anchor="ctr">
                    <a:solidFill>
                      <a:srgbClr val="F7F9FC"/>
                    </a:solidFill>
                  </a:tcPr>
                </a:tc>
                <a:tc>
                  <a:txBody>
                    <a:bodyPr wrap="square"/>
                    <a:lstStyle/>
                    <a:p>
                      <a:pPr algn="l"/>
                      <a:r>
                        <a:rPr sz="950" b="0">
                          <a:solidFill>
                            <a:srgbClr val="606060"/>
                          </a:solidFill>
                          <a:latin typeface="Kanit"/>
                        </a:rPr>
                        <a:t>Isan</a:t>
                      </a:r>
                    </a:p>
                  </a:txBody>
                  <a:tcPr marL="54864" marR="54864" marT="18288" marB="18288" anchor="ctr">
                    <a:solidFill>
                      <a:srgbClr val="F7F9FC"/>
                    </a:solidFill>
                  </a:tcPr>
                </a:tc>
                <a:tc>
                  <a:txBody>
                    <a:bodyPr wrap="square"/>
                    <a:lstStyle/>
                    <a:p>
                      <a:pPr algn="r"/>
                      <a:r>
                        <a:rPr sz="950" b="0">
                          <a:solidFill>
                            <a:srgbClr val="1E2F5C"/>
                          </a:solidFill>
                          <a:latin typeface="Kanit"/>
                        </a:rPr>
                        <a:t>2,536</a:t>
                      </a:r>
                    </a:p>
                  </a:txBody>
                  <a:tcPr marL="54864" marR="54864" marT="18288" marB="18288" anchor="ctr">
                    <a:solidFill>
                      <a:srgbClr val="F7F9FC"/>
                    </a:solidFill>
                  </a:tcPr>
                </a:tc>
                <a:tc>
                  <a:txBody>
                    <a:bodyPr wrap="square"/>
                    <a:lstStyle/>
                    <a:p>
                      <a:pPr algn="r"/>
                      <a:r>
                        <a:rPr sz="950" b="1">
                          <a:solidFill>
                            <a:srgbClr val="1E2F5C"/>
                          </a:solidFill>
                          <a:latin typeface="Kanit"/>
                        </a:rPr>
                        <a:t>295</a:t>
                      </a:r>
                    </a:p>
                  </a:txBody>
                  <a:tcPr marL="54864" marR="54864" marT="18288" marB="18288" anchor="ctr">
                    <a:solidFill>
                      <a:srgbClr val="F7F9FC"/>
                    </a:solidFill>
                  </a:tcPr>
                </a:tc>
                <a:tc>
                  <a:txBody>
                    <a:bodyPr wrap="square"/>
                    <a:lstStyle/>
                    <a:p>
                      <a:pPr algn="r"/>
                      <a:r>
                        <a:rPr sz="950" b="1">
                          <a:solidFill>
                            <a:srgbClr val="1E2F5C"/>
                          </a:solidFill>
                          <a:latin typeface="Kanit"/>
                        </a:rPr>
                        <a:t>11.2%</a:t>
                      </a:r>
                    </a:p>
                  </a:txBody>
                  <a:tcPr marL="54864" marR="54864" marT="18288" marB="18288" anchor="ctr">
                    <a:solidFill>
                      <a:srgbClr val="F7F9FC"/>
                    </a:solidFill>
                  </a:tcPr>
                </a:tc>
                <a:tc>
                  <a:txBody>
                    <a:bodyPr wrap="square"/>
                    <a:lstStyle/>
                    <a:p>
                      <a:pPr algn="r"/>
                      <a:r>
                        <a:rPr sz="950" b="0">
                          <a:solidFill>
                            <a:srgbClr val="1E2F5C"/>
                          </a:solidFill>
                          <a:latin typeface="Kanit"/>
                        </a:rPr>
                        <a:t>15%</a:t>
                      </a:r>
                    </a:p>
                  </a:txBody>
                  <a:tcPr marL="54864" marR="54864" marT="18288" marB="18288" anchor="ctr">
                    <a:solidFill>
                      <a:srgbClr val="F7F9FC"/>
                    </a:solidFill>
                  </a:tcPr>
                </a:tc>
                <a:tc>
                  <a:txBody>
                    <a:bodyPr wrap="square"/>
                    <a:lstStyle/>
                    <a:p>
                      <a:pPr algn="l"/>
                      <a:r>
                        <a:rPr sz="950" b="0">
                          <a:solidFill>
                            <a:srgbClr val="15795F"/>
                          </a:solidFill>
                          <a:latin typeface="Kanit"/>
                        </a:rPr>
                        <a:t>rice 67% (+12%)</a:t>
                      </a:r>
                    </a:p>
                  </a:txBody>
                  <a:tcPr marL="54864" marR="54864" marT="18288" marB="18288" anchor="ctr">
                    <a:solidFill>
                      <a:srgbClr val="F7F9FC"/>
                    </a:solidFill>
                  </a:tcPr>
                </a:tc>
                <a:tc>
                  <a:txBody>
                    <a:bodyPr wrap="square"/>
                    <a:lstStyle/>
                    <a:p>
                      <a:pPr algn="l"/>
                      <a:r>
                        <a:rPr sz="950" b="0">
                          <a:solidFill>
                            <a:srgbClr val="CC0000"/>
                          </a:solidFill>
                          <a:latin typeface="Kanit"/>
                        </a:rPr>
                        <a:t>sugarcane (-18%)</a:t>
                      </a:r>
                    </a:p>
                  </a:txBody>
                  <a:tcPr marL="54864" marR="54864" marT="18288" marB="18288" anchor="ctr">
                    <a:solidFill>
                      <a:srgbClr val="F7F9FC"/>
                    </a:solidFill>
                  </a:tcPr>
                </a:tc>
              </a:tr>
              <a:tr h="245059">
                <a:tc>
                  <a:txBody>
                    <a:bodyPr wrap="square"/>
                    <a:lstStyle/>
                    <a:p>
                      <a:pPr algn="l"/>
                      <a:r>
                        <a:rPr sz="950" b="1">
                          <a:solidFill>
                            <a:srgbClr val="1E2F5C"/>
                          </a:solidFill>
                          <a:latin typeface="Kanit"/>
                        </a:rPr>
                        <a:t>อุบลราชธานี</a:t>
                      </a:r>
                    </a:p>
                  </a:txBody>
                  <a:tcPr marL="54864" marR="54864" marT="18288" marB="18288" anchor="ctr">
                    <a:solidFill>
                      <a:srgbClr val="FFFFFF"/>
                    </a:solidFill>
                  </a:tcPr>
                </a:tc>
                <a:tc>
                  <a:txBody>
                    <a:bodyPr wrap="square"/>
                    <a:lstStyle/>
                    <a:p>
                      <a:pPr algn="l"/>
                      <a:r>
                        <a:rPr sz="950" b="0">
                          <a:solidFill>
                            <a:srgbClr val="606060"/>
                          </a:solidFill>
                          <a:latin typeface="Kanit"/>
                        </a:rPr>
                        <a:t>Isan</a:t>
                      </a:r>
                    </a:p>
                  </a:txBody>
                  <a:tcPr marL="54864" marR="54864" marT="18288" marB="18288" anchor="ctr">
                    <a:solidFill>
                      <a:srgbClr val="FFFFFF"/>
                    </a:solidFill>
                  </a:tcPr>
                </a:tc>
                <a:tc>
                  <a:txBody>
                    <a:bodyPr wrap="square"/>
                    <a:lstStyle/>
                    <a:p>
                      <a:pPr algn="r"/>
                      <a:r>
                        <a:rPr sz="950" b="0">
                          <a:solidFill>
                            <a:srgbClr val="1E2F5C"/>
                          </a:solidFill>
                          <a:latin typeface="Kanit"/>
                        </a:rPr>
                        <a:t>2,450</a:t>
                      </a:r>
                    </a:p>
                  </a:txBody>
                  <a:tcPr marL="54864" marR="54864" marT="18288" marB="18288" anchor="ctr">
                    <a:solidFill>
                      <a:srgbClr val="FFFFFF"/>
                    </a:solidFill>
                  </a:tcPr>
                </a:tc>
                <a:tc>
                  <a:txBody>
                    <a:bodyPr wrap="square"/>
                    <a:lstStyle/>
                    <a:p>
                      <a:pPr algn="r"/>
                      <a:r>
                        <a:rPr sz="950" b="1">
                          <a:solidFill>
                            <a:srgbClr val="1E2F5C"/>
                          </a:solidFill>
                          <a:latin typeface="Kanit"/>
                        </a:rPr>
                        <a:t>284</a:t>
                      </a:r>
                    </a:p>
                  </a:txBody>
                  <a:tcPr marL="54864" marR="54864" marT="18288" marB="18288" anchor="ctr">
                    <a:solidFill>
                      <a:srgbClr val="FFFFFF"/>
                    </a:solidFill>
                  </a:tcPr>
                </a:tc>
                <a:tc>
                  <a:txBody>
                    <a:bodyPr wrap="square"/>
                    <a:lstStyle/>
                    <a:p>
                      <a:pPr algn="r"/>
                      <a:r>
                        <a:rPr sz="950" b="1">
                          <a:solidFill>
                            <a:srgbClr val="1E2F5C"/>
                          </a:solidFill>
                          <a:latin typeface="Kanit"/>
                        </a:rPr>
                        <a:t>9.8%</a:t>
                      </a:r>
                    </a:p>
                  </a:txBody>
                  <a:tcPr marL="54864" marR="54864" marT="18288" marB="18288" anchor="ctr">
                    <a:solidFill>
                      <a:srgbClr val="FFFFFF"/>
                    </a:solidFill>
                  </a:tcPr>
                </a:tc>
                <a:tc>
                  <a:txBody>
                    <a:bodyPr wrap="square"/>
                    <a:lstStyle/>
                    <a:p>
                      <a:pPr algn="r"/>
                      <a:r>
                        <a:rPr sz="950" b="0">
                          <a:solidFill>
                            <a:srgbClr val="1E2F5C"/>
                          </a:solidFill>
                          <a:latin typeface="Kanit"/>
                        </a:rPr>
                        <a:t>19%</a:t>
                      </a:r>
                    </a:p>
                  </a:txBody>
                  <a:tcPr marL="54864" marR="54864" marT="18288" marB="18288" anchor="ctr">
                    <a:solidFill>
                      <a:srgbClr val="FFFFFF"/>
                    </a:solidFill>
                  </a:tcPr>
                </a:tc>
                <a:tc>
                  <a:txBody>
                    <a:bodyPr wrap="square"/>
                    <a:lstStyle/>
                    <a:p>
                      <a:pPr algn="l"/>
                      <a:r>
                        <a:rPr sz="950" b="0">
                          <a:solidFill>
                            <a:srgbClr val="15795F"/>
                          </a:solidFill>
                          <a:latin typeface="Kanit"/>
                        </a:rPr>
                        <a:t>rice 79% (+12%)</a:t>
                      </a:r>
                    </a:p>
                  </a:txBody>
                  <a:tcPr marL="54864" marR="54864" marT="18288" marB="18288" anchor="ctr">
                    <a:solidFill>
                      <a:srgbClr val="FFFFFF"/>
                    </a:solidFill>
                  </a:tcPr>
                </a:tc>
                <a:tc>
                  <a:txBody>
                    <a:bodyPr wrap="square"/>
                    <a:lstStyle/>
                    <a:p>
                      <a:pPr algn="l"/>
                      <a:r>
                        <a:rPr sz="950" b="0">
                          <a:solidFill>
                            <a:srgbClr val="CC0000"/>
                          </a:solidFill>
                          <a:latin typeface="Kanit"/>
                        </a:rPr>
                        <a:t>coconut (-71%)</a:t>
                      </a:r>
                    </a:p>
                  </a:txBody>
                  <a:tcPr marL="54864" marR="54864" marT="18288" marB="18288" anchor="ctr">
                    <a:solidFill>
                      <a:srgbClr val="FFFFFF"/>
                    </a:solidFill>
                  </a:tcPr>
                </a:tc>
              </a:tr>
              <a:tr h="245059">
                <a:tc>
                  <a:txBody>
                    <a:bodyPr wrap="square"/>
                    <a:lstStyle/>
                    <a:p>
                      <a:pPr algn="l"/>
                      <a:r>
                        <a:rPr sz="950" b="1">
                          <a:solidFill>
                            <a:srgbClr val="1E2F5C"/>
                          </a:solidFill>
                          <a:latin typeface="Kanit"/>
                        </a:rPr>
                        <a:t>อุดรธานี</a:t>
                      </a:r>
                    </a:p>
                  </a:txBody>
                  <a:tcPr marL="54864" marR="54864" marT="18288" marB="18288" anchor="ctr">
                    <a:solidFill>
                      <a:srgbClr val="F7F9FC"/>
                    </a:solidFill>
                  </a:tcPr>
                </a:tc>
                <a:tc>
                  <a:txBody>
                    <a:bodyPr wrap="square"/>
                    <a:lstStyle/>
                    <a:p>
                      <a:pPr algn="l"/>
                      <a:r>
                        <a:rPr sz="950" b="0">
                          <a:solidFill>
                            <a:srgbClr val="606060"/>
                          </a:solidFill>
                          <a:latin typeface="Kanit"/>
                        </a:rPr>
                        <a:t>Isan</a:t>
                      </a:r>
                    </a:p>
                  </a:txBody>
                  <a:tcPr marL="54864" marR="54864" marT="18288" marB="18288" anchor="ctr">
                    <a:solidFill>
                      <a:srgbClr val="F7F9FC"/>
                    </a:solidFill>
                  </a:tcPr>
                </a:tc>
                <a:tc>
                  <a:txBody>
                    <a:bodyPr wrap="square"/>
                    <a:lstStyle/>
                    <a:p>
                      <a:pPr algn="r"/>
                      <a:r>
                        <a:rPr sz="950" b="0">
                          <a:solidFill>
                            <a:srgbClr val="1E2F5C"/>
                          </a:solidFill>
                          <a:latin typeface="Kanit"/>
                        </a:rPr>
                        <a:t>1,620</a:t>
                      </a:r>
                    </a:p>
                  </a:txBody>
                  <a:tcPr marL="54864" marR="54864" marT="18288" marB="18288" anchor="ctr">
                    <a:solidFill>
                      <a:srgbClr val="F7F9FC"/>
                    </a:solidFill>
                  </a:tcPr>
                </a:tc>
                <a:tc>
                  <a:txBody>
                    <a:bodyPr wrap="square"/>
                    <a:lstStyle/>
                    <a:p>
                      <a:pPr algn="r"/>
                      <a:r>
                        <a:rPr sz="950" b="1">
                          <a:solidFill>
                            <a:srgbClr val="1E2F5C"/>
                          </a:solidFill>
                          <a:latin typeface="Kanit"/>
                        </a:rPr>
                        <a:t>276</a:t>
                      </a:r>
                    </a:p>
                  </a:txBody>
                  <a:tcPr marL="54864" marR="54864" marT="18288" marB="18288" anchor="ctr">
                    <a:solidFill>
                      <a:srgbClr val="F7F9FC"/>
                    </a:solidFill>
                  </a:tcPr>
                </a:tc>
                <a:tc>
                  <a:txBody>
                    <a:bodyPr wrap="square"/>
                    <a:lstStyle/>
                    <a:p>
                      <a:pPr algn="r"/>
                      <a:r>
                        <a:rPr sz="950" b="1">
                          <a:solidFill>
                            <a:srgbClr val="CC0000"/>
                          </a:solidFill>
                          <a:latin typeface="Kanit"/>
                        </a:rPr>
                        <a:t>15.7%</a:t>
                      </a:r>
                    </a:p>
                  </a:txBody>
                  <a:tcPr marL="54864" marR="54864" marT="18288" marB="18288" anchor="ctr">
                    <a:solidFill>
                      <a:srgbClr val="F7F9FC"/>
                    </a:solidFill>
                  </a:tcPr>
                </a:tc>
                <a:tc>
                  <a:txBody>
                    <a:bodyPr wrap="square"/>
                    <a:lstStyle/>
                    <a:p>
                      <a:pPr algn="r"/>
                      <a:r>
                        <a:rPr sz="950" b="0">
                          <a:solidFill>
                            <a:srgbClr val="1E2F5C"/>
                          </a:solidFill>
                          <a:latin typeface="Kanit"/>
                        </a:rPr>
                        <a:t>12%</a:t>
                      </a:r>
                    </a:p>
                  </a:txBody>
                  <a:tcPr marL="54864" marR="54864" marT="18288" marB="18288" anchor="ctr">
                    <a:solidFill>
                      <a:srgbClr val="F7F9FC"/>
                    </a:solidFill>
                  </a:tcPr>
                </a:tc>
                <a:tc>
                  <a:txBody>
                    <a:bodyPr wrap="square"/>
                    <a:lstStyle/>
                    <a:p>
                      <a:pPr algn="l"/>
                      <a:r>
                        <a:rPr sz="950" b="0">
                          <a:solidFill>
                            <a:srgbClr val="15795F"/>
                          </a:solidFill>
                          <a:latin typeface="Kanit"/>
                        </a:rPr>
                        <a:t>rice 57% (+12%)</a:t>
                      </a:r>
                    </a:p>
                  </a:txBody>
                  <a:tcPr marL="54864" marR="54864" marT="18288" marB="18288" anchor="ctr">
                    <a:solidFill>
                      <a:srgbClr val="F7F9FC"/>
                    </a:solidFill>
                  </a:tcPr>
                </a:tc>
                <a:tc>
                  <a:txBody>
                    <a:bodyPr wrap="square"/>
                    <a:lstStyle/>
                    <a:p>
                      <a:pPr algn="l"/>
                      <a:r>
                        <a:rPr sz="950" b="0">
                          <a:solidFill>
                            <a:srgbClr val="CC0000"/>
                          </a:solidFill>
                          <a:latin typeface="Kanit"/>
                        </a:rPr>
                        <a:t>sugarcane (-18%)</a:t>
                      </a:r>
                    </a:p>
                  </a:txBody>
                  <a:tcPr marL="54864" marR="54864" marT="18288" marB="18288" anchor="ctr">
                    <a:solidFill>
                      <a:srgbClr val="F7F9FC"/>
                    </a:solidFill>
                  </a:tcPr>
                </a:tc>
              </a:tr>
              <a:tr h="245059">
                <a:tc>
                  <a:txBody>
                    <a:bodyPr wrap="square"/>
                    <a:lstStyle/>
                    <a:p>
                      <a:pPr algn="l"/>
                      <a:r>
                        <a:rPr sz="950" b="1">
                          <a:solidFill>
                            <a:srgbClr val="1E2F5C"/>
                          </a:solidFill>
                          <a:latin typeface="Kanit"/>
                        </a:rPr>
                        <a:t>มหาสารคาม</a:t>
                      </a:r>
                    </a:p>
                  </a:txBody>
                  <a:tcPr marL="54864" marR="54864" marT="18288" marB="18288" anchor="ctr">
                    <a:solidFill>
                      <a:srgbClr val="FFFFFF"/>
                    </a:solidFill>
                  </a:tcPr>
                </a:tc>
                <a:tc>
                  <a:txBody>
                    <a:bodyPr wrap="square"/>
                    <a:lstStyle/>
                    <a:p>
                      <a:pPr algn="l"/>
                      <a:r>
                        <a:rPr sz="950" b="0">
                          <a:solidFill>
                            <a:srgbClr val="606060"/>
                          </a:solidFill>
                          <a:latin typeface="Kanit"/>
                        </a:rPr>
                        <a:t>Isan</a:t>
                      </a:r>
                    </a:p>
                  </a:txBody>
                  <a:tcPr marL="54864" marR="54864" marT="18288" marB="18288" anchor="ctr">
                    <a:solidFill>
                      <a:srgbClr val="FFFFFF"/>
                    </a:solidFill>
                  </a:tcPr>
                </a:tc>
                <a:tc>
                  <a:txBody>
                    <a:bodyPr wrap="square"/>
                    <a:lstStyle/>
                    <a:p>
                      <a:pPr algn="r"/>
                      <a:r>
                        <a:rPr sz="950" b="0">
                          <a:solidFill>
                            <a:srgbClr val="1E2F5C"/>
                          </a:solidFill>
                          <a:latin typeface="Kanit"/>
                        </a:rPr>
                        <a:t>1,877</a:t>
                      </a:r>
                    </a:p>
                  </a:txBody>
                  <a:tcPr marL="54864" marR="54864" marT="18288" marB="18288" anchor="ctr">
                    <a:solidFill>
                      <a:srgbClr val="FFFFFF"/>
                    </a:solidFill>
                  </a:tcPr>
                </a:tc>
                <a:tc>
                  <a:txBody>
                    <a:bodyPr wrap="square"/>
                    <a:lstStyle/>
                    <a:p>
                      <a:pPr algn="r"/>
                      <a:r>
                        <a:rPr sz="950" b="1">
                          <a:solidFill>
                            <a:srgbClr val="1E2F5C"/>
                          </a:solidFill>
                          <a:latin typeface="Kanit"/>
                        </a:rPr>
                        <a:t>266</a:t>
                      </a:r>
                    </a:p>
                  </a:txBody>
                  <a:tcPr marL="54864" marR="54864" marT="18288" marB="18288" anchor="ctr">
                    <a:solidFill>
                      <a:srgbClr val="FFFFFF"/>
                    </a:solidFill>
                  </a:tcPr>
                </a:tc>
                <a:tc>
                  <a:txBody>
                    <a:bodyPr wrap="square"/>
                    <a:lstStyle/>
                    <a:p>
                      <a:pPr algn="r"/>
                      <a:r>
                        <a:rPr sz="950" b="1">
                          <a:solidFill>
                            <a:srgbClr val="CC0000"/>
                          </a:solidFill>
                          <a:latin typeface="Kanit"/>
                        </a:rPr>
                        <a:t>16.4%</a:t>
                      </a:r>
                    </a:p>
                  </a:txBody>
                  <a:tcPr marL="54864" marR="54864" marT="18288" marB="18288" anchor="ctr">
                    <a:solidFill>
                      <a:srgbClr val="FFFFFF"/>
                    </a:solidFill>
                  </a:tcPr>
                </a:tc>
                <a:tc>
                  <a:txBody>
                    <a:bodyPr wrap="square"/>
                    <a:lstStyle/>
                    <a:p>
                      <a:pPr algn="r"/>
                      <a:r>
                        <a:rPr sz="950" b="0">
                          <a:solidFill>
                            <a:srgbClr val="1E2F5C"/>
                          </a:solidFill>
                          <a:latin typeface="Kanit"/>
                        </a:rPr>
                        <a:t>12%</a:t>
                      </a:r>
                    </a:p>
                  </a:txBody>
                  <a:tcPr marL="54864" marR="54864" marT="18288" marB="18288" anchor="ctr">
                    <a:solidFill>
                      <a:srgbClr val="FFFFFF"/>
                    </a:solidFill>
                  </a:tcPr>
                </a:tc>
                <a:tc>
                  <a:txBody>
                    <a:bodyPr wrap="square"/>
                    <a:lstStyle/>
                    <a:p>
                      <a:pPr algn="l"/>
                      <a:r>
                        <a:rPr sz="950" b="0">
                          <a:solidFill>
                            <a:srgbClr val="15795F"/>
                          </a:solidFill>
                          <a:latin typeface="Kanit"/>
                        </a:rPr>
                        <a:t>rice 91% (+12%)</a:t>
                      </a:r>
                    </a:p>
                  </a:txBody>
                  <a:tcPr marL="54864" marR="54864" marT="18288" marB="18288" anchor="ctr">
                    <a:solidFill>
                      <a:srgbClr val="FFFFFF"/>
                    </a:solidFill>
                  </a:tcPr>
                </a:tc>
                <a:tc>
                  <a:txBody>
                    <a:bodyPr wrap="square"/>
                    <a:lstStyle/>
                    <a:p>
                      <a:pPr algn="l"/>
                      <a:r>
                        <a:rPr sz="950" b="0">
                          <a:solidFill>
                            <a:srgbClr val="CC0000"/>
                          </a:solidFill>
                          <a:latin typeface="Kanit"/>
                        </a:rPr>
                        <a:t>sugarcane (-18%)</a:t>
                      </a:r>
                    </a:p>
                  </a:txBody>
                  <a:tcPr marL="54864" marR="54864" marT="18288" marB="18288" anchor="ctr">
                    <a:solidFill>
                      <a:srgbClr val="FFFFFF"/>
                    </a:solidFill>
                  </a:tcPr>
                </a:tc>
              </a:tr>
              <a:tr h="245059">
                <a:tc>
                  <a:txBody>
                    <a:bodyPr wrap="square"/>
                    <a:lstStyle/>
                    <a:p>
                      <a:pPr algn="l"/>
                      <a:r>
                        <a:rPr sz="950" b="1">
                          <a:solidFill>
                            <a:srgbClr val="1E2F5C"/>
                          </a:solidFill>
                          <a:latin typeface="Kanit"/>
                        </a:rPr>
                        <a:t>บุรีรัมย์</a:t>
                      </a:r>
                    </a:p>
                  </a:txBody>
                  <a:tcPr marL="54864" marR="54864" marT="18288" marB="18288" anchor="ctr">
                    <a:solidFill>
                      <a:srgbClr val="F7F9FC"/>
                    </a:solidFill>
                  </a:tcPr>
                </a:tc>
                <a:tc>
                  <a:txBody>
                    <a:bodyPr wrap="square"/>
                    <a:lstStyle/>
                    <a:p>
                      <a:pPr algn="l"/>
                      <a:r>
                        <a:rPr sz="950" b="0">
                          <a:solidFill>
                            <a:srgbClr val="606060"/>
                          </a:solidFill>
                          <a:latin typeface="Kanit"/>
                        </a:rPr>
                        <a:t>Isan</a:t>
                      </a:r>
                    </a:p>
                  </a:txBody>
                  <a:tcPr marL="54864" marR="54864" marT="18288" marB="18288" anchor="ctr">
                    <a:solidFill>
                      <a:srgbClr val="F7F9FC"/>
                    </a:solidFill>
                  </a:tcPr>
                </a:tc>
                <a:tc>
                  <a:txBody>
                    <a:bodyPr wrap="square"/>
                    <a:lstStyle/>
                    <a:p>
                      <a:pPr algn="r"/>
                      <a:r>
                        <a:rPr sz="950" b="0">
                          <a:solidFill>
                            <a:srgbClr val="1E2F5C"/>
                          </a:solidFill>
                          <a:latin typeface="Kanit"/>
                        </a:rPr>
                        <a:t>2,229</a:t>
                      </a:r>
                    </a:p>
                  </a:txBody>
                  <a:tcPr marL="54864" marR="54864" marT="18288" marB="18288" anchor="ctr">
                    <a:solidFill>
                      <a:srgbClr val="F7F9FC"/>
                    </a:solidFill>
                  </a:tcPr>
                </a:tc>
                <a:tc>
                  <a:txBody>
                    <a:bodyPr wrap="square"/>
                    <a:lstStyle/>
                    <a:p>
                      <a:pPr algn="r"/>
                      <a:r>
                        <a:rPr sz="950" b="1">
                          <a:solidFill>
                            <a:srgbClr val="1E2F5C"/>
                          </a:solidFill>
                          <a:latin typeface="Kanit"/>
                        </a:rPr>
                        <a:t>259</a:t>
                      </a:r>
                    </a:p>
                  </a:txBody>
                  <a:tcPr marL="54864" marR="54864" marT="18288" marB="18288" anchor="ctr">
                    <a:solidFill>
                      <a:srgbClr val="F7F9FC"/>
                    </a:solidFill>
                  </a:tcPr>
                </a:tc>
                <a:tc>
                  <a:txBody>
                    <a:bodyPr wrap="square"/>
                    <a:lstStyle/>
                    <a:p>
                      <a:pPr algn="r"/>
                      <a:r>
                        <a:rPr sz="950" b="1">
                          <a:solidFill>
                            <a:srgbClr val="1E2F5C"/>
                          </a:solidFill>
                          <a:latin typeface="Kanit"/>
                        </a:rPr>
                        <a:t>8.1%</a:t>
                      </a:r>
                    </a:p>
                  </a:txBody>
                  <a:tcPr marL="54864" marR="54864" marT="18288" marB="18288" anchor="ctr">
                    <a:solidFill>
                      <a:srgbClr val="F7F9FC"/>
                    </a:solidFill>
                  </a:tcPr>
                </a:tc>
                <a:tc>
                  <a:txBody>
                    <a:bodyPr wrap="square"/>
                    <a:lstStyle/>
                    <a:p>
                      <a:pPr algn="r"/>
                      <a:r>
                        <a:rPr sz="950" b="0">
                          <a:solidFill>
                            <a:srgbClr val="1E2F5C"/>
                          </a:solidFill>
                          <a:latin typeface="Kanit"/>
                        </a:rPr>
                        <a:t>15%</a:t>
                      </a:r>
                    </a:p>
                  </a:txBody>
                  <a:tcPr marL="54864" marR="54864" marT="18288" marB="18288" anchor="ctr">
                    <a:solidFill>
                      <a:srgbClr val="F7F9FC"/>
                    </a:solidFill>
                  </a:tcPr>
                </a:tc>
                <a:tc>
                  <a:txBody>
                    <a:bodyPr wrap="square"/>
                    <a:lstStyle/>
                    <a:p>
                      <a:pPr algn="l"/>
                      <a:r>
                        <a:rPr sz="950" b="0">
                          <a:solidFill>
                            <a:srgbClr val="15795F"/>
                          </a:solidFill>
                          <a:latin typeface="Kanit"/>
                        </a:rPr>
                        <a:t>rice 82% (+12%)</a:t>
                      </a:r>
                    </a:p>
                  </a:txBody>
                  <a:tcPr marL="54864" marR="54864" marT="18288" marB="18288" anchor="ctr">
                    <a:solidFill>
                      <a:srgbClr val="F7F9FC"/>
                    </a:solidFill>
                  </a:tcPr>
                </a:tc>
                <a:tc>
                  <a:txBody>
                    <a:bodyPr wrap="square"/>
                    <a:lstStyle/>
                    <a:p>
                      <a:pPr algn="l"/>
                      <a:r>
                        <a:rPr sz="950" b="0">
                          <a:solidFill>
                            <a:srgbClr val="CC0000"/>
                          </a:solidFill>
                          <a:latin typeface="Kanit"/>
                        </a:rPr>
                        <a:t>sugarcane (-18%)</a:t>
                      </a:r>
                    </a:p>
                  </a:txBody>
                  <a:tcPr marL="54864" marR="54864" marT="18288" marB="18288" anchor="ctr">
                    <a:solidFill>
                      <a:srgbClr val="F7F9FC"/>
                    </a:solidFill>
                  </a:tcPr>
                </a:tc>
              </a:tr>
            </a:tbl>
          </a:graphicData>
        </a:graphic>
      </p:graphicFrame>
      <p:sp>
        <p:nvSpPr>
          <p:cNvPr id="61" name="Rounded Rectangle 60"/>
          <p:cNvSpPr/>
          <p:nvPr/>
        </p:nvSpPr>
        <p:spPr>
          <a:xfrm>
            <a:off x="411480" y="6215329"/>
            <a:ext cx="535747" cy="192024"/>
          </a:xfrm>
          <a:prstGeom prst="roundRect">
            <a:avLst>
              <a:gd name="adj" fmla="val 50000"/>
            </a:avLst>
          </a:prstGeom>
          <a:noFill/>
          <a:ln w="9525">
            <a:solidFill>
              <a:srgbClr val="1E2F5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2" name="TextBox 61"/>
          <p:cNvSpPr txBox="1"/>
          <p:nvPr/>
        </p:nvSpPr>
        <p:spPr>
          <a:xfrm>
            <a:off x="411480" y="6244590"/>
            <a:ext cx="535747" cy="134112"/>
          </a:xfrm>
          <a:prstGeom prst="rect">
            <a:avLst/>
          </a:prstGeom>
          <a:noFill/>
        </p:spPr>
        <p:txBody>
          <a:bodyPr wrap="square" lIns="0" rIns="0" tIns="0" bIns="0" anchor="t">
            <a:noAutofit/>
          </a:bodyPr>
          <a:lstStyle/>
          <a:p>
            <a:pPr algn="ctr">
              <a:lnSpc>
                <a:spcPts val="1056"/>
              </a:lnSpc>
            </a:pPr>
            <a:r>
              <a:rPr sz="800" b="1">
                <a:solidFill>
                  <a:srgbClr val="1E2F5C"/>
                </a:solidFill>
                <a:latin typeface="Kanit"/>
              </a:rPr>
              <a:t>MIXED</a:t>
            </a:r>
          </a:p>
        </p:txBody>
      </p:sp>
      <p:sp>
        <p:nvSpPr>
          <p:cNvPr id="63" name="TextBox 62"/>
          <p:cNvSpPr txBox="1"/>
          <p:nvPr/>
        </p:nvSpPr>
        <p:spPr>
          <a:xfrm>
            <a:off x="1056955" y="6229045"/>
            <a:ext cx="10720516" cy="308610"/>
          </a:xfrm>
          <a:prstGeom prst="rect">
            <a:avLst/>
          </a:prstGeom>
          <a:noFill/>
        </p:spPr>
        <p:txBody>
          <a:bodyPr wrap="square" lIns="0" rIns="0" tIns="0" bIns="0" anchor="t">
            <a:noAutofit/>
          </a:bodyPr>
          <a:lstStyle/>
          <a:p>
            <a:pPr algn="l">
              <a:lnSpc>
                <a:spcPts val="1215"/>
              </a:lnSpc>
            </a:pPr>
            <a:r>
              <a:rPr sz="900" b="0">
                <a:solidFill>
                  <a:srgbClr val="606060"/>
                </a:solidFill>
                <a:latin typeface="Kanit"/>
              </a:rPr>
              <a:t>Accounts, outstanding and arrears buckets MEASURED from the real loan tape (≥30-account cell floor); farm-gate YoY MEASURED. The crop split is ESTIMATED — province farm outstanding allocated on MEASURED planted-area mix. Six of 75 provinces shown.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06 · MARGIN, NOT PRICE</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Price is the headline. Cost decides whether they pay us.</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graphicFrame>
        <p:nvGraphicFramePr>
          <p:cNvPr id="9" name="Table 8"/>
          <p:cNvGraphicFramePr>
            <a:graphicFrameLocks noGrp="1"/>
          </p:cNvGraphicFramePr>
          <p:nvPr/>
        </p:nvGraphicFramePr>
        <p:xfrm>
          <a:off x="411480" y="1152144"/>
          <a:ext cx="11365991" cy="2487168"/>
        </p:xfrm>
        <a:graphic>
          <a:graphicData uri="http://schemas.openxmlformats.org/drawingml/2006/table">
            <a:tbl>
              <a:tblPr>
                <a:tableStyleId>{5C22544A-7EE6-4342-B048-85BDC9FD1C3A}</a:tableStyleId>
              </a:tblPr>
              <a:tblGrid>
                <a:gridCol w="1845759"/>
                <a:gridCol w="1554324"/>
                <a:gridCol w="1651469"/>
                <a:gridCol w="1457178"/>
                <a:gridCol w="1457178"/>
                <a:gridCol w="2040050"/>
                <a:gridCol w="1360033"/>
              </a:tblGrid>
              <a:tr h="329184">
                <a:tc>
                  <a:txBody>
                    <a:bodyPr wrap="square"/>
                    <a:lstStyle/>
                    <a:p>
                      <a:pPr algn="l"/>
                      <a:r>
                        <a:rPr sz="1050" b="1">
                          <a:solidFill>
                            <a:srgbClr val="FFFFFF"/>
                          </a:solidFill>
                          <a:latin typeface="Kanit"/>
                        </a:rPr>
                        <a:t>Crop</a:t>
                      </a:r>
                    </a:p>
                  </a:txBody>
                  <a:tcPr marL="54864" marR="54864" marT="18288" marB="18288" anchor="ctr">
                    <a:solidFill>
                      <a:srgbClr val="1B2A6B"/>
                    </a:solidFill>
                  </a:tcPr>
                </a:tc>
                <a:tc>
                  <a:txBody>
                    <a:bodyPr wrap="square"/>
                    <a:lstStyle/>
                    <a:p>
                      <a:pPr algn="r"/>
                      <a:r>
                        <a:rPr sz="1050" b="1">
                          <a:solidFill>
                            <a:srgbClr val="FFFFFF"/>
                          </a:solidFill>
                          <a:latin typeface="Kanit"/>
                        </a:rPr>
                        <a:t>of farm book</a:t>
                      </a:r>
                    </a:p>
                  </a:txBody>
                  <a:tcPr marL="54864" marR="54864" marT="18288" marB="18288" anchor="ctr">
                    <a:solidFill>
                      <a:srgbClr val="1B2A6B"/>
                    </a:solidFill>
                  </a:tcPr>
                </a:tc>
                <a:tc>
                  <a:txBody>
                    <a:bodyPr wrap="square"/>
                    <a:lstStyle/>
                    <a:p>
                      <a:pPr algn="r"/>
                      <a:r>
                        <a:rPr sz="1050" b="1">
                          <a:solidFill>
                            <a:srgbClr val="FFFFFF"/>
                          </a:solidFill>
                          <a:latin typeface="Kanit"/>
                        </a:rPr>
                        <a:t>Farm-gate YoY</a:t>
                      </a:r>
                    </a:p>
                  </a:txBody>
                  <a:tcPr marL="54864" marR="54864" marT="18288" marB="18288" anchor="ctr">
                    <a:solidFill>
                      <a:srgbClr val="1B2A6B"/>
                    </a:solidFill>
                  </a:tcPr>
                </a:tc>
                <a:tc>
                  <a:txBody>
                    <a:bodyPr wrap="square"/>
                    <a:lstStyle/>
                    <a:p>
                      <a:pPr algn="r"/>
                      <a:r>
                        <a:rPr sz="1050" b="1">
                          <a:solidFill>
                            <a:srgbClr val="FFFFFF"/>
                          </a:solidFill>
                          <a:latin typeface="Kanit"/>
                        </a:rPr>
                        <a:t>Price ฿/kg</a:t>
                      </a:r>
                    </a:p>
                  </a:txBody>
                  <a:tcPr marL="54864" marR="54864" marT="18288" marB="18288" anchor="ctr">
                    <a:solidFill>
                      <a:srgbClr val="1B2A6B"/>
                    </a:solidFill>
                  </a:tcPr>
                </a:tc>
                <a:tc>
                  <a:txBody>
                    <a:bodyPr wrap="square"/>
                    <a:lstStyle/>
                    <a:p>
                      <a:pPr algn="r"/>
                      <a:r>
                        <a:rPr sz="1050" b="1">
                          <a:solidFill>
                            <a:srgbClr val="FFFFFF"/>
                          </a:solidFill>
                          <a:latin typeface="Kanit"/>
                        </a:rPr>
                        <a:t>Cost ฿/kg</a:t>
                      </a:r>
                    </a:p>
                  </a:txBody>
                  <a:tcPr marL="54864" marR="54864" marT="18288" marB="18288" anchor="ctr">
                    <a:solidFill>
                      <a:srgbClr val="1B2A6B"/>
                    </a:solidFill>
                  </a:tcPr>
                </a:tc>
                <a:tc>
                  <a:txBody>
                    <a:bodyPr wrap="square"/>
                    <a:lstStyle/>
                    <a:p>
                      <a:pPr algn="r"/>
                      <a:r>
                        <a:rPr sz="1050" b="1">
                          <a:solidFill>
                            <a:srgbClr val="FFFFFF"/>
                          </a:solidFill>
                          <a:latin typeface="Kanit"/>
                        </a:rPr>
                        <a:t>Margin ฿/rai</a:t>
                      </a:r>
                    </a:p>
                  </a:txBody>
                  <a:tcPr marL="54864" marR="54864" marT="18288" marB="18288" anchor="ctr">
                    <a:solidFill>
                      <a:srgbClr val="1B2A6B"/>
                    </a:solidFill>
                  </a:tcPr>
                </a:tc>
                <a:tc>
                  <a:txBody>
                    <a:bodyPr wrap="square"/>
                    <a:lstStyle/>
                    <a:p>
                      <a:pPr algn="r"/>
                      <a:r>
                        <a:rPr sz="1050" b="1">
                          <a:solidFill>
                            <a:srgbClr val="FFFFFF"/>
                          </a:solidFill>
                          <a:latin typeface="Kanit"/>
                        </a:rPr>
                        <a:t>Margin %</a:t>
                      </a:r>
                    </a:p>
                  </a:txBody>
                  <a:tcPr marL="54864" marR="54864" marT="18288" marB="18288" anchor="ctr">
                    <a:solidFill>
                      <a:srgbClr val="1B2A6B"/>
                    </a:solidFill>
                  </a:tcPr>
                </a:tc>
              </a:tr>
              <a:tr h="269748">
                <a:tc>
                  <a:txBody>
                    <a:bodyPr wrap="square"/>
                    <a:lstStyle/>
                    <a:p>
                      <a:pPr algn="l"/>
                      <a:r>
                        <a:rPr sz="1000" b="1">
                          <a:solidFill>
                            <a:srgbClr val="1E2F5C"/>
                          </a:solidFill>
                          <a:latin typeface="Kanit"/>
                        </a:rPr>
                        <a:t>Rice</a:t>
                      </a:r>
                    </a:p>
                  </a:txBody>
                  <a:tcPr marL="54864" marR="54864" marT="18288" marB="18288" anchor="ctr">
                    <a:solidFill>
                      <a:srgbClr val="FFFFFF"/>
                    </a:solidFill>
                  </a:tcPr>
                </a:tc>
                <a:tc>
                  <a:txBody>
                    <a:bodyPr wrap="square"/>
                    <a:lstStyle/>
                    <a:p>
                      <a:pPr algn="r"/>
                      <a:r>
                        <a:rPr sz="1000" b="0">
                          <a:solidFill>
                            <a:srgbClr val="1E2F5C"/>
                          </a:solidFill>
                          <a:latin typeface="Kanit"/>
                        </a:rPr>
                        <a:t>48.6%</a:t>
                      </a:r>
                    </a:p>
                  </a:txBody>
                  <a:tcPr marL="54864" marR="54864" marT="18288" marB="18288" anchor="ctr">
                    <a:solidFill>
                      <a:srgbClr val="FFFFFF"/>
                    </a:solidFill>
                  </a:tcPr>
                </a:tc>
                <a:tc>
                  <a:txBody>
                    <a:bodyPr wrap="square"/>
                    <a:lstStyle/>
                    <a:p>
                      <a:pPr algn="r"/>
                      <a:r>
                        <a:rPr sz="1000" b="1">
                          <a:solidFill>
                            <a:srgbClr val="15795F"/>
                          </a:solidFill>
                          <a:latin typeface="Kanit"/>
                        </a:rPr>
                        <a:t>+12.4%</a:t>
                      </a:r>
                    </a:p>
                  </a:txBody>
                  <a:tcPr marL="54864" marR="54864" marT="18288" marB="18288" anchor="ctr">
                    <a:solidFill>
                      <a:srgbClr val="FFFFFF"/>
                    </a:solidFill>
                  </a:tcPr>
                </a:tc>
                <a:tc>
                  <a:txBody>
                    <a:bodyPr wrap="square"/>
                    <a:lstStyle/>
                    <a:p>
                      <a:pPr algn="r"/>
                      <a:r>
                        <a:rPr sz="1000" b="0">
                          <a:solidFill>
                            <a:srgbClr val="1E2F5C"/>
                          </a:solidFill>
                          <a:latin typeface="Kanit"/>
                        </a:rPr>
                        <a:t>17.74</a:t>
                      </a:r>
                    </a:p>
                  </a:txBody>
                  <a:tcPr marL="54864" marR="54864" marT="18288" marB="18288" anchor="ctr">
                    <a:solidFill>
                      <a:srgbClr val="FFFFFF"/>
                    </a:solidFill>
                  </a:tcPr>
                </a:tc>
                <a:tc>
                  <a:txBody>
                    <a:bodyPr wrap="square"/>
                    <a:lstStyle/>
                    <a:p>
                      <a:pPr algn="r"/>
                      <a:r>
                        <a:rPr sz="1000" b="0">
                          <a:solidFill>
                            <a:srgbClr val="1E2F5C"/>
                          </a:solidFill>
                          <a:latin typeface="Kanit"/>
                        </a:rPr>
                        <a:t>8.68</a:t>
                      </a:r>
                    </a:p>
                  </a:txBody>
                  <a:tcPr marL="54864" marR="54864" marT="18288" marB="18288" anchor="ctr">
                    <a:solidFill>
                      <a:srgbClr val="FFFFFF"/>
                    </a:solidFill>
                  </a:tcPr>
                </a:tc>
                <a:tc>
                  <a:txBody>
                    <a:bodyPr wrap="square"/>
                    <a:lstStyle/>
                    <a:p>
                      <a:pPr algn="r"/>
                      <a:r>
                        <a:rPr sz="1000" b="1">
                          <a:solidFill>
                            <a:srgbClr val="1E2F5C"/>
                          </a:solidFill>
                          <a:latin typeface="Kanit"/>
                        </a:rPr>
                        <a:t>4,850</a:t>
                      </a:r>
                    </a:p>
                  </a:txBody>
                  <a:tcPr marL="54864" marR="54864" marT="18288" marB="18288" anchor="ctr">
                    <a:solidFill>
                      <a:srgbClr val="FFFFFF"/>
                    </a:solidFill>
                  </a:tcPr>
                </a:tc>
                <a:tc>
                  <a:txBody>
                    <a:bodyPr wrap="square"/>
                    <a:lstStyle/>
                    <a:p>
                      <a:pPr algn="r"/>
                      <a:r>
                        <a:rPr sz="1000" b="1">
                          <a:solidFill>
                            <a:srgbClr val="15795F"/>
                          </a:solidFill>
                          <a:latin typeface="Kanit"/>
                        </a:rPr>
                        <a:t>51.1%</a:t>
                      </a:r>
                    </a:p>
                  </a:txBody>
                  <a:tcPr marL="54864" marR="54864" marT="18288" marB="18288" anchor="ctr">
                    <a:solidFill>
                      <a:srgbClr val="FFFFFF"/>
                    </a:solidFill>
                  </a:tcPr>
                </a:tc>
              </a:tr>
              <a:tr h="269748">
                <a:tc>
                  <a:txBody>
                    <a:bodyPr wrap="square"/>
                    <a:lstStyle/>
                    <a:p>
                      <a:pPr algn="l"/>
                      <a:r>
                        <a:rPr sz="1000" b="1">
                          <a:solidFill>
                            <a:srgbClr val="1E2F5C"/>
                          </a:solidFill>
                          <a:latin typeface="Kanit"/>
                        </a:rPr>
                        <a:t>Rubber</a:t>
                      </a:r>
                    </a:p>
                  </a:txBody>
                  <a:tcPr marL="54864" marR="54864" marT="18288" marB="18288" anchor="ctr">
                    <a:solidFill>
                      <a:srgbClr val="F7F9FC"/>
                    </a:solidFill>
                  </a:tcPr>
                </a:tc>
                <a:tc>
                  <a:txBody>
                    <a:bodyPr wrap="square"/>
                    <a:lstStyle/>
                    <a:p>
                      <a:pPr algn="r"/>
                      <a:r>
                        <a:rPr sz="1000" b="0">
                          <a:solidFill>
                            <a:srgbClr val="1E2F5C"/>
                          </a:solidFill>
                          <a:latin typeface="Kanit"/>
                        </a:rPr>
                        <a:t>23.6%</a:t>
                      </a:r>
                    </a:p>
                  </a:txBody>
                  <a:tcPr marL="54864" marR="54864" marT="18288" marB="18288" anchor="ctr">
                    <a:solidFill>
                      <a:srgbClr val="F7F9FC"/>
                    </a:solidFill>
                  </a:tcPr>
                </a:tc>
                <a:tc>
                  <a:txBody>
                    <a:bodyPr wrap="square"/>
                    <a:lstStyle/>
                    <a:p>
                      <a:pPr algn="r"/>
                      <a:r>
                        <a:rPr sz="1000" b="1">
                          <a:solidFill>
                            <a:srgbClr val="15795F"/>
                          </a:solidFill>
                          <a:latin typeface="Kanit"/>
                        </a:rPr>
                        <a:t>+38.0%</a:t>
                      </a:r>
                    </a:p>
                  </a:txBody>
                  <a:tcPr marL="54864" marR="54864" marT="18288" marB="18288" anchor="ctr">
                    <a:solidFill>
                      <a:srgbClr val="F7F9FC"/>
                    </a:solidFill>
                  </a:tcPr>
                </a:tc>
                <a:tc>
                  <a:txBody>
                    <a:bodyPr wrap="square"/>
                    <a:lstStyle/>
                    <a:p>
                      <a:pPr algn="r"/>
                      <a:r>
                        <a:rPr sz="1000" b="0">
                          <a:solidFill>
                            <a:srgbClr val="1E2F5C"/>
                          </a:solidFill>
                          <a:latin typeface="Kanit"/>
                        </a:rPr>
                        <a:t>84.08</a:t>
                      </a:r>
                    </a:p>
                  </a:txBody>
                  <a:tcPr marL="54864" marR="54864" marT="18288" marB="18288" anchor="ctr">
                    <a:solidFill>
                      <a:srgbClr val="F7F9FC"/>
                    </a:solidFill>
                  </a:tcPr>
                </a:tc>
                <a:tc>
                  <a:txBody>
                    <a:bodyPr wrap="square"/>
                    <a:lstStyle/>
                    <a:p>
                      <a:pPr algn="r"/>
                      <a:r>
                        <a:rPr sz="1000" b="0">
                          <a:solidFill>
                            <a:srgbClr val="1E2F5C"/>
                          </a:solidFill>
                          <a:latin typeface="Kanit"/>
                        </a:rPr>
                        <a:t>63.18</a:t>
                      </a:r>
                    </a:p>
                  </a:txBody>
                  <a:tcPr marL="54864" marR="54864" marT="18288" marB="18288" anchor="ctr">
                    <a:solidFill>
                      <a:srgbClr val="F7F9FC"/>
                    </a:solidFill>
                  </a:tcPr>
                </a:tc>
                <a:tc>
                  <a:txBody>
                    <a:bodyPr wrap="square"/>
                    <a:lstStyle/>
                    <a:p>
                      <a:pPr algn="r"/>
                      <a:r>
                        <a:rPr sz="1000" b="1">
                          <a:solidFill>
                            <a:srgbClr val="1E2F5C"/>
                          </a:solidFill>
                          <a:latin typeface="Kanit"/>
                        </a:rPr>
                        <a:t>4,514</a:t>
                      </a:r>
                    </a:p>
                  </a:txBody>
                  <a:tcPr marL="54864" marR="54864" marT="18288" marB="18288" anchor="ctr">
                    <a:solidFill>
                      <a:srgbClr val="F7F9FC"/>
                    </a:solidFill>
                  </a:tcPr>
                </a:tc>
                <a:tc>
                  <a:txBody>
                    <a:bodyPr wrap="square"/>
                    <a:lstStyle/>
                    <a:p>
                      <a:pPr algn="r"/>
                      <a:r>
                        <a:rPr sz="1000" b="1">
                          <a:solidFill>
                            <a:srgbClr val="F5C242"/>
                          </a:solidFill>
                          <a:latin typeface="Kanit"/>
                        </a:rPr>
                        <a:t>24.9%</a:t>
                      </a:r>
                    </a:p>
                  </a:txBody>
                  <a:tcPr marL="54864" marR="54864" marT="18288" marB="18288" anchor="ctr">
                    <a:solidFill>
                      <a:srgbClr val="F7F9FC"/>
                    </a:solidFill>
                  </a:tcPr>
                </a:tc>
              </a:tr>
              <a:tr h="269748">
                <a:tc>
                  <a:txBody>
                    <a:bodyPr wrap="square"/>
                    <a:lstStyle/>
                    <a:p>
                      <a:pPr algn="l"/>
                      <a:r>
                        <a:rPr sz="1000" b="1">
                          <a:solidFill>
                            <a:srgbClr val="1E2F5C"/>
                          </a:solidFill>
                          <a:latin typeface="Kanit"/>
                        </a:rPr>
                        <a:t>Sugarcane</a:t>
                      </a:r>
                    </a:p>
                  </a:txBody>
                  <a:tcPr marL="54864" marR="54864" marT="18288" marB="18288" anchor="ctr">
                    <a:solidFill>
                      <a:srgbClr val="FFFFFF"/>
                    </a:solidFill>
                  </a:tcPr>
                </a:tc>
                <a:tc>
                  <a:txBody>
                    <a:bodyPr wrap="square"/>
                    <a:lstStyle/>
                    <a:p>
                      <a:pPr algn="r"/>
                      <a:r>
                        <a:rPr sz="1000" b="0">
                          <a:solidFill>
                            <a:srgbClr val="1E2F5C"/>
                          </a:solidFill>
                          <a:latin typeface="Kanit"/>
                        </a:rPr>
                        <a:t>10.8%</a:t>
                      </a:r>
                    </a:p>
                  </a:txBody>
                  <a:tcPr marL="54864" marR="54864" marT="18288" marB="18288" anchor="ctr">
                    <a:solidFill>
                      <a:srgbClr val="FFFFFF"/>
                    </a:solidFill>
                  </a:tcPr>
                </a:tc>
                <a:tc>
                  <a:txBody>
                    <a:bodyPr wrap="square"/>
                    <a:lstStyle/>
                    <a:p>
                      <a:pPr algn="r"/>
                      <a:r>
                        <a:rPr sz="1000" b="1">
                          <a:solidFill>
                            <a:srgbClr val="CC0000"/>
                          </a:solidFill>
                          <a:latin typeface="Kanit"/>
                        </a:rPr>
                        <a:t>-17.9%</a:t>
                      </a:r>
                    </a:p>
                  </a:txBody>
                  <a:tcPr marL="54864" marR="54864" marT="18288" marB="18288" anchor="ctr">
                    <a:solidFill>
                      <a:srgbClr val="FFFFFF"/>
                    </a:solidFill>
                  </a:tcPr>
                </a:tc>
                <a:tc>
                  <a:txBody>
                    <a:bodyPr wrap="square"/>
                    <a:lstStyle/>
                    <a:p>
                      <a:pPr algn="r"/>
                      <a:r>
                        <a:rPr sz="1000" b="0">
                          <a:solidFill>
                            <a:srgbClr val="1E2F5C"/>
                          </a:solidFill>
                          <a:latin typeface="Kanit"/>
                        </a:rPr>
                        <a:t>—</a:t>
                      </a:r>
                    </a:p>
                  </a:txBody>
                  <a:tcPr marL="54864" marR="54864" marT="18288" marB="18288" anchor="ctr">
                    <a:solidFill>
                      <a:srgbClr val="FFFFFF"/>
                    </a:solidFill>
                  </a:tcPr>
                </a:tc>
                <a:tc>
                  <a:txBody>
                    <a:bodyPr wrap="square"/>
                    <a:lstStyle/>
                    <a:p>
                      <a:pPr algn="r"/>
                      <a:r>
                        <a:rPr sz="1000" b="0">
                          <a:solidFill>
                            <a:srgbClr val="1E2F5C"/>
                          </a:solidFill>
                          <a:latin typeface="Kanit"/>
                        </a:rPr>
                        <a:t>—</a:t>
                      </a:r>
                    </a:p>
                  </a:txBody>
                  <a:tcPr marL="54864" marR="54864" marT="18288" marB="18288" anchor="ctr">
                    <a:solidFill>
                      <a:srgbClr val="FFFFFF"/>
                    </a:solidFill>
                  </a:tcPr>
                </a:tc>
                <a:tc>
                  <a:txBody>
                    <a:bodyPr wrap="square"/>
                    <a:lstStyle/>
                    <a:p>
                      <a:pPr algn="r"/>
                      <a:r>
                        <a:rPr sz="1000" b="0">
                          <a:solidFill>
                            <a:srgbClr val="CC0000"/>
                          </a:solidFill>
                          <a:latin typeface="Kanit"/>
                        </a:rPr>
                        <a:t>no cost series</a:t>
                      </a:r>
                    </a:p>
                  </a:txBody>
                  <a:tcPr marL="54864" marR="54864" marT="18288" marB="18288" anchor="ctr">
                    <a:solidFill>
                      <a:srgbClr val="FFFFFF"/>
                    </a:solidFill>
                  </a:tcPr>
                </a:tc>
                <a:tc>
                  <a:txBody>
                    <a:bodyPr wrap="square"/>
                    <a:lstStyle/>
                    <a:p>
                      <a:pPr algn="r"/>
                      <a:r>
                        <a:rPr sz="1000" b="0">
                          <a:solidFill>
                            <a:srgbClr val="606060"/>
                          </a:solidFill>
                          <a:latin typeface="Kanit"/>
                        </a:rPr>
                        <a:t>—</a:t>
                      </a:r>
                    </a:p>
                  </a:txBody>
                  <a:tcPr marL="54864" marR="54864" marT="18288" marB="18288" anchor="ctr">
                    <a:solidFill>
                      <a:srgbClr val="FFFFFF"/>
                    </a:solidFill>
                  </a:tcPr>
                </a:tc>
              </a:tr>
              <a:tr h="269748">
                <a:tc>
                  <a:txBody>
                    <a:bodyPr wrap="square"/>
                    <a:lstStyle/>
                    <a:p>
                      <a:pPr algn="l"/>
                      <a:r>
                        <a:rPr sz="1000" b="1">
                          <a:solidFill>
                            <a:srgbClr val="1E2F5C"/>
                          </a:solidFill>
                          <a:latin typeface="Kanit"/>
                        </a:rPr>
                        <a:t>Oil palm</a:t>
                      </a:r>
                    </a:p>
                  </a:txBody>
                  <a:tcPr marL="54864" marR="54864" marT="18288" marB="18288" anchor="ctr">
                    <a:solidFill>
                      <a:srgbClr val="F7F9FC"/>
                    </a:solidFill>
                  </a:tcPr>
                </a:tc>
                <a:tc>
                  <a:txBody>
                    <a:bodyPr wrap="square"/>
                    <a:lstStyle/>
                    <a:p>
                      <a:pPr algn="r"/>
                      <a:r>
                        <a:rPr sz="1000" b="0">
                          <a:solidFill>
                            <a:srgbClr val="1E2F5C"/>
                          </a:solidFill>
                          <a:latin typeface="Kanit"/>
                        </a:rPr>
                        <a:t>7.5%</a:t>
                      </a:r>
                    </a:p>
                  </a:txBody>
                  <a:tcPr marL="54864" marR="54864" marT="18288" marB="18288" anchor="ctr">
                    <a:solidFill>
                      <a:srgbClr val="F7F9FC"/>
                    </a:solidFill>
                  </a:tcPr>
                </a:tc>
                <a:tc>
                  <a:txBody>
                    <a:bodyPr wrap="square"/>
                    <a:lstStyle/>
                    <a:p>
                      <a:pPr algn="r"/>
                      <a:r>
                        <a:rPr sz="1000" b="1">
                          <a:solidFill>
                            <a:srgbClr val="15795F"/>
                          </a:solidFill>
                          <a:latin typeface="Kanit"/>
                        </a:rPr>
                        <a:t>+31.8%</a:t>
                      </a:r>
                    </a:p>
                  </a:txBody>
                  <a:tcPr marL="54864" marR="54864" marT="18288" marB="18288" anchor="ctr">
                    <a:solidFill>
                      <a:srgbClr val="F7F9FC"/>
                    </a:solidFill>
                  </a:tcPr>
                </a:tc>
                <a:tc>
                  <a:txBody>
                    <a:bodyPr wrap="square"/>
                    <a:lstStyle/>
                    <a:p>
                      <a:pPr algn="r"/>
                      <a:r>
                        <a:rPr sz="1000" b="0">
                          <a:solidFill>
                            <a:srgbClr val="1E2F5C"/>
                          </a:solidFill>
                          <a:latin typeface="Kanit"/>
                        </a:rPr>
                        <a:t>8.65</a:t>
                      </a:r>
                    </a:p>
                  </a:txBody>
                  <a:tcPr marL="54864" marR="54864" marT="18288" marB="18288" anchor="ctr">
                    <a:solidFill>
                      <a:srgbClr val="F7F9FC"/>
                    </a:solidFill>
                  </a:tcPr>
                </a:tc>
                <a:tc>
                  <a:txBody>
                    <a:bodyPr wrap="square"/>
                    <a:lstStyle/>
                    <a:p>
                      <a:pPr algn="r"/>
                      <a:r>
                        <a:rPr sz="1000" b="0">
                          <a:solidFill>
                            <a:srgbClr val="1E2F5C"/>
                          </a:solidFill>
                          <a:latin typeface="Kanit"/>
                        </a:rPr>
                        <a:t>3.01</a:t>
                      </a:r>
                    </a:p>
                  </a:txBody>
                  <a:tcPr marL="54864" marR="54864" marT="18288" marB="18288" anchor="ctr">
                    <a:solidFill>
                      <a:srgbClr val="F7F9FC"/>
                    </a:solidFill>
                  </a:tcPr>
                </a:tc>
                <a:tc>
                  <a:txBody>
                    <a:bodyPr wrap="square"/>
                    <a:lstStyle/>
                    <a:p>
                      <a:pPr algn="r"/>
                      <a:r>
                        <a:rPr sz="1000" b="1">
                          <a:solidFill>
                            <a:srgbClr val="1E2F5C"/>
                          </a:solidFill>
                          <a:latin typeface="Kanit"/>
                        </a:rPr>
                        <a:t>18,505</a:t>
                      </a:r>
                    </a:p>
                  </a:txBody>
                  <a:tcPr marL="54864" marR="54864" marT="18288" marB="18288" anchor="ctr">
                    <a:solidFill>
                      <a:srgbClr val="F7F9FC"/>
                    </a:solidFill>
                  </a:tcPr>
                </a:tc>
                <a:tc>
                  <a:txBody>
                    <a:bodyPr wrap="square"/>
                    <a:lstStyle/>
                    <a:p>
                      <a:pPr algn="r"/>
                      <a:r>
                        <a:rPr sz="1000" b="1">
                          <a:solidFill>
                            <a:srgbClr val="15795F"/>
                          </a:solidFill>
                          <a:latin typeface="Kanit"/>
                        </a:rPr>
                        <a:t>65.2%</a:t>
                      </a:r>
                    </a:p>
                  </a:txBody>
                  <a:tcPr marL="54864" marR="54864" marT="18288" marB="18288" anchor="ctr">
                    <a:solidFill>
                      <a:srgbClr val="F7F9FC"/>
                    </a:solidFill>
                  </a:tcPr>
                </a:tc>
              </a:tr>
              <a:tr h="269748">
                <a:tc>
                  <a:txBody>
                    <a:bodyPr wrap="square"/>
                    <a:lstStyle/>
                    <a:p>
                      <a:pPr algn="l"/>
                      <a:r>
                        <a:rPr sz="1000" b="1">
                          <a:solidFill>
                            <a:srgbClr val="1E2F5C"/>
                          </a:solidFill>
                          <a:latin typeface="Kanit"/>
                        </a:rPr>
                        <a:t>Cassava</a:t>
                      </a:r>
                    </a:p>
                  </a:txBody>
                  <a:tcPr marL="54864" marR="54864" marT="18288" marB="18288" anchor="ctr">
                    <a:solidFill>
                      <a:srgbClr val="FFFFFF"/>
                    </a:solidFill>
                  </a:tcPr>
                </a:tc>
                <a:tc>
                  <a:txBody>
                    <a:bodyPr wrap="square"/>
                    <a:lstStyle/>
                    <a:p>
                      <a:pPr algn="r"/>
                      <a:r>
                        <a:rPr sz="1000" b="0">
                          <a:solidFill>
                            <a:srgbClr val="1E2F5C"/>
                          </a:solidFill>
                          <a:latin typeface="Kanit"/>
                        </a:rPr>
                        <a:t>5.5%</a:t>
                      </a:r>
                    </a:p>
                  </a:txBody>
                  <a:tcPr marL="54864" marR="54864" marT="18288" marB="18288" anchor="ctr">
                    <a:solidFill>
                      <a:srgbClr val="FFFFFF"/>
                    </a:solidFill>
                  </a:tcPr>
                </a:tc>
                <a:tc>
                  <a:txBody>
                    <a:bodyPr wrap="square"/>
                    <a:lstStyle/>
                    <a:p>
                      <a:pPr algn="r"/>
                      <a:r>
                        <a:rPr sz="1000" b="1">
                          <a:solidFill>
                            <a:srgbClr val="15795F"/>
                          </a:solidFill>
                          <a:latin typeface="Kanit"/>
                        </a:rPr>
                        <a:t>+57.3%</a:t>
                      </a:r>
                    </a:p>
                  </a:txBody>
                  <a:tcPr marL="54864" marR="54864" marT="18288" marB="18288" anchor="ctr">
                    <a:solidFill>
                      <a:srgbClr val="FFFFFF"/>
                    </a:solidFill>
                  </a:tcPr>
                </a:tc>
                <a:tc>
                  <a:txBody>
                    <a:bodyPr wrap="square"/>
                    <a:lstStyle/>
                    <a:p>
                      <a:pPr algn="r"/>
                      <a:r>
                        <a:rPr sz="1000" b="0">
                          <a:solidFill>
                            <a:srgbClr val="1E2F5C"/>
                          </a:solidFill>
                          <a:latin typeface="Kanit"/>
                        </a:rPr>
                        <a:t>3.50</a:t>
                      </a:r>
                    </a:p>
                  </a:txBody>
                  <a:tcPr marL="54864" marR="54864" marT="18288" marB="18288" anchor="ctr">
                    <a:solidFill>
                      <a:srgbClr val="FFFFFF"/>
                    </a:solidFill>
                  </a:tcPr>
                </a:tc>
                <a:tc>
                  <a:txBody>
                    <a:bodyPr wrap="square"/>
                    <a:lstStyle/>
                    <a:p>
                      <a:pPr algn="r"/>
                      <a:r>
                        <a:rPr sz="1000" b="0">
                          <a:solidFill>
                            <a:srgbClr val="1E2F5C"/>
                          </a:solidFill>
                          <a:latin typeface="Kanit"/>
                        </a:rPr>
                        <a:t>2.13</a:t>
                      </a:r>
                    </a:p>
                  </a:txBody>
                  <a:tcPr marL="54864" marR="54864" marT="18288" marB="18288" anchor="ctr">
                    <a:solidFill>
                      <a:srgbClr val="FFFFFF"/>
                    </a:solidFill>
                  </a:tcPr>
                </a:tc>
                <a:tc>
                  <a:txBody>
                    <a:bodyPr wrap="square"/>
                    <a:lstStyle/>
                    <a:p>
                      <a:pPr algn="r"/>
                      <a:r>
                        <a:rPr sz="1000" b="1">
                          <a:solidFill>
                            <a:srgbClr val="1E2F5C"/>
                          </a:solidFill>
                          <a:latin typeface="Kanit"/>
                        </a:rPr>
                        <a:t>4,342</a:t>
                      </a:r>
                    </a:p>
                  </a:txBody>
                  <a:tcPr marL="54864" marR="54864" marT="18288" marB="18288" anchor="ctr">
                    <a:solidFill>
                      <a:srgbClr val="FFFFFF"/>
                    </a:solidFill>
                  </a:tcPr>
                </a:tc>
                <a:tc>
                  <a:txBody>
                    <a:bodyPr wrap="square"/>
                    <a:lstStyle/>
                    <a:p>
                      <a:pPr algn="r"/>
                      <a:r>
                        <a:rPr sz="1000" b="1">
                          <a:solidFill>
                            <a:srgbClr val="F5C242"/>
                          </a:solidFill>
                          <a:latin typeface="Kanit"/>
                        </a:rPr>
                        <a:t>39.1%</a:t>
                      </a:r>
                    </a:p>
                  </a:txBody>
                  <a:tcPr marL="54864" marR="54864" marT="18288" marB="18288" anchor="ctr">
                    <a:solidFill>
                      <a:srgbClr val="FFFFFF"/>
                    </a:solidFill>
                  </a:tcPr>
                </a:tc>
              </a:tr>
              <a:tr h="269748">
                <a:tc>
                  <a:txBody>
                    <a:bodyPr wrap="square"/>
                    <a:lstStyle/>
                    <a:p>
                      <a:pPr algn="l"/>
                      <a:r>
                        <a:rPr sz="1000" b="1">
                          <a:solidFill>
                            <a:srgbClr val="1E2F5C"/>
                          </a:solidFill>
                          <a:latin typeface="Kanit"/>
                        </a:rPr>
                        <a:t>Maize</a:t>
                      </a:r>
                    </a:p>
                  </a:txBody>
                  <a:tcPr marL="54864" marR="54864" marT="18288" marB="18288" anchor="ctr">
                    <a:solidFill>
                      <a:srgbClr val="F7F9FC"/>
                    </a:solidFill>
                  </a:tcPr>
                </a:tc>
                <a:tc>
                  <a:txBody>
                    <a:bodyPr wrap="square"/>
                    <a:lstStyle/>
                    <a:p>
                      <a:pPr algn="r"/>
                      <a:r>
                        <a:rPr sz="1000" b="0">
                          <a:solidFill>
                            <a:srgbClr val="1E2F5C"/>
                          </a:solidFill>
                          <a:latin typeface="Kanit"/>
                        </a:rPr>
                        <a:t>2.6%</a:t>
                      </a:r>
                    </a:p>
                  </a:txBody>
                  <a:tcPr marL="54864" marR="54864" marT="18288" marB="18288" anchor="ctr">
                    <a:solidFill>
                      <a:srgbClr val="F7F9FC"/>
                    </a:solidFill>
                  </a:tcPr>
                </a:tc>
                <a:tc>
                  <a:txBody>
                    <a:bodyPr wrap="square"/>
                    <a:lstStyle/>
                    <a:p>
                      <a:pPr algn="r"/>
                      <a:r>
                        <a:rPr sz="1000" b="1">
                          <a:solidFill>
                            <a:srgbClr val="15795F"/>
                          </a:solidFill>
                          <a:latin typeface="Kanit"/>
                        </a:rPr>
                        <a:t>+11.3%</a:t>
                      </a:r>
                    </a:p>
                  </a:txBody>
                  <a:tcPr marL="54864" marR="54864" marT="18288" marB="18288" anchor="ctr">
                    <a:solidFill>
                      <a:srgbClr val="F7F9FC"/>
                    </a:solidFill>
                  </a:tcPr>
                </a:tc>
                <a:tc>
                  <a:txBody>
                    <a:bodyPr wrap="square"/>
                    <a:lstStyle/>
                    <a:p>
                      <a:pPr algn="r"/>
                      <a:r>
                        <a:rPr sz="1000" b="0">
                          <a:solidFill>
                            <a:srgbClr val="1E2F5C"/>
                          </a:solidFill>
                          <a:latin typeface="Kanit"/>
                        </a:rPr>
                        <a:t>10.68</a:t>
                      </a:r>
                    </a:p>
                  </a:txBody>
                  <a:tcPr marL="54864" marR="54864" marT="18288" marB="18288" anchor="ctr">
                    <a:solidFill>
                      <a:srgbClr val="F7F9FC"/>
                    </a:solidFill>
                  </a:tcPr>
                </a:tc>
                <a:tc>
                  <a:txBody>
                    <a:bodyPr wrap="square"/>
                    <a:lstStyle/>
                    <a:p>
                      <a:pPr algn="r"/>
                      <a:r>
                        <a:rPr sz="1000" b="0">
                          <a:solidFill>
                            <a:srgbClr val="1E2F5C"/>
                          </a:solidFill>
                          <a:latin typeface="Kanit"/>
                        </a:rPr>
                        <a:t>6.76</a:t>
                      </a:r>
                    </a:p>
                  </a:txBody>
                  <a:tcPr marL="54864" marR="54864" marT="18288" marB="18288" anchor="ctr">
                    <a:solidFill>
                      <a:srgbClr val="F7F9FC"/>
                    </a:solidFill>
                  </a:tcPr>
                </a:tc>
                <a:tc>
                  <a:txBody>
                    <a:bodyPr wrap="square"/>
                    <a:lstStyle/>
                    <a:p>
                      <a:pPr algn="r"/>
                      <a:r>
                        <a:rPr sz="1000" b="1">
                          <a:solidFill>
                            <a:srgbClr val="1E2F5C"/>
                          </a:solidFill>
                          <a:latin typeface="Kanit"/>
                        </a:rPr>
                        <a:t>3,148</a:t>
                      </a:r>
                    </a:p>
                  </a:txBody>
                  <a:tcPr marL="54864" marR="54864" marT="18288" marB="18288" anchor="ctr">
                    <a:solidFill>
                      <a:srgbClr val="F7F9FC"/>
                    </a:solidFill>
                  </a:tcPr>
                </a:tc>
                <a:tc>
                  <a:txBody>
                    <a:bodyPr wrap="square"/>
                    <a:lstStyle/>
                    <a:p>
                      <a:pPr algn="r"/>
                      <a:r>
                        <a:rPr sz="1000" b="1">
                          <a:solidFill>
                            <a:srgbClr val="F5C242"/>
                          </a:solidFill>
                          <a:latin typeface="Kanit"/>
                        </a:rPr>
                        <a:t>36.7%</a:t>
                      </a:r>
                    </a:p>
                  </a:txBody>
                  <a:tcPr marL="54864" marR="54864" marT="18288" marB="18288" anchor="ctr">
                    <a:solidFill>
                      <a:srgbClr val="F7F9FC"/>
                    </a:solidFill>
                  </a:tcPr>
                </a:tc>
              </a:tr>
              <a:tr h="269748">
                <a:tc>
                  <a:txBody>
                    <a:bodyPr wrap="square"/>
                    <a:lstStyle/>
                    <a:p>
                      <a:pPr algn="l"/>
                      <a:r>
                        <a:rPr sz="1000" b="1">
                          <a:solidFill>
                            <a:srgbClr val="1E2F5C"/>
                          </a:solidFill>
                          <a:latin typeface="Kanit"/>
                        </a:rPr>
                        <a:t>Coconut</a:t>
                      </a:r>
                    </a:p>
                  </a:txBody>
                  <a:tcPr marL="54864" marR="54864" marT="18288" marB="18288" anchor="ctr">
                    <a:solidFill>
                      <a:srgbClr val="FFFFFF"/>
                    </a:solidFill>
                  </a:tcPr>
                </a:tc>
                <a:tc>
                  <a:txBody>
                    <a:bodyPr wrap="square"/>
                    <a:lstStyle/>
                    <a:p>
                      <a:pPr algn="r"/>
                      <a:r>
                        <a:rPr sz="1000" b="0">
                          <a:solidFill>
                            <a:srgbClr val="1E2F5C"/>
                          </a:solidFill>
                          <a:latin typeface="Kanit"/>
                        </a:rPr>
                        <a:t>1.1%</a:t>
                      </a:r>
                    </a:p>
                  </a:txBody>
                  <a:tcPr marL="54864" marR="54864" marT="18288" marB="18288" anchor="ctr">
                    <a:solidFill>
                      <a:srgbClr val="FFFFFF"/>
                    </a:solidFill>
                  </a:tcPr>
                </a:tc>
                <a:tc>
                  <a:txBody>
                    <a:bodyPr wrap="square"/>
                    <a:lstStyle/>
                    <a:p>
                      <a:pPr algn="r"/>
                      <a:r>
                        <a:rPr sz="1000" b="1">
                          <a:solidFill>
                            <a:srgbClr val="CC0000"/>
                          </a:solidFill>
                          <a:latin typeface="Kanit"/>
                        </a:rPr>
                        <a:t>-70.9%</a:t>
                      </a:r>
                    </a:p>
                  </a:txBody>
                  <a:tcPr marL="54864" marR="54864" marT="18288" marB="18288" anchor="ctr">
                    <a:solidFill>
                      <a:srgbClr val="FFFFFF"/>
                    </a:solidFill>
                  </a:tcPr>
                </a:tc>
                <a:tc>
                  <a:txBody>
                    <a:bodyPr wrap="square"/>
                    <a:lstStyle/>
                    <a:p>
                      <a:pPr algn="r"/>
                      <a:r>
                        <a:rPr sz="1000" b="0">
                          <a:solidFill>
                            <a:srgbClr val="1E2F5C"/>
                          </a:solidFill>
                          <a:latin typeface="Kanit"/>
                        </a:rPr>
                        <a:t>—</a:t>
                      </a:r>
                    </a:p>
                  </a:txBody>
                  <a:tcPr marL="54864" marR="54864" marT="18288" marB="18288" anchor="ctr">
                    <a:solidFill>
                      <a:srgbClr val="FFFFFF"/>
                    </a:solidFill>
                  </a:tcPr>
                </a:tc>
                <a:tc>
                  <a:txBody>
                    <a:bodyPr wrap="square"/>
                    <a:lstStyle/>
                    <a:p>
                      <a:pPr algn="r"/>
                      <a:r>
                        <a:rPr sz="1000" b="0">
                          <a:solidFill>
                            <a:srgbClr val="1E2F5C"/>
                          </a:solidFill>
                          <a:latin typeface="Kanit"/>
                        </a:rPr>
                        <a:t>—</a:t>
                      </a:r>
                    </a:p>
                  </a:txBody>
                  <a:tcPr marL="54864" marR="54864" marT="18288" marB="18288" anchor="ctr">
                    <a:solidFill>
                      <a:srgbClr val="FFFFFF"/>
                    </a:solidFill>
                  </a:tcPr>
                </a:tc>
                <a:tc>
                  <a:txBody>
                    <a:bodyPr wrap="square"/>
                    <a:lstStyle/>
                    <a:p>
                      <a:pPr algn="r"/>
                      <a:r>
                        <a:rPr sz="1000" b="0">
                          <a:solidFill>
                            <a:srgbClr val="CC0000"/>
                          </a:solidFill>
                          <a:latin typeface="Kanit"/>
                        </a:rPr>
                        <a:t>no cost series</a:t>
                      </a:r>
                    </a:p>
                  </a:txBody>
                  <a:tcPr marL="54864" marR="54864" marT="18288" marB="18288" anchor="ctr">
                    <a:solidFill>
                      <a:srgbClr val="FFFFFF"/>
                    </a:solidFill>
                  </a:tcPr>
                </a:tc>
                <a:tc>
                  <a:txBody>
                    <a:bodyPr wrap="square"/>
                    <a:lstStyle/>
                    <a:p>
                      <a:pPr algn="r"/>
                      <a:r>
                        <a:rPr sz="1000" b="0">
                          <a:solidFill>
                            <a:srgbClr val="606060"/>
                          </a:solidFill>
                          <a:latin typeface="Kanit"/>
                        </a:rPr>
                        <a:t>—</a:t>
                      </a:r>
                    </a:p>
                  </a:txBody>
                  <a:tcPr marL="54864" marR="54864" marT="18288" marB="18288" anchor="ctr">
                    <a:solidFill>
                      <a:srgbClr val="FFFFFF"/>
                    </a:solidFill>
                  </a:tcPr>
                </a:tc>
              </a:tr>
              <a:tr h="269748">
                <a:tc>
                  <a:txBody>
                    <a:bodyPr wrap="square"/>
                    <a:lstStyle/>
                    <a:p>
                      <a:pPr algn="l"/>
                      <a:r>
                        <a:rPr sz="1000" b="1">
                          <a:solidFill>
                            <a:srgbClr val="1E2F5C"/>
                          </a:solidFill>
                          <a:latin typeface="Kanit"/>
                        </a:rPr>
                        <a:t>Pineapple</a:t>
                      </a:r>
                    </a:p>
                  </a:txBody>
                  <a:tcPr marL="54864" marR="54864" marT="18288" marB="18288" anchor="ctr">
                    <a:solidFill>
                      <a:srgbClr val="F7F9FC"/>
                    </a:solidFill>
                  </a:tcPr>
                </a:tc>
                <a:tc>
                  <a:txBody>
                    <a:bodyPr wrap="square"/>
                    <a:lstStyle/>
                    <a:p>
                      <a:pPr algn="r"/>
                      <a:r>
                        <a:rPr sz="1000" b="0">
                          <a:solidFill>
                            <a:srgbClr val="1E2F5C"/>
                          </a:solidFill>
                          <a:latin typeface="Kanit"/>
                        </a:rPr>
                        <a:t>0.3%</a:t>
                      </a:r>
                    </a:p>
                  </a:txBody>
                  <a:tcPr marL="54864" marR="54864" marT="18288" marB="18288" anchor="ctr">
                    <a:solidFill>
                      <a:srgbClr val="F7F9FC"/>
                    </a:solidFill>
                  </a:tcPr>
                </a:tc>
                <a:tc>
                  <a:txBody>
                    <a:bodyPr wrap="square"/>
                    <a:lstStyle/>
                    <a:p>
                      <a:pPr algn="r"/>
                      <a:r>
                        <a:rPr sz="1000" b="1">
                          <a:solidFill>
                            <a:srgbClr val="CC0000"/>
                          </a:solidFill>
                          <a:latin typeface="Kanit"/>
                        </a:rPr>
                        <a:t>-20.0%</a:t>
                      </a:r>
                    </a:p>
                  </a:txBody>
                  <a:tcPr marL="54864" marR="54864" marT="18288" marB="18288" anchor="ctr">
                    <a:solidFill>
                      <a:srgbClr val="F7F9FC"/>
                    </a:solidFill>
                  </a:tcPr>
                </a:tc>
                <a:tc>
                  <a:txBody>
                    <a:bodyPr wrap="square"/>
                    <a:lstStyle/>
                    <a:p>
                      <a:pPr algn="r"/>
                      <a:r>
                        <a:rPr sz="1000" b="0">
                          <a:solidFill>
                            <a:srgbClr val="1E2F5C"/>
                          </a:solidFill>
                          <a:latin typeface="Kanit"/>
                        </a:rPr>
                        <a:t>—</a:t>
                      </a:r>
                    </a:p>
                  </a:txBody>
                  <a:tcPr marL="54864" marR="54864" marT="18288" marB="18288" anchor="ctr">
                    <a:solidFill>
                      <a:srgbClr val="F7F9FC"/>
                    </a:solidFill>
                  </a:tcPr>
                </a:tc>
                <a:tc>
                  <a:txBody>
                    <a:bodyPr wrap="square"/>
                    <a:lstStyle/>
                    <a:p>
                      <a:pPr algn="r"/>
                      <a:r>
                        <a:rPr sz="1000" b="0">
                          <a:solidFill>
                            <a:srgbClr val="1E2F5C"/>
                          </a:solidFill>
                          <a:latin typeface="Kanit"/>
                        </a:rPr>
                        <a:t>—</a:t>
                      </a:r>
                    </a:p>
                  </a:txBody>
                  <a:tcPr marL="54864" marR="54864" marT="18288" marB="18288" anchor="ctr">
                    <a:solidFill>
                      <a:srgbClr val="F7F9FC"/>
                    </a:solidFill>
                  </a:tcPr>
                </a:tc>
                <a:tc>
                  <a:txBody>
                    <a:bodyPr wrap="square"/>
                    <a:lstStyle/>
                    <a:p>
                      <a:pPr algn="r"/>
                      <a:r>
                        <a:rPr sz="1000" b="0">
                          <a:solidFill>
                            <a:srgbClr val="CC0000"/>
                          </a:solidFill>
                          <a:latin typeface="Kanit"/>
                        </a:rPr>
                        <a:t>no cost series</a:t>
                      </a:r>
                    </a:p>
                  </a:txBody>
                  <a:tcPr marL="54864" marR="54864" marT="18288" marB="18288" anchor="ctr">
                    <a:solidFill>
                      <a:srgbClr val="F7F9FC"/>
                    </a:solidFill>
                  </a:tcPr>
                </a:tc>
                <a:tc>
                  <a:txBody>
                    <a:bodyPr wrap="square"/>
                    <a:lstStyle/>
                    <a:p>
                      <a:pPr algn="r"/>
                      <a:r>
                        <a:rPr sz="1000" b="0">
                          <a:solidFill>
                            <a:srgbClr val="606060"/>
                          </a:solidFill>
                          <a:latin typeface="Kanit"/>
                        </a:rPr>
                        <a:t>—</a:t>
                      </a:r>
                    </a:p>
                  </a:txBody>
                  <a:tcPr marL="54864" marR="54864" marT="18288" marB="18288" anchor="ctr">
                    <a:solidFill>
                      <a:srgbClr val="F7F9FC"/>
                    </a:solidFill>
                  </a:tcPr>
                </a:tc>
              </a:tr>
            </a:tbl>
          </a:graphicData>
        </a:graphic>
      </p:graphicFrame>
      <p:sp>
        <p:nvSpPr>
          <p:cNvPr id="10" name="Rounded Rectangle 9"/>
          <p:cNvSpPr/>
          <p:nvPr/>
        </p:nvSpPr>
        <p:spPr>
          <a:xfrm>
            <a:off x="411480" y="3785615"/>
            <a:ext cx="535747" cy="192024"/>
          </a:xfrm>
          <a:prstGeom prst="roundRect">
            <a:avLst>
              <a:gd name="adj" fmla="val 50000"/>
            </a:avLst>
          </a:prstGeom>
          <a:noFill/>
          <a:ln w="9525">
            <a:solidFill>
              <a:srgbClr val="1E2F5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411480" y="3814876"/>
            <a:ext cx="535747" cy="134112"/>
          </a:xfrm>
          <a:prstGeom prst="rect">
            <a:avLst/>
          </a:prstGeom>
          <a:noFill/>
        </p:spPr>
        <p:txBody>
          <a:bodyPr wrap="square" lIns="0" rIns="0" tIns="0" bIns="0" anchor="t">
            <a:noAutofit/>
          </a:bodyPr>
          <a:lstStyle/>
          <a:p>
            <a:pPr algn="ctr">
              <a:lnSpc>
                <a:spcPts val="1056"/>
              </a:lnSpc>
            </a:pPr>
            <a:r>
              <a:rPr sz="800" b="1">
                <a:solidFill>
                  <a:srgbClr val="1E2F5C"/>
                </a:solidFill>
                <a:latin typeface="Kanit"/>
              </a:rPr>
              <a:t>MIXED</a:t>
            </a:r>
          </a:p>
        </p:txBody>
      </p:sp>
      <p:sp>
        <p:nvSpPr>
          <p:cNvPr id="12" name="TextBox 11"/>
          <p:cNvSpPr txBox="1"/>
          <p:nvPr/>
        </p:nvSpPr>
        <p:spPr>
          <a:xfrm>
            <a:off x="1056955" y="3799331"/>
            <a:ext cx="10720516" cy="308610"/>
          </a:xfrm>
          <a:prstGeom prst="rect">
            <a:avLst/>
          </a:prstGeom>
          <a:noFill/>
        </p:spPr>
        <p:txBody>
          <a:bodyPr wrap="square" lIns="0" rIns="0" tIns="0" bIns="0" anchor="t">
            <a:noAutofit/>
          </a:bodyPr>
          <a:lstStyle/>
          <a:p>
            <a:pPr algn="l">
              <a:lnSpc>
                <a:spcPts val="1215"/>
              </a:lnSpc>
            </a:pPr>
            <a:r>
              <a:rPr sz="900" b="0">
                <a:solidFill>
                  <a:srgbClr val="606060"/>
                </a:solidFill>
                <a:latin typeface="Kanit"/>
              </a:rPr>
              <a:t>Farm-gate prices MEASURED (NABC / OAE / OCSB). Costs MEASURED from OAE cost-of-production returns — rice direct for crop year 2567/68, the others derived from cost per tonne for 2568. Margin per rai is the arithmetic of the two and is ESTIMATED.</a:t>
            </a:r>
          </a:p>
        </p:txBody>
      </p:sp>
      <p:sp>
        <p:nvSpPr>
          <p:cNvPr id="13" name="Rectangle 12"/>
          <p:cNvSpPr/>
          <p:nvPr/>
        </p:nvSpPr>
        <p:spPr>
          <a:xfrm>
            <a:off x="411480" y="4258818"/>
            <a:ext cx="11365992" cy="837438"/>
          </a:xfrm>
          <a:prstGeom prst="rect">
            <a:avLst/>
          </a:prstGeom>
          <a:solidFill>
            <a:srgbClr val="FCEFE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411480" y="4258818"/>
            <a:ext cx="50292" cy="83743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630936" y="4405122"/>
            <a:ext cx="11036808" cy="158750"/>
          </a:xfrm>
          <a:prstGeom prst="rect">
            <a:avLst/>
          </a:prstGeom>
          <a:noFill/>
        </p:spPr>
        <p:txBody>
          <a:bodyPr wrap="square" lIns="0" rIns="0" tIns="0" bIns="0" anchor="t">
            <a:noAutofit/>
          </a:bodyPr>
          <a:lstStyle/>
          <a:p>
            <a:pPr algn="l">
              <a:lnSpc>
                <a:spcPts val="1250"/>
              </a:lnSpc>
            </a:pPr>
            <a:r>
              <a:rPr sz="950" b="1">
                <a:solidFill>
                  <a:srgbClr val="CC0000"/>
                </a:solidFill>
                <a:latin typeface="Kanit"/>
              </a:rPr>
              <a:t>The three crops with no cost series are the three whose prices are falling</a:t>
            </a:r>
          </a:p>
        </p:txBody>
      </p:sp>
      <p:sp>
        <p:nvSpPr>
          <p:cNvPr id="16" name="TextBox 15"/>
          <p:cNvSpPr txBox="1"/>
          <p:nvPr/>
        </p:nvSpPr>
        <p:spPr>
          <a:xfrm>
            <a:off x="630936" y="4609591"/>
            <a:ext cx="11036808" cy="34036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Sugarcane (−17.9%), coconut (−70.9%) and pineapple (−20.0%) are the only crops here without an OAE cost series, so their margin cannot be computed. They are 12.2% of the farm book — ฿0.88bn. We can see the price move and cannot yet see whether it has taken the grower below cost.</a:t>
            </a:r>
          </a:p>
        </p:txBody>
      </p:sp>
      <p:sp>
        <p:nvSpPr>
          <p:cNvPr id="17" name="Rectangle 16"/>
          <p:cNvSpPr/>
          <p:nvPr/>
        </p:nvSpPr>
        <p:spPr>
          <a:xfrm>
            <a:off x="411480" y="5224272"/>
            <a:ext cx="11365992" cy="837438"/>
          </a:xfrm>
          <a:prstGeom prst="rect">
            <a:avLst/>
          </a:prstGeom>
          <a:solidFill>
            <a:srgbClr val="EE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Rectangle 17"/>
          <p:cNvSpPr/>
          <p:nvPr/>
        </p:nvSpPr>
        <p:spPr>
          <a:xfrm>
            <a:off x="411480" y="5224272"/>
            <a:ext cx="50292" cy="837438"/>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630936" y="5370576"/>
            <a:ext cx="11036808" cy="158750"/>
          </a:xfrm>
          <a:prstGeom prst="rect">
            <a:avLst/>
          </a:prstGeom>
          <a:noFill/>
        </p:spPr>
        <p:txBody>
          <a:bodyPr wrap="square" lIns="0" rIns="0" tIns="0" bIns="0" anchor="t">
            <a:noAutofit/>
          </a:bodyPr>
          <a:lstStyle/>
          <a:p>
            <a:pPr algn="l">
              <a:lnSpc>
                <a:spcPts val="1250"/>
              </a:lnSpc>
            </a:pPr>
            <a:r>
              <a:rPr sz="950" b="1">
                <a:solidFill>
                  <a:srgbClr val="1E2F5C"/>
                </a:solidFill>
                <a:latin typeface="Kanit"/>
              </a:rPr>
              <a:t>Why margin is the number that matters</a:t>
            </a:r>
          </a:p>
        </p:txBody>
      </p:sp>
      <p:sp>
        <p:nvSpPr>
          <p:cNvPr id="20" name="TextBox 19"/>
          <p:cNvSpPr txBox="1"/>
          <p:nvPr/>
        </p:nvSpPr>
        <p:spPr>
          <a:xfrm>
            <a:off x="630936" y="5575045"/>
            <a:ext cx="11036808" cy="34036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Netted of cost, a 24.3% move in crop prices becomes a 73.2% swing in crop income nationally — about three times the headline. Palm at 65.2% margin can absorb a price fall that would wipe out rubber at 24.9%, whose price is up 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07 · THE FARM HOUSEHOLD</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Nine thousand baht a month — and half of it is not farming.</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Rounded Rectangle 8"/>
          <p:cNvSpPr/>
          <p:nvPr/>
        </p:nvSpPr>
        <p:spPr>
          <a:xfrm>
            <a:off x="411480" y="1152144"/>
            <a:ext cx="2738628" cy="1042415"/>
          </a:xfrm>
          <a:prstGeom prst="roundRect">
            <a:avLst>
              <a:gd name="adj" fmla="val 7894"/>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548640"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Net cash per month</a:t>
            </a:r>
          </a:p>
        </p:txBody>
      </p:sp>
      <p:sp>
        <p:nvSpPr>
          <p:cNvPr id="11" name="TextBox 10"/>
          <p:cNvSpPr txBox="1"/>
          <p:nvPr/>
        </p:nvSpPr>
        <p:spPr>
          <a:xfrm>
            <a:off x="548640" y="1426464"/>
            <a:ext cx="2464308" cy="330200"/>
          </a:xfrm>
          <a:prstGeom prst="rect">
            <a:avLst/>
          </a:prstGeom>
          <a:noFill/>
        </p:spPr>
        <p:txBody>
          <a:bodyPr wrap="square" lIns="0" rIns="0" tIns="0" bIns="0" anchor="t">
            <a:noAutofit/>
          </a:bodyPr>
          <a:lstStyle/>
          <a:p>
            <a:pPr algn="l">
              <a:lnSpc>
                <a:spcPts val="2600"/>
              </a:lnSpc>
            </a:pPr>
            <a:r>
              <a:rPr sz="2100" b="1">
                <a:solidFill>
                  <a:srgbClr val="CC0000"/>
                </a:solidFill>
                <a:latin typeface="Kanit"/>
              </a:rPr>
              <a:t>฿9,337</a:t>
            </a:r>
          </a:p>
        </p:txBody>
      </p:sp>
      <p:sp>
        <p:nvSpPr>
          <p:cNvPr id="12" name="TextBox 11"/>
          <p:cNvSpPr txBox="1"/>
          <p:nvPr/>
        </p:nvSpPr>
        <p:spPr>
          <a:xfrm>
            <a:off x="548640" y="1792224"/>
            <a:ext cx="2464308" cy="329183"/>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crop year 2566/67 · after farm costs and living costs</a:t>
            </a:r>
          </a:p>
        </p:txBody>
      </p:sp>
      <p:sp>
        <p:nvSpPr>
          <p:cNvPr id="13" name="Rounded Rectangle 12"/>
          <p:cNvSpPr/>
          <p:nvPr/>
        </p:nvSpPr>
        <p:spPr>
          <a:xfrm>
            <a:off x="3287268" y="1152144"/>
            <a:ext cx="2738628" cy="1042415"/>
          </a:xfrm>
          <a:prstGeom prst="roundRect">
            <a:avLst>
              <a:gd name="adj" fmla="val 7894"/>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3424428"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Farm share of income</a:t>
            </a:r>
          </a:p>
        </p:txBody>
      </p:sp>
      <p:sp>
        <p:nvSpPr>
          <p:cNvPr id="15" name="TextBox 14"/>
          <p:cNvSpPr txBox="1"/>
          <p:nvPr/>
        </p:nvSpPr>
        <p:spPr>
          <a:xfrm>
            <a:off x="3424428" y="1426464"/>
            <a:ext cx="2464308" cy="330200"/>
          </a:xfrm>
          <a:prstGeom prst="rect">
            <a:avLst/>
          </a:prstGeom>
          <a:noFill/>
        </p:spPr>
        <p:txBody>
          <a:bodyPr wrap="square" lIns="0" rIns="0" tIns="0" bIns="0" anchor="t">
            <a:noAutofit/>
          </a:bodyPr>
          <a:lstStyle/>
          <a:p>
            <a:pPr algn="l">
              <a:lnSpc>
                <a:spcPts val="2600"/>
              </a:lnSpc>
            </a:pPr>
            <a:r>
              <a:rPr sz="2100" b="1">
                <a:solidFill>
                  <a:srgbClr val="F5C242"/>
                </a:solidFill>
                <a:latin typeface="Kanit"/>
              </a:rPr>
              <a:t>51.2%</a:t>
            </a:r>
          </a:p>
        </p:txBody>
      </p:sp>
      <p:sp>
        <p:nvSpPr>
          <p:cNvPr id="16" name="TextBox 15"/>
          <p:cNvSpPr txBox="1"/>
          <p:nvPr/>
        </p:nvSpPr>
        <p:spPr>
          <a:xfrm>
            <a:off x="3424428" y="1792224"/>
            <a:ext cx="2464308" cy="329183"/>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48.8% comes from off-farm work</a:t>
            </a:r>
          </a:p>
        </p:txBody>
      </p:sp>
      <p:sp>
        <p:nvSpPr>
          <p:cNvPr id="17" name="Rounded Rectangle 16"/>
          <p:cNvSpPr/>
          <p:nvPr/>
        </p:nvSpPr>
        <p:spPr>
          <a:xfrm>
            <a:off x="6163056" y="1152144"/>
            <a:ext cx="2738628" cy="1042415"/>
          </a:xfrm>
          <a:prstGeom prst="roundRect">
            <a:avLst>
              <a:gd name="adj" fmla="val 7894"/>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6300216"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Total income</a:t>
            </a:r>
          </a:p>
        </p:txBody>
      </p:sp>
      <p:sp>
        <p:nvSpPr>
          <p:cNvPr id="19" name="TextBox 18"/>
          <p:cNvSpPr txBox="1"/>
          <p:nvPr/>
        </p:nvSpPr>
        <p:spPr>
          <a:xfrm>
            <a:off x="6300216" y="1426464"/>
            <a:ext cx="2464308" cy="330200"/>
          </a:xfrm>
          <a:prstGeom prst="rect">
            <a:avLst/>
          </a:prstGeom>
          <a:noFill/>
        </p:spPr>
        <p:txBody>
          <a:bodyPr wrap="square" lIns="0" rIns="0" tIns="0" bIns="0" anchor="t">
            <a:noAutofit/>
          </a:bodyPr>
          <a:lstStyle/>
          <a:p>
            <a:pPr algn="l">
              <a:lnSpc>
                <a:spcPts val="2600"/>
              </a:lnSpc>
            </a:pPr>
            <a:r>
              <a:rPr sz="2100" b="1">
                <a:solidFill>
                  <a:srgbClr val="1E2F5C"/>
                </a:solidFill>
                <a:latin typeface="Kanit"/>
              </a:rPr>
              <a:t>฿461,690</a:t>
            </a:r>
          </a:p>
        </p:txBody>
      </p:sp>
      <p:sp>
        <p:nvSpPr>
          <p:cNvPr id="20" name="TextBox 19"/>
          <p:cNvSpPr txBox="1"/>
          <p:nvPr/>
        </p:nvSpPr>
        <p:spPr>
          <a:xfrm>
            <a:off x="6300216" y="1792224"/>
            <a:ext cx="2464308" cy="329183"/>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per household per year · farm ฿236,526</a:t>
            </a:r>
          </a:p>
        </p:txBody>
      </p:sp>
      <p:sp>
        <p:nvSpPr>
          <p:cNvPr id="21" name="Rounded Rectangle 20"/>
          <p:cNvSpPr/>
          <p:nvPr/>
        </p:nvSpPr>
        <p:spPr>
          <a:xfrm>
            <a:off x="9038844" y="1152144"/>
            <a:ext cx="2738628" cy="1042415"/>
          </a:xfrm>
          <a:prstGeom prst="roundRect">
            <a:avLst>
              <a:gd name="adj" fmla="val 7894"/>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9176004"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Total expense</a:t>
            </a:r>
          </a:p>
        </p:txBody>
      </p:sp>
      <p:sp>
        <p:nvSpPr>
          <p:cNvPr id="23" name="TextBox 22"/>
          <p:cNvSpPr txBox="1"/>
          <p:nvPr/>
        </p:nvSpPr>
        <p:spPr>
          <a:xfrm>
            <a:off x="9176004" y="1426464"/>
            <a:ext cx="2464308" cy="330200"/>
          </a:xfrm>
          <a:prstGeom prst="rect">
            <a:avLst/>
          </a:prstGeom>
          <a:noFill/>
        </p:spPr>
        <p:txBody>
          <a:bodyPr wrap="square" lIns="0" rIns="0" tIns="0" bIns="0" anchor="t">
            <a:noAutofit/>
          </a:bodyPr>
          <a:lstStyle/>
          <a:p>
            <a:pPr algn="l">
              <a:lnSpc>
                <a:spcPts val="2600"/>
              </a:lnSpc>
            </a:pPr>
            <a:r>
              <a:rPr sz="2100" b="1">
                <a:solidFill>
                  <a:srgbClr val="1E2F5C"/>
                </a:solidFill>
                <a:latin typeface="Kanit"/>
              </a:rPr>
              <a:t>฿349,651</a:t>
            </a:r>
          </a:p>
        </p:txBody>
      </p:sp>
      <p:sp>
        <p:nvSpPr>
          <p:cNvPr id="24" name="TextBox 23"/>
          <p:cNvSpPr txBox="1"/>
          <p:nvPr/>
        </p:nvSpPr>
        <p:spPr>
          <a:xfrm>
            <a:off x="9176004" y="1792224"/>
            <a:ext cx="2464308" cy="329183"/>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farm ฿153,396 · living ฿196,255</a:t>
            </a:r>
          </a:p>
        </p:txBody>
      </p:sp>
      <p:sp>
        <p:nvSpPr>
          <p:cNvPr id="25" name="Rectangle 24"/>
          <p:cNvSpPr/>
          <p:nvPr/>
        </p:nvSpPr>
        <p:spPr>
          <a:xfrm>
            <a:off x="411480" y="2395728"/>
            <a:ext cx="5120640" cy="1691640"/>
          </a:xfrm>
          <a:prstGeom prst="rect">
            <a:avLst/>
          </a:prstGeom>
          <a:solidFill>
            <a:srgbClr val="FBFCFE"/>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Rectangle 25"/>
          <p:cNvSpPr/>
          <p:nvPr/>
        </p:nvSpPr>
        <p:spPr>
          <a:xfrm>
            <a:off x="781263" y="2726738"/>
            <a:ext cx="504017" cy="1104597"/>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548639" y="2543858"/>
            <a:ext cx="969264" cy="150876"/>
          </a:xfrm>
          <a:prstGeom prst="rect">
            <a:avLst/>
          </a:prstGeom>
          <a:noFill/>
        </p:spPr>
        <p:txBody>
          <a:bodyPr wrap="square" lIns="0" rIns="0" tIns="0" bIns="0" anchor="t">
            <a:noAutofit/>
          </a:bodyPr>
          <a:lstStyle/>
          <a:p>
            <a:pPr algn="ctr">
              <a:lnSpc>
                <a:spcPts val="1188"/>
              </a:lnSpc>
            </a:pPr>
            <a:r>
              <a:rPr sz="900" b="0">
                <a:solidFill>
                  <a:srgbClr val="1E2F5C"/>
                </a:solidFill>
                <a:latin typeface="Kanit"/>
              </a:rPr>
              <a:t>114k</a:t>
            </a:r>
          </a:p>
        </p:txBody>
      </p:sp>
      <p:sp>
        <p:nvSpPr>
          <p:cNvPr id="28" name="TextBox 27"/>
          <p:cNvSpPr txBox="1"/>
          <p:nvPr/>
        </p:nvSpPr>
        <p:spPr>
          <a:xfrm>
            <a:off x="548639" y="3877056"/>
            <a:ext cx="969264" cy="142494"/>
          </a:xfrm>
          <a:prstGeom prst="rect">
            <a:avLst/>
          </a:prstGeom>
          <a:noFill/>
        </p:spPr>
        <p:txBody>
          <a:bodyPr wrap="square" lIns="0" rIns="0" tIns="0" bIns="0" anchor="t">
            <a:noAutofit/>
          </a:bodyPr>
          <a:lstStyle/>
          <a:p>
            <a:pPr algn="ctr">
              <a:lnSpc>
                <a:spcPts val="1122"/>
              </a:lnSpc>
            </a:pPr>
            <a:r>
              <a:rPr sz="850" b="0">
                <a:solidFill>
                  <a:srgbClr val="606060"/>
                </a:solidFill>
                <a:latin typeface="Kanit"/>
              </a:rPr>
              <a:t>2019</a:t>
            </a:r>
          </a:p>
        </p:txBody>
      </p:sp>
      <p:sp>
        <p:nvSpPr>
          <p:cNvPr id="29" name="Rectangle 28"/>
          <p:cNvSpPr/>
          <p:nvPr/>
        </p:nvSpPr>
        <p:spPr>
          <a:xfrm>
            <a:off x="1750527" y="2706624"/>
            <a:ext cx="504017" cy="1124712"/>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1517904" y="2523744"/>
            <a:ext cx="969264" cy="150876"/>
          </a:xfrm>
          <a:prstGeom prst="rect">
            <a:avLst/>
          </a:prstGeom>
          <a:noFill/>
        </p:spPr>
        <p:txBody>
          <a:bodyPr wrap="square" lIns="0" rIns="0" tIns="0" bIns="0" anchor="t">
            <a:noAutofit/>
          </a:bodyPr>
          <a:lstStyle/>
          <a:p>
            <a:pPr algn="ctr">
              <a:lnSpc>
                <a:spcPts val="1188"/>
              </a:lnSpc>
            </a:pPr>
            <a:r>
              <a:rPr sz="900" b="0">
                <a:solidFill>
                  <a:srgbClr val="1E2F5C"/>
                </a:solidFill>
                <a:latin typeface="Kanit"/>
              </a:rPr>
              <a:t>117k</a:t>
            </a:r>
          </a:p>
        </p:txBody>
      </p:sp>
      <p:sp>
        <p:nvSpPr>
          <p:cNvPr id="31" name="TextBox 30"/>
          <p:cNvSpPr txBox="1"/>
          <p:nvPr/>
        </p:nvSpPr>
        <p:spPr>
          <a:xfrm>
            <a:off x="1517904" y="3877056"/>
            <a:ext cx="969264" cy="142494"/>
          </a:xfrm>
          <a:prstGeom prst="rect">
            <a:avLst/>
          </a:prstGeom>
          <a:noFill/>
        </p:spPr>
        <p:txBody>
          <a:bodyPr wrap="square" lIns="0" rIns="0" tIns="0" bIns="0" anchor="t">
            <a:noAutofit/>
          </a:bodyPr>
          <a:lstStyle/>
          <a:p>
            <a:pPr algn="ctr">
              <a:lnSpc>
                <a:spcPts val="1122"/>
              </a:lnSpc>
            </a:pPr>
            <a:r>
              <a:rPr sz="850" b="0">
                <a:solidFill>
                  <a:srgbClr val="606060"/>
                </a:solidFill>
                <a:latin typeface="Kanit"/>
              </a:rPr>
              <a:t>2020</a:t>
            </a:r>
          </a:p>
        </p:txBody>
      </p:sp>
      <p:sp>
        <p:nvSpPr>
          <p:cNvPr id="32" name="Rectangle 31"/>
          <p:cNvSpPr/>
          <p:nvPr/>
        </p:nvSpPr>
        <p:spPr>
          <a:xfrm>
            <a:off x="2719791" y="2734962"/>
            <a:ext cx="504017" cy="1096373"/>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3" name="TextBox 32"/>
          <p:cNvSpPr txBox="1"/>
          <p:nvPr/>
        </p:nvSpPr>
        <p:spPr>
          <a:xfrm>
            <a:off x="2487168" y="2552082"/>
            <a:ext cx="969264" cy="150876"/>
          </a:xfrm>
          <a:prstGeom prst="rect">
            <a:avLst/>
          </a:prstGeom>
          <a:noFill/>
        </p:spPr>
        <p:txBody>
          <a:bodyPr wrap="square" lIns="0" rIns="0" tIns="0" bIns="0" anchor="t">
            <a:noAutofit/>
          </a:bodyPr>
          <a:lstStyle/>
          <a:p>
            <a:pPr algn="ctr">
              <a:lnSpc>
                <a:spcPts val="1188"/>
              </a:lnSpc>
            </a:pPr>
            <a:r>
              <a:rPr sz="900" b="0">
                <a:solidFill>
                  <a:srgbClr val="1E2F5C"/>
                </a:solidFill>
                <a:latin typeface="Kanit"/>
              </a:rPr>
              <a:t>114k</a:t>
            </a:r>
          </a:p>
        </p:txBody>
      </p:sp>
      <p:sp>
        <p:nvSpPr>
          <p:cNvPr id="34" name="TextBox 33"/>
          <p:cNvSpPr txBox="1"/>
          <p:nvPr/>
        </p:nvSpPr>
        <p:spPr>
          <a:xfrm>
            <a:off x="2487168" y="3877056"/>
            <a:ext cx="969264" cy="142494"/>
          </a:xfrm>
          <a:prstGeom prst="rect">
            <a:avLst/>
          </a:prstGeom>
          <a:noFill/>
        </p:spPr>
        <p:txBody>
          <a:bodyPr wrap="square" lIns="0" rIns="0" tIns="0" bIns="0" anchor="t">
            <a:noAutofit/>
          </a:bodyPr>
          <a:lstStyle/>
          <a:p>
            <a:pPr algn="ctr">
              <a:lnSpc>
                <a:spcPts val="1122"/>
              </a:lnSpc>
            </a:pPr>
            <a:r>
              <a:rPr sz="850" b="0">
                <a:solidFill>
                  <a:srgbClr val="606060"/>
                </a:solidFill>
                <a:latin typeface="Kanit"/>
              </a:rPr>
              <a:t>2021</a:t>
            </a:r>
          </a:p>
        </p:txBody>
      </p:sp>
      <p:sp>
        <p:nvSpPr>
          <p:cNvPr id="35" name="Rectangle 34"/>
          <p:cNvSpPr/>
          <p:nvPr/>
        </p:nvSpPr>
        <p:spPr>
          <a:xfrm>
            <a:off x="3689055" y="2740193"/>
            <a:ext cx="504017" cy="1091142"/>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6" name="TextBox 35"/>
          <p:cNvSpPr txBox="1"/>
          <p:nvPr/>
        </p:nvSpPr>
        <p:spPr>
          <a:xfrm>
            <a:off x="3456432" y="2557313"/>
            <a:ext cx="969264" cy="150876"/>
          </a:xfrm>
          <a:prstGeom prst="rect">
            <a:avLst/>
          </a:prstGeom>
          <a:noFill/>
        </p:spPr>
        <p:txBody>
          <a:bodyPr wrap="square" lIns="0" rIns="0" tIns="0" bIns="0" anchor="t">
            <a:noAutofit/>
          </a:bodyPr>
          <a:lstStyle/>
          <a:p>
            <a:pPr algn="ctr">
              <a:lnSpc>
                <a:spcPts val="1188"/>
              </a:lnSpc>
            </a:pPr>
            <a:r>
              <a:rPr sz="900" b="0">
                <a:solidFill>
                  <a:srgbClr val="1E2F5C"/>
                </a:solidFill>
                <a:latin typeface="Kanit"/>
              </a:rPr>
              <a:t>113k</a:t>
            </a:r>
          </a:p>
        </p:txBody>
      </p:sp>
      <p:sp>
        <p:nvSpPr>
          <p:cNvPr id="37" name="TextBox 36"/>
          <p:cNvSpPr txBox="1"/>
          <p:nvPr/>
        </p:nvSpPr>
        <p:spPr>
          <a:xfrm>
            <a:off x="3456432" y="3877056"/>
            <a:ext cx="969264" cy="142494"/>
          </a:xfrm>
          <a:prstGeom prst="rect">
            <a:avLst/>
          </a:prstGeom>
          <a:noFill/>
        </p:spPr>
        <p:txBody>
          <a:bodyPr wrap="square" lIns="0" rIns="0" tIns="0" bIns="0" anchor="t">
            <a:noAutofit/>
          </a:bodyPr>
          <a:lstStyle/>
          <a:p>
            <a:pPr algn="ctr">
              <a:lnSpc>
                <a:spcPts val="1122"/>
              </a:lnSpc>
            </a:pPr>
            <a:r>
              <a:rPr sz="850" b="0">
                <a:solidFill>
                  <a:srgbClr val="606060"/>
                </a:solidFill>
                <a:latin typeface="Kanit"/>
              </a:rPr>
              <a:t>2022</a:t>
            </a:r>
          </a:p>
        </p:txBody>
      </p:sp>
      <p:sp>
        <p:nvSpPr>
          <p:cNvPr id="38" name="Rectangle 37"/>
          <p:cNvSpPr/>
          <p:nvPr/>
        </p:nvSpPr>
        <p:spPr>
          <a:xfrm>
            <a:off x="4658319" y="2749932"/>
            <a:ext cx="504017" cy="1081403"/>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9" name="TextBox 38"/>
          <p:cNvSpPr txBox="1"/>
          <p:nvPr/>
        </p:nvSpPr>
        <p:spPr>
          <a:xfrm>
            <a:off x="4425696" y="2567052"/>
            <a:ext cx="969264" cy="150876"/>
          </a:xfrm>
          <a:prstGeom prst="rect">
            <a:avLst/>
          </a:prstGeom>
          <a:noFill/>
        </p:spPr>
        <p:txBody>
          <a:bodyPr wrap="square" lIns="0" rIns="0" tIns="0" bIns="0" anchor="t">
            <a:noAutofit/>
          </a:bodyPr>
          <a:lstStyle/>
          <a:p>
            <a:pPr algn="ctr">
              <a:lnSpc>
                <a:spcPts val="1188"/>
              </a:lnSpc>
            </a:pPr>
            <a:r>
              <a:rPr sz="900" b="1">
                <a:solidFill>
                  <a:srgbClr val="CC0000"/>
                </a:solidFill>
                <a:latin typeface="Kanit"/>
              </a:rPr>
              <a:t>112k</a:t>
            </a:r>
          </a:p>
        </p:txBody>
      </p:sp>
      <p:sp>
        <p:nvSpPr>
          <p:cNvPr id="40" name="TextBox 39"/>
          <p:cNvSpPr txBox="1"/>
          <p:nvPr/>
        </p:nvSpPr>
        <p:spPr>
          <a:xfrm>
            <a:off x="4425696" y="3877056"/>
            <a:ext cx="969264" cy="142494"/>
          </a:xfrm>
          <a:prstGeom prst="rect">
            <a:avLst/>
          </a:prstGeom>
          <a:noFill/>
        </p:spPr>
        <p:txBody>
          <a:bodyPr wrap="square" lIns="0" rIns="0" tIns="0" bIns="0" anchor="t">
            <a:noAutofit/>
          </a:bodyPr>
          <a:lstStyle/>
          <a:p>
            <a:pPr algn="ctr">
              <a:lnSpc>
                <a:spcPts val="1122"/>
              </a:lnSpc>
            </a:pPr>
            <a:r>
              <a:rPr sz="850" b="0">
                <a:solidFill>
                  <a:srgbClr val="606060"/>
                </a:solidFill>
                <a:latin typeface="Kanit"/>
              </a:rPr>
              <a:t>2023</a:t>
            </a:r>
          </a:p>
        </p:txBody>
      </p:sp>
      <p:sp>
        <p:nvSpPr>
          <p:cNvPr id="41" name="Rectangle 40"/>
          <p:cNvSpPr/>
          <p:nvPr/>
        </p:nvSpPr>
        <p:spPr>
          <a:xfrm>
            <a:off x="5715000" y="2395728"/>
            <a:ext cx="6062472" cy="1347978"/>
          </a:xfrm>
          <a:prstGeom prst="rect">
            <a:avLst/>
          </a:prstGeom>
          <a:solidFill>
            <a:srgbClr val="FCEFE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2" name="Rectangle 41"/>
          <p:cNvSpPr/>
          <p:nvPr/>
        </p:nvSpPr>
        <p:spPr>
          <a:xfrm>
            <a:off x="5715000" y="2395728"/>
            <a:ext cx="50292" cy="134797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3" name="TextBox 42"/>
          <p:cNvSpPr txBox="1"/>
          <p:nvPr/>
        </p:nvSpPr>
        <p:spPr>
          <a:xfrm>
            <a:off x="5934456" y="2542032"/>
            <a:ext cx="5733288" cy="158750"/>
          </a:xfrm>
          <a:prstGeom prst="rect">
            <a:avLst/>
          </a:prstGeom>
          <a:noFill/>
        </p:spPr>
        <p:txBody>
          <a:bodyPr wrap="square" lIns="0" rIns="0" tIns="0" bIns="0" anchor="t">
            <a:noAutofit/>
          </a:bodyPr>
          <a:lstStyle/>
          <a:p>
            <a:pPr algn="l">
              <a:lnSpc>
                <a:spcPts val="1250"/>
              </a:lnSpc>
            </a:pPr>
            <a:r>
              <a:rPr sz="950" b="1">
                <a:solidFill>
                  <a:srgbClr val="CC0000"/>
                </a:solidFill>
                <a:latin typeface="Kanit"/>
              </a:rPr>
              <a:t>Four consecutive years of decline</a:t>
            </a:r>
          </a:p>
        </p:txBody>
      </p:sp>
      <p:sp>
        <p:nvSpPr>
          <p:cNvPr id="44" name="TextBox 43"/>
          <p:cNvSpPr txBox="1"/>
          <p:nvPr/>
        </p:nvSpPr>
        <p:spPr>
          <a:xfrm>
            <a:off x="5934456" y="2746502"/>
            <a:ext cx="5733288" cy="85090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฿116,526 in 2020 to ฿112,039 in 2023 — and that is before inflation, which ran 6.1% in 2022 alone. In real terms the fall is considerably steeper than the bars.
The farm share of income rose from 47.1% to 51.2% over the same period, which sounds like recovery and is not: off-farm income fell faster than farm income did.</a:t>
            </a:r>
          </a:p>
        </p:txBody>
      </p:sp>
      <p:graphicFrame>
        <p:nvGraphicFramePr>
          <p:cNvPr id="45" name="Table 44"/>
          <p:cNvGraphicFramePr>
            <a:graphicFrameLocks noGrp="1"/>
          </p:cNvGraphicFramePr>
          <p:nvPr/>
        </p:nvGraphicFramePr>
        <p:xfrm>
          <a:off x="411480" y="4270248"/>
          <a:ext cx="6675120" cy="1728216"/>
        </p:xfrm>
        <a:graphic>
          <a:graphicData uri="http://schemas.openxmlformats.org/drawingml/2006/table">
            <a:tbl>
              <a:tblPr>
                <a:tableStyleId>{5C22544A-7EE6-4342-B048-85BDC9FD1C3A}</a:tableStyleId>
              </a:tblPr>
              <a:tblGrid>
                <a:gridCol w="2103120"/>
                <a:gridCol w="640080"/>
                <a:gridCol w="1280160"/>
                <a:gridCol w="1280160"/>
                <a:gridCol w="1371600"/>
              </a:tblGrid>
              <a:tr h="329184">
                <a:tc>
                  <a:txBody>
                    <a:bodyPr wrap="square"/>
                    <a:lstStyle/>
                    <a:p>
                      <a:pPr algn="l"/>
                      <a:r>
                        <a:rPr sz="1050" b="1">
                          <a:solidFill>
                            <a:srgbClr val="FFFFFF"/>
                          </a:solidFill>
                          <a:latin typeface="Kanit"/>
                        </a:rPr>
                        <a:t>Baht per household per year</a:t>
                      </a:r>
                    </a:p>
                  </a:txBody>
                  <a:tcPr marL="54864" marR="54864" marT="18288" marB="18288" anchor="ctr">
                    <a:solidFill>
                      <a:srgbClr val="1B2A6B"/>
                    </a:solidFill>
                  </a:tcPr>
                </a:tc>
                <a:tc>
                  <a:txBody>
                    <a:bodyPr wrap="square"/>
                    <a:lstStyle/>
                    <a:p>
                      <a:pPr algn="l"/>
                      <a:r>
                        <a:rPr sz="1050" b="1">
                          <a:solidFill>
                            <a:srgbClr val="FFFFFF"/>
                          </a:solidFill>
                          <a:latin typeface="Kanit"/>
                        </a:rPr>
                        <a:t/>
                      </a:r>
                    </a:p>
                  </a:txBody>
                  <a:tcPr marL="54864" marR="54864" marT="18288" marB="18288" anchor="ctr">
                    <a:solidFill>
                      <a:srgbClr val="1B2A6B"/>
                    </a:solidFill>
                  </a:tcPr>
                </a:tc>
                <a:tc>
                  <a:txBody>
                    <a:bodyPr wrap="square"/>
                    <a:lstStyle/>
                    <a:p>
                      <a:pPr algn="r"/>
                      <a:r>
                        <a:rPr sz="1050" b="1">
                          <a:solidFill>
                            <a:srgbClr val="FFFFFF"/>
                          </a:solidFill>
                          <a:latin typeface="Kanit"/>
                        </a:rPr>
                        <a:t>2019</a:t>
                      </a:r>
                    </a:p>
                  </a:txBody>
                  <a:tcPr marL="54864" marR="54864" marT="18288" marB="18288" anchor="ctr">
                    <a:solidFill>
                      <a:srgbClr val="1B2A6B"/>
                    </a:solidFill>
                  </a:tcPr>
                </a:tc>
                <a:tc>
                  <a:txBody>
                    <a:bodyPr wrap="square"/>
                    <a:lstStyle/>
                    <a:p>
                      <a:pPr algn="r"/>
                      <a:r>
                        <a:rPr sz="1050" b="1">
                          <a:solidFill>
                            <a:srgbClr val="FFFFFF"/>
                          </a:solidFill>
                          <a:latin typeface="Kanit"/>
                        </a:rPr>
                        <a:t>2023</a:t>
                      </a:r>
                    </a:p>
                  </a:txBody>
                  <a:tcPr marL="54864" marR="54864" marT="18288" marB="18288" anchor="ctr">
                    <a:solidFill>
                      <a:srgbClr val="1B2A6B"/>
                    </a:solidFill>
                  </a:tcPr>
                </a:tc>
                <a:tc>
                  <a:txBody>
                    <a:bodyPr wrap="square"/>
                    <a:lstStyle/>
                    <a:p>
                      <a:pPr algn="r"/>
                      <a:r>
                        <a:rPr sz="1050" b="1">
                          <a:solidFill>
                            <a:srgbClr val="FFFFFF"/>
                          </a:solidFill>
                          <a:latin typeface="Kanit"/>
                        </a:rPr>
                        <a:t>4-year change</a:t>
                      </a:r>
                    </a:p>
                  </a:txBody>
                  <a:tcPr marL="54864" marR="54864" marT="18288" marB="18288" anchor="ctr">
                    <a:solidFill>
                      <a:srgbClr val="1B2A6B"/>
                    </a:solidFill>
                  </a:tcPr>
                </a:tc>
              </a:tr>
              <a:tr h="233172">
                <a:tc>
                  <a:txBody>
                    <a:bodyPr wrap="square"/>
                    <a:lstStyle/>
                    <a:p>
                      <a:pPr algn="l"/>
                      <a:r>
                        <a:rPr sz="1000" b="0">
                          <a:solidFill>
                            <a:srgbClr val="1E2F5C"/>
                          </a:solidFill>
                          <a:latin typeface="Kanit"/>
                        </a:rPr>
                        <a:t>Crop income</a:t>
                      </a:r>
                    </a:p>
                  </a:txBody>
                  <a:tcPr marL="54864" marR="54864" marT="18288" marB="18288" anchor="ctr">
                    <a:solidFill>
                      <a:srgbClr val="FFFFFF"/>
                    </a:solidFill>
                  </a:tcPr>
                </a:tc>
                <a:tc>
                  <a:txBody>
                    <a:bodyPr wrap="square"/>
                    <a:lstStyle/>
                    <a:p>
                      <a:pPr algn="l"/>
                      <a:r>
                        <a:rPr sz="1000" b="0">
                          <a:solidFill>
                            <a:srgbClr val="606060"/>
                          </a:solidFill>
                          <a:latin typeface="Kanit"/>
                        </a:rPr>
                        <a:t>in</a:t>
                      </a:r>
                    </a:p>
                  </a:txBody>
                  <a:tcPr marL="54864" marR="54864" marT="18288" marB="18288" anchor="ctr">
                    <a:solidFill>
                      <a:srgbClr val="FFFFFF"/>
                    </a:solidFill>
                  </a:tcPr>
                </a:tc>
                <a:tc>
                  <a:txBody>
                    <a:bodyPr wrap="square"/>
                    <a:lstStyle/>
                    <a:p>
                      <a:pPr algn="r"/>
                      <a:r>
                        <a:rPr sz="1000" b="0">
                          <a:solidFill>
                            <a:srgbClr val="1E2F5C"/>
                          </a:solidFill>
                          <a:latin typeface="Kanit"/>
                        </a:rPr>
                        <a:t>136,355</a:t>
                      </a:r>
                    </a:p>
                  </a:txBody>
                  <a:tcPr marL="54864" marR="54864" marT="18288" marB="18288" anchor="ctr">
                    <a:solidFill>
                      <a:srgbClr val="FFFFFF"/>
                    </a:solidFill>
                  </a:tcPr>
                </a:tc>
                <a:tc>
                  <a:txBody>
                    <a:bodyPr wrap="square"/>
                    <a:lstStyle/>
                    <a:p>
                      <a:pPr algn="r"/>
                      <a:r>
                        <a:rPr sz="1000" b="0">
                          <a:solidFill>
                            <a:srgbClr val="1E2F5C"/>
                          </a:solidFill>
                          <a:latin typeface="Kanit"/>
                        </a:rPr>
                        <a:t>182,476</a:t>
                      </a:r>
                    </a:p>
                  </a:txBody>
                  <a:tcPr marL="54864" marR="54864" marT="18288" marB="18288" anchor="ctr">
                    <a:solidFill>
                      <a:srgbClr val="FFFFFF"/>
                    </a:solidFill>
                  </a:tcPr>
                </a:tc>
                <a:tc>
                  <a:txBody>
                    <a:bodyPr wrap="square"/>
                    <a:lstStyle/>
                    <a:p>
                      <a:pPr algn="r"/>
                      <a:r>
                        <a:rPr sz="1000" b="1">
                          <a:solidFill>
                            <a:srgbClr val="15795F"/>
                          </a:solidFill>
                          <a:latin typeface="Kanit"/>
                        </a:rPr>
                        <a:t>+33.8%</a:t>
                      </a:r>
                    </a:p>
                  </a:txBody>
                  <a:tcPr marL="54864" marR="54864" marT="18288" marB="18288" anchor="ctr">
                    <a:solidFill>
                      <a:srgbClr val="FFFFFF"/>
                    </a:solidFill>
                  </a:tcPr>
                </a:tc>
              </a:tr>
              <a:tr h="233172">
                <a:tc>
                  <a:txBody>
                    <a:bodyPr wrap="square"/>
                    <a:lstStyle/>
                    <a:p>
                      <a:pPr algn="l"/>
                      <a:r>
                        <a:rPr sz="1000" b="0">
                          <a:solidFill>
                            <a:srgbClr val="1E2F5C"/>
                          </a:solidFill>
                          <a:latin typeface="Kanit"/>
                        </a:rPr>
                        <a:t>Crop growing costs</a:t>
                      </a:r>
                    </a:p>
                  </a:txBody>
                  <a:tcPr marL="54864" marR="54864" marT="18288" marB="18288" anchor="ctr">
                    <a:solidFill>
                      <a:srgbClr val="F7F9FC"/>
                    </a:solidFill>
                  </a:tcPr>
                </a:tc>
                <a:tc>
                  <a:txBody>
                    <a:bodyPr wrap="square"/>
                    <a:lstStyle/>
                    <a:p>
                      <a:pPr algn="l"/>
                      <a:r>
                        <a:rPr sz="1000" b="0">
                          <a:solidFill>
                            <a:srgbClr val="606060"/>
                          </a:solidFill>
                          <a:latin typeface="Kanit"/>
                        </a:rPr>
                        <a:t>out</a:t>
                      </a:r>
                    </a:p>
                  </a:txBody>
                  <a:tcPr marL="54864" marR="54864" marT="18288" marB="18288" anchor="ctr">
                    <a:solidFill>
                      <a:srgbClr val="F7F9FC"/>
                    </a:solidFill>
                  </a:tcPr>
                </a:tc>
                <a:tc>
                  <a:txBody>
                    <a:bodyPr wrap="square"/>
                    <a:lstStyle/>
                    <a:p>
                      <a:pPr algn="r"/>
                      <a:r>
                        <a:rPr sz="1000" b="0">
                          <a:solidFill>
                            <a:srgbClr val="1E2F5C"/>
                          </a:solidFill>
                          <a:latin typeface="Kanit"/>
                        </a:rPr>
                        <a:t>67,182</a:t>
                      </a:r>
                    </a:p>
                  </a:txBody>
                  <a:tcPr marL="54864" marR="54864" marT="18288" marB="18288" anchor="ctr">
                    <a:solidFill>
                      <a:srgbClr val="F7F9FC"/>
                    </a:solidFill>
                  </a:tcPr>
                </a:tc>
                <a:tc>
                  <a:txBody>
                    <a:bodyPr wrap="square"/>
                    <a:lstStyle/>
                    <a:p>
                      <a:pPr algn="r"/>
                      <a:r>
                        <a:rPr sz="1000" b="0">
                          <a:solidFill>
                            <a:srgbClr val="1E2F5C"/>
                          </a:solidFill>
                          <a:latin typeface="Kanit"/>
                        </a:rPr>
                        <a:t>110,397</a:t>
                      </a:r>
                    </a:p>
                  </a:txBody>
                  <a:tcPr marL="54864" marR="54864" marT="18288" marB="18288" anchor="ctr">
                    <a:solidFill>
                      <a:srgbClr val="F7F9FC"/>
                    </a:solidFill>
                  </a:tcPr>
                </a:tc>
                <a:tc>
                  <a:txBody>
                    <a:bodyPr wrap="square"/>
                    <a:lstStyle/>
                    <a:p>
                      <a:pPr algn="r"/>
                      <a:r>
                        <a:rPr sz="1000" b="1">
                          <a:solidFill>
                            <a:srgbClr val="CC0000"/>
                          </a:solidFill>
                          <a:latin typeface="Kanit"/>
                        </a:rPr>
                        <a:t>+64.3%</a:t>
                      </a:r>
                    </a:p>
                  </a:txBody>
                  <a:tcPr marL="54864" marR="54864" marT="18288" marB="18288" anchor="ctr">
                    <a:solidFill>
                      <a:srgbClr val="F7F9FC"/>
                    </a:solidFill>
                  </a:tcPr>
                </a:tc>
              </a:tr>
              <a:tr h="233172">
                <a:tc>
                  <a:txBody>
                    <a:bodyPr wrap="square"/>
                    <a:lstStyle/>
                    <a:p>
                      <a:pPr algn="l"/>
                      <a:r>
                        <a:rPr sz="1000" b="0">
                          <a:solidFill>
                            <a:srgbClr val="1E2F5C"/>
                          </a:solidFill>
                          <a:latin typeface="Kanit"/>
                        </a:rPr>
                        <a:t>Off-farm income</a:t>
                      </a:r>
                    </a:p>
                  </a:txBody>
                  <a:tcPr marL="54864" marR="54864" marT="18288" marB="18288" anchor="ctr">
                    <a:solidFill>
                      <a:srgbClr val="FFFFFF"/>
                    </a:solidFill>
                  </a:tcPr>
                </a:tc>
                <a:tc>
                  <a:txBody>
                    <a:bodyPr wrap="square"/>
                    <a:lstStyle/>
                    <a:p>
                      <a:pPr algn="l"/>
                      <a:r>
                        <a:rPr sz="1000" b="0">
                          <a:solidFill>
                            <a:srgbClr val="606060"/>
                          </a:solidFill>
                          <a:latin typeface="Kanit"/>
                        </a:rPr>
                        <a:t>in</a:t>
                      </a:r>
                    </a:p>
                  </a:txBody>
                  <a:tcPr marL="54864" marR="54864" marT="18288" marB="18288" anchor="ctr">
                    <a:solidFill>
                      <a:srgbClr val="FFFFFF"/>
                    </a:solidFill>
                  </a:tcPr>
                </a:tc>
                <a:tc>
                  <a:txBody>
                    <a:bodyPr wrap="square"/>
                    <a:lstStyle/>
                    <a:p>
                      <a:pPr algn="r"/>
                      <a:r>
                        <a:rPr sz="1000" b="0">
                          <a:solidFill>
                            <a:srgbClr val="1E2F5C"/>
                          </a:solidFill>
                          <a:latin typeface="Kanit"/>
                        </a:rPr>
                        <a:t>205,967</a:t>
                      </a:r>
                    </a:p>
                  </a:txBody>
                  <a:tcPr marL="54864" marR="54864" marT="18288" marB="18288" anchor="ctr">
                    <a:solidFill>
                      <a:srgbClr val="FFFFFF"/>
                    </a:solidFill>
                  </a:tcPr>
                </a:tc>
                <a:tc>
                  <a:txBody>
                    <a:bodyPr wrap="square"/>
                    <a:lstStyle/>
                    <a:p>
                      <a:pPr algn="r"/>
                      <a:r>
                        <a:rPr sz="1000" b="0">
                          <a:solidFill>
                            <a:srgbClr val="1E2F5C"/>
                          </a:solidFill>
                          <a:latin typeface="Kanit"/>
                        </a:rPr>
                        <a:t>225,164</a:t>
                      </a:r>
                    </a:p>
                  </a:txBody>
                  <a:tcPr marL="54864" marR="54864" marT="18288" marB="18288" anchor="ctr">
                    <a:solidFill>
                      <a:srgbClr val="FFFFFF"/>
                    </a:solidFill>
                  </a:tcPr>
                </a:tc>
                <a:tc>
                  <a:txBody>
                    <a:bodyPr wrap="square"/>
                    <a:lstStyle/>
                    <a:p>
                      <a:pPr algn="r"/>
                      <a:r>
                        <a:rPr sz="1000" b="1">
                          <a:solidFill>
                            <a:srgbClr val="15795F"/>
                          </a:solidFill>
                          <a:latin typeface="Kanit"/>
                        </a:rPr>
                        <a:t>+9.3%</a:t>
                      </a:r>
                    </a:p>
                  </a:txBody>
                  <a:tcPr marL="54864" marR="54864" marT="18288" marB="18288" anchor="ctr">
                    <a:solidFill>
                      <a:srgbClr val="FFFFFF"/>
                    </a:solidFill>
                  </a:tcPr>
                </a:tc>
              </a:tr>
              <a:tr h="233172">
                <a:tc>
                  <a:txBody>
                    <a:bodyPr wrap="square"/>
                    <a:lstStyle/>
                    <a:p>
                      <a:pPr algn="l"/>
                      <a:r>
                        <a:rPr sz="1000" b="0">
                          <a:solidFill>
                            <a:srgbClr val="1E2F5C"/>
                          </a:solidFill>
                          <a:latin typeface="Kanit"/>
                        </a:rPr>
                        <a:t>Living costs</a:t>
                      </a:r>
                    </a:p>
                  </a:txBody>
                  <a:tcPr marL="54864" marR="54864" marT="18288" marB="18288" anchor="ctr">
                    <a:solidFill>
                      <a:srgbClr val="F7F9FC"/>
                    </a:solidFill>
                  </a:tcPr>
                </a:tc>
                <a:tc>
                  <a:txBody>
                    <a:bodyPr wrap="square"/>
                    <a:lstStyle/>
                    <a:p>
                      <a:pPr algn="l"/>
                      <a:r>
                        <a:rPr sz="1000" b="0">
                          <a:solidFill>
                            <a:srgbClr val="606060"/>
                          </a:solidFill>
                          <a:latin typeface="Kanit"/>
                        </a:rPr>
                        <a:t>out</a:t>
                      </a:r>
                    </a:p>
                  </a:txBody>
                  <a:tcPr marL="54864" marR="54864" marT="18288" marB="18288" anchor="ctr">
                    <a:solidFill>
                      <a:srgbClr val="F7F9FC"/>
                    </a:solidFill>
                  </a:tcPr>
                </a:tc>
                <a:tc>
                  <a:txBody>
                    <a:bodyPr wrap="square"/>
                    <a:lstStyle/>
                    <a:p>
                      <a:pPr algn="r"/>
                      <a:r>
                        <a:rPr sz="1000" b="0">
                          <a:solidFill>
                            <a:srgbClr val="1E2F5C"/>
                          </a:solidFill>
                          <a:latin typeface="Kanit"/>
                        </a:rPr>
                        <a:t>171,011</a:t>
                      </a:r>
                    </a:p>
                  </a:txBody>
                  <a:tcPr marL="54864" marR="54864" marT="18288" marB="18288" anchor="ctr">
                    <a:solidFill>
                      <a:srgbClr val="F7F9FC"/>
                    </a:solidFill>
                  </a:tcPr>
                </a:tc>
                <a:tc>
                  <a:txBody>
                    <a:bodyPr wrap="square"/>
                    <a:lstStyle/>
                    <a:p>
                      <a:pPr algn="r"/>
                      <a:r>
                        <a:rPr sz="1000" b="0">
                          <a:solidFill>
                            <a:srgbClr val="1E2F5C"/>
                          </a:solidFill>
                          <a:latin typeface="Kanit"/>
                        </a:rPr>
                        <a:t>196,255</a:t>
                      </a:r>
                    </a:p>
                  </a:txBody>
                  <a:tcPr marL="54864" marR="54864" marT="18288" marB="18288" anchor="ctr">
                    <a:solidFill>
                      <a:srgbClr val="F7F9FC"/>
                    </a:solidFill>
                  </a:tcPr>
                </a:tc>
                <a:tc>
                  <a:txBody>
                    <a:bodyPr wrap="square"/>
                    <a:lstStyle/>
                    <a:p>
                      <a:pPr algn="r"/>
                      <a:r>
                        <a:rPr sz="1000" b="1">
                          <a:solidFill>
                            <a:srgbClr val="CC0000"/>
                          </a:solidFill>
                          <a:latin typeface="Kanit"/>
                        </a:rPr>
                        <a:t>+14.8%</a:t>
                      </a:r>
                    </a:p>
                  </a:txBody>
                  <a:tcPr marL="54864" marR="54864" marT="18288" marB="18288" anchor="ctr">
                    <a:solidFill>
                      <a:srgbClr val="F7F9FC"/>
                    </a:solidFill>
                  </a:tcPr>
                </a:tc>
              </a:tr>
              <a:tr h="233172">
                <a:tc>
                  <a:txBody>
                    <a:bodyPr wrap="square"/>
                    <a:lstStyle/>
                    <a:p>
                      <a:pPr algn="l"/>
                      <a:r>
                        <a:rPr sz="1000" b="1">
                          <a:solidFill>
                            <a:srgbClr val="1E2F5C"/>
                          </a:solidFill>
                          <a:latin typeface="Kanit"/>
                        </a:rPr>
                        <a:t>Everything in</a:t>
                      </a:r>
                    </a:p>
                  </a:txBody>
                  <a:tcPr marL="54864" marR="54864" marT="18288" marB="18288" anchor="ctr">
                    <a:solidFill>
                      <a:srgbClr val="FFFFFF"/>
                    </a:solidFill>
                  </a:tcPr>
                </a:tc>
                <a:tc>
                  <a:txBody>
                    <a:bodyPr wrap="square"/>
                    <a:lstStyle/>
                    <a:p>
                      <a:pPr algn="l"/>
                      <a:r>
                        <a:rPr sz="1000" b="0">
                          <a:solidFill>
                            <a:srgbClr val="606060"/>
                          </a:solidFill>
                          <a:latin typeface="Kanit"/>
                        </a:rPr>
                        <a:t>in</a:t>
                      </a:r>
                    </a:p>
                  </a:txBody>
                  <a:tcPr marL="54864" marR="54864" marT="18288" marB="18288" anchor="ctr">
                    <a:solidFill>
                      <a:srgbClr val="FFFFFF"/>
                    </a:solidFill>
                  </a:tcPr>
                </a:tc>
                <a:tc>
                  <a:txBody>
                    <a:bodyPr wrap="square"/>
                    <a:lstStyle/>
                    <a:p>
                      <a:pPr algn="r"/>
                      <a:r>
                        <a:rPr sz="1000" b="0">
                          <a:solidFill>
                            <a:srgbClr val="1E2F5C"/>
                          </a:solidFill>
                          <a:latin typeface="Kanit"/>
                        </a:rPr>
                        <a:t>390,377</a:t>
                      </a:r>
                    </a:p>
                  </a:txBody>
                  <a:tcPr marL="54864" marR="54864" marT="18288" marB="18288" anchor="ctr">
                    <a:solidFill>
                      <a:srgbClr val="FFFFFF"/>
                    </a:solidFill>
                  </a:tcPr>
                </a:tc>
                <a:tc>
                  <a:txBody>
                    <a:bodyPr wrap="square"/>
                    <a:lstStyle/>
                    <a:p>
                      <a:pPr algn="r"/>
                      <a:r>
                        <a:rPr sz="1000" b="0">
                          <a:solidFill>
                            <a:srgbClr val="1E2F5C"/>
                          </a:solidFill>
                          <a:latin typeface="Kanit"/>
                        </a:rPr>
                        <a:t>461,690</a:t>
                      </a:r>
                    </a:p>
                  </a:txBody>
                  <a:tcPr marL="54864" marR="54864" marT="18288" marB="18288" anchor="ctr">
                    <a:solidFill>
                      <a:srgbClr val="FFFFFF"/>
                    </a:solidFill>
                  </a:tcPr>
                </a:tc>
                <a:tc>
                  <a:txBody>
                    <a:bodyPr wrap="square"/>
                    <a:lstStyle/>
                    <a:p>
                      <a:pPr algn="r"/>
                      <a:r>
                        <a:rPr sz="1000" b="1">
                          <a:solidFill>
                            <a:srgbClr val="15795F"/>
                          </a:solidFill>
                          <a:latin typeface="Kanit"/>
                        </a:rPr>
                        <a:t>+18.3%</a:t>
                      </a:r>
                    </a:p>
                  </a:txBody>
                  <a:tcPr marL="54864" marR="54864" marT="18288" marB="18288" anchor="ctr">
                    <a:solidFill>
                      <a:srgbClr val="FFFFFF"/>
                    </a:solidFill>
                  </a:tcPr>
                </a:tc>
              </a:tr>
              <a:tr h="233172">
                <a:tc>
                  <a:txBody>
                    <a:bodyPr wrap="square"/>
                    <a:lstStyle/>
                    <a:p>
                      <a:pPr algn="l"/>
                      <a:r>
                        <a:rPr sz="1000" b="1">
                          <a:solidFill>
                            <a:srgbClr val="1E2F5C"/>
                          </a:solidFill>
                          <a:latin typeface="Kanit"/>
                        </a:rPr>
                        <a:t>Everything out</a:t>
                      </a:r>
                    </a:p>
                  </a:txBody>
                  <a:tcPr marL="54864" marR="54864" marT="18288" marB="18288" anchor="ctr">
                    <a:solidFill>
                      <a:srgbClr val="F7F9FC"/>
                    </a:solidFill>
                  </a:tcPr>
                </a:tc>
                <a:tc>
                  <a:txBody>
                    <a:bodyPr wrap="square"/>
                    <a:lstStyle/>
                    <a:p>
                      <a:pPr algn="l"/>
                      <a:r>
                        <a:rPr sz="1000" b="0">
                          <a:solidFill>
                            <a:srgbClr val="606060"/>
                          </a:solidFill>
                          <a:latin typeface="Kanit"/>
                        </a:rPr>
                        <a:t>out</a:t>
                      </a:r>
                    </a:p>
                  </a:txBody>
                  <a:tcPr marL="54864" marR="54864" marT="18288" marB="18288" anchor="ctr">
                    <a:solidFill>
                      <a:srgbClr val="F7F9FC"/>
                    </a:solidFill>
                  </a:tcPr>
                </a:tc>
                <a:tc>
                  <a:txBody>
                    <a:bodyPr wrap="square"/>
                    <a:lstStyle/>
                    <a:p>
                      <a:pPr algn="r"/>
                      <a:r>
                        <a:rPr sz="1000" b="0">
                          <a:solidFill>
                            <a:srgbClr val="1E2F5C"/>
                          </a:solidFill>
                          <a:latin typeface="Kanit"/>
                        </a:rPr>
                        <a:t>275,935</a:t>
                      </a:r>
                    </a:p>
                  </a:txBody>
                  <a:tcPr marL="54864" marR="54864" marT="18288" marB="18288" anchor="ctr">
                    <a:solidFill>
                      <a:srgbClr val="F7F9FC"/>
                    </a:solidFill>
                  </a:tcPr>
                </a:tc>
                <a:tc>
                  <a:txBody>
                    <a:bodyPr wrap="square"/>
                    <a:lstStyle/>
                    <a:p>
                      <a:pPr algn="r"/>
                      <a:r>
                        <a:rPr sz="1000" b="0">
                          <a:solidFill>
                            <a:srgbClr val="1E2F5C"/>
                          </a:solidFill>
                          <a:latin typeface="Kanit"/>
                        </a:rPr>
                        <a:t>349,651</a:t>
                      </a:r>
                    </a:p>
                  </a:txBody>
                  <a:tcPr marL="54864" marR="54864" marT="18288" marB="18288" anchor="ctr">
                    <a:solidFill>
                      <a:srgbClr val="F7F9FC"/>
                    </a:solidFill>
                  </a:tcPr>
                </a:tc>
                <a:tc>
                  <a:txBody>
                    <a:bodyPr wrap="square"/>
                    <a:lstStyle/>
                    <a:p>
                      <a:pPr algn="r"/>
                      <a:r>
                        <a:rPr sz="1000" b="1">
                          <a:solidFill>
                            <a:srgbClr val="CC0000"/>
                          </a:solidFill>
                          <a:latin typeface="Kanit"/>
                        </a:rPr>
                        <a:t>+26.7%</a:t>
                      </a:r>
                    </a:p>
                  </a:txBody>
                  <a:tcPr marL="54864" marR="54864" marT="18288" marB="18288" anchor="ctr">
                    <a:solidFill>
                      <a:srgbClr val="F7F9FC"/>
                    </a:solidFill>
                  </a:tcPr>
                </a:tc>
              </a:tr>
            </a:tbl>
          </a:graphicData>
        </a:graphic>
      </p:graphicFrame>
      <p:sp>
        <p:nvSpPr>
          <p:cNvPr id="46" name="Rectangle 45"/>
          <p:cNvSpPr/>
          <p:nvPr/>
        </p:nvSpPr>
        <p:spPr>
          <a:xfrm>
            <a:off x="7315200" y="3986784"/>
            <a:ext cx="4462272" cy="1858518"/>
          </a:xfrm>
          <a:prstGeom prst="rect">
            <a:avLst/>
          </a:prstGeom>
          <a:solidFill>
            <a:srgbClr val="FCEFE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7" name="Rectangle 46"/>
          <p:cNvSpPr/>
          <p:nvPr/>
        </p:nvSpPr>
        <p:spPr>
          <a:xfrm>
            <a:off x="7315200" y="3986784"/>
            <a:ext cx="50292" cy="185851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8" name="TextBox 47"/>
          <p:cNvSpPr txBox="1"/>
          <p:nvPr/>
        </p:nvSpPr>
        <p:spPr>
          <a:xfrm>
            <a:off x="7534656" y="4133088"/>
            <a:ext cx="4133087" cy="158750"/>
          </a:xfrm>
          <a:prstGeom prst="rect">
            <a:avLst/>
          </a:prstGeom>
          <a:noFill/>
        </p:spPr>
        <p:txBody>
          <a:bodyPr wrap="square" lIns="0" rIns="0" tIns="0" bIns="0" anchor="t">
            <a:noAutofit/>
          </a:bodyPr>
          <a:lstStyle/>
          <a:p>
            <a:pPr algn="l">
              <a:lnSpc>
                <a:spcPts val="1250"/>
              </a:lnSpc>
            </a:pPr>
            <a:r>
              <a:rPr sz="950" b="1">
                <a:solidFill>
                  <a:srgbClr val="CC0000"/>
                </a:solidFill>
                <a:latin typeface="Kanit"/>
              </a:rPr>
              <a:t>Income rose. Costs rose faster.</a:t>
            </a:r>
          </a:p>
        </p:txBody>
      </p:sp>
      <p:sp>
        <p:nvSpPr>
          <p:cNvPr id="49" name="TextBox 48"/>
          <p:cNvSpPr txBox="1"/>
          <p:nvPr/>
        </p:nvSpPr>
        <p:spPr>
          <a:xfrm>
            <a:off x="7534656" y="4337558"/>
            <a:ext cx="4133087" cy="136144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Gross income is up 18.3% across the four years and crop income specifically up 33.8% — that is not a household whose farming failed. What moved against them is the cost of growing: crop input costs are up 64.3% over the same four years.
That is why the net-cash bars fall while the income cards look healthy, and it is the same arithmetic as the margin slide two pages back. Watch the cost side, not the price headline.</a:t>
            </a:r>
          </a:p>
        </p:txBody>
      </p:sp>
      <p:sp>
        <p:nvSpPr>
          <p:cNvPr id="50" name="Rounded Rectangle 49"/>
          <p:cNvSpPr/>
          <p:nvPr/>
        </p:nvSpPr>
        <p:spPr>
          <a:xfrm>
            <a:off x="411480" y="6089904"/>
            <a:ext cx="754177" cy="192024"/>
          </a:xfrm>
          <a:prstGeom prst="roundRect">
            <a:avLst>
              <a:gd name="adj" fmla="val 50000"/>
            </a:avLst>
          </a:prstGeom>
          <a:noFill/>
          <a:ln w="9525">
            <a:solidFill>
              <a:srgbClr val="15795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1" name="TextBox 50"/>
          <p:cNvSpPr txBox="1"/>
          <p:nvPr/>
        </p:nvSpPr>
        <p:spPr>
          <a:xfrm>
            <a:off x="411480" y="6119164"/>
            <a:ext cx="754177" cy="134112"/>
          </a:xfrm>
          <a:prstGeom prst="rect">
            <a:avLst/>
          </a:prstGeom>
          <a:noFill/>
        </p:spPr>
        <p:txBody>
          <a:bodyPr wrap="square" lIns="0" rIns="0" tIns="0" bIns="0" anchor="t">
            <a:noAutofit/>
          </a:bodyPr>
          <a:lstStyle/>
          <a:p>
            <a:pPr algn="ctr">
              <a:lnSpc>
                <a:spcPts val="1056"/>
              </a:lnSpc>
            </a:pPr>
            <a:r>
              <a:rPr sz="800" b="1">
                <a:solidFill>
                  <a:srgbClr val="15795F"/>
                </a:solidFill>
                <a:latin typeface="Kanit"/>
              </a:rPr>
              <a:t>MEASURED</a:t>
            </a:r>
          </a:p>
        </p:txBody>
      </p:sp>
      <p:sp>
        <p:nvSpPr>
          <p:cNvPr id="52" name="TextBox 51"/>
          <p:cNvSpPr txBox="1"/>
          <p:nvPr/>
        </p:nvSpPr>
        <p:spPr>
          <a:xfrm>
            <a:off x="1275385" y="6103620"/>
            <a:ext cx="10502086" cy="308610"/>
          </a:xfrm>
          <a:prstGeom prst="rect">
            <a:avLst/>
          </a:prstGeom>
          <a:noFill/>
        </p:spPr>
        <p:txBody>
          <a:bodyPr wrap="square" lIns="0" rIns="0" tIns="0" bIns="0" anchor="t">
            <a:noAutofit/>
          </a:bodyPr>
          <a:lstStyle/>
          <a:p>
            <a:pPr algn="l">
              <a:lnSpc>
                <a:spcPts val="1215"/>
              </a:lnSpc>
            </a:pPr>
            <a:r>
              <a:rPr sz="900" b="0">
                <a:solidFill>
                  <a:srgbClr val="606060"/>
                </a:solidFill>
                <a:latin typeface="Kanit"/>
              </a:rPr>
              <a:t>OAE farm socio-economic survey — a sample SURVEY of national means, baht per household per year; not a census, not cut by province. Crop years 2562/63 and 2566/67. The same survey profiles the household: head aged 60, 3.7 people, 2.4 of working age, 25 rai.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08 · DROUGHT</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36.4% of districts are dry, and it lands on the rice belt.</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Rounded Rectangle 8"/>
          <p:cNvSpPr/>
          <p:nvPr/>
        </p:nvSpPr>
        <p:spPr>
          <a:xfrm>
            <a:off x="411480" y="1152144"/>
            <a:ext cx="2738628" cy="1005840"/>
          </a:xfrm>
          <a:prstGeom prst="roundRect">
            <a:avLst>
              <a:gd name="adj" fmla="val 8181"/>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548640"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Districts in drought</a:t>
            </a:r>
          </a:p>
        </p:txBody>
      </p:sp>
      <p:sp>
        <p:nvSpPr>
          <p:cNvPr id="11" name="TextBox 10"/>
          <p:cNvSpPr txBox="1"/>
          <p:nvPr/>
        </p:nvSpPr>
        <p:spPr>
          <a:xfrm>
            <a:off x="548640" y="1426464"/>
            <a:ext cx="2464308" cy="330200"/>
          </a:xfrm>
          <a:prstGeom prst="rect">
            <a:avLst/>
          </a:prstGeom>
          <a:noFill/>
        </p:spPr>
        <p:txBody>
          <a:bodyPr wrap="square" lIns="0" rIns="0" tIns="0" bIns="0" anchor="t">
            <a:noAutofit/>
          </a:bodyPr>
          <a:lstStyle/>
          <a:p>
            <a:pPr algn="l">
              <a:lnSpc>
                <a:spcPts val="2600"/>
              </a:lnSpc>
            </a:pPr>
            <a:r>
              <a:rPr sz="2100" b="1">
                <a:solidFill>
                  <a:srgbClr val="CC0000"/>
                </a:solidFill>
                <a:latin typeface="Kanit"/>
              </a:rPr>
              <a:t>338</a:t>
            </a:r>
          </a:p>
        </p:txBody>
      </p:sp>
      <p:sp>
        <p:nvSpPr>
          <p:cNvPr id="12" name="TextBox 11"/>
          <p:cNvSpPr txBox="1"/>
          <p:nvPr/>
        </p:nvSpPr>
        <p:spPr>
          <a:xfrm>
            <a:off x="548640" y="1792224"/>
            <a:ext cx="2464308" cy="292608"/>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of 928 (36.4%) · SPEI mean -0.84</a:t>
            </a:r>
          </a:p>
        </p:txBody>
      </p:sp>
      <p:sp>
        <p:nvSpPr>
          <p:cNvPr id="13" name="Rounded Rectangle 12"/>
          <p:cNvSpPr/>
          <p:nvPr/>
        </p:nvSpPr>
        <p:spPr>
          <a:xfrm>
            <a:off x="3287268" y="1152144"/>
            <a:ext cx="2738628" cy="1005840"/>
          </a:xfrm>
          <a:prstGeom prst="roundRect">
            <a:avLst>
              <a:gd name="adj" fmla="val 8181"/>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3424428"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Extreme band</a:t>
            </a:r>
          </a:p>
        </p:txBody>
      </p:sp>
      <p:sp>
        <p:nvSpPr>
          <p:cNvPr id="15" name="TextBox 14"/>
          <p:cNvSpPr txBox="1"/>
          <p:nvPr/>
        </p:nvSpPr>
        <p:spPr>
          <a:xfrm>
            <a:off x="3424428" y="1426464"/>
            <a:ext cx="2464308" cy="330200"/>
          </a:xfrm>
          <a:prstGeom prst="rect">
            <a:avLst/>
          </a:prstGeom>
          <a:noFill/>
        </p:spPr>
        <p:txBody>
          <a:bodyPr wrap="square" lIns="0" rIns="0" tIns="0" bIns="0" anchor="t">
            <a:noAutofit/>
          </a:bodyPr>
          <a:lstStyle/>
          <a:p>
            <a:pPr algn="l">
              <a:lnSpc>
                <a:spcPts val="2600"/>
              </a:lnSpc>
            </a:pPr>
            <a:r>
              <a:rPr sz="2100" b="1">
                <a:solidFill>
                  <a:srgbClr val="CC0000"/>
                </a:solidFill>
                <a:latin typeface="Kanit"/>
              </a:rPr>
              <a:t>2</a:t>
            </a:r>
          </a:p>
        </p:txBody>
      </p:sp>
      <p:sp>
        <p:nvSpPr>
          <p:cNvPr id="16" name="TextBox 15"/>
          <p:cNvSpPr txBox="1"/>
          <p:nvPr/>
        </p:nvSpPr>
        <p:spPr>
          <a:xfrm>
            <a:off x="3424428" y="1792224"/>
            <a:ext cx="2464308" cy="292608"/>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districts at the extreme drought band</a:t>
            </a:r>
          </a:p>
        </p:txBody>
      </p:sp>
      <p:sp>
        <p:nvSpPr>
          <p:cNvPr id="17" name="Rounded Rectangle 16"/>
          <p:cNvSpPr/>
          <p:nvPr/>
        </p:nvSpPr>
        <p:spPr>
          <a:xfrm>
            <a:off x="6163056" y="1152144"/>
            <a:ext cx="2738628" cy="1005840"/>
          </a:xfrm>
          <a:prstGeom prst="roundRect">
            <a:avLst>
              <a:gd name="adj" fmla="val 8181"/>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6300216"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District-crop cells</a:t>
            </a:r>
          </a:p>
        </p:txBody>
      </p:sp>
      <p:sp>
        <p:nvSpPr>
          <p:cNvPr id="19" name="TextBox 18"/>
          <p:cNvSpPr txBox="1"/>
          <p:nvPr/>
        </p:nvSpPr>
        <p:spPr>
          <a:xfrm>
            <a:off x="6300216" y="1426464"/>
            <a:ext cx="2464308" cy="330200"/>
          </a:xfrm>
          <a:prstGeom prst="rect">
            <a:avLst/>
          </a:prstGeom>
          <a:noFill/>
        </p:spPr>
        <p:txBody>
          <a:bodyPr wrap="square" lIns="0" rIns="0" tIns="0" bIns="0" anchor="t">
            <a:noAutofit/>
          </a:bodyPr>
          <a:lstStyle/>
          <a:p>
            <a:pPr algn="l">
              <a:lnSpc>
                <a:spcPts val="2600"/>
              </a:lnSpc>
            </a:pPr>
            <a:r>
              <a:rPr sz="2100" b="1">
                <a:solidFill>
                  <a:srgbClr val="F5C242"/>
                </a:solidFill>
                <a:latin typeface="Kanit"/>
              </a:rPr>
              <a:t>318</a:t>
            </a:r>
          </a:p>
        </p:txBody>
      </p:sp>
      <p:sp>
        <p:nvSpPr>
          <p:cNvPr id="20" name="TextBox 19"/>
          <p:cNvSpPr txBox="1"/>
          <p:nvPr/>
        </p:nvSpPr>
        <p:spPr>
          <a:xfrm>
            <a:off x="6300216" y="1792224"/>
            <a:ext cx="2464308" cy="292608"/>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of 3,295 measured cells at severe drought or worse</a:t>
            </a:r>
          </a:p>
        </p:txBody>
      </p:sp>
      <p:sp>
        <p:nvSpPr>
          <p:cNvPr id="21" name="Rounded Rectangle 20"/>
          <p:cNvSpPr/>
          <p:nvPr/>
        </p:nvSpPr>
        <p:spPr>
          <a:xfrm>
            <a:off x="9038844" y="1152144"/>
            <a:ext cx="2738628" cy="1005840"/>
          </a:xfrm>
          <a:prstGeom prst="roundRect">
            <a:avLst>
              <a:gd name="adj" fmla="val 8181"/>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9176004"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Double-stressed</a:t>
            </a:r>
          </a:p>
        </p:txBody>
      </p:sp>
      <p:sp>
        <p:nvSpPr>
          <p:cNvPr id="23" name="TextBox 22"/>
          <p:cNvSpPr txBox="1"/>
          <p:nvPr/>
        </p:nvSpPr>
        <p:spPr>
          <a:xfrm>
            <a:off x="9176004" y="1426464"/>
            <a:ext cx="2464308" cy="330200"/>
          </a:xfrm>
          <a:prstGeom prst="rect">
            <a:avLst/>
          </a:prstGeom>
          <a:noFill/>
        </p:spPr>
        <p:txBody>
          <a:bodyPr wrap="square" lIns="0" rIns="0" tIns="0" bIns="0" anchor="t">
            <a:noAutofit/>
          </a:bodyPr>
          <a:lstStyle/>
          <a:p>
            <a:pPr algn="l">
              <a:lnSpc>
                <a:spcPts val="2600"/>
              </a:lnSpc>
            </a:pPr>
            <a:r>
              <a:rPr sz="2100" b="1">
                <a:solidFill>
                  <a:srgbClr val="F5C242"/>
                </a:solidFill>
                <a:latin typeface="Kanit"/>
              </a:rPr>
              <a:t>0</a:t>
            </a:r>
          </a:p>
        </p:txBody>
      </p:sp>
      <p:sp>
        <p:nvSpPr>
          <p:cNvPr id="24" name="TextBox 23"/>
          <p:cNvSpPr txBox="1"/>
          <p:nvPr/>
        </p:nvSpPr>
        <p:spPr>
          <a:xfrm>
            <a:off x="9176004" y="1792224"/>
            <a:ext cx="2464308" cy="292608"/>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on the world-price test — see the note below</a:t>
            </a:r>
          </a:p>
        </p:txBody>
      </p:sp>
      <p:graphicFrame>
        <p:nvGraphicFramePr>
          <p:cNvPr id="25" name="Table 24"/>
          <p:cNvGraphicFramePr>
            <a:graphicFrameLocks noGrp="1"/>
          </p:cNvGraphicFramePr>
          <p:nvPr/>
        </p:nvGraphicFramePr>
        <p:xfrm>
          <a:off x="411480" y="2340864"/>
          <a:ext cx="11365991" cy="1909266"/>
        </p:xfrm>
        <a:graphic>
          <a:graphicData uri="http://schemas.openxmlformats.org/drawingml/2006/table">
            <a:tbl>
              <a:tblPr>
                <a:tableStyleId>{5C22544A-7EE6-4342-B048-85BDC9FD1C3A}</a:tableStyleId>
              </a:tblPr>
              <a:tblGrid>
                <a:gridCol w="2119083"/>
                <a:gridCol w="2119083"/>
                <a:gridCol w="2311727"/>
                <a:gridCol w="1926439"/>
                <a:gridCol w="1348508"/>
                <a:gridCol w="1541151"/>
              </a:tblGrid>
              <a:tr h="329184">
                <a:tc>
                  <a:txBody>
                    <a:bodyPr wrap="square"/>
                    <a:lstStyle/>
                    <a:p>
                      <a:pPr algn="l"/>
                      <a:r>
                        <a:rPr sz="1050" b="1">
                          <a:solidFill>
                            <a:srgbClr val="FFFFFF"/>
                          </a:solidFill>
                          <a:latin typeface="Kanit"/>
                        </a:rPr>
                        <a:t>Province</a:t>
                      </a:r>
                    </a:p>
                  </a:txBody>
                  <a:tcPr marL="54864" marR="54864" marT="18288" marB="18288" anchor="ctr">
                    <a:solidFill>
                      <a:srgbClr val="1B2A6B"/>
                    </a:solidFill>
                  </a:tcPr>
                </a:tc>
                <a:tc>
                  <a:txBody>
                    <a:bodyPr wrap="square"/>
                    <a:lstStyle/>
                    <a:p>
                      <a:pPr algn="l"/>
                      <a:r>
                        <a:rPr sz="1050" b="1">
                          <a:solidFill>
                            <a:srgbClr val="FFFFFF"/>
                          </a:solidFill>
                          <a:latin typeface="Kanit"/>
                        </a:rPr>
                        <a:t>District</a:t>
                      </a:r>
                    </a:p>
                  </a:txBody>
                  <a:tcPr marL="54864" marR="54864" marT="18288" marB="18288" anchor="ctr">
                    <a:solidFill>
                      <a:srgbClr val="1B2A6B"/>
                    </a:solidFill>
                  </a:tcPr>
                </a:tc>
                <a:tc>
                  <a:txBody>
                    <a:bodyPr wrap="square"/>
                    <a:lstStyle/>
                    <a:p>
                      <a:pPr algn="l"/>
                      <a:r>
                        <a:rPr sz="1050" b="1">
                          <a:solidFill>
                            <a:srgbClr val="FFFFFF"/>
                          </a:solidFill>
                          <a:latin typeface="Kanit"/>
                        </a:rPr>
                        <a:t>Crop</a:t>
                      </a:r>
                    </a:p>
                  </a:txBody>
                  <a:tcPr marL="54864" marR="54864" marT="18288" marB="18288" anchor="ctr">
                    <a:solidFill>
                      <a:srgbClr val="1B2A6B"/>
                    </a:solidFill>
                  </a:tcPr>
                </a:tc>
                <a:tc>
                  <a:txBody>
                    <a:bodyPr wrap="square"/>
                    <a:lstStyle/>
                    <a:p>
                      <a:pPr algn="r"/>
                      <a:r>
                        <a:rPr sz="1050" b="1">
                          <a:solidFill>
                            <a:srgbClr val="FFFFFF"/>
                          </a:solidFill>
                          <a:latin typeface="Kanit"/>
                        </a:rPr>
                        <a:t>Planted (rai)</a:t>
                      </a:r>
                    </a:p>
                  </a:txBody>
                  <a:tcPr marL="54864" marR="54864" marT="18288" marB="18288" anchor="ctr">
                    <a:solidFill>
                      <a:srgbClr val="1B2A6B"/>
                    </a:solidFill>
                  </a:tcPr>
                </a:tc>
                <a:tc>
                  <a:txBody>
                    <a:bodyPr wrap="square"/>
                    <a:lstStyle/>
                    <a:p>
                      <a:pPr algn="r"/>
                      <a:r>
                        <a:rPr sz="1050" b="1">
                          <a:solidFill>
                            <a:srgbClr val="FFFFFF"/>
                          </a:solidFill>
                          <a:latin typeface="Kanit"/>
                        </a:rPr>
                        <a:t>SPEI</a:t>
                      </a:r>
                    </a:p>
                  </a:txBody>
                  <a:tcPr marL="54864" marR="54864" marT="18288" marB="18288" anchor="ctr">
                    <a:solidFill>
                      <a:srgbClr val="1B2A6B"/>
                    </a:solidFill>
                  </a:tcPr>
                </a:tc>
                <a:tc>
                  <a:txBody>
                    <a:bodyPr wrap="square"/>
                    <a:lstStyle/>
                    <a:p>
                      <a:pPr algn="l"/>
                      <a:r>
                        <a:rPr sz="1050" b="1">
                          <a:solidFill>
                            <a:srgbClr val="FFFFFF"/>
                          </a:solidFill>
                          <a:latin typeface="Kanit"/>
                        </a:rPr>
                        <a:t>Band</a:t>
                      </a:r>
                    </a:p>
                  </a:txBody>
                  <a:tcPr marL="54864" marR="54864" marT="18288" marB="18288" anchor="ctr">
                    <a:solidFill>
                      <a:srgbClr val="1B2A6B"/>
                    </a:solidFill>
                  </a:tcPr>
                </a:tc>
              </a:tr>
              <a:tr h="263347">
                <a:tc>
                  <a:txBody>
                    <a:bodyPr wrap="square"/>
                    <a:lstStyle/>
                    <a:p>
                      <a:pPr algn="l"/>
                      <a:r>
                        <a:rPr sz="1000" b="1">
                          <a:solidFill>
                            <a:srgbClr val="1E2F5C"/>
                          </a:solidFill>
                          <a:latin typeface="Kanit"/>
                        </a:rPr>
                        <a:t>สระแก้ว</a:t>
                      </a:r>
                    </a:p>
                  </a:txBody>
                  <a:tcPr marL="54864" marR="54864" marT="18288" marB="18288" anchor="ctr">
                    <a:solidFill>
                      <a:srgbClr val="FFFFFF"/>
                    </a:solidFill>
                  </a:tcPr>
                </a:tc>
                <a:tc>
                  <a:txBody>
                    <a:bodyPr wrap="square"/>
                    <a:lstStyle/>
                    <a:p>
                      <a:pPr algn="l"/>
                      <a:r>
                        <a:rPr sz="1000" b="0">
                          <a:solidFill>
                            <a:srgbClr val="1E2F5C"/>
                          </a:solidFill>
                          <a:latin typeface="Kanit"/>
                        </a:rPr>
                        <a:t>ตาพระยา</a:t>
                      </a:r>
                    </a:p>
                  </a:txBody>
                  <a:tcPr marL="54864" marR="54864" marT="18288" marB="18288" anchor="ctr">
                    <a:solidFill>
                      <a:srgbClr val="FFFFFF"/>
                    </a:solidFill>
                  </a:tcPr>
                </a:tc>
                <a:tc>
                  <a:txBody>
                    <a:bodyPr wrap="square"/>
                    <a:lstStyle/>
                    <a:p>
                      <a:pPr algn="l"/>
                      <a:r>
                        <a:rPr sz="1000" b="0">
                          <a:solidFill>
                            <a:srgbClr val="1E2F5C"/>
                          </a:solidFill>
                          <a:latin typeface="Kanit"/>
                        </a:rPr>
                        <a:t>ข้าวนาปี</a:t>
                      </a:r>
                    </a:p>
                  </a:txBody>
                  <a:tcPr marL="54864" marR="54864" marT="18288" marB="18288" anchor="ctr">
                    <a:solidFill>
                      <a:srgbClr val="FFFFFF"/>
                    </a:solidFill>
                  </a:tcPr>
                </a:tc>
                <a:tc>
                  <a:txBody>
                    <a:bodyPr wrap="square"/>
                    <a:lstStyle/>
                    <a:p>
                      <a:pPr algn="r"/>
                      <a:r>
                        <a:rPr sz="1000" b="0">
                          <a:solidFill>
                            <a:srgbClr val="1E2F5C"/>
                          </a:solidFill>
                          <a:latin typeface="Kanit"/>
                        </a:rPr>
                        <a:t>213,392</a:t>
                      </a:r>
                    </a:p>
                  </a:txBody>
                  <a:tcPr marL="54864" marR="54864" marT="18288" marB="18288" anchor="ctr">
                    <a:solidFill>
                      <a:srgbClr val="FFFFFF"/>
                    </a:solidFill>
                  </a:tcPr>
                </a:tc>
                <a:tc>
                  <a:txBody>
                    <a:bodyPr wrap="square"/>
                    <a:lstStyle/>
                    <a:p>
                      <a:pPr algn="r"/>
                      <a:r>
                        <a:rPr sz="1000" b="1">
                          <a:solidFill>
                            <a:srgbClr val="CC0000"/>
                          </a:solidFill>
                          <a:latin typeface="Kanit"/>
                        </a:rPr>
                        <a:t>-1.70</a:t>
                      </a:r>
                    </a:p>
                  </a:txBody>
                  <a:tcPr marL="54864" marR="54864" marT="18288" marB="18288" anchor="ctr">
                    <a:solidFill>
                      <a:srgbClr val="FFFFFF"/>
                    </a:solidFill>
                  </a:tcPr>
                </a:tc>
                <a:tc>
                  <a:txBody>
                    <a:bodyPr wrap="square"/>
                    <a:lstStyle/>
                    <a:p>
                      <a:pPr algn="l"/>
                      <a:r>
                        <a:rPr sz="1000" b="0">
                          <a:solidFill>
                            <a:srgbClr val="CC0000"/>
                          </a:solidFill>
                          <a:latin typeface="Kanit"/>
                        </a:rPr>
                        <a:t>severe</a:t>
                      </a:r>
                    </a:p>
                  </a:txBody>
                  <a:tcPr marL="54864" marR="54864" marT="18288" marB="18288" anchor="ctr">
                    <a:solidFill>
                      <a:srgbClr val="FFFFFF"/>
                    </a:solidFill>
                  </a:tcPr>
                </a:tc>
              </a:tr>
              <a:tr h="263347">
                <a:tc>
                  <a:txBody>
                    <a:bodyPr wrap="square"/>
                    <a:lstStyle/>
                    <a:p>
                      <a:pPr algn="l"/>
                      <a:r>
                        <a:rPr sz="1000" b="1">
                          <a:solidFill>
                            <a:srgbClr val="1E2F5C"/>
                          </a:solidFill>
                          <a:latin typeface="Kanit"/>
                        </a:rPr>
                        <a:t>สระแก้ว</a:t>
                      </a:r>
                    </a:p>
                  </a:txBody>
                  <a:tcPr marL="54864" marR="54864" marT="18288" marB="18288" anchor="ctr">
                    <a:solidFill>
                      <a:srgbClr val="F7F9FC"/>
                    </a:solidFill>
                  </a:tcPr>
                </a:tc>
                <a:tc>
                  <a:txBody>
                    <a:bodyPr wrap="square"/>
                    <a:lstStyle/>
                    <a:p>
                      <a:pPr algn="l"/>
                      <a:r>
                        <a:rPr sz="1000" b="0">
                          <a:solidFill>
                            <a:srgbClr val="1E2F5C"/>
                          </a:solidFill>
                          <a:latin typeface="Kanit"/>
                        </a:rPr>
                        <a:t>อรัญประเทศ</a:t>
                      </a:r>
                    </a:p>
                  </a:txBody>
                  <a:tcPr marL="54864" marR="54864" marT="18288" marB="18288" anchor="ctr">
                    <a:solidFill>
                      <a:srgbClr val="F7F9FC"/>
                    </a:solidFill>
                  </a:tcPr>
                </a:tc>
                <a:tc>
                  <a:txBody>
                    <a:bodyPr wrap="square"/>
                    <a:lstStyle/>
                    <a:p>
                      <a:pPr algn="l"/>
                      <a:r>
                        <a:rPr sz="1000" b="0">
                          <a:solidFill>
                            <a:srgbClr val="1E2F5C"/>
                          </a:solidFill>
                          <a:latin typeface="Kanit"/>
                        </a:rPr>
                        <a:t>ข้าวนาปี</a:t>
                      </a:r>
                    </a:p>
                  </a:txBody>
                  <a:tcPr marL="54864" marR="54864" marT="18288" marB="18288" anchor="ctr">
                    <a:solidFill>
                      <a:srgbClr val="F7F9FC"/>
                    </a:solidFill>
                  </a:tcPr>
                </a:tc>
                <a:tc>
                  <a:txBody>
                    <a:bodyPr wrap="square"/>
                    <a:lstStyle/>
                    <a:p>
                      <a:pPr algn="r"/>
                      <a:r>
                        <a:rPr sz="1000" b="0">
                          <a:solidFill>
                            <a:srgbClr val="1E2F5C"/>
                          </a:solidFill>
                          <a:latin typeface="Kanit"/>
                        </a:rPr>
                        <a:t>158,047</a:t>
                      </a:r>
                    </a:p>
                  </a:txBody>
                  <a:tcPr marL="54864" marR="54864" marT="18288" marB="18288" anchor="ctr">
                    <a:solidFill>
                      <a:srgbClr val="F7F9FC"/>
                    </a:solidFill>
                  </a:tcPr>
                </a:tc>
                <a:tc>
                  <a:txBody>
                    <a:bodyPr wrap="square"/>
                    <a:lstStyle/>
                    <a:p>
                      <a:pPr algn="r"/>
                      <a:r>
                        <a:rPr sz="1000" b="1">
                          <a:solidFill>
                            <a:srgbClr val="CC0000"/>
                          </a:solidFill>
                          <a:latin typeface="Kanit"/>
                        </a:rPr>
                        <a:t>-1.51</a:t>
                      </a:r>
                    </a:p>
                  </a:txBody>
                  <a:tcPr marL="54864" marR="54864" marT="18288" marB="18288" anchor="ctr">
                    <a:solidFill>
                      <a:srgbClr val="F7F9FC"/>
                    </a:solidFill>
                  </a:tcPr>
                </a:tc>
                <a:tc>
                  <a:txBody>
                    <a:bodyPr wrap="square"/>
                    <a:lstStyle/>
                    <a:p>
                      <a:pPr algn="l"/>
                      <a:r>
                        <a:rPr sz="1000" b="0">
                          <a:solidFill>
                            <a:srgbClr val="CC0000"/>
                          </a:solidFill>
                          <a:latin typeface="Kanit"/>
                        </a:rPr>
                        <a:t>severe</a:t>
                      </a:r>
                    </a:p>
                  </a:txBody>
                  <a:tcPr marL="54864" marR="54864" marT="18288" marB="18288" anchor="ctr">
                    <a:solidFill>
                      <a:srgbClr val="F7F9FC"/>
                    </a:solidFill>
                  </a:tcPr>
                </a:tc>
              </a:tr>
              <a:tr h="263347">
                <a:tc>
                  <a:txBody>
                    <a:bodyPr wrap="square"/>
                    <a:lstStyle/>
                    <a:p>
                      <a:pPr algn="l"/>
                      <a:r>
                        <a:rPr sz="1000" b="1">
                          <a:solidFill>
                            <a:srgbClr val="1E2F5C"/>
                          </a:solidFill>
                          <a:latin typeface="Kanit"/>
                        </a:rPr>
                        <a:t>นครราชสีมา</a:t>
                      </a:r>
                    </a:p>
                  </a:txBody>
                  <a:tcPr marL="54864" marR="54864" marT="18288" marB="18288" anchor="ctr">
                    <a:solidFill>
                      <a:srgbClr val="FFFFFF"/>
                    </a:solidFill>
                  </a:tcPr>
                </a:tc>
                <a:tc>
                  <a:txBody>
                    <a:bodyPr wrap="square"/>
                    <a:lstStyle/>
                    <a:p>
                      <a:pPr algn="l"/>
                      <a:r>
                        <a:rPr sz="1000" b="0">
                          <a:solidFill>
                            <a:srgbClr val="1E2F5C"/>
                          </a:solidFill>
                          <a:latin typeface="Kanit"/>
                        </a:rPr>
                        <a:t>หนองบุญมาก</a:t>
                      </a:r>
                    </a:p>
                  </a:txBody>
                  <a:tcPr marL="54864" marR="54864" marT="18288" marB="18288" anchor="ctr">
                    <a:solidFill>
                      <a:srgbClr val="FFFFFF"/>
                    </a:solidFill>
                  </a:tcPr>
                </a:tc>
                <a:tc>
                  <a:txBody>
                    <a:bodyPr wrap="square"/>
                    <a:lstStyle/>
                    <a:p>
                      <a:pPr algn="l"/>
                      <a:r>
                        <a:rPr sz="1000" b="0">
                          <a:solidFill>
                            <a:srgbClr val="1E2F5C"/>
                          </a:solidFill>
                          <a:latin typeface="Kanit"/>
                        </a:rPr>
                        <a:t>มันสำปะหลังโรงงาน</a:t>
                      </a:r>
                    </a:p>
                  </a:txBody>
                  <a:tcPr marL="54864" marR="54864" marT="18288" marB="18288" anchor="ctr">
                    <a:solidFill>
                      <a:srgbClr val="FFFFFF"/>
                    </a:solidFill>
                  </a:tcPr>
                </a:tc>
                <a:tc>
                  <a:txBody>
                    <a:bodyPr wrap="square"/>
                    <a:lstStyle/>
                    <a:p>
                      <a:pPr algn="r"/>
                      <a:r>
                        <a:rPr sz="1000" b="0">
                          <a:solidFill>
                            <a:srgbClr val="1E2F5C"/>
                          </a:solidFill>
                          <a:latin typeface="Kanit"/>
                        </a:rPr>
                        <a:t>150,409</a:t>
                      </a:r>
                    </a:p>
                  </a:txBody>
                  <a:tcPr marL="54864" marR="54864" marT="18288" marB="18288" anchor="ctr">
                    <a:solidFill>
                      <a:srgbClr val="FFFFFF"/>
                    </a:solidFill>
                  </a:tcPr>
                </a:tc>
                <a:tc>
                  <a:txBody>
                    <a:bodyPr wrap="square"/>
                    <a:lstStyle/>
                    <a:p>
                      <a:pPr algn="r"/>
                      <a:r>
                        <a:rPr sz="1000" b="1">
                          <a:solidFill>
                            <a:srgbClr val="CC0000"/>
                          </a:solidFill>
                          <a:latin typeface="Kanit"/>
                        </a:rPr>
                        <a:t>-1.62</a:t>
                      </a:r>
                    </a:p>
                  </a:txBody>
                  <a:tcPr marL="54864" marR="54864" marT="18288" marB="18288" anchor="ctr">
                    <a:solidFill>
                      <a:srgbClr val="FFFFFF"/>
                    </a:solidFill>
                  </a:tcPr>
                </a:tc>
                <a:tc>
                  <a:txBody>
                    <a:bodyPr wrap="square"/>
                    <a:lstStyle/>
                    <a:p>
                      <a:pPr algn="l"/>
                      <a:r>
                        <a:rPr sz="1000" b="0">
                          <a:solidFill>
                            <a:srgbClr val="CC0000"/>
                          </a:solidFill>
                          <a:latin typeface="Kanit"/>
                        </a:rPr>
                        <a:t>severe</a:t>
                      </a:r>
                    </a:p>
                  </a:txBody>
                  <a:tcPr marL="54864" marR="54864" marT="18288" marB="18288" anchor="ctr">
                    <a:solidFill>
                      <a:srgbClr val="FFFFFF"/>
                    </a:solidFill>
                  </a:tcPr>
                </a:tc>
              </a:tr>
              <a:tr h="263347">
                <a:tc>
                  <a:txBody>
                    <a:bodyPr wrap="square"/>
                    <a:lstStyle/>
                    <a:p>
                      <a:pPr algn="l"/>
                      <a:r>
                        <a:rPr sz="1000" b="1">
                          <a:solidFill>
                            <a:srgbClr val="1E2F5C"/>
                          </a:solidFill>
                          <a:latin typeface="Kanit"/>
                        </a:rPr>
                        <a:t>ชัยภูมิ</a:t>
                      </a:r>
                    </a:p>
                  </a:txBody>
                  <a:tcPr marL="54864" marR="54864" marT="18288" marB="18288" anchor="ctr">
                    <a:solidFill>
                      <a:srgbClr val="F7F9FC"/>
                    </a:solidFill>
                  </a:tcPr>
                </a:tc>
                <a:tc>
                  <a:txBody>
                    <a:bodyPr wrap="square"/>
                    <a:lstStyle/>
                    <a:p>
                      <a:pPr algn="l"/>
                      <a:r>
                        <a:rPr sz="1000" b="0">
                          <a:solidFill>
                            <a:srgbClr val="1E2F5C"/>
                          </a:solidFill>
                          <a:latin typeface="Kanit"/>
                        </a:rPr>
                        <a:t>คอนสวรรค์</a:t>
                      </a:r>
                    </a:p>
                  </a:txBody>
                  <a:tcPr marL="54864" marR="54864" marT="18288" marB="18288" anchor="ctr">
                    <a:solidFill>
                      <a:srgbClr val="F7F9FC"/>
                    </a:solidFill>
                  </a:tcPr>
                </a:tc>
                <a:tc>
                  <a:txBody>
                    <a:bodyPr wrap="square"/>
                    <a:lstStyle/>
                    <a:p>
                      <a:pPr algn="l"/>
                      <a:r>
                        <a:rPr sz="1000" b="0">
                          <a:solidFill>
                            <a:srgbClr val="1E2F5C"/>
                          </a:solidFill>
                          <a:latin typeface="Kanit"/>
                        </a:rPr>
                        <a:t>ข้าวนาปี</a:t>
                      </a:r>
                    </a:p>
                  </a:txBody>
                  <a:tcPr marL="54864" marR="54864" marT="18288" marB="18288" anchor="ctr">
                    <a:solidFill>
                      <a:srgbClr val="F7F9FC"/>
                    </a:solidFill>
                  </a:tcPr>
                </a:tc>
                <a:tc>
                  <a:txBody>
                    <a:bodyPr wrap="square"/>
                    <a:lstStyle/>
                    <a:p>
                      <a:pPr algn="r"/>
                      <a:r>
                        <a:rPr sz="1000" b="0">
                          <a:solidFill>
                            <a:srgbClr val="1E2F5C"/>
                          </a:solidFill>
                          <a:latin typeface="Kanit"/>
                        </a:rPr>
                        <a:t>143,322</a:t>
                      </a:r>
                    </a:p>
                  </a:txBody>
                  <a:tcPr marL="54864" marR="54864" marT="18288" marB="18288" anchor="ctr">
                    <a:solidFill>
                      <a:srgbClr val="F7F9FC"/>
                    </a:solidFill>
                  </a:tcPr>
                </a:tc>
                <a:tc>
                  <a:txBody>
                    <a:bodyPr wrap="square"/>
                    <a:lstStyle/>
                    <a:p>
                      <a:pPr algn="r"/>
                      <a:r>
                        <a:rPr sz="1000" b="1">
                          <a:solidFill>
                            <a:srgbClr val="CC0000"/>
                          </a:solidFill>
                          <a:latin typeface="Kanit"/>
                        </a:rPr>
                        <a:t>-1.51</a:t>
                      </a:r>
                    </a:p>
                  </a:txBody>
                  <a:tcPr marL="54864" marR="54864" marT="18288" marB="18288" anchor="ctr">
                    <a:solidFill>
                      <a:srgbClr val="F7F9FC"/>
                    </a:solidFill>
                  </a:tcPr>
                </a:tc>
                <a:tc>
                  <a:txBody>
                    <a:bodyPr wrap="square"/>
                    <a:lstStyle/>
                    <a:p>
                      <a:pPr algn="l"/>
                      <a:r>
                        <a:rPr sz="1000" b="0">
                          <a:solidFill>
                            <a:srgbClr val="CC0000"/>
                          </a:solidFill>
                          <a:latin typeface="Kanit"/>
                        </a:rPr>
                        <a:t>severe</a:t>
                      </a:r>
                    </a:p>
                  </a:txBody>
                  <a:tcPr marL="54864" marR="54864" marT="18288" marB="18288" anchor="ctr">
                    <a:solidFill>
                      <a:srgbClr val="F7F9FC"/>
                    </a:solidFill>
                  </a:tcPr>
                </a:tc>
              </a:tr>
              <a:tr h="263347">
                <a:tc>
                  <a:txBody>
                    <a:bodyPr wrap="square"/>
                    <a:lstStyle/>
                    <a:p>
                      <a:pPr algn="l"/>
                      <a:r>
                        <a:rPr sz="1000" b="1">
                          <a:solidFill>
                            <a:srgbClr val="1E2F5C"/>
                          </a:solidFill>
                          <a:latin typeface="Kanit"/>
                        </a:rPr>
                        <a:t>ระยอง</a:t>
                      </a:r>
                    </a:p>
                  </a:txBody>
                  <a:tcPr marL="54864" marR="54864" marT="18288" marB="18288" anchor="ctr">
                    <a:solidFill>
                      <a:srgbClr val="FFFFFF"/>
                    </a:solidFill>
                  </a:tcPr>
                </a:tc>
                <a:tc>
                  <a:txBody>
                    <a:bodyPr wrap="square"/>
                    <a:lstStyle/>
                    <a:p>
                      <a:pPr algn="l"/>
                      <a:r>
                        <a:rPr sz="1000" b="0">
                          <a:solidFill>
                            <a:srgbClr val="1E2F5C"/>
                          </a:solidFill>
                          <a:latin typeface="Kanit"/>
                        </a:rPr>
                        <a:t>แกลง</a:t>
                      </a:r>
                    </a:p>
                  </a:txBody>
                  <a:tcPr marL="54864" marR="54864" marT="18288" marB="18288" anchor="ctr">
                    <a:solidFill>
                      <a:srgbClr val="FFFFFF"/>
                    </a:solidFill>
                  </a:tcPr>
                </a:tc>
                <a:tc>
                  <a:txBody>
                    <a:bodyPr wrap="square"/>
                    <a:lstStyle/>
                    <a:p>
                      <a:pPr algn="l"/>
                      <a:r>
                        <a:rPr sz="1000" b="0">
                          <a:solidFill>
                            <a:srgbClr val="1E2F5C"/>
                          </a:solidFill>
                          <a:latin typeface="Kanit"/>
                        </a:rPr>
                        <a:t>ยางพารา</a:t>
                      </a:r>
                    </a:p>
                  </a:txBody>
                  <a:tcPr marL="54864" marR="54864" marT="18288" marB="18288" anchor="ctr">
                    <a:solidFill>
                      <a:srgbClr val="FFFFFF"/>
                    </a:solidFill>
                  </a:tcPr>
                </a:tc>
                <a:tc>
                  <a:txBody>
                    <a:bodyPr wrap="square"/>
                    <a:lstStyle/>
                    <a:p>
                      <a:pPr algn="r"/>
                      <a:r>
                        <a:rPr sz="1000" b="0">
                          <a:solidFill>
                            <a:srgbClr val="1E2F5C"/>
                          </a:solidFill>
                          <a:latin typeface="Kanit"/>
                        </a:rPr>
                        <a:t>121,783</a:t>
                      </a:r>
                    </a:p>
                  </a:txBody>
                  <a:tcPr marL="54864" marR="54864" marT="18288" marB="18288" anchor="ctr">
                    <a:solidFill>
                      <a:srgbClr val="FFFFFF"/>
                    </a:solidFill>
                  </a:tcPr>
                </a:tc>
                <a:tc>
                  <a:txBody>
                    <a:bodyPr wrap="square"/>
                    <a:lstStyle/>
                    <a:p>
                      <a:pPr algn="r"/>
                      <a:r>
                        <a:rPr sz="1000" b="1">
                          <a:solidFill>
                            <a:srgbClr val="CC0000"/>
                          </a:solidFill>
                          <a:latin typeface="Kanit"/>
                        </a:rPr>
                        <a:t>-1.75</a:t>
                      </a:r>
                    </a:p>
                  </a:txBody>
                  <a:tcPr marL="54864" marR="54864" marT="18288" marB="18288" anchor="ctr">
                    <a:solidFill>
                      <a:srgbClr val="FFFFFF"/>
                    </a:solidFill>
                  </a:tcPr>
                </a:tc>
                <a:tc>
                  <a:txBody>
                    <a:bodyPr wrap="square"/>
                    <a:lstStyle/>
                    <a:p>
                      <a:pPr algn="l"/>
                      <a:r>
                        <a:rPr sz="1000" b="0">
                          <a:solidFill>
                            <a:srgbClr val="CC0000"/>
                          </a:solidFill>
                          <a:latin typeface="Kanit"/>
                        </a:rPr>
                        <a:t>severe</a:t>
                      </a:r>
                    </a:p>
                  </a:txBody>
                  <a:tcPr marL="54864" marR="54864" marT="18288" marB="18288" anchor="ctr">
                    <a:solidFill>
                      <a:srgbClr val="FFFFFF"/>
                    </a:solidFill>
                  </a:tcPr>
                </a:tc>
              </a:tr>
              <a:tr h="263347">
                <a:tc>
                  <a:txBody>
                    <a:bodyPr wrap="square"/>
                    <a:lstStyle/>
                    <a:p>
                      <a:pPr algn="l"/>
                      <a:r>
                        <a:rPr sz="1000" b="1">
                          <a:solidFill>
                            <a:srgbClr val="1E2F5C"/>
                          </a:solidFill>
                          <a:latin typeface="Kanit"/>
                        </a:rPr>
                        <a:t>นครราชสีมา</a:t>
                      </a:r>
                    </a:p>
                  </a:txBody>
                  <a:tcPr marL="54864" marR="54864" marT="18288" marB="18288" anchor="ctr">
                    <a:solidFill>
                      <a:srgbClr val="F7F9FC"/>
                    </a:solidFill>
                  </a:tcPr>
                </a:tc>
                <a:tc>
                  <a:txBody>
                    <a:bodyPr wrap="square"/>
                    <a:lstStyle/>
                    <a:p>
                      <a:pPr algn="l"/>
                      <a:r>
                        <a:rPr sz="1000" b="0">
                          <a:solidFill>
                            <a:srgbClr val="1E2F5C"/>
                          </a:solidFill>
                          <a:latin typeface="Kanit"/>
                        </a:rPr>
                        <a:t>เสิงสาง</a:t>
                      </a:r>
                    </a:p>
                  </a:txBody>
                  <a:tcPr marL="54864" marR="54864" marT="18288" marB="18288" anchor="ctr">
                    <a:solidFill>
                      <a:srgbClr val="F7F9FC"/>
                    </a:solidFill>
                  </a:tcPr>
                </a:tc>
                <a:tc>
                  <a:txBody>
                    <a:bodyPr wrap="square"/>
                    <a:lstStyle/>
                    <a:p>
                      <a:pPr algn="l"/>
                      <a:r>
                        <a:rPr sz="1000" b="0">
                          <a:solidFill>
                            <a:srgbClr val="1E2F5C"/>
                          </a:solidFill>
                          <a:latin typeface="Kanit"/>
                        </a:rPr>
                        <a:t>มันสำปะหลังโรงงาน</a:t>
                      </a:r>
                    </a:p>
                  </a:txBody>
                  <a:tcPr marL="54864" marR="54864" marT="18288" marB="18288" anchor="ctr">
                    <a:solidFill>
                      <a:srgbClr val="F7F9FC"/>
                    </a:solidFill>
                  </a:tcPr>
                </a:tc>
                <a:tc>
                  <a:txBody>
                    <a:bodyPr wrap="square"/>
                    <a:lstStyle/>
                    <a:p>
                      <a:pPr algn="r"/>
                      <a:r>
                        <a:rPr sz="1000" b="0">
                          <a:solidFill>
                            <a:srgbClr val="1E2F5C"/>
                          </a:solidFill>
                          <a:latin typeface="Kanit"/>
                        </a:rPr>
                        <a:t>120,512</a:t>
                      </a:r>
                    </a:p>
                  </a:txBody>
                  <a:tcPr marL="54864" marR="54864" marT="18288" marB="18288" anchor="ctr">
                    <a:solidFill>
                      <a:srgbClr val="F7F9FC"/>
                    </a:solidFill>
                  </a:tcPr>
                </a:tc>
                <a:tc>
                  <a:txBody>
                    <a:bodyPr wrap="square"/>
                    <a:lstStyle/>
                    <a:p>
                      <a:pPr algn="r"/>
                      <a:r>
                        <a:rPr sz="1000" b="1">
                          <a:solidFill>
                            <a:srgbClr val="CC0000"/>
                          </a:solidFill>
                          <a:latin typeface="Kanit"/>
                        </a:rPr>
                        <a:t>-1.66</a:t>
                      </a:r>
                    </a:p>
                  </a:txBody>
                  <a:tcPr marL="54864" marR="54864" marT="18288" marB="18288" anchor="ctr">
                    <a:solidFill>
                      <a:srgbClr val="F7F9FC"/>
                    </a:solidFill>
                  </a:tcPr>
                </a:tc>
                <a:tc>
                  <a:txBody>
                    <a:bodyPr wrap="square"/>
                    <a:lstStyle/>
                    <a:p>
                      <a:pPr algn="l"/>
                      <a:r>
                        <a:rPr sz="1000" b="0">
                          <a:solidFill>
                            <a:srgbClr val="CC0000"/>
                          </a:solidFill>
                          <a:latin typeface="Kanit"/>
                        </a:rPr>
                        <a:t>severe</a:t>
                      </a:r>
                    </a:p>
                  </a:txBody>
                  <a:tcPr marL="54864" marR="54864" marT="18288" marB="18288" anchor="ctr">
                    <a:solidFill>
                      <a:srgbClr val="F7F9FC"/>
                    </a:solidFill>
                  </a:tcPr>
                </a:tc>
              </a:tr>
            </a:tbl>
          </a:graphicData>
        </a:graphic>
      </p:graphicFrame>
      <p:sp>
        <p:nvSpPr>
          <p:cNvPr id="26" name="Rounded Rectangle 25"/>
          <p:cNvSpPr/>
          <p:nvPr/>
        </p:nvSpPr>
        <p:spPr>
          <a:xfrm>
            <a:off x="411480" y="4396435"/>
            <a:ext cx="535747" cy="192024"/>
          </a:xfrm>
          <a:prstGeom prst="roundRect">
            <a:avLst>
              <a:gd name="adj" fmla="val 50000"/>
            </a:avLst>
          </a:prstGeom>
          <a:noFill/>
          <a:ln w="9525">
            <a:solidFill>
              <a:srgbClr val="1E2F5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411480" y="4425696"/>
            <a:ext cx="535747" cy="134112"/>
          </a:xfrm>
          <a:prstGeom prst="rect">
            <a:avLst/>
          </a:prstGeom>
          <a:noFill/>
        </p:spPr>
        <p:txBody>
          <a:bodyPr wrap="square" lIns="0" rIns="0" tIns="0" bIns="0" anchor="t">
            <a:noAutofit/>
          </a:bodyPr>
          <a:lstStyle/>
          <a:p>
            <a:pPr algn="ctr">
              <a:lnSpc>
                <a:spcPts val="1056"/>
              </a:lnSpc>
            </a:pPr>
            <a:r>
              <a:rPr sz="800" b="1">
                <a:solidFill>
                  <a:srgbClr val="1E2F5C"/>
                </a:solidFill>
                <a:latin typeface="Kanit"/>
              </a:rPr>
              <a:t>MIXED</a:t>
            </a:r>
          </a:p>
        </p:txBody>
      </p:sp>
      <p:sp>
        <p:nvSpPr>
          <p:cNvPr id="28" name="TextBox 27"/>
          <p:cNvSpPr txBox="1"/>
          <p:nvPr/>
        </p:nvSpPr>
        <p:spPr>
          <a:xfrm>
            <a:off x="1056955" y="4410151"/>
            <a:ext cx="10720516" cy="308610"/>
          </a:xfrm>
          <a:prstGeom prst="rect">
            <a:avLst/>
          </a:prstGeom>
          <a:noFill/>
        </p:spPr>
        <p:txBody>
          <a:bodyPr wrap="square" lIns="0" rIns="0" tIns="0" bIns="0" anchor="t">
            <a:noAutofit/>
          </a:bodyPr>
          <a:lstStyle/>
          <a:p>
            <a:pPr algn="l">
              <a:lnSpc>
                <a:spcPts val="1215"/>
              </a:lnSpc>
            </a:pPr>
            <a:r>
              <a:rPr sz="900" b="0">
                <a:solidFill>
                  <a:srgbClr val="606060"/>
                </a:solidFill>
                <a:latin typeface="Kanit"/>
              </a:rPr>
              <a:t>Planted area MEASURED (OAE — 3,295 amphoe crop rows). Drought is a MODELLED SPEI index derived from rainfall and evapotranspiration: the best national-coverage signal available, but nobody has walked those districts.</a:t>
            </a:r>
          </a:p>
        </p:txBody>
      </p:sp>
      <p:sp>
        <p:nvSpPr>
          <p:cNvPr id="29" name="Rectangle 28"/>
          <p:cNvSpPr/>
          <p:nvPr/>
        </p:nvSpPr>
        <p:spPr>
          <a:xfrm>
            <a:off x="411480" y="4851349"/>
            <a:ext cx="11365992" cy="854456"/>
          </a:xfrm>
          <a:prstGeom prst="rect">
            <a:avLst/>
          </a:prstGeom>
          <a:solidFill>
            <a:srgbClr val="FDF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Rectangle 29"/>
          <p:cNvSpPr/>
          <p:nvPr/>
        </p:nvSpPr>
        <p:spPr>
          <a:xfrm>
            <a:off x="411480" y="4851349"/>
            <a:ext cx="50292" cy="854456"/>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1" name="TextBox 30"/>
          <p:cNvSpPr txBox="1"/>
          <p:nvPr/>
        </p:nvSpPr>
        <p:spPr>
          <a:xfrm>
            <a:off x="630936" y="4997653"/>
            <a:ext cx="11036808" cy="158750"/>
          </a:xfrm>
          <a:prstGeom prst="rect">
            <a:avLst/>
          </a:prstGeom>
          <a:noFill/>
        </p:spPr>
        <p:txBody>
          <a:bodyPr wrap="square" lIns="0" rIns="0" tIns="0" bIns="0" anchor="t">
            <a:noAutofit/>
          </a:bodyPr>
          <a:lstStyle/>
          <a:p>
            <a:pPr algn="l">
              <a:lnSpc>
                <a:spcPts val="1250"/>
              </a:lnSpc>
            </a:pPr>
            <a:r>
              <a:rPr sz="950" b="1">
                <a:solidFill>
                  <a:srgbClr val="9A7411"/>
                </a:solidFill>
                <a:latin typeface="Kanit"/>
              </a:rPr>
              <a:t>สุพรรณบุรี is the coincidence to watch</a:t>
            </a:r>
          </a:p>
        </p:txBody>
      </p:sp>
      <p:sp>
        <p:nvSpPr>
          <p:cNvPr id="32" name="TextBox 31"/>
          <p:cNvSpPr txBox="1"/>
          <p:nvPr/>
        </p:nvSpPr>
        <p:spPr>
          <a:xfrm>
            <a:off x="630936" y="5202123"/>
            <a:ext cx="11036808" cy="357378"/>
          </a:xfrm>
          <a:prstGeom prst="rect">
            <a:avLst/>
          </a:prstGeom>
          <a:noFill/>
        </p:spPr>
        <p:txBody>
          <a:bodyPr wrap="square" lIns="0" rIns="0" tIns="0" bIns="0" anchor="t">
            <a:noAutofit/>
          </a:bodyPr>
          <a:lstStyle/>
          <a:p>
            <a:pPr algn="l">
              <a:lnSpc>
                <a:spcPts val="1407"/>
              </a:lnSpc>
            </a:pPr>
            <a:r>
              <a:rPr sz="1050" b="0">
                <a:solidFill>
                  <a:srgbClr val="1E2F5C"/>
                </a:solidFill>
                <a:latin typeface="Kanit"/>
              </a:rPr>
              <a:t>Drought 0.95 — effectively the top of the scale — and a third of its planted area is sugarcane, at a −17.9% farm gate. The formal double-stress count reads zero because that test is scored on world prices; on the Thai farm gate this province is drought and falling price at once.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Rectangle 2"/>
          <p:cNvSpPr/>
          <p:nvPr/>
        </p:nvSpPr>
        <p:spPr>
          <a:xfrm>
            <a:off x="11731752" y="0"/>
            <a:ext cx="164592" cy="685800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Rectangle 3"/>
          <p:cNvSpPr/>
          <p:nvPr/>
        </p:nvSpPr>
        <p:spPr>
          <a:xfrm>
            <a:off x="11896344" y="0"/>
            <a:ext cx="164592" cy="6858000"/>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5" name="Picture 4" descr="chaiyo.png"/>
          <p:cNvPicPr>
            <a:picLocks noChangeAspect="1"/>
          </p:cNvPicPr>
          <p:nvPr/>
        </p:nvPicPr>
        <p:blipFill>
          <a:blip r:embed="rId2"/>
          <a:stretch>
            <a:fillRect/>
          </a:stretch>
        </p:blipFill>
        <p:spPr>
          <a:xfrm>
            <a:off x="640080" y="640080"/>
            <a:ext cx="2487168" cy="1554480"/>
          </a:xfrm>
          <a:prstGeom prst="rect">
            <a:avLst/>
          </a:prstGeom>
        </p:spPr>
      </p:pic>
      <p:sp>
        <p:nvSpPr>
          <p:cNvPr id="6" name="TextBox 5"/>
          <p:cNvSpPr txBox="1"/>
          <p:nvPr/>
        </p:nvSpPr>
        <p:spPr>
          <a:xfrm>
            <a:off x="685800" y="2788920"/>
            <a:ext cx="10058400" cy="184404"/>
          </a:xfrm>
          <a:prstGeom prst="rect">
            <a:avLst/>
          </a:prstGeom>
          <a:noFill/>
        </p:spPr>
        <p:txBody>
          <a:bodyPr wrap="square" lIns="0" rIns="0" tIns="0" bIns="0" anchor="t">
            <a:noAutofit/>
          </a:bodyPr>
          <a:lstStyle/>
          <a:p>
            <a:pPr algn="l">
              <a:lnSpc>
                <a:spcPts val="1452"/>
              </a:lnSpc>
            </a:pPr>
            <a:r>
              <a:rPr sz="1100" b="1">
                <a:solidFill>
                  <a:srgbClr val="F5C242"/>
                </a:solidFill>
                <a:latin typeface="Kanit"/>
              </a:rPr>
              <a:t>09 · Collateral</a:t>
            </a:r>
          </a:p>
        </p:txBody>
      </p:sp>
      <p:sp>
        <p:nvSpPr>
          <p:cNvPr id="7" name="TextBox 6"/>
          <p:cNvSpPr txBox="1"/>
          <p:nvPr/>
        </p:nvSpPr>
        <p:spPr>
          <a:xfrm>
            <a:off x="685800" y="3154680"/>
            <a:ext cx="10058400" cy="508000"/>
          </a:xfrm>
          <a:prstGeom prst="rect">
            <a:avLst/>
          </a:prstGeom>
          <a:noFill/>
        </p:spPr>
        <p:txBody>
          <a:bodyPr wrap="square" lIns="0" rIns="0" tIns="0" bIns="0" anchor="t">
            <a:noAutofit/>
          </a:bodyPr>
          <a:lstStyle/>
          <a:p>
            <a:pPr algn="l">
              <a:lnSpc>
                <a:spcPts val="4000"/>
              </a:lnSpc>
            </a:pPr>
            <a:r>
              <a:rPr sz="3200" b="1">
                <a:solidFill>
                  <a:srgbClr val="FFFFFF"/>
                </a:solidFill>
                <a:latin typeface="Kanit"/>
              </a:rPr>
              <a:t>This is the half with a decision attached.</a:t>
            </a:r>
          </a:p>
        </p:txBody>
      </p:sp>
      <p:sp>
        <p:nvSpPr>
          <p:cNvPr id="8" name="TextBox 7"/>
          <p:cNvSpPr txBox="1"/>
          <p:nvPr/>
        </p:nvSpPr>
        <p:spPr>
          <a:xfrm>
            <a:off x="685800" y="4434840"/>
            <a:ext cx="9692640" cy="800100"/>
          </a:xfrm>
          <a:prstGeom prst="rect">
            <a:avLst/>
          </a:prstGeom>
          <a:noFill/>
        </p:spPr>
        <p:txBody>
          <a:bodyPr wrap="square" lIns="0" rIns="0" tIns="0" bIns="0" anchor="t">
            <a:noAutofit/>
          </a:bodyPr>
          <a:lstStyle/>
          <a:p>
            <a:pPr algn="l">
              <a:lnSpc>
                <a:spcPts val="2100"/>
              </a:lnSpc>
            </a:pPr>
            <a:r>
              <a:rPr sz="1350" b="0">
                <a:solidFill>
                  <a:srgbClr val="C7D0E4"/>
                </a:solidFill>
                <a:latin typeface="Kanit"/>
              </a:rPr>
              <a:t>We lend against titles. Three things are moving at once: what a used vehicle is worth, how many are entering the pool that becomes our collateral, and which brands they are — because a brand with no Thai residual history is a recovery assumption we cannot yet make.</a:t>
            </a:r>
          </a:p>
        </p:txBody>
      </p:sp>
      <p:sp>
        <p:nvSpPr>
          <p:cNvPr id="9" name="TextBox 8"/>
          <p:cNvSpPr txBox="1"/>
          <p:nvPr/>
        </p:nvSpPr>
        <p:spPr>
          <a:xfrm>
            <a:off x="365760" y="6547104"/>
            <a:ext cx="6400800" cy="134112"/>
          </a:xfrm>
          <a:prstGeom prst="rect">
            <a:avLst/>
          </a:prstGeom>
          <a:noFill/>
        </p:spPr>
        <p:txBody>
          <a:bodyPr wrap="square" lIns="0" rIns="0" tIns="0" bIns="0" anchor="t">
            <a:noAutofit/>
          </a:bodyPr>
          <a:lstStyle/>
          <a:p>
            <a:pPr algn="l">
              <a:lnSpc>
                <a:spcPts val="1056"/>
              </a:lnSpc>
            </a:pPr>
            <a:r>
              <a:rPr sz="800" b="0">
                <a:solidFill>
                  <a:srgbClr val="FFFFFF"/>
                </a:solidFill>
                <a:latin typeface="Kanit"/>
              </a:rPr>
              <a:t>Restricted Data – Reproduction is prohibited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09A · RESALE VALUE</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What a title is worth: 33 points below its own 2015 base.</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Rounded Rectangle 8"/>
          <p:cNvSpPr/>
          <p:nvPr/>
        </p:nvSpPr>
        <p:spPr>
          <a:xfrm>
            <a:off x="411480" y="1152144"/>
            <a:ext cx="2738628" cy="1005840"/>
          </a:xfrm>
          <a:prstGeom prst="roundRect">
            <a:avLst>
              <a:gd name="adj" fmla="val 8181"/>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548640"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Pickup (รถกระบะ)</a:t>
            </a:r>
          </a:p>
        </p:txBody>
      </p:sp>
      <p:sp>
        <p:nvSpPr>
          <p:cNvPr id="11" name="TextBox 10"/>
          <p:cNvSpPr txBox="1"/>
          <p:nvPr/>
        </p:nvSpPr>
        <p:spPr>
          <a:xfrm>
            <a:off x="548640" y="1426464"/>
            <a:ext cx="2464308" cy="330200"/>
          </a:xfrm>
          <a:prstGeom prst="rect">
            <a:avLst/>
          </a:prstGeom>
          <a:noFill/>
        </p:spPr>
        <p:txBody>
          <a:bodyPr wrap="square" lIns="0" rIns="0" tIns="0" bIns="0" anchor="t">
            <a:noAutofit/>
          </a:bodyPr>
          <a:lstStyle/>
          <a:p>
            <a:pPr algn="l">
              <a:lnSpc>
                <a:spcPts val="2600"/>
              </a:lnSpc>
            </a:pPr>
            <a:r>
              <a:rPr sz="2100" b="1">
                <a:solidFill>
                  <a:srgbClr val="CC0000"/>
                </a:solidFill>
                <a:latin typeface="Kanit"/>
              </a:rPr>
              <a:t>66.8</a:t>
            </a:r>
          </a:p>
        </p:txBody>
      </p:sp>
      <p:sp>
        <p:nvSpPr>
          <p:cNvPr id="12" name="TextBox 11"/>
          <p:cNvSpPr txBox="1"/>
          <p:nvPr/>
        </p:nvSpPr>
        <p:spPr>
          <a:xfrm>
            <a:off x="548640" y="1792224"/>
            <a:ext cx="2464308" cy="292608"/>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2026-05 · −50.0% off its 2012 peak · 33.2 pts below base</a:t>
            </a:r>
          </a:p>
        </p:txBody>
      </p:sp>
      <p:sp>
        <p:nvSpPr>
          <p:cNvPr id="13" name="Rounded Rectangle 12"/>
          <p:cNvSpPr/>
          <p:nvPr/>
        </p:nvSpPr>
        <p:spPr>
          <a:xfrm>
            <a:off x="3287268" y="1152144"/>
            <a:ext cx="2738628" cy="1005840"/>
          </a:xfrm>
          <a:prstGeom prst="roundRect">
            <a:avLst>
              <a:gd name="adj" fmla="val 8181"/>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3424428"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Passenger car</a:t>
            </a:r>
          </a:p>
        </p:txBody>
      </p:sp>
      <p:sp>
        <p:nvSpPr>
          <p:cNvPr id="15" name="TextBox 14"/>
          <p:cNvSpPr txBox="1"/>
          <p:nvPr/>
        </p:nvSpPr>
        <p:spPr>
          <a:xfrm>
            <a:off x="3424428" y="1426464"/>
            <a:ext cx="2464308" cy="330200"/>
          </a:xfrm>
          <a:prstGeom prst="rect">
            <a:avLst/>
          </a:prstGeom>
          <a:noFill/>
        </p:spPr>
        <p:txBody>
          <a:bodyPr wrap="square" lIns="0" rIns="0" tIns="0" bIns="0" anchor="t">
            <a:noAutofit/>
          </a:bodyPr>
          <a:lstStyle/>
          <a:p>
            <a:pPr algn="l">
              <a:lnSpc>
                <a:spcPts val="2600"/>
              </a:lnSpc>
            </a:pPr>
            <a:r>
              <a:rPr sz="2100" b="1">
                <a:solidFill>
                  <a:srgbClr val="CC0000"/>
                </a:solidFill>
                <a:latin typeface="Kanit"/>
              </a:rPr>
              <a:t>87.8</a:t>
            </a:r>
          </a:p>
        </p:txBody>
      </p:sp>
      <p:sp>
        <p:nvSpPr>
          <p:cNvPr id="16" name="TextBox 15"/>
          <p:cNvSpPr txBox="1"/>
          <p:nvPr/>
        </p:nvSpPr>
        <p:spPr>
          <a:xfrm>
            <a:off x="3424428" y="1792224"/>
            <a:ext cx="2464308" cy="292608"/>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2026-05 · −40.5% off peak · 12.2 pts below base</a:t>
            </a:r>
          </a:p>
        </p:txBody>
      </p:sp>
      <p:sp>
        <p:nvSpPr>
          <p:cNvPr id="17" name="Rounded Rectangle 16"/>
          <p:cNvSpPr/>
          <p:nvPr/>
        </p:nvSpPr>
        <p:spPr>
          <a:xfrm>
            <a:off x="6163056" y="1152144"/>
            <a:ext cx="2738628" cy="1005840"/>
          </a:xfrm>
          <a:prstGeom prst="roundRect">
            <a:avLst>
              <a:gd name="adj" fmla="val 8181"/>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6300216"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Overall index</a:t>
            </a:r>
          </a:p>
        </p:txBody>
      </p:sp>
      <p:sp>
        <p:nvSpPr>
          <p:cNvPr id="19" name="TextBox 18"/>
          <p:cNvSpPr txBox="1"/>
          <p:nvPr/>
        </p:nvSpPr>
        <p:spPr>
          <a:xfrm>
            <a:off x="6300216" y="1426464"/>
            <a:ext cx="2464308" cy="330200"/>
          </a:xfrm>
          <a:prstGeom prst="rect">
            <a:avLst/>
          </a:prstGeom>
          <a:noFill/>
        </p:spPr>
        <p:txBody>
          <a:bodyPr wrap="square" lIns="0" rIns="0" tIns="0" bIns="0" anchor="t">
            <a:noAutofit/>
          </a:bodyPr>
          <a:lstStyle/>
          <a:p>
            <a:pPr algn="l">
              <a:lnSpc>
                <a:spcPts val="2600"/>
              </a:lnSpc>
            </a:pPr>
            <a:r>
              <a:rPr sz="2100" b="1">
                <a:solidFill>
                  <a:srgbClr val="CC0000"/>
                </a:solidFill>
                <a:latin typeface="Kanit"/>
              </a:rPr>
              <a:t>75.2</a:t>
            </a:r>
          </a:p>
        </p:txBody>
      </p:sp>
      <p:sp>
        <p:nvSpPr>
          <p:cNvPr id="20" name="TextBox 19"/>
          <p:cNvSpPr txBox="1"/>
          <p:nvPr/>
        </p:nvSpPr>
        <p:spPr>
          <a:xfrm>
            <a:off x="6300216" y="1792224"/>
            <a:ext cx="2464308" cy="292608"/>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2026-05 · −46.3% off peak · 185 months of history</a:t>
            </a:r>
          </a:p>
        </p:txBody>
      </p:sp>
      <p:sp>
        <p:nvSpPr>
          <p:cNvPr id="21" name="Rounded Rectangle 20"/>
          <p:cNvSpPr/>
          <p:nvPr/>
        </p:nvSpPr>
        <p:spPr>
          <a:xfrm>
            <a:off x="9038844" y="1152144"/>
            <a:ext cx="2738628" cy="1005840"/>
          </a:xfrm>
          <a:prstGeom prst="roundRect">
            <a:avLst>
              <a:gd name="adj" fmla="val 8181"/>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9176004"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Trough behind us?</a:t>
            </a:r>
          </a:p>
        </p:txBody>
      </p:sp>
      <p:sp>
        <p:nvSpPr>
          <p:cNvPr id="23" name="TextBox 22"/>
          <p:cNvSpPr txBox="1"/>
          <p:nvPr/>
        </p:nvSpPr>
        <p:spPr>
          <a:xfrm>
            <a:off x="9176004" y="1426464"/>
            <a:ext cx="2464308" cy="330200"/>
          </a:xfrm>
          <a:prstGeom prst="rect">
            <a:avLst/>
          </a:prstGeom>
          <a:noFill/>
        </p:spPr>
        <p:txBody>
          <a:bodyPr wrap="square" lIns="0" rIns="0" tIns="0" bIns="0" anchor="t">
            <a:noAutofit/>
          </a:bodyPr>
          <a:lstStyle/>
          <a:p>
            <a:pPr algn="l">
              <a:lnSpc>
                <a:spcPts val="2600"/>
              </a:lnSpc>
            </a:pPr>
            <a:r>
              <a:rPr sz="2100" b="1">
                <a:solidFill>
                  <a:srgbClr val="F5C242"/>
                </a:solidFill>
                <a:latin typeface="Kanit"/>
              </a:rPr>
              <a:t>Yes</a:t>
            </a:r>
          </a:p>
        </p:txBody>
      </p:sp>
      <p:sp>
        <p:nvSpPr>
          <p:cNvPr id="24" name="TextBox 23"/>
          <p:cNvSpPr txBox="1"/>
          <p:nvPr/>
        </p:nvSpPr>
        <p:spPr>
          <a:xfrm>
            <a:off x="9176004" y="1792224"/>
            <a:ext cx="2464308" cy="292608"/>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pickup bottomed at 54.6 in 2024-10 — recovered, not to base</a:t>
            </a:r>
          </a:p>
        </p:txBody>
      </p:sp>
      <p:sp>
        <p:nvSpPr>
          <p:cNvPr id="25" name="Rectangle 24"/>
          <p:cNvSpPr/>
          <p:nvPr/>
        </p:nvSpPr>
        <p:spPr>
          <a:xfrm>
            <a:off x="411480" y="2322576"/>
            <a:ext cx="6903720" cy="2286000"/>
          </a:xfrm>
          <a:prstGeom prst="rect">
            <a:avLst/>
          </a:prstGeom>
          <a:solidFill>
            <a:srgbClr val="FBFCFE"/>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Rectangle 25"/>
          <p:cNvSpPr/>
          <p:nvPr/>
        </p:nvSpPr>
        <p:spPr>
          <a:xfrm>
            <a:off x="795528" y="4334256"/>
            <a:ext cx="6428232" cy="6400"/>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429768" y="4265676"/>
            <a:ext cx="329184" cy="125730"/>
          </a:xfrm>
          <a:prstGeom prst="rect">
            <a:avLst/>
          </a:prstGeom>
          <a:noFill/>
        </p:spPr>
        <p:txBody>
          <a:bodyPr wrap="square" lIns="0" rIns="0" tIns="0" bIns="0" anchor="t">
            <a:noAutofit/>
          </a:bodyPr>
          <a:lstStyle/>
          <a:p>
            <a:pPr algn="r">
              <a:lnSpc>
                <a:spcPts val="990"/>
              </a:lnSpc>
            </a:pPr>
            <a:r>
              <a:rPr sz="750" b="0">
                <a:solidFill>
                  <a:srgbClr val="9AA3B2"/>
                </a:solidFill>
                <a:latin typeface="Kanit"/>
              </a:rPr>
              <a:t>50</a:t>
            </a:r>
          </a:p>
        </p:txBody>
      </p:sp>
      <p:sp>
        <p:nvSpPr>
          <p:cNvPr id="28" name="Rectangle 27"/>
          <p:cNvSpPr/>
          <p:nvPr/>
        </p:nvSpPr>
        <p:spPr>
          <a:xfrm>
            <a:off x="795528" y="3401568"/>
            <a:ext cx="6428232" cy="10972"/>
          </a:xfrm>
          <a:prstGeom prst="rect">
            <a:avLst/>
          </a:prstGeom>
          <a:solidFill>
            <a:srgbClr val="606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9" name="TextBox 28"/>
          <p:cNvSpPr txBox="1"/>
          <p:nvPr/>
        </p:nvSpPr>
        <p:spPr>
          <a:xfrm>
            <a:off x="429768" y="3332988"/>
            <a:ext cx="329184" cy="125730"/>
          </a:xfrm>
          <a:prstGeom prst="rect">
            <a:avLst/>
          </a:prstGeom>
          <a:noFill/>
        </p:spPr>
        <p:txBody>
          <a:bodyPr wrap="square" lIns="0" rIns="0" tIns="0" bIns="0" anchor="t">
            <a:noAutofit/>
          </a:bodyPr>
          <a:lstStyle/>
          <a:p>
            <a:pPr algn="r">
              <a:lnSpc>
                <a:spcPts val="990"/>
              </a:lnSpc>
            </a:pPr>
            <a:r>
              <a:rPr sz="750" b="0">
                <a:solidFill>
                  <a:srgbClr val="606060"/>
                </a:solidFill>
                <a:latin typeface="Kanit"/>
              </a:rPr>
              <a:t>100</a:t>
            </a:r>
          </a:p>
        </p:txBody>
      </p:sp>
      <p:sp>
        <p:nvSpPr>
          <p:cNvPr id="30" name="Rectangle 29"/>
          <p:cNvSpPr/>
          <p:nvPr/>
        </p:nvSpPr>
        <p:spPr>
          <a:xfrm>
            <a:off x="795528" y="2468880"/>
            <a:ext cx="6428232" cy="6400"/>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1" name="TextBox 30"/>
          <p:cNvSpPr txBox="1"/>
          <p:nvPr/>
        </p:nvSpPr>
        <p:spPr>
          <a:xfrm>
            <a:off x="429768" y="2400300"/>
            <a:ext cx="329184" cy="125730"/>
          </a:xfrm>
          <a:prstGeom prst="rect">
            <a:avLst/>
          </a:prstGeom>
          <a:noFill/>
        </p:spPr>
        <p:txBody>
          <a:bodyPr wrap="square" lIns="0" rIns="0" tIns="0" bIns="0" anchor="t">
            <a:noAutofit/>
          </a:bodyPr>
          <a:lstStyle/>
          <a:p>
            <a:pPr algn="r">
              <a:lnSpc>
                <a:spcPts val="990"/>
              </a:lnSpc>
            </a:pPr>
            <a:r>
              <a:rPr sz="750" b="0">
                <a:solidFill>
                  <a:srgbClr val="9AA3B2"/>
                </a:solidFill>
                <a:latin typeface="Kanit"/>
              </a:rPr>
              <a:t>150</a:t>
            </a:r>
          </a:p>
        </p:txBody>
      </p:sp>
      <p:sp>
        <p:nvSpPr>
          <p:cNvPr id="32" name="TextBox 31"/>
          <p:cNvSpPr txBox="1"/>
          <p:nvPr/>
        </p:nvSpPr>
        <p:spPr>
          <a:xfrm>
            <a:off x="6974611" y="2450592"/>
            <a:ext cx="157708" cy="134112"/>
          </a:xfrm>
          <a:prstGeom prst="rect">
            <a:avLst/>
          </a:prstGeom>
          <a:noFill/>
        </p:spPr>
        <p:txBody>
          <a:bodyPr wrap="square" lIns="0" rIns="0" tIns="0" bIns="0" anchor="t">
            <a:noAutofit/>
          </a:bodyPr>
          <a:lstStyle/>
          <a:p>
            <a:pPr algn="l">
              <a:lnSpc>
                <a:spcPts val="1056"/>
              </a:lnSpc>
            </a:pPr>
            <a:r>
              <a:rPr sz="800" b="1">
                <a:solidFill>
                  <a:srgbClr val="1E2F5C"/>
                </a:solidFill>
                <a:latin typeface="Kanit"/>
              </a:rPr>
              <a:t>Car</a:t>
            </a:r>
          </a:p>
        </p:txBody>
      </p:sp>
      <p:sp>
        <p:nvSpPr>
          <p:cNvPr id="33" name="Rectangle 32"/>
          <p:cNvSpPr/>
          <p:nvPr/>
        </p:nvSpPr>
        <p:spPr>
          <a:xfrm>
            <a:off x="6736867" y="2510028"/>
            <a:ext cx="164592" cy="25603"/>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4" name="TextBox 33"/>
          <p:cNvSpPr txBox="1"/>
          <p:nvPr/>
        </p:nvSpPr>
        <p:spPr>
          <a:xfrm>
            <a:off x="6269491" y="2450592"/>
            <a:ext cx="321071" cy="134112"/>
          </a:xfrm>
          <a:prstGeom prst="rect">
            <a:avLst/>
          </a:prstGeom>
          <a:noFill/>
        </p:spPr>
        <p:txBody>
          <a:bodyPr wrap="square" lIns="0" rIns="0" tIns="0" bIns="0" anchor="t">
            <a:noAutofit/>
          </a:bodyPr>
          <a:lstStyle/>
          <a:p>
            <a:pPr algn="l">
              <a:lnSpc>
                <a:spcPts val="1056"/>
              </a:lnSpc>
            </a:pPr>
            <a:r>
              <a:rPr sz="800" b="1">
                <a:solidFill>
                  <a:srgbClr val="CC0000"/>
                </a:solidFill>
                <a:latin typeface="Kanit"/>
              </a:rPr>
              <a:t>Pickup</a:t>
            </a:r>
          </a:p>
        </p:txBody>
      </p:sp>
      <p:sp>
        <p:nvSpPr>
          <p:cNvPr id="35" name="Rectangle 34"/>
          <p:cNvSpPr/>
          <p:nvPr/>
        </p:nvSpPr>
        <p:spPr>
          <a:xfrm>
            <a:off x="6031747" y="2510028"/>
            <a:ext cx="164592" cy="25603"/>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6" name="Freeform 35"/>
          <p:cNvSpPr/>
          <p:nvPr/>
        </p:nvSpPr>
        <p:spPr>
          <a:xfrm>
            <a:off x="795528" y="2772003"/>
            <a:ext cx="6428232" cy="1476632"/>
          </a:xfrm>
          <a:custGeom>
            <a:avLst/>
            <a:gdLst/>
            <a:ahLst/>
            <a:cxnLst/>
            <a:rect l="l" t="t" r="r" b="b"/>
            <a:pathLst>
              <a:path w="6428232" h="1476632">
                <a:moveTo>
                  <a:pt x="0" y="446012"/>
                </a:moveTo>
                <a:lnTo>
                  <a:pt x="34936" y="422881"/>
                </a:lnTo>
                <a:lnTo>
                  <a:pt x="69872" y="442281"/>
                </a:lnTo>
                <a:lnTo>
                  <a:pt x="104808" y="395833"/>
                </a:lnTo>
                <a:lnTo>
                  <a:pt x="139744" y="245670"/>
                </a:lnTo>
                <a:lnTo>
                  <a:pt x="174680" y="433887"/>
                </a:lnTo>
                <a:lnTo>
                  <a:pt x="209616" y="360204"/>
                </a:lnTo>
                <a:lnTo>
                  <a:pt x="244552" y="454219"/>
                </a:lnTo>
                <a:lnTo>
                  <a:pt x="279488" y="480334"/>
                </a:lnTo>
                <a:lnTo>
                  <a:pt x="314424" y="404414"/>
                </a:lnTo>
                <a:lnTo>
                  <a:pt x="349360" y="311704"/>
                </a:lnTo>
                <a:lnTo>
                  <a:pt x="384296" y="210601"/>
                </a:lnTo>
                <a:lnTo>
                  <a:pt x="419232" y="0"/>
                </a:lnTo>
                <a:lnTo>
                  <a:pt x="454168" y="92523"/>
                </a:lnTo>
                <a:lnTo>
                  <a:pt x="489104" y="71444"/>
                </a:lnTo>
                <a:lnTo>
                  <a:pt x="524040" y="75361"/>
                </a:lnTo>
                <a:lnTo>
                  <a:pt x="558976" y="154080"/>
                </a:lnTo>
                <a:lnTo>
                  <a:pt x="593912" y="239328"/>
                </a:lnTo>
                <a:lnTo>
                  <a:pt x="628848" y="298833"/>
                </a:lnTo>
                <a:lnTo>
                  <a:pt x="663784" y="256303"/>
                </a:lnTo>
                <a:lnTo>
                  <a:pt x="698720" y="338006"/>
                </a:lnTo>
                <a:lnTo>
                  <a:pt x="733656" y="311518"/>
                </a:lnTo>
                <a:lnTo>
                  <a:pt x="768592" y="271412"/>
                </a:lnTo>
                <a:lnTo>
                  <a:pt x="803529" y="359645"/>
                </a:lnTo>
                <a:lnTo>
                  <a:pt x="838465" y="179822"/>
                </a:lnTo>
                <a:lnTo>
                  <a:pt x="873401" y="138038"/>
                </a:lnTo>
                <a:lnTo>
                  <a:pt x="908337" y="215078"/>
                </a:lnTo>
                <a:lnTo>
                  <a:pt x="943273" y="311145"/>
                </a:lnTo>
                <a:lnTo>
                  <a:pt x="978209" y="351437"/>
                </a:lnTo>
                <a:lnTo>
                  <a:pt x="1013145" y="396393"/>
                </a:lnTo>
                <a:lnTo>
                  <a:pt x="1048081" y="526223"/>
                </a:lnTo>
                <a:lnTo>
                  <a:pt x="1083017" y="500667"/>
                </a:lnTo>
                <a:lnTo>
                  <a:pt x="1117953" y="588340"/>
                </a:lnTo>
                <a:lnTo>
                  <a:pt x="1152889" y="694107"/>
                </a:lnTo>
                <a:lnTo>
                  <a:pt x="1187825" y="646353"/>
                </a:lnTo>
                <a:lnTo>
                  <a:pt x="1222761" y="712574"/>
                </a:lnTo>
                <a:lnTo>
                  <a:pt x="1257697" y="535176"/>
                </a:lnTo>
                <a:lnTo>
                  <a:pt x="1292633" y="489661"/>
                </a:lnTo>
                <a:lnTo>
                  <a:pt x="1327569" y="562038"/>
                </a:lnTo>
                <a:lnTo>
                  <a:pt x="1362505" y="579013"/>
                </a:lnTo>
                <a:lnTo>
                  <a:pt x="1397441" y="644301"/>
                </a:lnTo>
                <a:lnTo>
                  <a:pt x="1432377" y="749135"/>
                </a:lnTo>
                <a:lnTo>
                  <a:pt x="1467313" y="763125"/>
                </a:lnTo>
                <a:lnTo>
                  <a:pt x="1502249" y="769095"/>
                </a:lnTo>
                <a:lnTo>
                  <a:pt x="1537185" y="746710"/>
                </a:lnTo>
                <a:lnTo>
                  <a:pt x="1572121" y="763312"/>
                </a:lnTo>
                <a:lnTo>
                  <a:pt x="1607057" y="738316"/>
                </a:lnTo>
                <a:lnTo>
                  <a:pt x="1641994" y="812558"/>
                </a:lnTo>
                <a:lnTo>
                  <a:pt x="1676930" y="595988"/>
                </a:lnTo>
                <a:lnTo>
                  <a:pt x="1711866" y="573417"/>
                </a:lnTo>
                <a:lnTo>
                  <a:pt x="1746802" y="538161"/>
                </a:lnTo>
                <a:lnTo>
                  <a:pt x="1781738" y="586474"/>
                </a:lnTo>
                <a:lnTo>
                  <a:pt x="1816674" y="606620"/>
                </a:lnTo>
                <a:lnTo>
                  <a:pt x="1851610" y="592817"/>
                </a:lnTo>
                <a:lnTo>
                  <a:pt x="1886546" y="675639"/>
                </a:lnTo>
                <a:lnTo>
                  <a:pt x="1921482" y="744658"/>
                </a:lnTo>
                <a:lnTo>
                  <a:pt x="1956418" y="696905"/>
                </a:lnTo>
                <a:lnTo>
                  <a:pt x="1991354" y="663887"/>
                </a:lnTo>
                <a:lnTo>
                  <a:pt x="2026290" y="637586"/>
                </a:lnTo>
                <a:lnTo>
                  <a:pt x="2061226" y="643928"/>
                </a:lnTo>
                <a:lnTo>
                  <a:pt x="2096162" y="453100"/>
                </a:lnTo>
                <a:lnTo>
                  <a:pt x="2131098" y="448436"/>
                </a:lnTo>
                <a:lnTo>
                  <a:pt x="2166034" y="429596"/>
                </a:lnTo>
                <a:lnTo>
                  <a:pt x="2200970" y="465784"/>
                </a:lnTo>
                <a:lnTo>
                  <a:pt x="2235906" y="522119"/>
                </a:lnTo>
                <a:lnTo>
                  <a:pt x="2270842" y="499548"/>
                </a:lnTo>
                <a:lnTo>
                  <a:pt x="2305778" y="602517"/>
                </a:lnTo>
                <a:lnTo>
                  <a:pt x="2340714" y="679184"/>
                </a:lnTo>
                <a:lnTo>
                  <a:pt x="2375650" y="626393"/>
                </a:lnTo>
                <a:lnTo>
                  <a:pt x="2410587" y="642063"/>
                </a:lnTo>
                <a:lnTo>
                  <a:pt x="2445523" y="676385"/>
                </a:lnTo>
                <a:lnTo>
                  <a:pt x="2480459" y="702687"/>
                </a:lnTo>
                <a:lnTo>
                  <a:pt x="2515395" y="499175"/>
                </a:lnTo>
                <a:lnTo>
                  <a:pt x="2550331" y="486490"/>
                </a:lnTo>
                <a:lnTo>
                  <a:pt x="2585267" y="504025"/>
                </a:lnTo>
                <a:lnTo>
                  <a:pt x="2620203" y="458883"/>
                </a:lnTo>
                <a:lnTo>
                  <a:pt x="2655139" y="526036"/>
                </a:lnTo>
                <a:lnTo>
                  <a:pt x="2690075" y="542451"/>
                </a:lnTo>
                <a:lnTo>
                  <a:pt x="2725011" y="595428"/>
                </a:lnTo>
                <a:lnTo>
                  <a:pt x="2759947" y="640757"/>
                </a:lnTo>
                <a:lnTo>
                  <a:pt x="2794883" y="619491"/>
                </a:lnTo>
                <a:lnTo>
                  <a:pt x="2829819" y="593003"/>
                </a:lnTo>
                <a:lnTo>
                  <a:pt x="2864755" y="715558"/>
                </a:lnTo>
                <a:lnTo>
                  <a:pt x="2899691" y="729549"/>
                </a:lnTo>
                <a:lnTo>
                  <a:pt x="2934627" y="517082"/>
                </a:lnTo>
                <a:lnTo>
                  <a:pt x="2969563" y="414487"/>
                </a:lnTo>
                <a:lnTo>
                  <a:pt x="3004499" y="413740"/>
                </a:lnTo>
                <a:lnTo>
                  <a:pt x="3039435" y="509807"/>
                </a:lnTo>
                <a:lnTo>
                  <a:pt x="3074371" y="534990"/>
                </a:lnTo>
                <a:lnTo>
                  <a:pt x="3109307" y="503652"/>
                </a:lnTo>
                <a:lnTo>
                  <a:pt x="3144243" y="648032"/>
                </a:lnTo>
                <a:lnTo>
                  <a:pt x="3179179" y="688510"/>
                </a:lnTo>
                <a:lnTo>
                  <a:pt x="3214116" y="671535"/>
                </a:lnTo>
                <a:lnTo>
                  <a:pt x="3249052" y="743726"/>
                </a:lnTo>
                <a:lnTo>
                  <a:pt x="3283988" y="817967"/>
                </a:lnTo>
                <a:lnTo>
                  <a:pt x="3318924" y="808827"/>
                </a:lnTo>
                <a:lnTo>
                  <a:pt x="3353860" y="600092"/>
                </a:lnTo>
                <a:lnTo>
                  <a:pt x="3388796" y="512232"/>
                </a:lnTo>
                <a:lnTo>
                  <a:pt x="3423732" y="547861"/>
                </a:lnTo>
                <a:lnTo>
                  <a:pt x="3458668" y="558121"/>
                </a:lnTo>
                <a:lnTo>
                  <a:pt x="3493604" y="599532"/>
                </a:lnTo>
                <a:lnTo>
                  <a:pt x="3528540" y="630497"/>
                </a:lnTo>
                <a:lnTo>
                  <a:pt x="3563476" y="651389"/>
                </a:lnTo>
                <a:lnTo>
                  <a:pt x="3598412" y="660716"/>
                </a:lnTo>
                <a:lnTo>
                  <a:pt x="3633348" y="712574"/>
                </a:lnTo>
                <a:lnTo>
                  <a:pt x="3668284" y="825056"/>
                </a:lnTo>
                <a:lnTo>
                  <a:pt x="3703220" y="851917"/>
                </a:lnTo>
                <a:lnTo>
                  <a:pt x="3738156" y="846321"/>
                </a:lnTo>
                <a:lnTo>
                  <a:pt x="3773092" y="673960"/>
                </a:lnTo>
                <a:lnTo>
                  <a:pt x="3808028" y="667991"/>
                </a:lnTo>
                <a:lnTo>
                  <a:pt x="3842964" y="811066"/>
                </a:lnTo>
                <a:lnTo>
                  <a:pt x="3877900" y="996484"/>
                </a:lnTo>
                <a:lnTo>
                  <a:pt x="3912836" y="876913"/>
                </a:lnTo>
                <a:lnTo>
                  <a:pt x="3947772" y="698210"/>
                </a:lnTo>
                <a:lnTo>
                  <a:pt x="3982708" y="599905"/>
                </a:lnTo>
                <a:lnTo>
                  <a:pt x="4017644" y="594309"/>
                </a:lnTo>
                <a:lnTo>
                  <a:pt x="4052581" y="587780"/>
                </a:lnTo>
                <a:lnTo>
                  <a:pt x="4087517" y="595615"/>
                </a:lnTo>
                <a:lnTo>
                  <a:pt x="4122453" y="663514"/>
                </a:lnTo>
                <a:lnTo>
                  <a:pt x="4157389" y="694666"/>
                </a:lnTo>
                <a:lnTo>
                  <a:pt x="4192325" y="667432"/>
                </a:lnTo>
                <a:lnTo>
                  <a:pt x="4227261" y="650830"/>
                </a:lnTo>
                <a:lnTo>
                  <a:pt x="4262197" y="595428"/>
                </a:lnTo>
                <a:lnTo>
                  <a:pt x="4297133" y="550659"/>
                </a:lnTo>
                <a:lnTo>
                  <a:pt x="4332069" y="566888"/>
                </a:lnTo>
                <a:lnTo>
                  <a:pt x="4367005" y="549913"/>
                </a:lnTo>
                <a:lnTo>
                  <a:pt x="4401941" y="658105"/>
                </a:lnTo>
                <a:lnTo>
                  <a:pt x="4436877" y="735704"/>
                </a:lnTo>
                <a:lnTo>
                  <a:pt x="4471813" y="704366"/>
                </a:lnTo>
                <a:lnTo>
                  <a:pt x="4506749" y="649897"/>
                </a:lnTo>
                <a:lnTo>
                  <a:pt x="4541685" y="592817"/>
                </a:lnTo>
                <a:lnTo>
                  <a:pt x="4576621" y="546182"/>
                </a:lnTo>
                <a:lnTo>
                  <a:pt x="4611557" y="426052"/>
                </a:lnTo>
                <a:lnTo>
                  <a:pt x="4646493" y="368785"/>
                </a:lnTo>
                <a:lnTo>
                  <a:pt x="4681429" y="426052"/>
                </a:lnTo>
                <a:lnTo>
                  <a:pt x="4716365" y="497496"/>
                </a:lnTo>
                <a:lnTo>
                  <a:pt x="4751301" y="516150"/>
                </a:lnTo>
                <a:lnTo>
                  <a:pt x="4786237" y="548980"/>
                </a:lnTo>
                <a:lnTo>
                  <a:pt x="4821174" y="654561"/>
                </a:lnTo>
                <a:lnTo>
                  <a:pt x="4856110" y="734585"/>
                </a:lnTo>
                <a:lnTo>
                  <a:pt x="4891046" y="784391"/>
                </a:lnTo>
                <a:lnTo>
                  <a:pt x="4925982" y="880831"/>
                </a:lnTo>
                <a:lnTo>
                  <a:pt x="4960918" y="957311"/>
                </a:lnTo>
                <a:lnTo>
                  <a:pt x="4995854" y="987903"/>
                </a:lnTo>
                <a:lnTo>
                  <a:pt x="5030790" y="911423"/>
                </a:lnTo>
                <a:lnTo>
                  <a:pt x="5065726" y="903961"/>
                </a:lnTo>
                <a:lnTo>
                  <a:pt x="5100662" y="927838"/>
                </a:lnTo>
                <a:lnTo>
                  <a:pt x="5135598" y="926905"/>
                </a:lnTo>
                <a:lnTo>
                  <a:pt x="5170534" y="945746"/>
                </a:lnTo>
                <a:lnTo>
                  <a:pt x="5205470" y="957498"/>
                </a:lnTo>
                <a:lnTo>
                  <a:pt x="5240406" y="1074457"/>
                </a:lnTo>
                <a:lnTo>
                  <a:pt x="5275342" y="1165674"/>
                </a:lnTo>
                <a:lnTo>
                  <a:pt x="5310278" y="1242527"/>
                </a:lnTo>
                <a:lnTo>
                  <a:pt x="5345214" y="1329640"/>
                </a:lnTo>
                <a:lnTo>
                  <a:pt x="5380150" y="1390824"/>
                </a:lnTo>
                <a:lnTo>
                  <a:pt x="5415086" y="1441003"/>
                </a:lnTo>
                <a:lnTo>
                  <a:pt x="5450022" y="1308561"/>
                </a:lnTo>
                <a:lnTo>
                  <a:pt x="5484958" y="1263979"/>
                </a:lnTo>
                <a:lnTo>
                  <a:pt x="5519894" y="1281886"/>
                </a:lnTo>
                <a:lnTo>
                  <a:pt x="5554830" y="1290654"/>
                </a:lnTo>
                <a:lnTo>
                  <a:pt x="5589766" y="1259315"/>
                </a:lnTo>
                <a:lnTo>
                  <a:pt x="5624703" y="1290467"/>
                </a:lnTo>
                <a:lnTo>
                  <a:pt x="5659639" y="1319567"/>
                </a:lnTo>
                <a:lnTo>
                  <a:pt x="5694575" y="1393249"/>
                </a:lnTo>
                <a:lnTo>
                  <a:pt x="5729511" y="1436340"/>
                </a:lnTo>
                <a:lnTo>
                  <a:pt x="5764447" y="1476632"/>
                </a:lnTo>
                <a:lnTo>
                  <a:pt x="5799383" y="1428692"/>
                </a:lnTo>
                <a:lnTo>
                  <a:pt x="5834319" y="1413955"/>
                </a:lnTo>
                <a:lnTo>
                  <a:pt x="5869255" y="1283938"/>
                </a:lnTo>
                <a:lnTo>
                  <a:pt x="5904191" y="1282446"/>
                </a:lnTo>
                <a:lnTo>
                  <a:pt x="5939127" y="1257264"/>
                </a:lnTo>
                <a:lnTo>
                  <a:pt x="5974063" y="1309867"/>
                </a:lnTo>
                <a:lnTo>
                  <a:pt x="6008999" y="1244019"/>
                </a:lnTo>
                <a:lnTo>
                  <a:pt x="6043935" y="1258383"/>
                </a:lnTo>
                <a:lnTo>
                  <a:pt x="6078871" y="1355942"/>
                </a:lnTo>
                <a:lnTo>
                  <a:pt x="6113807" y="1387653"/>
                </a:lnTo>
                <a:lnTo>
                  <a:pt x="6148743" y="1412836"/>
                </a:lnTo>
                <a:lnTo>
                  <a:pt x="6183679" y="1408546"/>
                </a:lnTo>
                <a:lnTo>
                  <a:pt x="6218615" y="1386721"/>
                </a:lnTo>
                <a:lnTo>
                  <a:pt x="6253551" y="1341205"/>
                </a:lnTo>
                <a:lnTo>
                  <a:pt x="6288487" y="1280208"/>
                </a:lnTo>
                <a:lnTo>
                  <a:pt x="6323423" y="1258942"/>
                </a:lnTo>
                <a:lnTo>
                  <a:pt x="6358359" y="1217344"/>
                </a:lnTo>
                <a:lnTo>
                  <a:pt x="6393295" y="1304644"/>
                </a:lnTo>
                <a:lnTo>
                  <a:pt x="6428232" y="1248683"/>
                </a:lnTo>
              </a:path>
            </a:pathLst>
          </a:custGeom>
          <a:noFill/>
          <a:ln w="20320">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Freeform 36"/>
          <p:cNvSpPr/>
          <p:nvPr/>
        </p:nvSpPr>
        <p:spPr>
          <a:xfrm>
            <a:off x="795528" y="2513462"/>
            <a:ext cx="6428232" cy="1363963"/>
          </a:xfrm>
          <a:custGeom>
            <a:avLst/>
            <a:gdLst/>
            <a:ahLst/>
            <a:cxnLst/>
            <a:rect l="l" t="t" r="r" b="b"/>
            <a:pathLst>
              <a:path w="6428232" h="1363963">
                <a:moveTo>
                  <a:pt x="0" y="424746"/>
                </a:moveTo>
                <a:lnTo>
                  <a:pt x="34936" y="213586"/>
                </a:lnTo>
                <a:lnTo>
                  <a:pt x="69872" y="241380"/>
                </a:lnTo>
                <a:lnTo>
                  <a:pt x="104808" y="281485"/>
                </a:lnTo>
                <a:lnTo>
                  <a:pt x="139744" y="308347"/>
                </a:lnTo>
                <a:lnTo>
                  <a:pt x="174680" y="184113"/>
                </a:lnTo>
                <a:lnTo>
                  <a:pt x="209616" y="141769"/>
                </a:lnTo>
                <a:lnTo>
                  <a:pt x="244552" y="313570"/>
                </a:lnTo>
                <a:lnTo>
                  <a:pt x="279488" y="234851"/>
                </a:lnTo>
                <a:lnTo>
                  <a:pt x="314424" y="293424"/>
                </a:lnTo>
                <a:lnTo>
                  <a:pt x="349360" y="420829"/>
                </a:lnTo>
                <a:lnTo>
                  <a:pt x="384296" y="370650"/>
                </a:lnTo>
                <a:lnTo>
                  <a:pt x="419232" y="0"/>
                </a:lnTo>
                <a:lnTo>
                  <a:pt x="454168" y="218062"/>
                </a:lnTo>
                <a:lnTo>
                  <a:pt x="489104" y="146245"/>
                </a:lnTo>
                <a:lnTo>
                  <a:pt x="524040" y="79838"/>
                </a:lnTo>
                <a:lnTo>
                  <a:pt x="558976" y="343975"/>
                </a:lnTo>
                <a:lnTo>
                  <a:pt x="593912" y="306481"/>
                </a:lnTo>
                <a:lnTo>
                  <a:pt x="628848" y="506636"/>
                </a:lnTo>
                <a:lnTo>
                  <a:pt x="663784" y="328679"/>
                </a:lnTo>
                <a:lnTo>
                  <a:pt x="698720" y="444706"/>
                </a:lnTo>
                <a:lnTo>
                  <a:pt x="733656" y="562597"/>
                </a:lnTo>
                <a:lnTo>
                  <a:pt x="768592" y="555322"/>
                </a:lnTo>
                <a:lnTo>
                  <a:pt x="803529" y="569126"/>
                </a:lnTo>
                <a:lnTo>
                  <a:pt x="838465" y="434633"/>
                </a:lnTo>
                <a:lnTo>
                  <a:pt x="873401" y="395087"/>
                </a:lnTo>
                <a:lnTo>
                  <a:pt x="908337" y="354795"/>
                </a:lnTo>
                <a:lnTo>
                  <a:pt x="943273" y="476230"/>
                </a:lnTo>
                <a:lnTo>
                  <a:pt x="978209" y="616320"/>
                </a:lnTo>
                <a:lnTo>
                  <a:pt x="1013145" y="722460"/>
                </a:lnTo>
                <a:lnTo>
                  <a:pt x="1048081" y="809760"/>
                </a:lnTo>
                <a:lnTo>
                  <a:pt x="1083017" y="816102"/>
                </a:lnTo>
                <a:lnTo>
                  <a:pt x="1117953" y="873929"/>
                </a:lnTo>
                <a:lnTo>
                  <a:pt x="1152889" y="973726"/>
                </a:lnTo>
                <a:lnTo>
                  <a:pt x="1187825" y="992567"/>
                </a:lnTo>
                <a:lnTo>
                  <a:pt x="1222761" y="1111764"/>
                </a:lnTo>
                <a:lnTo>
                  <a:pt x="1257697" y="946119"/>
                </a:lnTo>
                <a:lnTo>
                  <a:pt x="1292633" y="834010"/>
                </a:lnTo>
                <a:lnTo>
                  <a:pt x="1327569" y="914594"/>
                </a:lnTo>
                <a:lnTo>
                  <a:pt x="1362505" y="930450"/>
                </a:lnTo>
                <a:lnTo>
                  <a:pt x="1397441" y="1016630"/>
                </a:lnTo>
                <a:lnTo>
                  <a:pt x="1432377" y="991820"/>
                </a:lnTo>
                <a:lnTo>
                  <a:pt x="1467313" y="1049087"/>
                </a:lnTo>
                <a:lnTo>
                  <a:pt x="1502249" y="1014018"/>
                </a:lnTo>
                <a:lnTo>
                  <a:pt x="1537185" y="1029128"/>
                </a:lnTo>
                <a:lnTo>
                  <a:pt x="1572121" y="1053564"/>
                </a:lnTo>
                <a:lnTo>
                  <a:pt x="1607057" y="1060839"/>
                </a:lnTo>
                <a:lnTo>
                  <a:pt x="1641994" y="1169964"/>
                </a:lnTo>
                <a:lnTo>
                  <a:pt x="1676930" y="852104"/>
                </a:lnTo>
                <a:lnTo>
                  <a:pt x="1711866" y="781406"/>
                </a:lnTo>
                <a:lnTo>
                  <a:pt x="1746802" y="789987"/>
                </a:lnTo>
                <a:lnTo>
                  <a:pt x="1781738" y="820206"/>
                </a:lnTo>
                <a:lnTo>
                  <a:pt x="1816674" y="826735"/>
                </a:lnTo>
                <a:lnTo>
                  <a:pt x="1851610" y="850798"/>
                </a:lnTo>
                <a:lnTo>
                  <a:pt x="1886546" y="914407"/>
                </a:lnTo>
                <a:lnTo>
                  <a:pt x="1921482" y="1035657"/>
                </a:lnTo>
                <a:lnTo>
                  <a:pt x="1956418" y="927465"/>
                </a:lnTo>
                <a:lnTo>
                  <a:pt x="1991354" y="974659"/>
                </a:lnTo>
                <a:lnTo>
                  <a:pt x="2026290" y="914780"/>
                </a:lnTo>
                <a:lnTo>
                  <a:pt x="2061226" y="970182"/>
                </a:lnTo>
                <a:lnTo>
                  <a:pt x="2096162" y="794650"/>
                </a:lnTo>
                <a:lnTo>
                  <a:pt x="2131098" y="755850"/>
                </a:lnTo>
                <a:lnTo>
                  <a:pt x="2166034" y="748202"/>
                </a:lnTo>
                <a:lnTo>
                  <a:pt x="2200970" y="871877"/>
                </a:lnTo>
                <a:lnTo>
                  <a:pt x="2235906" y="846135"/>
                </a:lnTo>
                <a:lnTo>
                  <a:pt x="2270842" y="811625"/>
                </a:lnTo>
                <a:lnTo>
                  <a:pt x="2305778" y="844456"/>
                </a:lnTo>
                <a:lnTo>
                  <a:pt x="2340714" y="957684"/>
                </a:lnTo>
                <a:lnTo>
                  <a:pt x="2375650" y="855275"/>
                </a:lnTo>
                <a:lnTo>
                  <a:pt x="2410587" y="922242"/>
                </a:lnTo>
                <a:lnTo>
                  <a:pt x="2445523" y="954699"/>
                </a:lnTo>
                <a:lnTo>
                  <a:pt x="2480459" y="1027263"/>
                </a:lnTo>
                <a:lnTo>
                  <a:pt x="2515395" y="839792"/>
                </a:lnTo>
                <a:lnTo>
                  <a:pt x="2550331" y="771893"/>
                </a:lnTo>
                <a:lnTo>
                  <a:pt x="2585267" y="733093"/>
                </a:lnTo>
                <a:lnTo>
                  <a:pt x="2620203" y="740368"/>
                </a:lnTo>
                <a:lnTo>
                  <a:pt x="2655139" y="744472"/>
                </a:lnTo>
                <a:lnTo>
                  <a:pt x="2690075" y="698024"/>
                </a:lnTo>
                <a:lnTo>
                  <a:pt x="2725011" y="790919"/>
                </a:lnTo>
                <a:lnTo>
                  <a:pt x="2759947" y="814610"/>
                </a:lnTo>
                <a:lnTo>
                  <a:pt x="2794883" y="897432"/>
                </a:lnTo>
                <a:lnTo>
                  <a:pt x="2829819" y="870384"/>
                </a:lnTo>
                <a:lnTo>
                  <a:pt x="2864755" y="855275"/>
                </a:lnTo>
                <a:lnTo>
                  <a:pt x="2899691" y="1002826"/>
                </a:lnTo>
                <a:lnTo>
                  <a:pt x="2934627" y="661276"/>
                </a:lnTo>
                <a:lnTo>
                  <a:pt x="2969563" y="652695"/>
                </a:lnTo>
                <a:lnTo>
                  <a:pt x="3004499" y="579572"/>
                </a:lnTo>
                <a:lnTo>
                  <a:pt x="3039435" y="729362"/>
                </a:lnTo>
                <a:lnTo>
                  <a:pt x="3074371" y="766856"/>
                </a:lnTo>
                <a:lnTo>
                  <a:pt x="3109307" y="741114"/>
                </a:lnTo>
                <a:lnTo>
                  <a:pt x="3144243" y="684406"/>
                </a:lnTo>
                <a:lnTo>
                  <a:pt x="3179179" y="873929"/>
                </a:lnTo>
                <a:lnTo>
                  <a:pt x="3214116" y="899671"/>
                </a:lnTo>
                <a:lnTo>
                  <a:pt x="3249052" y="933434"/>
                </a:lnTo>
                <a:lnTo>
                  <a:pt x="3283988" y="977457"/>
                </a:lnTo>
                <a:lnTo>
                  <a:pt x="3318924" y="981561"/>
                </a:lnTo>
                <a:lnTo>
                  <a:pt x="3353860" y="813117"/>
                </a:lnTo>
                <a:lnTo>
                  <a:pt x="3388796" y="722460"/>
                </a:lnTo>
                <a:lnTo>
                  <a:pt x="3423732" y="737756"/>
                </a:lnTo>
                <a:lnTo>
                  <a:pt x="3458668" y="767789"/>
                </a:lnTo>
                <a:lnTo>
                  <a:pt x="3493604" y="791479"/>
                </a:lnTo>
                <a:lnTo>
                  <a:pt x="3528540" y="866467"/>
                </a:lnTo>
                <a:lnTo>
                  <a:pt x="3563476" y="884002"/>
                </a:lnTo>
                <a:lnTo>
                  <a:pt x="3598412" y="966451"/>
                </a:lnTo>
                <a:lnTo>
                  <a:pt x="3633348" y="930263"/>
                </a:lnTo>
                <a:lnTo>
                  <a:pt x="3668284" y="1044984"/>
                </a:lnTo>
                <a:lnTo>
                  <a:pt x="3703220" y="1080239"/>
                </a:lnTo>
                <a:lnTo>
                  <a:pt x="3738156" y="1065876"/>
                </a:lnTo>
                <a:lnTo>
                  <a:pt x="3773092" y="908811"/>
                </a:lnTo>
                <a:lnTo>
                  <a:pt x="3808028" y="930263"/>
                </a:lnTo>
                <a:lnTo>
                  <a:pt x="3842964" y="1001893"/>
                </a:lnTo>
                <a:lnTo>
                  <a:pt x="3877900" y="1249802"/>
                </a:lnTo>
                <a:lnTo>
                  <a:pt x="3912836" y="1125008"/>
                </a:lnTo>
                <a:lnTo>
                  <a:pt x="3947772" y="911236"/>
                </a:lnTo>
                <a:lnTo>
                  <a:pt x="3982708" y="857513"/>
                </a:lnTo>
                <a:lnTo>
                  <a:pt x="4017644" y="882509"/>
                </a:lnTo>
                <a:lnTo>
                  <a:pt x="4052581" y="814983"/>
                </a:lnTo>
                <a:lnTo>
                  <a:pt x="4087517" y="796702"/>
                </a:lnTo>
                <a:lnTo>
                  <a:pt x="4122453" y="895940"/>
                </a:lnTo>
                <a:lnTo>
                  <a:pt x="4157389" y="880831"/>
                </a:lnTo>
                <a:lnTo>
                  <a:pt x="4192325" y="842963"/>
                </a:lnTo>
                <a:lnTo>
                  <a:pt x="4227261" y="897059"/>
                </a:lnTo>
                <a:lnTo>
                  <a:pt x="4262197" y="794277"/>
                </a:lnTo>
                <a:lnTo>
                  <a:pt x="4297133" y="806589"/>
                </a:lnTo>
                <a:lnTo>
                  <a:pt x="4332069" y="747270"/>
                </a:lnTo>
                <a:lnTo>
                  <a:pt x="4367005" y="822817"/>
                </a:lnTo>
                <a:lnTo>
                  <a:pt x="4401941" y="892396"/>
                </a:lnTo>
                <a:lnTo>
                  <a:pt x="4436877" y="962907"/>
                </a:lnTo>
                <a:lnTo>
                  <a:pt x="4471813" y="979509"/>
                </a:lnTo>
                <a:lnTo>
                  <a:pt x="4506749" y="854156"/>
                </a:lnTo>
                <a:lnTo>
                  <a:pt x="4541685" y="784577"/>
                </a:lnTo>
                <a:lnTo>
                  <a:pt x="4576621" y="793531"/>
                </a:lnTo>
                <a:lnTo>
                  <a:pt x="4611557" y="581624"/>
                </a:lnTo>
                <a:lnTo>
                  <a:pt x="4646493" y="487796"/>
                </a:lnTo>
                <a:lnTo>
                  <a:pt x="4681429" y="554203"/>
                </a:lnTo>
                <a:lnTo>
                  <a:pt x="4716365" y="718543"/>
                </a:lnTo>
                <a:lnTo>
                  <a:pt x="4751301" y="635161"/>
                </a:lnTo>
                <a:lnTo>
                  <a:pt x="4786237" y="637772"/>
                </a:lnTo>
                <a:lnTo>
                  <a:pt x="4821174" y="677131"/>
                </a:lnTo>
                <a:lnTo>
                  <a:pt x="4856110" y="832704"/>
                </a:lnTo>
                <a:lnTo>
                  <a:pt x="4891046" y="851358"/>
                </a:lnTo>
                <a:lnTo>
                  <a:pt x="4925982" y="939030"/>
                </a:lnTo>
                <a:lnTo>
                  <a:pt x="4960918" y="890904"/>
                </a:lnTo>
                <a:lnTo>
                  <a:pt x="4995854" y="1013459"/>
                </a:lnTo>
                <a:lnTo>
                  <a:pt x="5030790" y="742420"/>
                </a:lnTo>
                <a:lnTo>
                  <a:pt x="5065726" y="765364"/>
                </a:lnTo>
                <a:lnTo>
                  <a:pt x="5100662" y="789800"/>
                </a:lnTo>
                <a:lnTo>
                  <a:pt x="5135598" y="885307"/>
                </a:lnTo>
                <a:lnTo>
                  <a:pt x="5170534" y="820952"/>
                </a:lnTo>
                <a:lnTo>
                  <a:pt x="5205470" y="866281"/>
                </a:lnTo>
                <a:lnTo>
                  <a:pt x="5240406" y="970555"/>
                </a:lnTo>
                <a:lnTo>
                  <a:pt x="5275342" y="1024278"/>
                </a:lnTo>
                <a:lnTo>
                  <a:pt x="5310278" y="1076695"/>
                </a:lnTo>
                <a:lnTo>
                  <a:pt x="5345214" y="1227790"/>
                </a:lnTo>
                <a:lnTo>
                  <a:pt x="5380150" y="1309121"/>
                </a:lnTo>
                <a:lnTo>
                  <a:pt x="5415086" y="1363963"/>
                </a:lnTo>
                <a:lnTo>
                  <a:pt x="5450022" y="1204846"/>
                </a:lnTo>
                <a:lnTo>
                  <a:pt x="5484958" y="1134522"/>
                </a:lnTo>
                <a:lnTo>
                  <a:pt x="5519894" y="1108593"/>
                </a:lnTo>
                <a:lnTo>
                  <a:pt x="5554830" y="1224060"/>
                </a:lnTo>
                <a:lnTo>
                  <a:pt x="5589766" y="1103930"/>
                </a:lnTo>
                <a:lnTo>
                  <a:pt x="5624703" y="1121651"/>
                </a:lnTo>
                <a:lnTo>
                  <a:pt x="5659639" y="1242340"/>
                </a:lnTo>
                <a:lnTo>
                  <a:pt x="5694575" y="1199623"/>
                </a:lnTo>
                <a:lnTo>
                  <a:pt x="5729511" y="1298302"/>
                </a:lnTo>
                <a:lnTo>
                  <a:pt x="5764447" y="1320313"/>
                </a:lnTo>
                <a:lnTo>
                  <a:pt x="5799383" y="1172016"/>
                </a:lnTo>
                <a:lnTo>
                  <a:pt x="5834319" y="1168845"/>
                </a:lnTo>
                <a:lnTo>
                  <a:pt x="5869255" y="1002453"/>
                </a:lnTo>
                <a:lnTo>
                  <a:pt x="5904191" y="905453"/>
                </a:lnTo>
                <a:lnTo>
                  <a:pt x="5939127" y="953767"/>
                </a:lnTo>
                <a:lnTo>
                  <a:pt x="5974063" y="928211"/>
                </a:lnTo>
                <a:lnTo>
                  <a:pt x="6008999" y="967197"/>
                </a:lnTo>
                <a:lnTo>
                  <a:pt x="6043935" y="1022972"/>
                </a:lnTo>
                <a:lnTo>
                  <a:pt x="6078871" y="1038455"/>
                </a:lnTo>
                <a:lnTo>
                  <a:pt x="6113807" y="1194587"/>
                </a:lnTo>
                <a:lnTo>
                  <a:pt x="6148743" y="1117920"/>
                </a:lnTo>
                <a:lnTo>
                  <a:pt x="6183679" y="1184327"/>
                </a:lnTo>
                <a:lnTo>
                  <a:pt x="6218615" y="1208577"/>
                </a:lnTo>
                <a:lnTo>
                  <a:pt x="6253551" y="1177985"/>
                </a:lnTo>
                <a:lnTo>
                  <a:pt x="6288487" y="951528"/>
                </a:lnTo>
                <a:lnTo>
                  <a:pt x="6323423" y="895194"/>
                </a:lnTo>
                <a:lnTo>
                  <a:pt x="6358359" y="899671"/>
                </a:lnTo>
                <a:lnTo>
                  <a:pt x="6393295" y="1136574"/>
                </a:lnTo>
                <a:lnTo>
                  <a:pt x="6428232" y="1116054"/>
                </a:lnTo>
              </a:path>
            </a:pathLst>
          </a:custGeom>
          <a:noFill/>
          <a:ln w="20320">
            <a:solidFill>
              <a:srgbClr val="1E2F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2647" y="4407408"/>
            <a:ext cx="365760" cy="125730"/>
          </a:xfrm>
          <a:prstGeom prst="rect">
            <a:avLst/>
          </a:prstGeom>
          <a:noFill/>
        </p:spPr>
        <p:txBody>
          <a:bodyPr wrap="square" lIns="0" rIns="0" tIns="0" bIns="0" anchor="t">
            <a:noAutofit/>
          </a:bodyPr>
          <a:lstStyle/>
          <a:p>
            <a:pPr algn="ctr">
              <a:lnSpc>
                <a:spcPts val="990"/>
              </a:lnSpc>
            </a:pPr>
            <a:r>
              <a:rPr sz="750" b="0">
                <a:solidFill>
                  <a:srgbClr val="606060"/>
                </a:solidFill>
                <a:latin typeface="Kanit"/>
              </a:rPr>
              <a:t>2011</a:t>
            </a:r>
          </a:p>
        </p:txBody>
      </p:sp>
      <p:sp>
        <p:nvSpPr>
          <p:cNvPr id="39" name="TextBox 38"/>
          <p:cNvSpPr txBox="1"/>
          <p:nvPr/>
        </p:nvSpPr>
        <p:spPr>
          <a:xfrm>
            <a:off x="2289578" y="4407408"/>
            <a:ext cx="365760" cy="125730"/>
          </a:xfrm>
          <a:prstGeom prst="rect">
            <a:avLst/>
          </a:prstGeom>
          <a:noFill/>
        </p:spPr>
        <p:txBody>
          <a:bodyPr wrap="square" lIns="0" rIns="0" tIns="0" bIns="0" anchor="t">
            <a:noAutofit/>
          </a:bodyPr>
          <a:lstStyle/>
          <a:p>
            <a:pPr algn="ctr">
              <a:lnSpc>
                <a:spcPts val="990"/>
              </a:lnSpc>
            </a:pPr>
            <a:r>
              <a:rPr sz="750" b="0">
                <a:solidFill>
                  <a:srgbClr val="606060"/>
                </a:solidFill>
                <a:latin typeface="Kanit"/>
              </a:rPr>
              <a:t>2015</a:t>
            </a:r>
          </a:p>
        </p:txBody>
      </p:sp>
      <p:sp>
        <p:nvSpPr>
          <p:cNvPr id="40" name="TextBox 39"/>
          <p:cNvSpPr txBox="1"/>
          <p:nvPr/>
        </p:nvSpPr>
        <p:spPr>
          <a:xfrm>
            <a:off x="3966508" y="4407408"/>
            <a:ext cx="365760" cy="125730"/>
          </a:xfrm>
          <a:prstGeom prst="rect">
            <a:avLst/>
          </a:prstGeom>
          <a:noFill/>
        </p:spPr>
        <p:txBody>
          <a:bodyPr wrap="square" lIns="0" rIns="0" tIns="0" bIns="0" anchor="t">
            <a:noAutofit/>
          </a:bodyPr>
          <a:lstStyle/>
          <a:p>
            <a:pPr algn="ctr">
              <a:lnSpc>
                <a:spcPts val="990"/>
              </a:lnSpc>
            </a:pPr>
            <a:r>
              <a:rPr sz="750" b="0">
                <a:solidFill>
                  <a:srgbClr val="606060"/>
                </a:solidFill>
                <a:latin typeface="Kanit"/>
              </a:rPr>
              <a:t>2019</a:t>
            </a:r>
          </a:p>
        </p:txBody>
      </p:sp>
      <p:sp>
        <p:nvSpPr>
          <p:cNvPr id="41" name="TextBox 40"/>
          <p:cNvSpPr txBox="1"/>
          <p:nvPr/>
        </p:nvSpPr>
        <p:spPr>
          <a:xfrm>
            <a:off x="5224205" y="4407408"/>
            <a:ext cx="365760" cy="125730"/>
          </a:xfrm>
          <a:prstGeom prst="rect">
            <a:avLst/>
          </a:prstGeom>
          <a:noFill/>
        </p:spPr>
        <p:txBody>
          <a:bodyPr wrap="square" lIns="0" rIns="0" tIns="0" bIns="0" anchor="t">
            <a:noAutofit/>
          </a:bodyPr>
          <a:lstStyle/>
          <a:p>
            <a:pPr algn="ctr">
              <a:lnSpc>
                <a:spcPts val="990"/>
              </a:lnSpc>
            </a:pPr>
            <a:r>
              <a:rPr sz="750" b="0">
                <a:solidFill>
                  <a:srgbClr val="606060"/>
                </a:solidFill>
                <a:latin typeface="Kanit"/>
              </a:rPr>
              <a:t>2022</a:t>
            </a:r>
          </a:p>
        </p:txBody>
      </p:sp>
      <p:sp>
        <p:nvSpPr>
          <p:cNvPr id="42" name="TextBox 41"/>
          <p:cNvSpPr txBox="1"/>
          <p:nvPr/>
        </p:nvSpPr>
        <p:spPr>
          <a:xfrm>
            <a:off x="6901135" y="4407408"/>
            <a:ext cx="365760" cy="125730"/>
          </a:xfrm>
          <a:prstGeom prst="rect">
            <a:avLst/>
          </a:prstGeom>
          <a:noFill/>
        </p:spPr>
        <p:txBody>
          <a:bodyPr wrap="square" lIns="0" rIns="0" tIns="0" bIns="0" anchor="t">
            <a:noAutofit/>
          </a:bodyPr>
          <a:lstStyle/>
          <a:p>
            <a:pPr algn="ctr">
              <a:lnSpc>
                <a:spcPts val="990"/>
              </a:lnSpc>
            </a:pPr>
            <a:r>
              <a:rPr sz="750" b="0">
                <a:solidFill>
                  <a:srgbClr val="606060"/>
                </a:solidFill>
                <a:latin typeface="Kanit"/>
              </a:rPr>
              <a:t>2026</a:t>
            </a:r>
          </a:p>
        </p:txBody>
      </p:sp>
      <p:sp>
        <p:nvSpPr>
          <p:cNvPr id="43" name="TextBox 42"/>
          <p:cNvSpPr txBox="1"/>
          <p:nvPr/>
        </p:nvSpPr>
        <p:spPr>
          <a:xfrm>
            <a:off x="429768" y="2331720"/>
            <a:ext cx="681228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Index, 2015 = 100 · monthly, 2011-01 → 2026-05</a:t>
            </a:r>
          </a:p>
        </p:txBody>
      </p:sp>
      <p:sp>
        <p:nvSpPr>
          <p:cNvPr id="44" name="Rectangle 43"/>
          <p:cNvSpPr/>
          <p:nvPr/>
        </p:nvSpPr>
        <p:spPr>
          <a:xfrm>
            <a:off x="7498079" y="2322576"/>
            <a:ext cx="4279392" cy="1858518"/>
          </a:xfrm>
          <a:prstGeom prst="rect">
            <a:avLst/>
          </a:prstGeom>
          <a:solidFill>
            <a:srgbClr val="FCEFE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5" name="Rectangle 44"/>
          <p:cNvSpPr/>
          <p:nvPr/>
        </p:nvSpPr>
        <p:spPr>
          <a:xfrm>
            <a:off x="7498079" y="2322576"/>
            <a:ext cx="50292" cy="185851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6" name="TextBox 45"/>
          <p:cNvSpPr txBox="1"/>
          <p:nvPr/>
        </p:nvSpPr>
        <p:spPr>
          <a:xfrm>
            <a:off x="7717536" y="2468880"/>
            <a:ext cx="3950207" cy="158750"/>
          </a:xfrm>
          <a:prstGeom prst="rect">
            <a:avLst/>
          </a:prstGeom>
          <a:noFill/>
        </p:spPr>
        <p:txBody>
          <a:bodyPr wrap="square" lIns="0" rIns="0" tIns="0" bIns="0" anchor="t">
            <a:noAutofit/>
          </a:bodyPr>
          <a:lstStyle/>
          <a:p>
            <a:pPr algn="l">
              <a:lnSpc>
                <a:spcPts val="1250"/>
              </a:lnSpc>
            </a:pPr>
            <a:r>
              <a:rPr sz="950" b="1">
                <a:solidFill>
                  <a:srgbClr val="CC0000"/>
                </a:solidFill>
                <a:latin typeface="Kanit"/>
              </a:rPr>
              <a:t>The pickup–car gap is recent, not structural</a:t>
            </a:r>
          </a:p>
        </p:txBody>
      </p:sp>
      <p:sp>
        <p:nvSpPr>
          <p:cNvPr id="47" name="TextBox 46"/>
          <p:cNvSpPr txBox="1"/>
          <p:nvPr/>
        </p:nvSpPr>
        <p:spPr>
          <a:xfrm>
            <a:off x="7717536" y="2673350"/>
            <a:ext cx="3950207" cy="136144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Through most of 2013–2021 the two lines sit on top of each other — the mean gap was 1.1 index points. It opens only from 2022, and the last twelve months average 26.9. Pickups are 33.2 points below their own 2015 base against 12.2 for cars: 2.7 times the decline.
Whatever is depressing pickup resale started four years ago and has not reversed. Advance rates calibrated on pre-2022 behaviour are calibrated against a market that no longer exists.</a:t>
            </a:r>
          </a:p>
        </p:txBody>
      </p:sp>
      <p:sp>
        <p:nvSpPr>
          <p:cNvPr id="48" name="Rounded Rectangle 47"/>
          <p:cNvSpPr/>
          <p:nvPr/>
        </p:nvSpPr>
        <p:spPr>
          <a:xfrm>
            <a:off x="411480" y="4754880"/>
            <a:ext cx="754177" cy="192024"/>
          </a:xfrm>
          <a:prstGeom prst="roundRect">
            <a:avLst>
              <a:gd name="adj" fmla="val 50000"/>
            </a:avLst>
          </a:prstGeom>
          <a:noFill/>
          <a:ln w="9525">
            <a:solidFill>
              <a:srgbClr val="15795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9" name="TextBox 48"/>
          <p:cNvSpPr txBox="1"/>
          <p:nvPr/>
        </p:nvSpPr>
        <p:spPr>
          <a:xfrm>
            <a:off x="411480" y="4784140"/>
            <a:ext cx="754177" cy="134112"/>
          </a:xfrm>
          <a:prstGeom prst="rect">
            <a:avLst/>
          </a:prstGeom>
          <a:noFill/>
        </p:spPr>
        <p:txBody>
          <a:bodyPr wrap="square" lIns="0" rIns="0" tIns="0" bIns="0" anchor="t">
            <a:noAutofit/>
          </a:bodyPr>
          <a:lstStyle/>
          <a:p>
            <a:pPr algn="ctr">
              <a:lnSpc>
                <a:spcPts val="1056"/>
              </a:lnSpc>
            </a:pPr>
            <a:r>
              <a:rPr sz="800" b="1">
                <a:solidFill>
                  <a:srgbClr val="15795F"/>
                </a:solidFill>
                <a:latin typeface="Kanit"/>
              </a:rPr>
              <a:t>MEASURED</a:t>
            </a:r>
          </a:p>
        </p:txBody>
      </p:sp>
      <p:sp>
        <p:nvSpPr>
          <p:cNvPr id="50" name="TextBox 49"/>
          <p:cNvSpPr txBox="1"/>
          <p:nvPr/>
        </p:nvSpPr>
        <p:spPr>
          <a:xfrm>
            <a:off x="1275385" y="4768596"/>
            <a:ext cx="10502086" cy="308610"/>
          </a:xfrm>
          <a:prstGeom prst="rect">
            <a:avLst/>
          </a:prstGeom>
          <a:noFill/>
        </p:spPr>
        <p:txBody>
          <a:bodyPr wrap="square" lIns="0" rIns="0" tIns="0" bIns="0" anchor="t">
            <a:noAutofit/>
          </a:bodyPr>
          <a:lstStyle/>
          <a:p>
            <a:pPr algn="l">
              <a:lnSpc>
                <a:spcPts val="1215"/>
              </a:lnSpc>
            </a:pPr>
            <a:r>
              <a:rPr sz="900" b="0">
                <a:solidFill>
                  <a:srgbClr val="606060"/>
                </a:solidFill>
                <a:latin typeface="Kanit"/>
              </a:rPr>
              <a:t>Bank of Thailand used-vehicle price index (EC_EI_040), 185 monthly observations, both series independently rebased so their own 2015 average = 100. The pickup series is confirmed pickup trucks (รถกระบะ), not heavy commercial — BoT’s 2019 Stat-Horizon methodology paper. Latest month preliminary.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09B · COLLATERAL SUPPLY</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Two vehicle markets, moving opposite ways.</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TextBox 8"/>
          <p:cNvSpPr txBox="1"/>
          <p:nvPr/>
        </p:nvSpPr>
        <p:spPr>
          <a:xfrm>
            <a:off x="411480" y="1152144"/>
            <a:ext cx="11365992" cy="381000"/>
          </a:xfrm>
          <a:prstGeom prst="rect">
            <a:avLst/>
          </a:prstGeom>
          <a:noFill/>
        </p:spPr>
        <p:txBody>
          <a:bodyPr wrap="square" lIns="0" rIns="0" tIns="0" bIns="0" anchor="t">
            <a:noAutofit/>
          </a:bodyPr>
          <a:lstStyle/>
          <a:p>
            <a:pPr algn="l">
              <a:lnSpc>
                <a:spcPts val="1500"/>
              </a:lnSpc>
            </a:pPr>
            <a:r>
              <a:rPr sz="1100" b="0">
                <a:solidFill>
                  <a:srgbClr val="606060"/>
                </a:solidFill>
                <a:latin typeface="Kanit"/>
              </a:rPr>
              <a:t>DLT first registrations on AutoX’s own pickup definition — any pickup or PPV nameplate, in any registration class. Read on trailing windows rather than calendar years: the last six months say something the twelve-month figure hides.</a:t>
            </a:r>
          </a:p>
        </p:txBody>
      </p:sp>
      <p:graphicFrame>
        <p:nvGraphicFramePr>
          <p:cNvPr id="10" name="Table 9"/>
          <p:cNvGraphicFramePr>
            <a:graphicFrameLocks noGrp="1"/>
          </p:cNvGraphicFramePr>
          <p:nvPr/>
        </p:nvGraphicFramePr>
        <p:xfrm>
          <a:off x="411480" y="1679448"/>
          <a:ext cx="11365993" cy="987552"/>
        </p:xfrm>
        <a:graphic>
          <a:graphicData uri="http://schemas.openxmlformats.org/drawingml/2006/table">
            <a:tbl>
              <a:tblPr>
                <a:tableStyleId>{5C22544A-7EE6-4342-B048-85BDC9FD1C3A}</a:tableStyleId>
              </a:tblPr>
              <a:tblGrid>
                <a:gridCol w="2383192"/>
                <a:gridCol w="1924886"/>
                <a:gridCol w="1466580"/>
                <a:gridCol w="1924886"/>
                <a:gridCol w="1466580"/>
                <a:gridCol w="2199869"/>
              </a:tblGrid>
              <a:tr h="329184">
                <a:tc>
                  <a:txBody>
                    <a:bodyPr wrap="square"/>
                    <a:lstStyle/>
                    <a:p>
                      <a:pPr algn="l"/>
                      <a:r>
                        <a:rPr sz="1050" b="1">
                          <a:solidFill>
                            <a:srgbClr val="FFFFFF"/>
                          </a:solidFill>
                          <a:latin typeface="Kanit"/>
                        </a:rPr>
                        <a:t/>
                      </a:r>
                    </a:p>
                  </a:txBody>
                  <a:tcPr marL="54864" marR="54864" marT="18288" marB="18288" anchor="ctr">
                    <a:solidFill>
                      <a:srgbClr val="1B2A6B"/>
                    </a:solidFill>
                  </a:tcPr>
                </a:tc>
                <a:tc>
                  <a:txBody>
                    <a:bodyPr wrap="square"/>
                    <a:lstStyle/>
                    <a:p>
                      <a:pPr algn="r"/>
                      <a:r>
                        <a:rPr sz="1050" b="1">
                          <a:solidFill>
                            <a:srgbClr val="FFFFFF"/>
                          </a:solidFill>
                          <a:latin typeface="Kanit"/>
                        </a:rPr>
                        <a:t>12-month units</a:t>
                      </a:r>
                    </a:p>
                  </a:txBody>
                  <a:tcPr marL="54864" marR="54864" marT="18288" marB="18288" anchor="ctr">
                    <a:solidFill>
                      <a:srgbClr val="1B2A6B"/>
                    </a:solidFill>
                  </a:tcPr>
                </a:tc>
                <a:tc>
                  <a:txBody>
                    <a:bodyPr wrap="square"/>
                    <a:lstStyle/>
                    <a:p>
                      <a:pPr algn="r"/>
                      <a:r>
                        <a:rPr sz="1050" b="1">
                          <a:solidFill>
                            <a:srgbClr val="FFFFFF"/>
                          </a:solidFill>
                          <a:latin typeface="Kanit"/>
                        </a:rPr>
                        <a:t>12m YoY</a:t>
                      </a:r>
                    </a:p>
                  </a:txBody>
                  <a:tcPr marL="54864" marR="54864" marT="18288" marB="18288" anchor="ctr">
                    <a:solidFill>
                      <a:srgbClr val="1B2A6B"/>
                    </a:solidFill>
                  </a:tcPr>
                </a:tc>
                <a:tc>
                  <a:txBody>
                    <a:bodyPr wrap="square"/>
                    <a:lstStyle/>
                    <a:p>
                      <a:pPr algn="r"/>
                      <a:r>
                        <a:rPr sz="1050" b="1">
                          <a:solidFill>
                            <a:srgbClr val="FFFFFF"/>
                          </a:solidFill>
                          <a:latin typeface="Kanit"/>
                        </a:rPr>
                        <a:t>6-month units †</a:t>
                      </a:r>
                    </a:p>
                  </a:txBody>
                  <a:tcPr marL="54864" marR="54864" marT="18288" marB="18288" anchor="ctr">
                    <a:solidFill>
                      <a:srgbClr val="1B2A6B"/>
                    </a:solidFill>
                  </a:tcPr>
                </a:tc>
                <a:tc>
                  <a:txBody>
                    <a:bodyPr wrap="square"/>
                    <a:lstStyle/>
                    <a:p>
                      <a:pPr algn="r"/>
                      <a:r>
                        <a:rPr sz="1050" b="1">
                          <a:solidFill>
                            <a:srgbClr val="FFFFFF"/>
                          </a:solidFill>
                          <a:latin typeface="Kanit"/>
                        </a:rPr>
                        <a:t>6m YoY †</a:t>
                      </a:r>
                    </a:p>
                  </a:txBody>
                  <a:tcPr marL="54864" marR="54864" marT="18288" marB="18288" anchor="ctr">
                    <a:solidFill>
                      <a:srgbClr val="1B2A6B"/>
                    </a:solidFill>
                  </a:tcPr>
                </a:tc>
                <a:tc>
                  <a:txBody>
                    <a:bodyPr wrap="square"/>
                    <a:lstStyle/>
                    <a:p>
                      <a:pPr algn="r"/>
                      <a:r>
                        <a:rPr sz="1050" b="1">
                          <a:solidFill>
                            <a:srgbClr val="FFFFFF"/>
                          </a:solidFill>
                          <a:latin typeface="Kanit"/>
                        </a:rPr>
                        <a:t>6m trend ex-flagged, units/mo</a:t>
                      </a:r>
                    </a:p>
                  </a:txBody>
                  <a:tcPr marL="54864" marR="54864" marT="18288" marB="18288" anchor="ctr">
                    <a:solidFill>
                      <a:srgbClr val="1B2A6B"/>
                    </a:solidFill>
                  </a:tcPr>
                </a:tc>
              </a:tr>
              <a:tr h="329184">
                <a:tc>
                  <a:txBody>
                    <a:bodyPr wrap="square"/>
                    <a:lstStyle/>
                    <a:p>
                      <a:pPr algn="l"/>
                      <a:r>
                        <a:rPr sz="1100" b="1">
                          <a:solidFill>
                            <a:srgbClr val="1E2F5C"/>
                          </a:solidFill>
                          <a:latin typeface="Kanit"/>
                        </a:rPr>
                        <a:t>Pickup + PPV</a:t>
                      </a:r>
                    </a:p>
                  </a:txBody>
                  <a:tcPr marL="54864" marR="54864" marT="18288" marB="18288" anchor="ctr">
                    <a:solidFill>
                      <a:srgbClr val="FFFFFF"/>
                    </a:solidFill>
                  </a:tcPr>
                </a:tc>
                <a:tc>
                  <a:txBody>
                    <a:bodyPr wrap="square"/>
                    <a:lstStyle/>
                    <a:p>
                      <a:pPr algn="r"/>
                      <a:r>
                        <a:rPr sz="1100" b="0">
                          <a:solidFill>
                            <a:srgbClr val="1E2F5C"/>
                          </a:solidFill>
                          <a:latin typeface="Kanit"/>
                        </a:rPr>
                        <a:t>183,277</a:t>
                      </a:r>
                    </a:p>
                  </a:txBody>
                  <a:tcPr marL="54864" marR="54864" marT="18288" marB="18288" anchor="ctr">
                    <a:solidFill>
                      <a:srgbClr val="FFFFFF"/>
                    </a:solidFill>
                  </a:tcPr>
                </a:tc>
                <a:tc>
                  <a:txBody>
                    <a:bodyPr wrap="square"/>
                    <a:lstStyle/>
                    <a:p>
                      <a:pPr algn="r"/>
                      <a:r>
                        <a:rPr sz="1100" b="1">
                          <a:solidFill>
                            <a:srgbClr val="CC0000"/>
                          </a:solidFill>
                          <a:latin typeface="Kanit"/>
                        </a:rPr>
                        <a:t>-15.3%</a:t>
                      </a:r>
                    </a:p>
                  </a:txBody>
                  <a:tcPr marL="54864" marR="54864" marT="18288" marB="18288" anchor="ctr">
                    <a:solidFill>
                      <a:srgbClr val="FFFFFF"/>
                    </a:solidFill>
                  </a:tcPr>
                </a:tc>
                <a:tc>
                  <a:txBody>
                    <a:bodyPr wrap="square"/>
                    <a:lstStyle/>
                    <a:p>
                      <a:pPr algn="r"/>
                      <a:r>
                        <a:rPr sz="1100" b="0">
                          <a:solidFill>
                            <a:srgbClr val="1E2F5C"/>
                          </a:solidFill>
                          <a:latin typeface="Kanit"/>
                        </a:rPr>
                        <a:t>85,276</a:t>
                      </a:r>
                    </a:p>
                  </a:txBody>
                  <a:tcPr marL="54864" marR="54864" marT="18288" marB="18288" anchor="ctr">
                    <a:solidFill>
                      <a:srgbClr val="FFFFFF"/>
                    </a:solidFill>
                  </a:tcPr>
                </a:tc>
                <a:tc>
                  <a:txBody>
                    <a:bodyPr wrap="square"/>
                    <a:lstStyle/>
                    <a:p>
                      <a:pPr algn="r"/>
                      <a:r>
                        <a:rPr sz="1100" b="1">
                          <a:solidFill>
                            <a:srgbClr val="CC0000"/>
                          </a:solidFill>
                          <a:latin typeface="Kanit"/>
                        </a:rPr>
                        <a:t>-9.8%</a:t>
                      </a:r>
                    </a:p>
                  </a:txBody>
                  <a:tcPr marL="54864" marR="54864" marT="18288" marB="18288" anchor="ctr">
                    <a:solidFill>
                      <a:srgbClr val="FFFFFF"/>
                    </a:solidFill>
                  </a:tcPr>
                </a:tc>
                <a:tc>
                  <a:txBody>
                    <a:bodyPr wrap="square"/>
                    <a:lstStyle/>
                    <a:p>
                      <a:pPr algn="r"/>
                      <a:r>
                        <a:rPr sz="1100" b="1">
                          <a:solidFill>
                            <a:srgbClr val="CC0000"/>
                          </a:solidFill>
                          <a:latin typeface="Kanit"/>
                        </a:rPr>
                        <a:t>-986</a:t>
                      </a:r>
                    </a:p>
                  </a:txBody>
                  <a:tcPr marL="54864" marR="54864" marT="18288" marB="18288" anchor="ctr">
                    <a:solidFill>
                      <a:srgbClr val="FFFFFF"/>
                    </a:solidFill>
                  </a:tcPr>
                </a:tc>
              </a:tr>
              <a:tr h="329184">
                <a:tc>
                  <a:txBody>
                    <a:bodyPr wrap="square"/>
                    <a:lstStyle/>
                    <a:p>
                      <a:pPr algn="l"/>
                      <a:r>
                        <a:rPr sz="1100" b="1">
                          <a:solidFill>
                            <a:srgbClr val="1E2F5C"/>
                          </a:solidFill>
                          <a:latin typeface="Kanit"/>
                        </a:rPr>
                        <a:t>Passenger car</a:t>
                      </a:r>
                    </a:p>
                  </a:txBody>
                  <a:tcPr marL="54864" marR="54864" marT="18288" marB="18288" anchor="ctr">
                    <a:solidFill>
                      <a:srgbClr val="F7F9FC"/>
                    </a:solidFill>
                  </a:tcPr>
                </a:tc>
                <a:tc>
                  <a:txBody>
                    <a:bodyPr wrap="square"/>
                    <a:lstStyle/>
                    <a:p>
                      <a:pPr algn="r"/>
                      <a:r>
                        <a:rPr sz="1100" b="0">
                          <a:solidFill>
                            <a:srgbClr val="1E2F5C"/>
                          </a:solidFill>
                          <a:latin typeface="Kanit"/>
                        </a:rPr>
                        <a:t>443,641</a:t>
                      </a:r>
                    </a:p>
                  </a:txBody>
                  <a:tcPr marL="54864" marR="54864" marT="18288" marB="18288" anchor="ctr">
                    <a:solidFill>
                      <a:srgbClr val="F7F9FC"/>
                    </a:solidFill>
                  </a:tcPr>
                </a:tc>
                <a:tc>
                  <a:txBody>
                    <a:bodyPr wrap="square"/>
                    <a:lstStyle/>
                    <a:p>
                      <a:pPr algn="r"/>
                      <a:r>
                        <a:rPr sz="1100" b="1">
                          <a:solidFill>
                            <a:srgbClr val="15795F"/>
                          </a:solidFill>
                          <a:latin typeface="Kanit"/>
                        </a:rPr>
                        <a:t>+19.8%</a:t>
                      </a:r>
                    </a:p>
                  </a:txBody>
                  <a:tcPr marL="54864" marR="54864" marT="18288" marB="18288" anchor="ctr">
                    <a:solidFill>
                      <a:srgbClr val="F7F9FC"/>
                    </a:solidFill>
                  </a:tcPr>
                </a:tc>
                <a:tc>
                  <a:txBody>
                    <a:bodyPr wrap="square"/>
                    <a:lstStyle/>
                    <a:p>
                      <a:pPr algn="r"/>
                      <a:r>
                        <a:rPr sz="1100" b="0">
                          <a:solidFill>
                            <a:srgbClr val="1E2F5C"/>
                          </a:solidFill>
                          <a:latin typeface="Kanit"/>
                        </a:rPr>
                        <a:t>233,102</a:t>
                      </a:r>
                    </a:p>
                  </a:txBody>
                  <a:tcPr marL="54864" marR="54864" marT="18288" marB="18288" anchor="ctr">
                    <a:solidFill>
                      <a:srgbClr val="F7F9FC"/>
                    </a:solidFill>
                  </a:tcPr>
                </a:tc>
                <a:tc>
                  <a:txBody>
                    <a:bodyPr wrap="square"/>
                    <a:lstStyle/>
                    <a:p>
                      <a:pPr algn="r"/>
                      <a:r>
                        <a:rPr sz="1100" b="1">
                          <a:solidFill>
                            <a:srgbClr val="15795F"/>
                          </a:solidFill>
                          <a:latin typeface="Kanit"/>
                        </a:rPr>
                        <a:t>+34.3%</a:t>
                      </a:r>
                    </a:p>
                  </a:txBody>
                  <a:tcPr marL="54864" marR="54864" marT="18288" marB="18288" anchor="ctr">
                    <a:solidFill>
                      <a:srgbClr val="F7F9FC"/>
                    </a:solidFill>
                  </a:tcPr>
                </a:tc>
                <a:tc>
                  <a:txBody>
                    <a:bodyPr wrap="square"/>
                    <a:lstStyle/>
                    <a:p>
                      <a:pPr algn="r"/>
                      <a:r>
                        <a:rPr sz="1100" b="1">
                          <a:solidFill>
                            <a:srgbClr val="CC0000"/>
                          </a:solidFill>
                          <a:latin typeface="Kanit"/>
                        </a:rPr>
                        <a:t>-393</a:t>
                      </a:r>
                    </a:p>
                  </a:txBody>
                  <a:tcPr marL="54864" marR="54864" marT="18288" marB="18288" anchor="ctr">
                    <a:solidFill>
                      <a:srgbClr val="F7F9FC"/>
                    </a:solidFill>
                  </a:tcPr>
                </a:tc>
              </a:tr>
            </a:tbl>
          </a:graphicData>
        </a:graphic>
      </p:graphicFrame>
      <p:sp>
        <p:nvSpPr>
          <p:cNvPr id="11" name="TextBox 10"/>
          <p:cNvSpPr txBox="1"/>
          <p:nvPr/>
        </p:nvSpPr>
        <p:spPr>
          <a:xfrm>
            <a:off x="411480" y="2721864"/>
            <a:ext cx="11365992" cy="152400"/>
          </a:xfrm>
          <a:prstGeom prst="rect">
            <a:avLst/>
          </a:prstGeom>
          <a:noFill/>
        </p:spPr>
        <p:txBody>
          <a:bodyPr wrap="square" lIns="0" rIns="0" tIns="0" bIns="0" anchor="t">
            <a:noAutofit/>
          </a:bodyPr>
          <a:lstStyle/>
          <a:p>
            <a:pPr algn="l">
              <a:lnSpc>
                <a:spcPts val="1200"/>
              </a:lnSpc>
            </a:pPr>
            <a:r>
              <a:rPr sz="900" b="0">
                <a:solidFill>
                  <a:srgbClr val="606060"/>
                </a:solidFill>
                <a:latin typeface="Kanit"/>
              </a:rPr>
              <a:t>† the six-month window contains flagged months — 2025-12, 2026-01. The trend column strips the flagged January; the two YoY columns do not.</a:t>
            </a:r>
          </a:p>
        </p:txBody>
      </p:sp>
      <p:sp>
        <p:nvSpPr>
          <p:cNvPr id="12" name="TextBox 11"/>
          <p:cNvSpPr txBox="1"/>
          <p:nvPr/>
        </p:nvSpPr>
        <p:spPr>
          <a:xfrm>
            <a:off x="411480" y="3020568"/>
            <a:ext cx="5568696" cy="159258"/>
          </a:xfrm>
          <a:prstGeom prst="rect">
            <a:avLst/>
          </a:prstGeom>
          <a:noFill/>
        </p:spPr>
        <p:txBody>
          <a:bodyPr wrap="square" lIns="0" rIns="0" tIns="0" bIns="0" anchor="t">
            <a:noAutofit/>
          </a:bodyPr>
          <a:lstStyle/>
          <a:p>
            <a:pPr algn="l">
              <a:lnSpc>
                <a:spcPts val="1254"/>
              </a:lnSpc>
            </a:pPr>
            <a:r>
              <a:rPr sz="950" b="1">
                <a:solidFill>
                  <a:srgbClr val="1E2F5C"/>
                </a:solidFill>
                <a:latin typeface="Kanit"/>
              </a:rPr>
              <a:t>Pickup + PPV — registrations by month, 2025-08 → 2026-01</a:t>
            </a:r>
          </a:p>
        </p:txBody>
      </p:sp>
      <p:sp>
        <p:nvSpPr>
          <p:cNvPr id="13" name="Rectangle 12"/>
          <p:cNvSpPr/>
          <p:nvPr/>
        </p:nvSpPr>
        <p:spPr>
          <a:xfrm>
            <a:off x="411480" y="3221736"/>
            <a:ext cx="5568696" cy="1481328"/>
          </a:xfrm>
          <a:prstGeom prst="rect">
            <a:avLst/>
          </a:prstGeom>
          <a:solidFill>
            <a:srgbClr val="FBFCFE"/>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760415" y="3703042"/>
            <a:ext cx="458845" cy="743989"/>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548640" y="3520162"/>
            <a:ext cx="882396" cy="150876"/>
          </a:xfrm>
          <a:prstGeom prst="rect">
            <a:avLst/>
          </a:prstGeom>
          <a:noFill/>
        </p:spPr>
        <p:txBody>
          <a:bodyPr wrap="square" lIns="0" rIns="0" tIns="0" bIns="0" anchor="t">
            <a:noAutofit/>
          </a:bodyPr>
          <a:lstStyle/>
          <a:p>
            <a:pPr algn="ctr">
              <a:lnSpc>
                <a:spcPts val="1188"/>
              </a:lnSpc>
            </a:pPr>
            <a:r>
              <a:rPr sz="900" b="0">
                <a:solidFill>
                  <a:srgbClr val="1E2F5C"/>
                </a:solidFill>
                <a:latin typeface="Kanit"/>
              </a:rPr>
              <a:t>14.9k</a:t>
            </a:r>
          </a:p>
        </p:txBody>
      </p:sp>
      <p:sp>
        <p:nvSpPr>
          <p:cNvPr id="16" name="TextBox 15"/>
          <p:cNvSpPr txBox="1"/>
          <p:nvPr/>
        </p:nvSpPr>
        <p:spPr>
          <a:xfrm>
            <a:off x="548640" y="4492752"/>
            <a:ext cx="882396" cy="142494"/>
          </a:xfrm>
          <a:prstGeom prst="rect">
            <a:avLst/>
          </a:prstGeom>
          <a:noFill/>
        </p:spPr>
        <p:txBody>
          <a:bodyPr wrap="square" lIns="0" rIns="0" tIns="0" bIns="0" anchor="t">
            <a:noAutofit/>
          </a:bodyPr>
          <a:lstStyle/>
          <a:p>
            <a:pPr algn="ctr">
              <a:lnSpc>
                <a:spcPts val="1122"/>
              </a:lnSpc>
            </a:pPr>
            <a:r>
              <a:rPr sz="850" b="0">
                <a:solidFill>
                  <a:srgbClr val="606060"/>
                </a:solidFill>
                <a:latin typeface="Kanit"/>
              </a:rPr>
              <a:t>25-08</a:t>
            </a:r>
          </a:p>
        </p:txBody>
      </p:sp>
      <p:sp>
        <p:nvSpPr>
          <p:cNvPr id="17" name="Rectangle 16"/>
          <p:cNvSpPr/>
          <p:nvPr/>
        </p:nvSpPr>
        <p:spPr>
          <a:xfrm>
            <a:off x="1642811" y="3683312"/>
            <a:ext cx="458845" cy="763719"/>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431036" y="3500432"/>
            <a:ext cx="882396" cy="150876"/>
          </a:xfrm>
          <a:prstGeom prst="rect">
            <a:avLst/>
          </a:prstGeom>
          <a:noFill/>
        </p:spPr>
        <p:txBody>
          <a:bodyPr wrap="square" lIns="0" rIns="0" tIns="0" bIns="0" anchor="t">
            <a:noAutofit/>
          </a:bodyPr>
          <a:lstStyle/>
          <a:p>
            <a:pPr algn="ctr">
              <a:lnSpc>
                <a:spcPts val="1188"/>
              </a:lnSpc>
            </a:pPr>
            <a:r>
              <a:rPr sz="900" b="0">
                <a:solidFill>
                  <a:srgbClr val="1E2F5C"/>
                </a:solidFill>
                <a:latin typeface="Kanit"/>
              </a:rPr>
              <a:t>15.3k</a:t>
            </a:r>
          </a:p>
        </p:txBody>
      </p:sp>
      <p:sp>
        <p:nvSpPr>
          <p:cNvPr id="19" name="TextBox 18"/>
          <p:cNvSpPr txBox="1"/>
          <p:nvPr/>
        </p:nvSpPr>
        <p:spPr>
          <a:xfrm>
            <a:off x="1431036" y="4492752"/>
            <a:ext cx="882396" cy="142494"/>
          </a:xfrm>
          <a:prstGeom prst="rect">
            <a:avLst/>
          </a:prstGeom>
          <a:noFill/>
        </p:spPr>
        <p:txBody>
          <a:bodyPr wrap="square" lIns="0" rIns="0" tIns="0" bIns="0" anchor="t">
            <a:noAutofit/>
          </a:bodyPr>
          <a:lstStyle/>
          <a:p>
            <a:pPr algn="ctr">
              <a:lnSpc>
                <a:spcPts val="1122"/>
              </a:lnSpc>
            </a:pPr>
            <a:r>
              <a:rPr sz="850" b="0">
                <a:solidFill>
                  <a:srgbClr val="606060"/>
                </a:solidFill>
                <a:latin typeface="Kanit"/>
              </a:rPr>
              <a:t>25-09</a:t>
            </a:r>
          </a:p>
        </p:txBody>
      </p:sp>
      <p:sp>
        <p:nvSpPr>
          <p:cNvPr id="20" name="Rectangle 19"/>
          <p:cNvSpPr/>
          <p:nvPr/>
        </p:nvSpPr>
        <p:spPr>
          <a:xfrm>
            <a:off x="2525207" y="3785218"/>
            <a:ext cx="458845" cy="661813"/>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2313432" y="3602338"/>
            <a:ext cx="882396" cy="150876"/>
          </a:xfrm>
          <a:prstGeom prst="rect">
            <a:avLst/>
          </a:prstGeom>
          <a:noFill/>
        </p:spPr>
        <p:txBody>
          <a:bodyPr wrap="square" lIns="0" rIns="0" tIns="0" bIns="0" anchor="t">
            <a:noAutofit/>
          </a:bodyPr>
          <a:lstStyle/>
          <a:p>
            <a:pPr algn="ctr">
              <a:lnSpc>
                <a:spcPts val="1188"/>
              </a:lnSpc>
            </a:pPr>
            <a:r>
              <a:rPr sz="900" b="0">
                <a:solidFill>
                  <a:srgbClr val="1E2F5C"/>
                </a:solidFill>
                <a:latin typeface="Kanit"/>
              </a:rPr>
              <a:t>13.2k</a:t>
            </a:r>
          </a:p>
        </p:txBody>
      </p:sp>
      <p:sp>
        <p:nvSpPr>
          <p:cNvPr id="22" name="TextBox 21"/>
          <p:cNvSpPr txBox="1"/>
          <p:nvPr/>
        </p:nvSpPr>
        <p:spPr>
          <a:xfrm>
            <a:off x="2313432" y="4492752"/>
            <a:ext cx="882396" cy="142494"/>
          </a:xfrm>
          <a:prstGeom prst="rect">
            <a:avLst/>
          </a:prstGeom>
          <a:noFill/>
        </p:spPr>
        <p:txBody>
          <a:bodyPr wrap="square" lIns="0" rIns="0" tIns="0" bIns="0" anchor="t">
            <a:noAutofit/>
          </a:bodyPr>
          <a:lstStyle/>
          <a:p>
            <a:pPr algn="ctr">
              <a:lnSpc>
                <a:spcPts val="1122"/>
              </a:lnSpc>
            </a:pPr>
            <a:r>
              <a:rPr sz="850" b="0">
                <a:solidFill>
                  <a:srgbClr val="606060"/>
                </a:solidFill>
                <a:latin typeface="Kanit"/>
              </a:rPr>
              <a:t>25-10</a:t>
            </a:r>
          </a:p>
        </p:txBody>
      </p:sp>
      <p:sp>
        <p:nvSpPr>
          <p:cNvPr id="23" name="Rectangle 22"/>
          <p:cNvSpPr/>
          <p:nvPr/>
        </p:nvSpPr>
        <p:spPr>
          <a:xfrm>
            <a:off x="3407603" y="3832290"/>
            <a:ext cx="458845" cy="614741"/>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3195828" y="3649410"/>
            <a:ext cx="882396" cy="150876"/>
          </a:xfrm>
          <a:prstGeom prst="rect">
            <a:avLst/>
          </a:prstGeom>
          <a:noFill/>
        </p:spPr>
        <p:txBody>
          <a:bodyPr wrap="square" lIns="0" rIns="0" tIns="0" bIns="0" anchor="t">
            <a:noAutofit/>
          </a:bodyPr>
          <a:lstStyle/>
          <a:p>
            <a:pPr algn="ctr">
              <a:lnSpc>
                <a:spcPts val="1188"/>
              </a:lnSpc>
            </a:pPr>
            <a:r>
              <a:rPr sz="900" b="0">
                <a:solidFill>
                  <a:srgbClr val="1E2F5C"/>
                </a:solidFill>
                <a:latin typeface="Kanit"/>
              </a:rPr>
              <a:t>12.3k</a:t>
            </a:r>
          </a:p>
        </p:txBody>
      </p:sp>
      <p:sp>
        <p:nvSpPr>
          <p:cNvPr id="25" name="TextBox 24"/>
          <p:cNvSpPr txBox="1"/>
          <p:nvPr/>
        </p:nvSpPr>
        <p:spPr>
          <a:xfrm>
            <a:off x="3195828" y="4492752"/>
            <a:ext cx="882396" cy="142494"/>
          </a:xfrm>
          <a:prstGeom prst="rect">
            <a:avLst/>
          </a:prstGeom>
          <a:noFill/>
        </p:spPr>
        <p:txBody>
          <a:bodyPr wrap="square" lIns="0" rIns="0" tIns="0" bIns="0" anchor="t">
            <a:noAutofit/>
          </a:bodyPr>
          <a:lstStyle/>
          <a:p>
            <a:pPr algn="ctr">
              <a:lnSpc>
                <a:spcPts val="1122"/>
              </a:lnSpc>
            </a:pPr>
            <a:r>
              <a:rPr sz="850" b="0">
                <a:solidFill>
                  <a:srgbClr val="606060"/>
                </a:solidFill>
                <a:latin typeface="Kanit"/>
              </a:rPr>
              <a:t>25-11</a:t>
            </a:r>
          </a:p>
        </p:txBody>
      </p:sp>
      <p:sp>
        <p:nvSpPr>
          <p:cNvPr id="26" name="Rectangle 25"/>
          <p:cNvSpPr/>
          <p:nvPr/>
        </p:nvSpPr>
        <p:spPr>
          <a:xfrm>
            <a:off x="4289999" y="3875356"/>
            <a:ext cx="458845" cy="571675"/>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4078224" y="3692476"/>
            <a:ext cx="882396" cy="150876"/>
          </a:xfrm>
          <a:prstGeom prst="rect">
            <a:avLst/>
          </a:prstGeom>
          <a:noFill/>
        </p:spPr>
        <p:txBody>
          <a:bodyPr wrap="square" lIns="0" rIns="0" tIns="0" bIns="0" anchor="t">
            <a:noAutofit/>
          </a:bodyPr>
          <a:lstStyle/>
          <a:p>
            <a:pPr algn="ctr">
              <a:lnSpc>
                <a:spcPts val="1188"/>
              </a:lnSpc>
            </a:pPr>
            <a:r>
              <a:rPr sz="900" b="0">
                <a:solidFill>
                  <a:srgbClr val="1E2F5C"/>
                </a:solidFill>
                <a:latin typeface="Kanit"/>
              </a:rPr>
              <a:t>11.4k</a:t>
            </a:r>
          </a:p>
        </p:txBody>
      </p:sp>
      <p:sp>
        <p:nvSpPr>
          <p:cNvPr id="28" name="TextBox 27"/>
          <p:cNvSpPr txBox="1"/>
          <p:nvPr/>
        </p:nvSpPr>
        <p:spPr>
          <a:xfrm>
            <a:off x="4078224" y="4492752"/>
            <a:ext cx="882396" cy="142494"/>
          </a:xfrm>
          <a:prstGeom prst="rect">
            <a:avLst/>
          </a:prstGeom>
          <a:noFill/>
        </p:spPr>
        <p:txBody>
          <a:bodyPr wrap="square" lIns="0" rIns="0" tIns="0" bIns="0" anchor="t">
            <a:noAutofit/>
          </a:bodyPr>
          <a:lstStyle/>
          <a:p>
            <a:pPr algn="ctr">
              <a:lnSpc>
                <a:spcPts val="1122"/>
              </a:lnSpc>
            </a:pPr>
            <a:r>
              <a:rPr sz="850" b="0">
                <a:solidFill>
                  <a:srgbClr val="606060"/>
                </a:solidFill>
                <a:latin typeface="Kanit"/>
              </a:rPr>
              <a:t>25-12</a:t>
            </a:r>
          </a:p>
        </p:txBody>
      </p:sp>
      <p:sp>
        <p:nvSpPr>
          <p:cNvPr id="29" name="Rectangle 28"/>
          <p:cNvSpPr/>
          <p:nvPr/>
        </p:nvSpPr>
        <p:spPr>
          <a:xfrm>
            <a:off x="5172395" y="3532632"/>
            <a:ext cx="458845" cy="91440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4960620" y="3349752"/>
            <a:ext cx="882396" cy="150876"/>
          </a:xfrm>
          <a:prstGeom prst="rect">
            <a:avLst/>
          </a:prstGeom>
          <a:noFill/>
        </p:spPr>
        <p:txBody>
          <a:bodyPr wrap="square" lIns="0" rIns="0" tIns="0" bIns="0" anchor="t">
            <a:noAutofit/>
          </a:bodyPr>
          <a:lstStyle/>
          <a:p>
            <a:pPr algn="ctr">
              <a:lnSpc>
                <a:spcPts val="1188"/>
              </a:lnSpc>
            </a:pPr>
            <a:r>
              <a:rPr sz="900" b="1">
                <a:solidFill>
                  <a:srgbClr val="CC0000"/>
                </a:solidFill>
                <a:latin typeface="Kanit"/>
              </a:rPr>
              <a:t>18.3k</a:t>
            </a:r>
          </a:p>
        </p:txBody>
      </p:sp>
      <p:sp>
        <p:nvSpPr>
          <p:cNvPr id="31" name="TextBox 30"/>
          <p:cNvSpPr txBox="1"/>
          <p:nvPr/>
        </p:nvSpPr>
        <p:spPr>
          <a:xfrm>
            <a:off x="4960620" y="4492752"/>
            <a:ext cx="882396" cy="142494"/>
          </a:xfrm>
          <a:prstGeom prst="rect">
            <a:avLst/>
          </a:prstGeom>
          <a:noFill/>
        </p:spPr>
        <p:txBody>
          <a:bodyPr wrap="square" lIns="0" rIns="0" tIns="0" bIns="0" anchor="t">
            <a:noAutofit/>
          </a:bodyPr>
          <a:lstStyle/>
          <a:p>
            <a:pPr algn="ctr">
              <a:lnSpc>
                <a:spcPts val="1122"/>
              </a:lnSpc>
            </a:pPr>
            <a:r>
              <a:rPr sz="850" b="0">
                <a:solidFill>
                  <a:srgbClr val="606060"/>
                </a:solidFill>
                <a:latin typeface="Kanit"/>
              </a:rPr>
              <a:t>26-01</a:t>
            </a:r>
          </a:p>
        </p:txBody>
      </p:sp>
      <p:sp>
        <p:nvSpPr>
          <p:cNvPr id="32" name="TextBox 31"/>
          <p:cNvSpPr txBox="1"/>
          <p:nvPr/>
        </p:nvSpPr>
        <p:spPr>
          <a:xfrm>
            <a:off x="6208776" y="3020568"/>
            <a:ext cx="5568696" cy="159258"/>
          </a:xfrm>
          <a:prstGeom prst="rect">
            <a:avLst/>
          </a:prstGeom>
          <a:noFill/>
        </p:spPr>
        <p:txBody>
          <a:bodyPr wrap="square" lIns="0" rIns="0" tIns="0" bIns="0" anchor="t">
            <a:noAutofit/>
          </a:bodyPr>
          <a:lstStyle/>
          <a:p>
            <a:pPr algn="l">
              <a:lnSpc>
                <a:spcPts val="1254"/>
              </a:lnSpc>
            </a:pPr>
            <a:r>
              <a:rPr sz="950" b="1">
                <a:solidFill>
                  <a:srgbClr val="1E2F5C"/>
                </a:solidFill>
                <a:latin typeface="Kanit"/>
              </a:rPr>
              <a:t>Passenger car — registrations by month, 2025-08 → 2026-01</a:t>
            </a:r>
          </a:p>
        </p:txBody>
      </p:sp>
      <p:sp>
        <p:nvSpPr>
          <p:cNvPr id="33" name="Rectangle 32"/>
          <p:cNvSpPr/>
          <p:nvPr/>
        </p:nvSpPr>
        <p:spPr>
          <a:xfrm>
            <a:off x="6208776" y="3221736"/>
            <a:ext cx="5568696" cy="1481328"/>
          </a:xfrm>
          <a:prstGeom prst="rect">
            <a:avLst/>
          </a:prstGeom>
          <a:solidFill>
            <a:srgbClr val="FBFCFE"/>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4" name="Rectangle 33"/>
          <p:cNvSpPr/>
          <p:nvPr/>
        </p:nvSpPr>
        <p:spPr>
          <a:xfrm>
            <a:off x="6557711" y="4043259"/>
            <a:ext cx="458845" cy="403772"/>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5" name="TextBox 34"/>
          <p:cNvSpPr txBox="1"/>
          <p:nvPr/>
        </p:nvSpPr>
        <p:spPr>
          <a:xfrm>
            <a:off x="6345936" y="3860379"/>
            <a:ext cx="882396" cy="150876"/>
          </a:xfrm>
          <a:prstGeom prst="rect">
            <a:avLst/>
          </a:prstGeom>
          <a:noFill/>
        </p:spPr>
        <p:txBody>
          <a:bodyPr wrap="square" lIns="0" rIns="0" tIns="0" bIns="0" anchor="t">
            <a:noAutofit/>
          </a:bodyPr>
          <a:lstStyle/>
          <a:p>
            <a:pPr algn="ctr">
              <a:lnSpc>
                <a:spcPts val="1188"/>
              </a:lnSpc>
            </a:pPr>
            <a:r>
              <a:rPr sz="900" b="0">
                <a:solidFill>
                  <a:srgbClr val="1E2F5C"/>
                </a:solidFill>
                <a:latin typeface="Kanit"/>
              </a:rPr>
              <a:t>32.0k</a:t>
            </a:r>
          </a:p>
        </p:txBody>
      </p:sp>
      <p:sp>
        <p:nvSpPr>
          <p:cNvPr id="36" name="TextBox 35"/>
          <p:cNvSpPr txBox="1"/>
          <p:nvPr/>
        </p:nvSpPr>
        <p:spPr>
          <a:xfrm>
            <a:off x="6345936" y="4492752"/>
            <a:ext cx="882396" cy="142494"/>
          </a:xfrm>
          <a:prstGeom prst="rect">
            <a:avLst/>
          </a:prstGeom>
          <a:noFill/>
        </p:spPr>
        <p:txBody>
          <a:bodyPr wrap="square" lIns="0" rIns="0" tIns="0" bIns="0" anchor="t">
            <a:noAutofit/>
          </a:bodyPr>
          <a:lstStyle/>
          <a:p>
            <a:pPr algn="ctr">
              <a:lnSpc>
                <a:spcPts val="1122"/>
              </a:lnSpc>
            </a:pPr>
            <a:r>
              <a:rPr sz="850" b="0">
                <a:solidFill>
                  <a:srgbClr val="606060"/>
                </a:solidFill>
                <a:latin typeface="Kanit"/>
              </a:rPr>
              <a:t>25-08</a:t>
            </a:r>
          </a:p>
        </p:txBody>
      </p:sp>
      <p:sp>
        <p:nvSpPr>
          <p:cNvPr id="37" name="Rectangle 36"/>
          <p:cNvSpPr/>
          <p:nvPr/>
        </p:nvSpPr>
        <p:spPr>
          <a:xfrm>
            <a:off x="7440107" y="4026680"/>
            <a:ext cx="458845" cy="420351"/>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8" name="TextBox 37"/>
          <p:cNvSpPr txBox="1"/>
          <p:nvPr/>
        </p:nvSpPr>
        <p:spPr>
          <a:xfrm>
            <a:off x="7228332" y="3843800"/>
            <a:ext cx="882396" cy="150876"/>
          </a:xfrm>
          <a:prstGeom prst="rect">
            <a:avLst/>
          </a:prstGeom>
          <a:noFill/>
        </p:spPr>
        <p:txBody>
          <a:bodyPr wrap="square" lIns="0" rIns="0" tIns="0" bIns="0" anchor="t">
            <a:noAutofit/>
          </a:bodyPr>
          <a:lstStyle/>
          <a:p>
            <a:pPr algn="ctr">
              <a:lnSpc>
                <a:spcPts val="1188"/>
              </a:lnSpc>
            </a:pPr>
            <a:r>
              <a:rPr sz="900" b="0">
                <a:solidFill>
                  <a:srgbClr val="1E2F5C"/>
                </a:solidFill>
                <a:latin typeface="Kanit"/>
              </a:rPr>
              <a:t>33.3k</a:t>
            </a:r>
          </a:p>
        </p:txBody>
      </p:sp>
      <p:sp>
        <p:nvSpPr>
          <p:cNvPr id="39" name="TextBox 38"/>
          <p:cNvSpPr txBox="1"/>
          <p:nvPr/>
        </p:nvSpPr>
        <p:spPr>
          <a:xfrm>
            <a:off x="7228332" y="4492752"/>
            <a:ext cx="882396" cy="142494"/>
          </a:xfrm>
          <a:prstGeom prst="rect">
            <a:avLst/>
          </a:prstGeom>
          <a:noFill/>
        </p:spPr>
        <p:txBody>
          <a:bodyPr wrap="square" lIns="0" rIns="0" tIns="0" bIns="0" anchor="t">
            <a:noAutofit/>
          </a:bodyPr>
          <a:lstStyle/>
          <a:p>
            <a:pPr algn="ctr">
              <a:lnSpc>
                <a:spcPts val="1122"/>
              </a:lnSpc>
            </a:pPr>
            <a:r>
              <a:rPr sz="850" b="0">
                <a:solidFill>
                  <a:srgbClr val="606060"/>
                </a:solidFill>
                <a:latin typeface="Kanit"/>
              </a:rPr>
              <a:t>25-09</a:t>
            </a:r>
          </a:p>
        </p:txBody>
      </p:sp>
      <p:sp>
        <p:nvSpPr>
          <p:cNvPr id="40" name="Rectangle 39"/>
          <p:cNvSpPr/>
          <p:nvPr/>
        </p:nvSpPr>
        <p:spPr>
          <a:xfrm>
            <a:off x="8322503" y="4032976"/>
            <a:ext cx="458845" cy="414055"/>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1" name="TextBox 40"/>
          <p:cNvSpPr txBox="1"/>
          <p:nvPr/>
        </p:nvSpPr>
        <p:spPr>
          <a:xfrm>
            <a:off x="8110728" y="3850096"/>
            <a:ext cx="882396" cy="150876"/>
          </a:xfrm>
          <a:prstGeom prst="rect">
            <a:avLst/>
          </a:prstGeom>
          <a:noFill/>
        </p:spPr>
        <p:txBody>
          <a:bodyPr wrap="square" lIns="0" rIns="0" tIns="0" bIns="0" anchor="t">
            <a:noAutofit/>
          </a:bodyPr>
          <a:lstStyle/>
          <a:p>
            <a:pPr algn="ctr">
              <a:lnSpc>
                <a:spcPts val="1188"/>
              </a:lnSpc>
            </a:pPr>
            <a:r>
              <a:rPr sz="900" b="0">
                <a:solidFill>
                  <a:srgbClr val="1E2F5C"/>
                </a:solidFill>
                <a:latin typeface="Kanit"/>
              </a:rPr>
              <a:t>32.8k</a:t>
            </a:r>
          </a:p>
        </p:txBody>
      </p:sp>
      <p:sp>
        <p:nvSpPr>
          <p:cNvPr id="42" name="TextBox 41"/>
          <p:cNvSpPr txBox="1"/>
          <p:nvPr/>
        </p:nvSpPr>
        <p:spPr>
          <a:xfrm>
            <a:off x="8110728" y="4492752"/>
            <a:ext cx="882396" cy="142494"/>
          </a:xfrm>
          <a:prstGeom prst="rect">
            <a:avLst/>
          </a:prstGeom>
          <a:noFill/>
        </p:spPr>
        <p:txBody>
          <a:bodyPr wrap="square" lIns="0" rIns="0" tIns="0" bIns="0" anchor="t">
            <a:noAutofit/>
          </a:bodyPr>
          <a:lstStyle/>
          <a:p>
            <a:pPr algn="ctr">
              <a:lnSpc>
                <a:spcPts val="1122"/>
              </a:lnSpc>
            </a:pPr>
            <a:r>
              <a:rPr sz="850" b="0">
                <a:solidFill>
                  <a:srgbClr val="606060"/>
                </a:solidFill>
                <a:latin typeface="Kanit"/>
              </a:rPr>
              <a:t>25-10</a:t>
            </a:r>
          </a:p>
        </p:txBody>
      </p:sp>
      <p:sp>
        <p:nvSpPr>
          <p:cNvPr id="43" name="Rectangle 42"/>
          <p:cNvSpPr/>
          <p:nvPr/>
        </p:nvSpPr>
        <p:spPr>
          <a:xfrm>
            <a:off x="9204899" y="4048318"/>
            <a:ext cx="458845" cy="398713"/>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4" name="TextBox 43"/>
          <p:cNvSpPr txBox="1"/>
          <p:nvPr/>
        </p:nvSpPr>
        <p:spPr>
          <a:xfrm>
            <a:off x="8993124" y="3865438"/>
            <a:ext cx="882396" cy="150876"/>
          </a:xfrm>
          <a:prstGeom prst="rect">
            <a:avLst/>
          </a:prstGeom>
          <a:noFill/>
        </p:spPr>
        <p:txBody>
          <a:bodyPr wrap="square" lIns="0" rIns="0" tIns="0" bIns="0" anchor="t">
            <a:noAutofit/>
          </a:bodyPr>
          <a:lstStyle/>
          <a:p>
            <a:pPr algn="ctr">
              <a:lnSpc>
                <a:spcPts val="1188"/>
              </a:lnSpc>
            </a:pPr>
            <a:r>
              <a:rPr sz="900" b="0">
                <a:solidFill>
                  <a:srgbClr val="1E2F5C"/>
                </a:solidFill>
                <a:latin typeface="Kanit"/>
              </a:rPr>
              <a:t>31.6k</a:t>
            </a:r>
          </a:p>
        </p:txBody>
      </p:sp>
      <p:sp>
        <p:nvSpPr>
          <p:cNvPr id="45" name="TextBox 44"/>
          <p:cNvSpPr txBox="1"/>
          <p:nvPr/>
        </p:nvSpPr>
        <p:spPr>
          <a:xfrm>
            <a:off x="8993124" y="4492752"/>
            <a:ext cx="882396" cy="142494"/>
          </a:xfrm>
          <a:prstGeom prst="rect">
            <a:avLst/>
          </a:prstGeom>
          <a:noFill/>
        </p:spPr>
        <p:txBody>
          <a:bodyPr wrap="square" lIns="0" rIns="0" tIns="0" bIns="0" anchor="t">
            <a:noAutofit/>
          </a:bodyPr>
          <a:lstStyle/>
          <a:p>
            <a:pPr algn="ctr">
              <a:lnSpc>
                <a:spcPts val="1122"/>
              </a:lnSpc>
            </a:pPr>
            <a:r>
              <a:rPr sz="850" b="0">
                <a:solidFill>
                  <a:srgbClr val="606060"/>
                </a:solidFill>
                <a:latin typeface="Kanit"/>
              </a:rPr>
              <a:t>25-11</a:t>
            </a:r>
          </a:p>
        </p:txBody>
      </p:sp>
      <p:sp>
        <p:nvSpPr>
          <p:cNvPr id="46" name="Rectangle 45"/>
          <p:cNvSpPr/>
          <p:nvPr/>
        </p:nvSpPr>
        <p:spPr>
          <a:xfrm>
            <a:off x="10087295" y="4057251"/>
            <a:ext cx="458845" cy="389780"/>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7" name="TextBox 46"/>
          <p:cNvSpPr txBox="1"/>
          <p:nvPr/>
        </p:nvSpPr>
        <p:spPr>
          <a:xfrm>
            <a:off x="9875520" y="3874371"/>
            <a:ext cx="882396" cy="150876"/>
          </a:xfrm>
          <a:prstGeom prst="rect">
            <a:avLst/>
          </a:prstGeom>
          <a:noFill/>
        </p:spPr>
        <p:txBody>
          <a:bodyPr wrap="square" lIns="0" rIns="0" tIns="0" bIns="0" anchor="t">
            <a:noAutofit/>
          </a:bodyPr>
          <a:lstStyle/>
          <a:p>
            <a:pPr algn="ctr">
              <a:lnSpc>
                <a:spcPts val="1188"/>
              </a:lnSpc>
            </a:pPr>
            <a:r>
              <a:rPr sz="900" b="0">
                <a:solidFill>
                  <a:srgbClr val="1E2F5C"/>
                </a:solidFill>
                <a:latin typeface="Kanit"/>
              </a:rPr>
              <a:t>30.9k</a:t>
            </a:r>
          </a:p>
        </p:txBody>
      </p:sp>
      <p:sp>
        <p:nvSpPr>
          <p:cNvPr id="48" name="TextBox 47"/>
          <p:cNvSpPr txBox="1"/>
          <p:nvPr/>
        </p:nvSpPr>
        <p:spPr>
          <a:xfrm>
            <a:off x="9875520" y="4492752"/>
            <a:ext cx="882396" cy="142494"/>
          </a:xfrm>
          <a:prstGeom prst="rect">
            <a:avLst/>
          </a:prstGeom>
          <a:noFill/>
        </p:spPr>
        <p:txBody>
          <a:bodyPr wrap="square" lIns="0" rIns="0" tIns="0" bIns="0" anchor="t">
            <a:noAutofit/>
          </a:bodyPr>
          <a:lstStyle/>
          <a:p>
            <a:pPr algn="ctr">
              <a:lnSpc>
                <a:spcPts val="1122"/>
              </a:lnSpc>
            </a:pPr>
            <a:r>
              <a:rPr sz="850" b="0">
                <a:solidFill>
                  <a:srgbClr val="606060"/>
                </a:solidFill>
                <a:latin typeface="Kanit"/>
              </a:rPr>
              <a:t>25-12</a:t>
            </a:r>
          </a:p>
        </p:txBody>
      </p:sp>
      <p:sp>
        <p:nvSpPr>
          <p:cNvPr id="49" name="Rectangle 48"/>
          <p:cNvSpPr/>
          <p:nvPr/>
        </p:nvSpPr>
        <p:spPr>
          <a:xfrm>
            <a:off x="10969691" y="3532632"/>
            <a:ext cx="458845" cy="914400"/>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0" name="TextBox 49"/>
          <p:cNvSpPr txBox="1"/>
          <p:nvPr/>
        </p:nvSpPr>
        <p:spPr>
          <a:xfrm>
            <a:off x="10757916" y="3349752"/>
            <a:ext cx="882396" cy="150876"/>
          </a:xfrm>
          <a:prstGeom prst="rect">
            <a:avLst/>
          </a:prstGeom>
          <a:noFill/>
        </p:spPr>
        <p:txBody>
          <a:bodyPr wrap="square" lIns="0" rIns="0" tIns="0" bIns="0" anchor="t">
            <a:noAutofit/>
          </a:bodyPr>
          <a:lstStyle/>
          <a:p>
            <a:pPr algn="ctr">
              <a:lnSpc>
                <a:spcPts val="1188"/>
              </a:lnSpc>
            </a:pPr>
            <a:r>
              <a:rPr sz="900" b="1">
                <a:solidFill>
                  <a:srgbClr val="1E2F5C"/>
                </a:solidFill>
                <a:latin typeface="Kanit"/>
              </a:rPr>
              <a:t>72.5k</a:t>
            </a:r>
          </a:p>
        </p:txBody>
      </p:sp>
      <p:sp>
        <p:nvSpPr>
          <p:cNvPr id="51" name="TextBox 50"/>
          <p:cNvSpPr txBox="1"/>
          <p:nvPr/>
        </p:nvSpPr>
        <p:spPr>
          <a:xfrm>
            <a:off x="10757916" y="4492752"/>
            <a:ext cx="882396" cy="142494"/>
          </a:xfrm>
          <a:prstGeom prst="rect">
            <a:avLst/>
          </a:prstGeom>
          <a:noFill/>
        </p:spPr>
        <p:txBody>
          <a:bodyPr wrap="square" lIns="0" rIns="0" tIns="0" bIns="0" anchor="t">
            <a:noAutofit/>
          </a:bodyPr>
          <a:lstStyle/>
          <a:p>
            <a:pPr algn="ctr">
              <a:lnSpc>
                <a:spcPts val="1122"/>
              </a:lnSpc>
            </a:pPr>
            <a:r>
              <a:rPr sz="850" b="0">
                <a:solidFill>
                  <a:srgbClr val="606060"/>
                </a:solidFill>
                <a:latin typeface="Kanit"/>
              </a:rPr>
              <a:t>26-01</a:t>
            </a:r>
          </a:p>
        </p:txBody>
      </p:sp>
      <p:sp>
        <p:nvSpPr>
          <p:cNvPr id="52" name="Rectangle 51"/>
          <p:cNvSpPr/>
          <p:nvPr/>
        </p:nvSpPr>
        <p:spPr>
          <a:xfrm>
            <a:off x="411480" y="4885944"/>
            <a:ext cx="5568696" cy="1007618"/>
          </a:xfrm>
          <a:prstGeom prst="rect">
            <a:avLst/>
          </a:prstGeom>
          <a:solidFill>
            <a:srgbClr val="FCEFE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3" name="Rectangle 52"/>
          <p:cNvSpPr/>
          <p:nvPr/>
        </p:nvSpPr>
        <p:spPr>
          <a:xfrm>
            <a:off x="411480" y="4885944"/>
            <a:ext cx="50292" cy="100761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4" name="TextBox 53"/>
          <p:cNvSpPr txBox="1"/>
          <p:nvPr/>
        </p:nvSpPr>
        <p:spPr>
          <a:xfrm>
            <a:off x="630936" y="5032248"/>
            <a:ext cx="5239512" cy="158750"/>
          </a:xfrm>
          <a:prstGeom prst="rect">
            <a:avLst/>
          </a:prstGeom>
          <a:noFill/>
        </p:spPr>
        <p:txBody>
          <a:bodyPr wrap="square" lIns="0" rIns="0" tIns="0" bIns="0" anchor="t">
            <a:noAutofit/>
          </a:bodyPr>
          <a:lstStyle/>
          <a:p>
            <a:pPr algn="l">
              <a:lnSpc>
                <a:spcPts val="1250"/>
              </a:lnSpc>
            </a:pPr>
            <a:r>
              <a:rPr sz="950" b="1">
                <a:solidFill>
                  <a:srgbClr val="CC0000"/>
                </a:solidFill>
                <a:latin typeface="Kanit"/>
              </a:rPr>
              <a:t>The pickup slope is positive only because of that last bar</a:t>
            </a:r>
          </a:p>
        </p:txBody>
      </p:sp>
      <p:sp>
        <p:nvSpPr>
          <p:cNvPr id="55" name="TextBox 54"/>
          <p:cNvSpPr txBox="1"/>
          <p:nvPr/>
        </p:nvSpPr>
        <p:spPr>
          <a:xfrm>
            <a:off x="630936" y="5236718"/>
            <a:ext cx="5239512" cy="51054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Across all six months the trend reads +131 units a month. Drop January — which the pipeline itself flags — and the five months before it run -986 a month. There is no flattening. Pickup registrations are still falling at roughly a thousand units a month.</a:t>
            </a:r>
          </a:p>
        </p:txBody>
      </p:sp>
      <p:sp>
        <p:nvSpPr>
          <p:cNvPr id="56" name="Rectangle 55"/>
          <p:cNvSpPr/>
          <p:nvPr/>
        </p:nvSpPr>
        <p:spPr>
          <a:xfrm>
            <a:off x="6208776" y="4885944"/>
            <a:ext cx="5568696" cy="1177798"/>
          </a:xfrm>
          <a:prstGeom prst="rect">
            <a:avLst/>
          </a:prstGeom>
          <a:solidFill>
            <a:srgbClr val="FDF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7" name="Rectangle 56"/>
          <p:cNvSpPr/>
          <p:nvPr/>
        </p:nvSpPr>
        <p:spPr>
          <a:xfrm>
            <a:off x="6208776" y="4885944"/>
            <a:ext cx="50292" cy="1177798"/>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8" name="TextBox 57"/>
          <p:cNvSpPr txBox="1"/>
          <p:nvPr/>
        </p:nvSpPr>
        <p:spPr>
          <a:xfrm>
            <a:off x="6428232" y="5032248"/>
            <a:ext cx="5239512" cy="158750"/>
          </a:xfrm>
          <a:prstGeom prst="rect">
            <a:avLst/>
          </a:prstGeom>
          <a:noFill/>
        </p:spPr>
        <p:txBody>
          <a:bodyPr wrap="square" lIns="0" rIns="0" tIns="0" bIns="0" anchor="t">
            <a:noAutofit/>
          </a:bodyPr>
          <a:lstStyle/>
          <a:p>
            <a:pPr algn="l">
              <a:lnSpc>
                <a:spcPts val="1250"/>
              </a:lnSpc>
            </a:pPr>
            <a:r>
              <a:rPr sz="950" b="1">
                <a:solidFill>
                  <a:srgbClr val="9A7411"/>
                </a:solidFill>
                <a:latin typeface="Kanit"/>
              </a:rPr>
              <a:t>Two thirds of the car boom is one month</a:t>
            </a:r>
          </a:p>
        </p:txBody>
      </p:sp>
      <p:sp>
        <p:nvSpPr>
          <p:cNvPr id="59" name="TextBox 58"/>
          <p:cNvSpPr txBox="1"/>
          <p:nvPr/>
        </p:nvSpPr>
        <p:spPr>
          <a:xfrm>
            <a:off x="6428232" y="5236718"/>
            <a:ext cx="5239512" cy="68072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January 2026 ran +54% in cars while motorcycles were flat — registrations pulled forward ahead of an incentive deadline, not demand appearing. Replace that month with the average of the other five and six-month growth falls from +34.3% to +11.0%. The twelve-month +19.8% is the safer number.</a:t>
            </a:r>
          </a:p>
        </p:txBody>
      </p:sp>
      <p:sp>
        <p:nvSpPr>
          <p:cNvPr id="60" name="Rounded Rectangle 59"/>
          <p:cNvSpPr/>
          <p:nvPr/>
        </p:nvSpPr>
        <p:spPr>
          <a:xfrm>
            <a:off x="411480" y="6039866"/>
            <a:ext cx="535747" cy="192024"/>
          </a:xfrm>
          <a:prstGeom prst="roundRect">
            <a:avLst>
              <a:gd name="adj" fmla="val 50000"/>
            </a:avLst>
          </a:prstGeom>
          <a:noFill/>
          <a:ln w="9525">
            <a:solidFill>
              <a:srgbClr val="1E2F5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1" name="TextBox 60"/>
          <p:cNvSpPr txBox="1"/>
          <p:nvPr/>
        </p:nvSpPr>
        <p:spPr>
          <a:xfrm>
            <a:off x="411480" y="6069126"/>
            <a:ext cx="535747" cy="134112"/>
          </a:xfrm>
          <a:prstGeom prst="rect">
            <a:avLst/>
          </a:prstGeom>
          <a:noFill/>
        </p:spPr>
        <p:txBody>
          <a:bodyPr wrap="square" lIns="0" rIns="0" tIns="0" bIns="0" anchor="t">
            <a:noAutofit/>
          </a:bodyPr>
          <a:lstStyle/>
          <a:p>
            <a:pPr algn="ctr">
              <a:lnSpc>
                <a:spcPts val="1056"/>
              </a:lnSpc>
            </a:pPr>
            <a:r>
              <a:rPr sz="800" b="1">
                <a:solidFill>
                  <a:srgbClr val="1E2F5C"/>
                </a:solidFill>
                <a:latin typeface="Kanit"/>
              </a:rPr>
              <a:t>MIXED</a:t>
            </a:r>
          </a:p>
        </p:txBody>
      </p:sp>
      <p:sp>
        <p:nvSpPr>
          <p:cNvPr id="62" name="TextBox 61"/>
          <p:cNvSpPr txBox="1"/>
          <p:nvPr/>
        </p:nvSpPr>
        <p:spPr>
          <a:xfrm>
            <a:off x="1056955" y="6053582"/>
            <a:ext cx="10720516" cy="308610"/>
          </a:xfrm>
          <a:prstGeom prst="rect">
            <a:avLst/>
          </a:prstGeom>
          <a:noFill/>
        </p:spPr>
        <p:txBody>
          <a:bodyPr wrap="square" lIns="0" rIns="0" tIns="0" bIns="0" anchor="t">
            <a:noAutofit/>
          </a:bodyPr>
          <a:lstStyle/>
          <a:p>
            <a:pPr algn="l">
              <a:lnSpc>
                <a:spcPts val="1215"/>
              </a:lnSpc>
            </a:pPr>
            <a:r>
              <a:rPr sz="900" b="0">
                <a:solidFill>
                  <a:srgbClr val="606060"/>
                </a:solidFill>
                <a:latin typeface="Kanit"/>
              </a:rPr>
              <a:t>Registrations MEASURED — DLT gdcatalog first registrations at brand and model grain, 48 months from 2022-01. A month holding under 20% of the median month is treated as a catalog stub and excluded; a month moving more than 40% year on year is flagged and kept, never dropped. The ex-January figures are our own arithmetic on that measured series — ESTIMATED, a judgement about which month to trust.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09C · CONCENTRATION</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Our pickup residuals ride on two nameplates.</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Rounded Rectangle 8"/>
          <p:cNvSpPr/>
          <p:nvPr/>
        </p:nvSpPr>
        <p:spPr>
          <a:xfrm>
            <a:off x="411480" y="1152144"/>
            <a:ext cx="2738628" cy="1060704"/>
          </a:xfrm>
          <a:prstGeom prst="roundRect">
            <a:avLst>
              <a:gd name="adj" fmla="val 7758"/>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548640"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Top 2 pickup brands</a:t>
            </a:r>
          </a:p>
        </p:txBody>
      </p:sp>
      <p:sp>
        <p:nvSpPr>
          <p:cNvPr id="11" name="TextBox 10"/>
          <p:cNvSpPr txBox="1"/>
          <p:nvPr/>
        </p:nvSpPr>
        <p:spPr>
          <a:xfrm>
            <a:off x="548640" y="1426464"/>
            <a:ext cx="2464308" cy="330200"/>
          </a:xfrm>
          <a:prstGeom prst="rect">
            <a:avLst/>
          </a:prstGeom>
          <a:noFill/>
        </p:spPr>
        <p:txBody>
          <a:bodyPr wrap="square" lIns="0" rIns="0" tIns="0" bIns="0" anchor="t">
            <a:noAutofit/>
          </a:bodyPr>
          <a:lstStyle/>
          <a:p>
            <a:pPr algn="l">
              <a:lnSpc>
                <a:spcPts val="2600"/>
              </a:lnSpc>
            </a:pPr>
            <a:r>
              <a:rPr sz="2100" b="1">
                <a:solidFill>
                  <a:srgbClr val="F5C242"/>
                </a:solidFill>
                <a:latin typeface="Kanit"/>
              </a:rPr>
              <a:t>78.7%</a:t>
            </a:r>
          </a:p>
        </p:txBody>
      </p:sp>
      <p:sp>
        <p:nvSpPr>
          <p:cNvPr id="12" name="TextBox 11"/>
          <p:cNvSpPr txBox="1"/>
          <p:nvPr/>
        </p:nvSpPr>
        <p:spPr>
          <a:xfrm>
            <a:off x="548640" y="1792224"/>
            <a:ext cx="2464308" cy="347471"/>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TOYOTA + ISUZU of new pickups · was 80.5%</a:t>
            </a:r>
          </a:p>
        </p:txBody>
      </p:sp>
      <p:sp>
        <p:nvSpPr>
          <p:cNvPr id="13" name="Rounded Rectangle 12"/>
          <p:cNvSpPr/>
          <p:nvPr/>
        </p:nvSpPr>
        <p:spPr>
          <a:xfrm>
            <a:off x="3287268" y="1152144"/>
            <a:ext cx="2738628" cy="1060704"/>
          </a:xfrm>
          <a:prstGeom prst="roundRect">
            <a:avLst>
              <a:gd name="adj" fmla="val 7758"/>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3424428"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Top 2 pickup nameplates</a:t>
            </a:r>
          </a:p>
        </p:txBody>
      </p:sp>
      <p:sp>
        <p:nvSpPr>
          <p:cNvPr id="15" name="TextBox 14"/>
          <p:cNvSpPr txBox="1"/>
          <p:nvPr/>
        </p:nvSpPr>
        <p:spPr>
          <a:xfrm>
            <a:off x="3424428" y="1426464"/>
            <a:ext cx="2464308" cy="330200"/>
          </a:xfrm>
          <a:prstGeom prst="rect">
            <a:avLst/>
          </a:prstGeom>
          <a:noFill/>
        </p:spPr>
        <p:txBody>
          <a:bodyPr wrap="square" lIns="0" rIns="0" tIns="0" bIns="0" anchor="t">
            <a:noAutofit/>
          </a:bodyPr>
          <a:lstStyle/>
          <a:p>
            <a:pPr algn="l">
              <a:lnSpc>
                <a:spcPts val="2600"/>
              </a:lnSpc>
            </a:pPr>
            <a:r>
              <a:rPr sz="2100" b="1">
                <a:solidFill>
                  <a:srgbClr val="CC0000"/>
                </a:solidFill>
                <a:latin typeface="Kanit"/>
              </a:rPr>
              <a:t>75.8%</a:t>
            </a:r>
          </a:p>
        </p:txBody>
      </p:sp>
      <p:sp>
        <p:nvSpPr>
          <p:cNvPr id="16" name="TextBox 15"/>
          <p:cNvSpPr txBox="1"/>
          <p:nvPr/>
        </p:nvSpPr>
        <p:spPr>
          <a:xfrm>
            <a:off x="3424428" y="1792224"/>
            <a:ext cx="2464308" cy="347471"/>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HILUX REVO + D-MAX · -21.5% and -23.0% YoY</a:t>
            </a:r>
          </a:p>
        </p:txBody>
      </p:sp>
      <p:sp>
        <p:nvSpPr>
          <p:cNvPr id="17" name="Rounded Rectangle 16"/>
          <p:cNvSpPr/>
          <p:nvPr/>
        </p:nvSpPr>
        <p:spPr>
          <a:xfrm>
            <a:off x="6163056" y="1152144"/>
            <a:ext cx="2738628" cy="1060704"/>
          </a:xfrm>
          <a:prstGeom prst="roundRect">
            <a:avLst>
              <a:gd name="adj" fmla="val 7758"/>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6300216"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Top 2 car brands</a:t>
            </a:r>
          </a:p>
        </p:txBody>
      </p:sp>
      <p:sp>
        <p:nvSpPr>
          <p:cNvPr id="19" name="TextBox 18"/>
          <p:cNvSpPr txBox="1"/>
          <p:nvPr/>
        </p:nvSpPr>
        <p:spPr>
          <a:xfrm>
            <a:off x="6300216" y="1426464"/>
            <a:ext cx="2464308" cy="330200"/>
          </a:xfrm>
          <a:prstGeom prst="rect">
            <a:avLst/>
          </a:prstGeom>
          <a:noFill/>
        </p:spPr>
        <p:txBody>
          <a:bodyPr wrap="square" lIns="0" rIns="0" tIns="0" bIns="0" anchor="t">
            <a:noAutofit/>
          </a:bodyPr>
          <a:lstStyle/>
          <a:p>
            <a:pPr algn="l">
              <a:lnSpc>
                <a:spcPts val="2600"/>
              </a:lnSpc>
            </a:pPr>
            <a:r>
              <a:rPr sz="2100" b="1">
                <a:solidFill>
                  <a:srgbClr val="CC0000"/>
                </a:solidFill>
                <a:latin typeface="Kanit"/>
              </a:rPr>
              <a:t>48.5%</a:t>
            </a:r>
          </a:p>
        </p:txBody>
      </p:sp>
      <p:sp>
        <p:nvSpPr>
          <p:cNvPr id="20" name="TextBox 19"/>
          <p:cNvSpPr txBox="1"/>
          <p:nvPr/>
        </p:nvSpPr>
        <p:spPr>
          <a:xfrm>
            <a:off x="6300216" y="1792224"/>
            <a:ext cx="2464308" cy="347471"/>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TOYOTA + HONDA of new cars, from 57.8% — down 9.4 points in a year</a:t>
            </a:r>
          </a:p>
        </p:txBody>
      </p:sp>
      <p:sp>
        <p:nvSpPr>
          <p:cNvPr id="21" name="Rounded Rectangle 20"/>
          <p:cNvSpPr/>
          <p:nvPr/>
        </p:nvSpPr>
        <p:spPr>
          <a:xfrm>
            <a:off x="9038844" y="1152144"/>
            <a:ext cx="2738628" cy="1060704"/>
          </a:xfrm>
          <a:prstGeom prst="roundRect">
            <a:avLst>
              <a:gd name="adj" fmla="val 7758"/>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9176004"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Top 2 PPV nameplates</a:t>
            </a:r>
          </a:p>
        </p:txBody>
      </p:sp>
      <p:sp>
        <p:nvSpPr>
          <p:cNvPr id="23" name="TextBox 22"/>
          <p:cNvSpPr txBox="1"/>
          <p:nvPr/>
        </p:nvSpPr>
        <p:spPr>
          <a:xfrm>
            <a:off x="9176004" y="1426464"/>
            <a:ext cx="2464308" cy="330200"/>
          </a:xfrm>
          <a:prstGeom prst="rect">
            <a:avLst/>
          </a:prstGeom>
          <a:noFill/>
        </p:spPr>
        <p:txBody>
          <a:bodyPr wrap="square" lIns="0" rIns="0" tIns="0" bIns="0" anchor="t">
            <a:noAutofit/>
          </a:bodyPr>
          <a:lstStyle/>
          <a:p>
            <a:pPr algn="l">
              <a:lnSpc>
                <a:spcPts val="2600"/>
              </a:lnSpc>
            </a:pPr>
            <a:r>
              <a:rPr sz="2100" b="1">
                <a:solidFill>
                  <a:srgbClr val="F5C242"/>
                </a:solidFill>
                <a:latin typeface="Kanit"/>
              </a:rPr>
              <a:t>61.5%</a:t>
            </a:r>
          </a:p>
        </p:txBody>
      </p:sp>
      <p:sp>
        <p:nvSpPr>
          <p:cNvPr id="24" name="TextBox 23"/>
          <p:cNvSpPr txBox="1"/>
          <p:nvPr/>
        </p:nvSpPr>
        <p:spPr>
          <a:xfrm>
            <a:off x="9176004" y="1792224"/>
            <a:ext cx="2464308" cy="347471"/>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FORTUNER + MU-X · +0.3% and -8.7% YoY</a:t>
            </a:r>
          </a:p>
        </p:txBody>
      </p:sp>
      <p:graphicFrame>
        <p:nvGraphicFramePr>
          <p:cNvPr id="25" name="Table 24"/>
          <p:cNvGraphicFramePr>
            <a:graphicFrameLocks noGrp="1"/>
          </p:cNvGraphicFramePr>
          <p:nvPr/>
        </p:nvGraphicFramePr>
        <p:xfrm>
          <a:off x="411480" y="2395728"/>
          <a:ext cx="5568696" cy="2289656"/>
        </p:xfrm>
        <a:graphic>
          <a:graphicData uri="http://schemas.openxmlformats.org/drawingml/2006/table">
            <a:tbl>
              <a:tblPr>
                <a:tableStyleId>{5C22544A-7EE6-4342-B048-85BDC9FD1C3A}</a:tableStyleId>
              </a:tblPr>
              <a:tblGrid>
                <a:gridCol w="1828800"/>
                <a:gridCol w="822960"/>
                <a:gridCol w="1097280"/>
                <a:gridCol w="1188720"/>
                <a:gridCol w="630936"/>
              </a:tblGrid>
              <a:tr h="329184">
                <a:tc>
                  <a:txBody>
                    <a:bodyPr wrap="square"/>
                    <a:lstStyle/>
                    <a:p>
                      <a:pPr algn="l"/>
                      <a:r>
                        <a:rPr sz="1050" b="1">
                          <a:solidFill>
                            <a:srgbClr val="FFFFFF"/>
                          </a:solidFill>
                          <a:latin typeface="Kanit"/>
                        </a:rPr>
                        <a:t>Nameplate</a:t>
                      </a:r>
                    </a:p>
                  </a:txBody>
                  <a:tcPr marL="54864" marR="54864" marT="18288" marB="18288" anchor="ctr">
                    <a:solidFill>
                      <a:srgbClr val="1B2A6B"/>
                    </a:solidFill>
                  </a:tcPr>
                </a:tc>
                <a:tc>
                  <a:txBody>
                    <a:bodyPr wrap="square"/>
                    <a:lstStyle/>
                    <a:p>
                      <a:pPr algn="l"/>
                      <a:r>
                        <a:rPr sz="1050" b="1">
                          <a:solidFill>
                            <a:srgbClr val="FFFFFF"/>
                          </a:solidFill>
                          <a:latin typeface="Kanit"/>
                        </a:rPr>
                        <a:t>class</a:t>
                      </a:r>
                    </a:p>
                  </a:txBody>
                  <a:tcPr marL="54864" marR="54864" marT="18288" marB="18288" anchor="ctr">
                    <a:solidFill>
                      <a:srgbClr val="1B2A6B"/>
                    </a:solidFill>
                  </a:tcPr>
                </a:tc>
                <a:tc>
                  <a:txBody>
                    <a:bodyPr wrap="square"/>
                    <a:lstStyle/>
                    <a:p>
                      <a:pPr algn="r"/>
                      <a:r>
                        <a:rPr sz="1050" b="1">
                          <a:solidFill>
                            <a:srgbClr val="FFFFFF"/>
                          </a:solidFill>
                          <a:latin typeface="Kanit"/>
                        </a:rPr>
                        <a:t>12m units</a:t>
                      </a:r>
                    </a:p>
                  </a:txBody>
                  <a:tcPr marL="54864" marR="54864" marT="18288" marB="18288" anchor="ctr">
                    <a:solidFill>
                      <a:srgbClr val="1B2A6B"/>
                    </a:solidFill>
                  </a:tcPr>
                </a:tc>
                <a:tc>
                  <a:txBody>
                    <a:bodyPr wrap="square"/>
                    <a:lstStyle/>
                    <a:p>
                      <a:pPr algn="r"/>
                      <a:r>
                        <a:rPr sz="1050" b="1">
                          <a:solidFill>
                            <a:srgbClr val="FFFFFF"/>
                          </a:solidFill>
                          <a:latin typeface="Kanit"/>
                        </a:rPr>
                        <a:t>share of class</a:t>
                      </a:r>
                    </a:p>
                  </a:txBody>
                  <a:tcPr marL="54864" marR="54864" marT="18288" marB="18288" anchor="ctr">
                    <a:solidFill>
                      <a:srgbClr val="1B2A6B"/>
                    </a:solidFill>
                  </a:tcPr>
                </a:tc>
                <a:tc>
                  <a:txBody>
                    <a:bodyPr wrap="square"/>
                    <a:lstStyle/>
                    <a:p>
                      <a:pPr algn="r"/>
                      <a:r>
                        <a:rPr sz="1050" b="1">
                          <a:solidFill>
                            <a:srgbClr val="FFFFFF"/>
                          </a:solidFill>
                          <a:latin typeface="Kanit"/>
                        </a:rPr>
                        <a:t>YoY</a:t>
                      </a:r>
                    </a:p>
                  </a:txBody>
                  <a:tcPr marL="54864" marR="54864" marT="18288" marB="18288" anchor="ctr">
                    <a:solidFill>
                      <a:srgbClr val="1B2A6B"/>
                    </a:solidFill>
                  </a:tcPr>
                </a:tc>
              </a:tr>
              <a:tr h="245059">
                <a:tc>
                  <a:txBody>
                    <a:bodyPr wrap="square"/>
                    <a:lstStyle/>
                    <a:p>
                      <a:pPr algn="l"/>
                      <a:r>
                        <a:rPr sz="950" b="1">
                          <a:solidFill>
                            <a:srgbClr val="1E2F5C"/>
                          </a:solidFill>
                          <a:latin typeface="Kanit"/>
                        </a:rPr>
                        <a:t>HILUX REVO</a:t>
                      </a:r>
                    </a:p>
                  </a:txBody>
                  <a:tcPr marL="54864" marR="54864" marT="18288" marB="18288" anchor="ctr">
                    <a:solidFill>
                      <a:srgbClr val="FFFFFF"/>
                    </a:solidFill>
                  </a:tcPr>
                </a:tc>
                <a:tc>
                  <a:txBody>
                    <a:bodyPr wrap="square"/>
                    <a:lstStyle/>
                    <a:p>
                      <a:pPr algn="l"/>
                      <a:r>
                        <a:rPr sz="950" b="0">
                          <a:solidFill>
                            <a:srgbClr val="606060"/>
                          </a:solidFill>
                          <a:latin typeface="Kanit"/>
                        </a:rPr>
                        <a:t>pickup</a:t>
                      </a:r>
                    </a:p>
                  </a:txBody>
                  <a:tcPr marL="54864" marR="54864" marT="18288" marB="18288" anchor="ctr">
                    <a:solidFill>
                      <a:srgbClr val="FFFFFF"/>
                    </a:solidFill>
                  </a:tcPr>
                </a:tc>
                <a:tc>
                  <a:txBody>
                    <a:bodyPr wrap="square"/>
                    <a:lstStyle/>
                    <a:p>
                      <a:pPr algn="r"/>
                      <a:r>
                        <a:rPr sz="950" b="0">
                          <a:solidFill>
                            <a:srgbClr val="1E2F5C"/>
                          </a:solidFill>
                          <a:latin typeface="Kanit"/>
                        </a:rPr>
                        <a:t>57,445</a:t>
                      </a:r>
                    </a:p>
                  </a:txBody>
                  <a:tcPr marL="54864" marR="54864" marT="18288" marB="18288" anchor="ctr">
                    <a:solidFill>
                      <a:srgbClr val="FFFFFF"/>
                    </a:solidFill>
                  </a:tcPr>
                </a:tc>
                <a:tc>
                  <a:txBody>
                    <a:bodyPr wrap="square"/>
                    <a:lstStyle/>
                    <a:p>
                      <a:pPr algn="r"/>
                      <a:r>
                        <a:rPr sz="950" b="1">
                          <a:solidFill>
                            <a:srgbClr val="CC0000"/>
                          </a:solidFill>
                          <a:latin typeface="Kanit"/>
                        </a:rPr>
                        <a:t>40.8%</a:t>
                      </a:r>
                    </a:p>
                  </a:txBody>
                  <a:tcPr marL="54864" marR="54864" marT="18288" marB="18288" anchor="ctr">
                    <a:solidFill>
                      <a:srgbClr val="FFFFFF"/>
                    </a:solidFill>
                  </a:tcPr>
                </a:tc>
                <a:tc>
                  <a:txBody>
                    <a:bodyPr wrap="square"/>
                    <a:lstStyle/>
                    <a:p>
                      <a:pPr algn="r"/>
                      <a:r>
                        <a:rPr sz="950" b="1">
                          <a:solidFill>
                            <a:srgbClr val="CC0000"/>
                          </a:solidFill>
                          <a:latin typeface="Kanit"/>
                        </a:rPr>
                        <a:t>-21.5%</a:t>
                      </a:r>
                    </a:p>
                  </a:txBody>
                  <a:tcPr marL="54864" marR="54864" marT="18288" marB="18288" anchor="ctr">
                    <a:solidFill>
                      <a:srgbClr val="FFFFFF"/>
                    </a:solidFill>
                  </a:tcPr>
                </a:tc>
              </a:tr>
              <a:tr h="245059">
                <a:tc>
                  <a:txBody>
                    <a:bodyPr wrap="square"/>
                    <a:lstStyle/>
                    <a:p>
                      <a:pPr algn="l"/>
                      <a:r>
                        <a:rPr sz="950" b="1">
                          <a:solidFill>
                            <a:srgbClr val="1E2F5C"/>
                          </a:solidFill>
                          <a:latin typeface="Kanit"/>
                        </a:rPr>
                        <a:t>D-MAX</a:t>
                      </a:r>
                    </a:p>
                  </a:txBody>
                  <a:tcPr marL="54864" marR="54864" marT="18288" marB="18288" anchor="ctr">
                    <a:solidFill>
                      <a:srgbClr val="F7F9FC"/>
                    </a:solidFill>
                  </a:tcPr>
                </a:tc>
                <a:tc>
                  <a:txBody>
                    <a:bodyPr wrap="square"/>
                    <a:lstStyle/>
                    <a:p>
                      <a:pPr algn="l"/>
                      <a:r>
                        <a:rPr sz="950" b="0">
                          <a:solidFill>
                            <a:srgbClr val="606060"/>
                          </a:solidFill>
                          <a:latin typeface="Kanit"/>
                        </a:rPr>
                        <a:t>pickup</a:t>
                      </a:r>
                    </a:p>
                  </a:txBody>
                  <a:tcPr marL="54864" marR="54864" marT="18288" marB="18288" anchor="ctr">
                    <a:solidFill>
                      <a:srgbClr val="F7F9FC"/>
                    </a:solidFill>
                  </a:tcPr>
                </a:tc>
                <a:tc>
                  <a:txBody>
                    <a:bodyPr wrap="square"/>
                    <a:lstStyle/>
                    <a:p>
                      <a:pPr algn="r"/>
                      <a:r>
                        <a:rPr sz="950" b="0">
                          <a:solidFill>
                            <a:srgbClr val="1E2F5C"/>
                          </a:solidFill>
                          <a:latin typeface="Kanit"/>
                        </a:rPr>
                        <a:t>49,425</a:t>
                      </a:r>
                    </a:p>
                  </a:txBody>
                  <a:tcPr marL="54864" marR="54864" marT="18288" marB="18288" anchor="ctr">
                    <a:solidFill>
                      <a:srgbClr val="F7F9FC"/>
                    </a:solidFill>
                  </a:tcPr>
                </a:tc>
                <a:tc>
                  <a:txBody>
                    <a:bodyPr wrap="square"/>
                    <a:lstStyle/>
                    <a:p>
                      <a:pPr algn="r"/>
                      <a:r>
                        <a:rPr sz="950" b="1">
                          <a:solidFill>
                            <a:srgbClr val="CC0000"/>
                          </a:solidFill>
                          <a:latin typeface="Kanit"/>
                        </a:rPr>
                        <a:t>35.1%</a:t>
                      </a:r>
                    </a:p>
                  </a:txBody>
                  <a:tcPr marL="54864" marR="54864" marT="18288" marB="18288" anchor="ctr">
                    <a:solidFill>
                      <a:srgbClr val="F7F9FC"/>
                    </a:solidFill>
                  </a:tcPr>
                </a:tc>
                <a:tc>
                  <a:txBody>
                    <a:bodyPr wrap="square"/>
                    <a:lstStyle/>
                    <a:p>
                      <a:pPr algn="r"/>
                      <a:r>
                        <a:rPr sz="950" b="1">
                          <a:solidFill>
                            <a:srgbClr val="CC0000"/>
                          </a:solidFill>
                          <a:latin typeface="Kanit"/>
                        </a:rPr>
                        <a:t>-23.0%</a:t>
                      </a:r>
                    </a:p>
                  </a:txBody>
                  <a:tcPr marL="54864" marR="54864" marT="18288" marB="18288" anchor="ctr">
                    <a:solidFill>
                      <a:srgbClr val="F7F9FC"/>
                    </a:solidFill>
                  </a:tcPr>
                </a:tc>
              </a:tr>
              <a:tr h="245059">
                <a:tc>
                  <a:txBody>
                    <a:bodyPr wrap="square"/>
                    <a:lstStyle/>
                    <a:p>
                      <a:pPr algn="l"/>
                      <a:r>
                        <a:rPr sz="950" b="1">
                          <a:solidFill>
                            <a:srgbClr val="1E2F5C"/>
                          </a:solidFill>
                          <a:latin typeface="Kanit"/>
                        </a:rPr>
                        <a:t>RANGER</a:t>
                      </a:r>
                    </a:p>
                  </a:txBody>
                  <a:tcPr marL="54864" marR="54864" marT="18288" marB="18288" anchor="ctr">
                    <a:solidFill>
                      <a:srgbClr val="FFFFFF"/>
                    </a:solidFill>
                  </a:tcPr>
                </a:tc>
                <a:tc>
                  <a:txBody>
                    <a:bodyPr wrap="square"/>
                    <a:lstStyle/>
                    <a:p>
                      <a:pPr algn="l"/>
                      <a:r>
                        <a:rPr sz="950" b="0">
                          <a:solidFill>
                            <a:srgbClr val="606060"/>
                          </a:solidFill>
                          <a:latin typeface="Kanit"/>
                        </a:rPr>
                        <a:t>pickup</a:t>
                      </a:r>
                    </a:p>
                  </a:txBody>
                  <a:tcPr marL="54864" marR="54864" marT="18288" marB="18288" anchor="ctr">
                    <a:solidFill>
                      <a:srgbClr val="FFFFFF"/>
                    </a:solidFill>
                  </a:tcPr>
                </a:tc>
                <a:tc>
                  <a:txBody>
                    <a:bodyPr wrap="square"/>
                    <a:lstStyle/>
                    <a:p>
                      <a:pPr algn="r"/>
                      <a:r>
                        <a:rPr sz="950" b="0">
                          <a:solidFill>
                            <a:srgbClr val="1E2F5C"/>
                          </a:solidFill>
                          <a:latin typeface="Kanit"/>
                        </a:rPr>
                        <a:t>10,055</a:t>
                      </a:r>
                    </a:p>
                  </a:txBody>
                  <a:tcPr marL="54864" marR="54864" marT="18288" marB="18288" anchor="ctr">
                    <a:solidFill>
                      <a:srgbClr val="FFFFFF"/>
                    </a:solidFill>
                  </a:tcPr>
                </a:tc>
                <a:tc>
                  <a:txBody>
                    <a:bodyPr wrap="square"/>
                    <a:lstStyle/>
                    <a:p>
                      <a:pPr algn="r"/>
                      <a:r>
                        <a:rPr sz="950" b="1">
                          <a:solidFill>
                            <a:srgbClr val="1E2F5C"/>
                          </a:solidFill>
                          <a:latin typeface="Kanit"/>
                        </a:rPr>
                        <a:t>7.1%</a:t>
                      </a:r>
                    </a:p>
                  </a:txBody>
                  <a:tcPr marL="54864" marR="54864" marT="18288" marB="18288" anchor="ctr">
                    <a:solidFill>
                      <a:srgbClr val="FFFFFF"/>
                    </a:solidFill>
                  </a:tcPr>
                </a:tc>
                <a:tc>
                  <a:txBody>
                    <a:bodyPr wrap="square"/>
                    <a:lstStyle/>
                    <a:p>
                      <a:pPr algn="r"/>
                      <a:r>
                        <a:rPr sz="950" b="1">
                          <a:solidFill>
                            <a:srgbClr val="CC0000"/>
                          </a:solidFill>
                          <a:latin typeface="Kanit"/>
                        </a:rPr>
                        <a:t>-30.0%</a:t>
                      </a:r>
                    </a:p>
                  </a:txBody>
                  <a:tcPr marL="54864" marR="54864" marT="18288" marB="18288" anchor="ctr">
                    <a:solidFill>
                      <a:srgbClr val="FFFFFF"/>
                    </a:solidFill>
                  </a:tcPr>
                </a:tc>
              </a:tr>
              <a:tr h="245059">
                <a:tc>
                  <a:txBody>
                    <a:bodyPr wrap="square"/>
                    <a:lstStyle/>
                    <a:p>
                      <a:pPr algn="l"/>
                      <a:r>
                        <a:rPr sz="950" b="1">
                          <a:solidFill>
                            <a:srgbClr val="1E2F5C"/>
                          </a:solidFill>
                          <a:latin typeface="Kanit"/>
                        </a:rPr>
                        <a:t>TRITON</a:t>
                      </a:r>
                    </a:p>
                  </a:txBody>
                  <a:tcPr marL="54864" marR="54864" marT="18288" marB="18288" anchor="ctr">
                    <a:solidFill>
                      <a:srgbClr val="F7F9FC"/>
                    </a:solidFill>
                  </a:tcPr>
                </a:tc>
                <a:tc>
                  <a:txBody>
                    <a:bodyPr wrap="square"/>
                    <a:lstStyle/>
                    <a:p>
                      <a:pPr algn="l"/>
                      <a:r>
                        <a:rPr sz="950" b="0">
                          <a:solidFill>
                            <a:srgbClr val="606060"/>
                          </a:solidFill>
                          <a:latin typeface="Kanit"/>
                        </a:rPr>
                        <a:t>pickup</a:t>
                      </a:r>
                    </a:p>
                  </a:txBody>
                  <a:tcPr marL="54864" marR="54864" marT="18288" marB="18288" anchor="ctr">
                    <a:solidFill>
                      <a:srgbClr val="F7F9FC"/>
                    </a:solidFill>
                  </a:tcPr>
                </a:tc>
                <a:tc>
                  <a:txBody>
                    <a:bodyPr wrap="square"/>
                    <a:lstStyle/>
                    <a:p>
                      <a:pPr algn="r"/>
                      <a:r>
                        <a:rPr sz="950" b="0">
                          <a:solidFill>
                            <a:srgbClr val="1E2F5C"/>
                          </a:solidFill>
                          <a:latin typeface="Kanit"/>
                        </a:rPr>
                        <a:t>7,989</a:t>
                      </a:r>
                    </a:p>
                  </a:txBody>
                  <a:tcPr marL="54864" marR="54864" marT="18288" marB="18288" anchor="ctr">
                    <a:solidFill>
                      <a:srgbClr val="F7F9FC"/>
                    </a:solidFill>
                  </a:tcPr>
                </a:tc>
                <a:tc>
                  <a:txBody>
                    <a:bodyPr wrap="square"/>
                    <a:lstStyle/>
                    <a:p>
                      <a:pPr algn="r"/>
                      <a:r>
                        <a:rPr sz="950" b="1">
                          <a:solidFill>
                            <a:srgbClr val="1E2F5C"/>
                          </a:solidFill>
                          <a:latin typeface="Kanit"/>
                        </a:rPr>
                        <a:t>5.7%</a:t>
                      </a:r>
                    </a:p>
                  </a:txBody>
                  <a:tcPr marL="54864" marR="54864" marT="18288" marB="18288" anchor="ctr">
                    <a:solidFill>
                      <a:srgbClr val="F7F9FC"/>
                    </a:solidFill>
                  </a:tcPr>
                </a:tc>
                <a:tc>
                  <a:txBody>
                    <a:bodyPr wrap="square"/>
                    <a:lstStyle/>
                    <a:p>
                      <a:pPr algn="r"/>
                      <a:r>
                        <a:rPr sz="950" b="1">
                          <a:solidFill>
                            <a:srgbClr val="CC0000"/>
                          </a:solidFill>
                          <a:latin typeface="Kanit"/>
                        </a:rPr>
                        <a:t>-2.5%</a:t>
                      </a:r>
                    </a:p>
                  </a:txBody>
                  <a:tcPr marL="54864" marR="54864" marT="18288" marB="18288" anchor="ctr">
                    <a:solidFill>
                      <a:srgbClr val="F7F9FC"/>
                    </a:solidFill>
                  </a:tcPr>
                </a:tc>
              </a:tr>
              <a:tr h="245059">
                <a:tc>
                  <a:txBody>
                    <a:bodyPr wrap="square"/>
                    <a:lstStyle/>
                    <a:p>
                      <a:pPr algn="l"/>
                      <a:r>
                        <a:rPr sz="950" b="1">
                          <a:solidFill>
                            <a:srgbClr val="1E2F5C"/>
                          </a:solidFill>
                          <a:latin typeface="Kanit"/>
                        </a:rPr>
                        <a:t>HILUX CHAMP</a:t>
                      </a:r>
                    </a:p>
                  </a:txBody>
                  <a:tcPr marL="54864" marR="54864" marT="18288" marB="18288" anchor="ctr">
                    <a:solidFill>
                      <a:srgbClr val="FFFFFF"/>
                    </a:solidFill>
                  </a:tcPr>
                </a:tc>
                <a:tc>
                  <a:txBody>
                    <a:bodyPr wrap="square"/>
                    <a:lstStyle/>
                    <a:p>
                      <a:pPr algn="l"/>
                      <a:r>
                        <a:rPr sz="950" b="0">
                          <a:solidFill>
                            <a:srgbClr val="606060"/>
                          </a:solidFill>
                          <a:latin typeface="Kanit"/>
                        </a:rPr>
                        <a:t>pickup</a:t>
                      </a:r>
                    </a:p>
                  </a:txBody>
                  <a:tcPr marL="54864" marR="54864" marT="18288" marB="18288" anchor="ctr">
                    <a:solidFill>
                      <a:srgbClr val="FFFFFF"/>
                    </a:solidFill>
                  </a:tcPr>
                </a:tc>
                <a:tc>
                  <a:txBody>
                    <a:bodyPr wrap="square"/>
                    <a:lstStyle/>
                    <a:p>
                      <a:pPr algn="r"/>
                      <a:r>
                        <a:rPr sz="950" b="0">
                          <a:solidFill>
                            <a:srgbClr val="1E2F5C"/>
                          </a:solidFill>
                          <a:latin typeface="Kanit"/>
                        </a:rPr>
                        <a:t>7,923</a:t>
                      </a:r>
                    </a:p>
                  </a:txBody>
                  <a:tcPr marL="54864" marR="54864" marT="18288" marB="18288" anchor="ctr">
                    <a:solidFill>
                      <a:srgbClr val="FFFFFF"/>
                    </a:solidFill>
                  </a:tcPr>
                </a:tc>
                <a:tc>
                  <a:txBody>
                    <a:bodyPr wrap="square"/>
                    <a:lstStyle/>
                    <a:p>
                      <a:pPr algn="r"/>
                      <a:r>
                        <a:rPr sz="950" b="1">
                          <a:solidFill>
                            <a:srgbClr val="1E2F5C"/>
                          </a:solidFill>
                          <a:latin typeface="Kanit"/>
                        </a:rPr>
                        <a:t>5.6%</a:t>
                      </a:r>
                    </a:p>
                  </a:txBody>
                  <a:tcPr marL="54864" marR="54864" marT="18288" marB="18288" anchor="ctr">
                    <a:solidFill>
                      <a:srgbClr val="FFFFFF"/>
                    </a:solidFill>
                  </a:tcPr>
                </a:tc>
                <a:tc>
                  <a:txBody>
                    <a:bodyPr wrap="square"/>
                    <a:lstStyle/>
                    <a:p>
                      <a:pPr algn="r"/>
                      <a:r>
                        <a:rPr sz="950" b="1">
                          <a:solidFill>
                            <a:srgbClr val="CC0000"/>
                          </a:solidFill>
                          <a:latin typeface="Kanit"/>
                        </a:rPr>
                        <a:t>-18.8%</a:t>
                      </a:r>
                    </a:p>
                  </a:txBody>
                  <a:tcPr marL="54864" marR="54864" marT="18288" marB="18288" anchor="ctr">
                    <a:solidFill>
                      <a:srgbClr val="FFFFFF"/>
                    </a:solidFill>
                  </a:tcPr>
                </a:tc>
              </a:tr>
              <a:tr h="245059">
                <a:tc>
                  <a:txBody>
                    <a:bodyPr wrap="square"/>
                    <a:lstStyle/>
                    <a:p>
                      <a:pPr algn="l"/>
                      <a:r>
                        <a:rPr sz="950" b="1">
                          <a:solidFill>
                            <a:srgbClr val="1E2F5C"/>
                          </a:solidFill>
                          <a:latin typeface="Kanit"/>
                        </a:rPr>
                        <a:t>FORTUNER</a:t>
                      </a:r>
                    </a:p>
                  </a:txBody>
                  <a:tcPr marL="54864" marR="54864" marT="18288" marB="18288" anchor="ctr">
                    <a:solidFill>
                      <a:srgbClr val="F7F9FC"/>
                    </a:solidFill>
                  </a:tcPr>
                </a:tc>
                <a:tc>
                  <a:txBody>
                    <a:bodyPr wrap="square"/>
                    <a:lstStyle/>
                    <a:p>
                      <a:pPr algn="l"/>
                      <a:r>
                        <a:rPr sz="950" b="0">
                          <a:solidFill>
                            <a:srgbClr val="606060"/>
                          </a:solidFill>
                          <a:latin typeface="Kanit"/>
                        </a:rPr>
                        <a:t>PPV</a:t>
                      </a:r>
                    </a:p>
                  </a:txBody>
                  <a:tcPr marL="54864" marR="54864" marT="18288" marB="18288" anchor="ctr">
                    <a:solidFill>
                      <a:srgbClr val="F7F9FC"/>
                    </a:solidFill>
                  </a:tcPr>
                </a:tc>
                <a:tc>
                  <a:txBody>
                    <a:bodyPr wrap="square"/>
                    <a:lstStyle/>
                    <a:p>
                      <a:pPr algn="r"/>
                      <a:r>
                        <a:rPr sz="950" b="0">
                          <a:solidFill>
                            <a:srgbClr val="1E2F5C"/>
                          </a:solidFill>
                          <a:latin typeface="Kanit"/>
                        </a:rPr>
                        <a:t>14,146</a:t>
                      </a:r>
                    </a:p>
                  </a:txBody>
                  <a:tcPr marL="54864" marR="54864" marT="18288" marB="18288" anchor="ctr">
                    <a:solidFill>
                      <a:srgbClr val="F7F9FC"/>
                    </a:solidFill>
                  </a:tcPr>
                </a:tc>
                <a:tc>
                  <a:txBody>
                    <a:bodyPr wrap="square"/>
                    <a:lstStyle/>
                    <a:p>
                      <a:pPr algn="r"/>
                      <a:r>
                        <a:rPr sz="950" b="1">
                          <a:solidFill>
                            <a:srgbClr val="CC0000"/>
                          </a:solidFill>
                          <a:latin typeface="Kanit"/>
                        </a:rPr>
                        <a:t>33.4%</a:t>
                      </a:r>
                    </a:p>
                  </a:txBody>
                  <a:tcPr marL="54864" marR="54864" marT="18288" marB="18288" anchor="ctr">
                    <a:solidFill>
                      <a:srgbClr val="F7F9FC"/>
                    </a:solidFill>
                  </a:tcPr>
                </a:tc>
                <a:tc>
                  <a:txBody>
                    <a:bodyPr wrap="square"/>
                    <a:lstStyle/>
                    <a:p>
                      <a:pPr algn="r"/>
                      <a:r>
                        <a:rPr sz="950" b="1">
                          <a:solidFill>
                            <a:srgbClr val="15795F"/>
                          </a:solidFill>
                          <a:latin typeface="Kanit"/>
                        </a:rPr>
                        <a:t>+0.3%</a:t>
                      </a:r>
                    </a:p>
                  </a:txBody>
                  <a:tcPr marL="54864" marR="54864" marT="18288" marB="18288" anchor="ctr">
                    <a:solidFill>
                      <a:srgbClr val="F7F9FC"/>
                    </a:solidFill>
                  </a:tcPr>
                </a:tc>
              </a:tr>
              <a:tr h="245059">
                <a:tc>
                  <a:txBody>
                    <a:bodyPr wrap="square"/>
                    <a:lstStyle/>
                    <a:p>
                      <a:pPr algn="l"/>
                      <a:r>
                        <a:rPr sz="950" b="1">
                          <a:solidFill>
                            <a:srgbClr val="1E2F5C"/>
                          </a:solidFill>
                          <a:latin typeface="Kanit"/>
                        </a:rPr>
                        <a:t>MU-X</a:t>
                      </a:r>
                    </a:p>
                  </a:txBody>
                  <a:tcPr marL="54864" marR="54864" marT="18288" marB="18288" anchor="ctr">
                    <a:solidFill>
                      <a:srgbClr val="FFFFFF"/>
                    </a:solidFill>
                  </a:tcPr>
                </a:tc>
                <a:tc>
                  <a:txBody>
                    <a:bodyPr wrap="square"/>
                    <a:lstStyle/>
                    <a:p>
                      <a:pPr algn="l"/>
                      <a:r>
                        <a:rPr sz="950" b="0">
                          <a:solidFill>
                            <a:srgbClr val="606060"/>
                          </a:solidFill>
                          <a:latin typeface="Kanit"/>
                        </a:rPr>
                        <a:t>PPV</a:t>
                      </a:r>
                    </a:p>
                  </a:txBody>
                  <a:tcPr marL="54864" marR="54864" marT="18288" marB="18288" anchor="ctr">
                    <a:solidFill>
                      <a:srgbClr val="FFFFFF"/>
                    </a:solidFill>
                  </a:tcPr>
                </a:tc>
                <a:tc>
                  <a:txBody>
                    <a:bodyPr wrap="square"/>
                    <a:lstStyle/>
                    <a:p>
                      <a:pPr algn="r"/>
                      <a:r>
                        <a:rPr sz="950" b="0">
                          <a:solidFill>
                            <a:srgbClr val="1E2F5C"/>
                          </a:solidFill>
                          <a:latin typeface="Kanit"/>
                        </a:rPr>
                        <a:t>11,916</a:t>
                      </a:r>
                    </a:p>
                  </a:txBody>
                  <a:tcPr marL="54864" marR="54864" marT="18288" marB="18288" anchor="ctr">
                    <a:solidFill>
                      <a:srgbClr val="FFFFFF"/>
                    </a:solidFill>
                  </a:tcPr>
                </a:tc>
                <a:tc>
                  <a:txBody>
                    <a:bodyPr wrap="square"/>
                    <a:lstStyle/>
                    <a:p>
                      <a:pPr algn="r"/>
                      <a:r>
                        <a:rPr sz="950" b="1">
                          <a:solidFill>
                            <a:srgbClr val="CC0000"/>
                          </a:solidFill>
                          <a:latin typeface="Kanit"/>
                        </a:rPr>
                        <a:t>28.1%</a:t>
                      </a:r>
                    </a:p>
                  </a:txBody>
                  <a:tcPr marL="54864" marR="54864" marT="18288" marB="18288" anchor="ctr">
                    <a:solidFill>
                      <a:srgbClr val="FFFFFF"/>
                    </a:solidFill>
                  </a:tcPr>
                </a:tc>
                <a:tc>
                  <a:txBody>
                    <a:bodyPr wrap="square"/>
                    <a:lstStyle/>
                    <a:p>
                      <a:pPr algn="r"/>
                      <a:r>
                        <a:rPr sz="950" b="1">
                          <a:solidFill>
                            <a:srgbClr val="CC0000"/>
                          </a:solidFill>
                          <a:latin typeface="Kanit"/>
                        </a:rPr>
                        <a:t>-8.7%</a:t>
                      </a:r>
                    </a:p>
                  </a:txBody>
                  <a:tcPr marL="54864" marR="54864" marT="18288" marB="18288" anchor="ctr">
                    <a:solidFill>
                      <a:srgbClr val="FFFFFF"/>
                    </a:solidFill>
                  </a:tcPr>
                </a:tc>
              </a:tr>
              <a:tr h="245059">
                <a:tc>
                  <a:txBody>
                    <a:bodyPr wrap="square"/>
                    <a:lstStyle/>
                    <a:p>
                      <a:pPr algn="l"/>
                      <a:r>
                        <a:rPr sz="950" b="1">
                          <a:solidFill>
                            <a:srgbClr val="1E2F5C"/>
                          </a:solidFill>
                          <a:latin typeface="Kanit"/>
                        </a:rPr>
                        <a:t>EVEREST</a:t>
                      </a:r>
                    </a:p>
                  </a:txBody>
                  <a:tcPr marL="54864" marR="54864" marT="18288" marB="18288" anchor="ctr">
                    <a:solidFill>
                      <a:srgbClr val="F7F9FC"/>
                    </a:solidFill>
                  </a:tcPr>
                </a:tc>
                <a:tc>
                  <a:txBody>
                    <a:bodyPr wrap="square"/>
                    <a:lstStyle/>
                    <a:p>
                      <a:pPr algn="l"/>
                      <a:r>
                        <a:rPr sz="950" b="0">
                          <a:solidFill>
                            <a:srgbClr val="606060"/>
                          </a:solidFill>
                          <a:latin typeface="Kanit"/>
                        </a:rPr>
                        <a:t>PPV</a:t>
                      </a:r>
                    </a:p>
                  </a:txBody>
                  <a:tcPr marL="54864" marR="54864" marT="18288" marB="18288" anchor="ctr">
                    <a:solidFill>
                      <a:srgbClr val="F7F9FC"/>
                    </a:solidFill>
                  </a:tcPr>
                </a:tc>
                <a:tc>
                  <a:txBody>
                    <a:bodyPr wrap="square"/>
                    <a:lstStyle/>
                    <a:p>
                      <a:pPr algn="r"/>
                      <a:r>
                        <a:rPr sz="950" b="0">
                          <a:solidFill>
                            <a:srgbClr val="1E2F5C"/>
                          </a:solidFill>
                          <a:latin typeface="Kanit"/>
                        </a:rPr>
                        <a:t>7,733</a:t>
                      </a:r>
                    </a:p>
                  </a:txBody>
                  <a:tcPr marL="54864" marR="54864" marT="18288" marB="18288" anchor="ctr">
                    <a:solidFill>
                      <a:srgbClr val="F7F9FC"/>
                    </a:solidFill>
                  </a:tcPr>
                </a:tc>
                <a:tc>
                  <a:txBody>
                    <a:bodyPr wrap="square"/>
                    <a:lstStyle/>
                    <a:p>
                      <a:pPr algn="r"/>
                      <a:r>
                        <a:rPr sz="950" b="1">
                          <a:solidFill>
                            <a:srgbClr val="CC0000"/>
                          </a:solidFill>
                          <a:latin typeface="Kanit"/>
                        </a:rPr>
                        <a:t>18.2%</a:t>
                      </a:r>
                    </a:p>
                  </a:txBody>
                  <a:tcPr marL="54864" marR="54864" marT="18288" marB="18288" anchor="ctr">
                    <a:solidFill>
                      <a:srgbClr val="F7F9FC"/>
                    </a:solidFill>
                  </a:tcPr>
                </a:tc>
                <a:tc>
                  <a:txBody>
                    <a:bodyPr wrap="square"/>
                    <a:lstStyle/>
                    <a:p>
                      <a:pPr algn="r"/>
                      <a:r>
                        <a:rPr sz="950" b="1">
                          <a:solidFill>
                            <a:srgbClr val="CC0000"/>
                          </a:solidFill>
                          <a:latin typeface="Kanit"/>
                        </a:rPr>
                        <a:t>-14.3%</a:t>
                      </a:r>
                    </a:p>
                  </a:txBody>
                  <a:tcPr marL="54864" marR="54864" marT="18288" marB="18288" anchor="ctr">
                    <a:solidFill>
                      <a:srgbClr val="F7F9FC"/>
                    </a:solidFill>
                  </a:tcPr>
                </a:tc>
              </a:tr>
            </a:tbl>
          </a:graphicData>
        </a:graphic>
      </p:graphicFrame>
      <p:graphicFrame>
        <p:nvGraphicFramePr>
          <p:cNvPr id="26" name="Table 25"/>
          <p:cNvGraphicFramePr>
            <a:graphicFrameLocks noGrp="1"/>
          </p:cNvGraphicFramePr>
          <p:nvPr/>
        </p:nvGraphicFramePr>
        <p:xfrm>
          <a:off x="6208776" y="2395728"/>
          <a:ext cx="5568696" cy="2289656"/>
        </p:xfrm>
        <a:graphic>
          <a:graphicData uri="http://schemas.openxmlformats.org/drawingml/2006/table">
            <a:tbl>
              <a:tblPr>
                <a:tableStyleId>{5C22544A-7EE6-4342-B048-85BDC9FD1C3A}</a:tableStyleId>
              </a:tblPr>
              <a:tblGrid>
                <a:gridCol w="2011680"/>
                <a:gridCol w="1371600"/>
                <a:gridCol w="1463040"/>
                <a:gridCol w="722376"/>
              </a:tblGrid>
              <a:tr h="329184">
                <a:tc>
                  <a:txBody>
                    <a:bodyPr wrap="square"/>
                    <a:lstStyle/>
                    <a:p>
                      <a:pPr algn="l"/>
                      <a:r>
                        <a:rPr sz="1050" b="1">
                          <a:solidFill>
                            <a:srgbClr val="FFFFFF"/>
                          </a:solidFill>
                          <a:latin typeface="Kanit"/>
                        </a:rPr>
                        <a:t>Car brand</a:t>
                      </a:r>
                    </a:p>
                  </a:txBody>
                  <a:tcPr marL="54864" marR="54864" marT="18288" marB="18288" anchor="ctr">
                    <a:solidFill>
                      <a:srgbClr val="1B2A6B"/>
                    </a:solidFill>
                  </a:tcPr>
                </a:tc>
                <a:tc>
                  <a:txBody>
                    <a:bodyPr wrap="square"/>
                    <a:lstStyle/>
                    <a:p>
                      <a:pPr algn="l"/>
                      <a:r>
                        <a:rPr sz="1050" b="1">
                          <a:solidFill>
                            <a:srgbClr val="FFFFFF"/>
                          </a:solidFill>
                          <a:latin typeface="Kanit"/>
                        </a:rPr>
                        <a:t/>
                      </a:r>
                    </a:p>
                  </a:txBody>
                  <a:tcPr marL="54864" marR="54864" marT="18288" marB="18288" anchor="ctr">
                    <a:solidFill>
                      <a:srgbClr val="1B2A6B"/>
                    </a:solidFill>
                  </a:tcPr>
                </a:tc>
                <a:tc>
                  <a:txBody>
                    <a:bodyPr wrap="square"/>
                    <a:lstStyle/>
                    <a:p>
                      <a:pPr algn="r"/>
                      <a:r>
                        <a:rPr sz="1050" b="1">
                          <a:solidFill>
                            <a:srgbClr val="FFFFFF"/>
                          </a:solidFill>
                          <a:latin typeface="Kanit"/>
                        </a:rPr>
                        <a:t>12-month units</a:t>
                      </a:r>
                    </a:p>
                  </a:txBody>
                  <a:tcPr marL="54864" marR="54864" marT="18288" marB="18288" anchor="ctr">
                    <a:solidFill>
                      <a:srgbClr val="1B2A6B"/>
                    </a:solidFill>
                  </a:tcPr>
                </a:tc>
                <a:tc>
                  <a:txBody>
                    <a:bodyPr wrap="square"/>
                    <a:lstStyle/>
                    <a:p>
                      <a:pPr algn="r"/>
                      <a:r>
                        <a:rPr sz="1050" b="1">
                          <a:solidFill>
                            <a:srgbClr val="FFFFFF"/>
                          </a:solidFill>
                          <a:latin typeface="Kanit"/>
                        </a:rPr>
                        <a:t>share</a:t>
                      </a:r>
                    </a:p>
                  </a:txBody>
                  <a:tcPr marL="54864" marR="54864" marT="18288" marB="18288" anchor="ctr">
                    <a:solidFill>
                      <a:srgbClr val="1B2A6B"/>
                    </a:solidFill>
                  </a:tcPr>
                </a:tc>
              </a:tr>
              <a:tr h="245059">
                <a:tc>
                  <a:txBody>
                    <a:bodyPr wrap="square"/>
                    <a:lstStyle/>
                    <a:p>
                      <a:pPr algn="l"/>
                      <a:r>
                        <a:rPr sz="950" b="1">
                          <a:solidFill>
                            <a:srgbClr val="1E2F5C"/>
                          </a:solidFill>
                          <a:latin typeface="Kanit"/>
                        </a:rPr>
                        <a:t>TOYOTA</a:t>
                      </a:r>
                    </a:p>
                  </a:txBody>
                  <a:tcPr marL="54864" marR="54864" marT="18288" marB="18288" anchor="ctr">
                    <a:solidFill>
                      <a:srgbClr val="FFFFFF"/>
                    </a:solidFill>
                  </a:tcPr>
                </a:tc>
                <a:tc>
                  <a:txBody>
                    <a:bodyPr wrap="square"/>
                    <a:lstStyle/>
                    <a:p>
                      <a:pPr algn="l"/>
                      <a:r>
                        <a:rPr sz="950" b="0">
                          <a:solidFill>
                            <a:srgbClr val="606060"/>
                          </a:solidFill>
                          <a:latin typeface="Kanit"/>
                        </a:rPr>
                        <a:t>incumbent</a:t>
                      </a:r>
                    </a:p>
                  </a:txBody>
                  <a:tcPr marL="54864" marR="54864" marT="18288" marB="18288" anchor="ctr">
                    <a:solidFill>
                      <a:srgbClr val="FFFFFF"/>
                    </a:solidFill>
                  </a:tcPr>
                </a:tc>
                <a:tc>
                  <a:txBody>
                    <a:bodyPr wrap="square"/>
                    <a:lstStyle/>
                    <a:p>
                      <a:pPr algn="r"/>
                      <a:r>
                        <a:rPr sz="950" b="0">
                          <a:solidFill>
                            <a:srgbClr val="1E2F5C"/>
                          </a:solidFill>
                          <a:latin typeface="Kanit"/>
                        </a:rPr>
                        <a:t>142,799</a:t>
                      </a:r>
                    </a:p>
                  </a:txBody>
                  <a:tcPr marL="54864" marR="54864" marT="18288" marB="18288" anchor="ctr">
                    <a:solidFill>
                      <a:srgbClr val="FFFFFF"/>
                    </a:solidFill>
                  </a:tcPr>
                </a:tc>
                <a:tc>
                  <a:txBody>
                    <a:bodyPr wrap="square"/>
                    <a:lstStyle/>
                    <a:p>
                      <a:pPr algn="r"/>
                      <a:r>
                        <a:rPr sz="950" b="1">
                          <a:solidFill>
                            <a:srgbClr val="1E2F5C"/>
                          </a:solidFill>
                          <a:latin typeface="Kanit"/>
                        </a:rPr>
                        <a:t>32.19%</a:t>
                      </a:r>
                    </a:p>
                  </a:txBody>
                  <a:tcPr marL="54864" marR="54864" marT="18288" marB="18288" anchor="ctr">
                    <a:solidFill>
                      <a:srgbClr val="FFFFFF"/>
                    </a:solidFill>
                  </a:tcPr>
                </a:tc>
              </a:tr>
              <a:tr h="245059">
                <a:tc>
                  <a:txBody>
                    <a:bodyPr wrap="square"/>
                    <a:lstStyle/>
                    <a:p>
                      <a:pPr algn="l"/>
                      <a:r>
                        <a:rPr sz="950" b="1">
                          <a:solidFill>
                            <a:srgbClr val="1E2F5C"/>
                          </a:solidFill>
                          <a:latin typeface="Kanit"/>
                        </a:rPr>
                        <a:t>HONDA</a:t>
                      </a:r>
                    </a:p>
                  </a:txBody>
                  <a:tcPr marL="54864" marR="54864" marT="18288" marB="18288" anchor="ctr">
                    <a:solidFill>
                      <a:srgbClr val="F7F9FC"/>
                    </a:solidFill>
                  </a:tcPr>
                </a:tc>
                <a:tc>
                  <a:txBody>
                    <a:bodyPr wrap="square"/>
                    <a:lstStyle/>
                    <a:p>
                      <a:pPr algn="l"/>
                      <a:r>
                        <a:rPr sz="950" b="0">
                          <a:solidFill>
                            <a:srgbClr val="606060"/>
                          </a:solidFill>
                          <a:latin typeface="Kanit"/>
                        </a:rPr>
                        <a:t>incumbent</a:t>
                      </a:r>
                    </a:p>
                  </a:txBody>
                  <a:tcPr marL="54864" marR="54864" marT="18288" marB="18288" anchor="ctr">
                    <a:solidFill>
                      <a:srgbClr val="F7F9FC"/>
                    </a:solidFill>
                  </a:tcPr>
                </a:tc>
                <a:tc>
                  <a:txBody>
                    <a:bodyPr wrap="square"/>
                    <a:lstStyle/>
                    <a:p>
                      <a:pPr algn="r"/>
                      <a:r>
                        <a:rPr sz="950" b="0">
                          <a:solidFill>
                            <a:srgbClr val="1E2F5C"/>
                          </a:solidFill>
                          <a:latin typeface="Kanit"/>
                        </a:rPr>
                        <a:t>72,171</a:t>
                      </a:r>
                    </a:p>
                  </a:txBody>
                  <a:tcPr marL="54864" marR="54864" marT="18288" marB="18288" anchor="ctr">
                    <a:solidFill>
                      <a:srgbClr val="F7F9FC"/>
                    </a:solidFill>
                  </a:tcPr>
                </a:tc>
                <a:tc>
                  <a:txBody>
                    <a:bodyPr wrap="square"/>
                    <a:lstStyle/>
                    <a:p>
                      <a:pPr algn="r"/>
                      <a:r>
                        <a:rPr sz="950" b="1">
                          <a:solidFill>
                            <a:srgbClr val="1E2F5C"/>
                          </a:solidFill>
                          <a:latin typeface="Kanit"/>
                        </a:rPr>
                        <a:t>16.27%</a:t>
                      </a:r>
                    </a:p>
                  </a:txBody>
                  <a:tcPr marL="54864" marR="54864" marT="18288" marB="18288" anchor="ctr">
                    <a:solidFill>
                      <a:srgbClr val="F7F9FC"/>
                    </a:solidFill>
                  </a:tcPr>
                </a:tc>
              </a:tr>
              <a:tr h="245059">
                <a:tc>
                  <a:txBody>
                    <a:bodyPr wrap="square"/>
                    <a:lstStyle/>
                    <a:p>
                      <a:pPr algn="l"/>
                      <a:r>
                        <a:rPr sz="950" b="0">
                          <a:solidFill>
                            <a:srgbClr val="1E2F5C"/>
                          </a:solidFill>
                          <a:latin typeface="Kanit"/>
                        </a:rPr>
                        <a:t>BYD</a:t>
                      </a:r>
                    </a:p>
                  </a:txBody>
                  <a:tcPr marL="54864" marR="54864" marT="18288" marB="18288" anchor="ctr">
                    <a:solidFill>
                      <a:srgbClr val="FFFFFF"/>
                    </a:solidFill>
                  </a:tcPr>
                </a:tc>
                <a:tc>
                  <a:txBody>
                    <a:bodyPr wrap="square"/>
                    <a:lstStyle/>
                    <a:p>
                      <a:pPr algn="l"/>
                      <a:r>
                        <a:rPr sz="950" b="0">
                          <a:solidFill>
                            <a:srgbClr val="606060"/>
                          </a:solidFill>
                          <a:latin typeface="Kanit"/>
                        </a:rPr>
                        <a:t/>
                      </a:r>
                    </a:p>
                  </a:txBody>
                  <a:tcPr marL="54864" marR="54864" marT="18288" marB="18288" anchor="ctr">
                    <a:solidFill>
                      <a:srgbClr val="FFFFFF"/>
                    </a:solidFill>
                  </a:tcPr>
                </a:tc>
                <a:tc>
                  <a:txBody>
                    <a:bodyPr wrap="square"/>
                    <a:lstStyle/>
                    <a:p>
                      <a:pPr algn="r"/>
                      <a:r>
                        <a:rPr sz="950" b="0">
                          <a:solidFill>
                            <a:srgbClr val="1E2F5C"/>
                          </a:solidFill>
                          <a:latin typeface="Kanit"/>
                        </a:rPr>
                        <a:t>49,990</a:t>
                      </a:r>
                    </a:p>
                  </a:txBody>
                  <a:tcPr marL="54864" marR="54864" marT="18288" marB="18288" anchor="ctr">
                    <a:solidFill>
                      <a:srgbClr val="FFFFFF"/>
                    </a:solidFill>
                  </a:tcPr>
                </a:tc>
                <a:tc>
                  <a:txBody>
                    <a:bodyPr wrap="square"/>
                    <a:lstStyle/>
                    <a:p>
                      <a:pPr algn="r"/>
                      <a:r>
                        <a:rPr sz="950" b="1">
                          <a:solidFill>
                            <a:srgbClr val="CC0000"/>
                          </a:solidFill>
                          <a:latin typeface="Kanit"/>
                        </a:rPr>
                        <a:t>11.27%</a:t>
                      </a:r>
                    </a:p>
                  </a:txBody>
                  <a:tcPr marL="54864" marR="54864" marT="18288" marB="18288" anchor="ctr">
                    <a:solidFill>
                      <a:srgbClr val="FFFFFF"/>
                    </a:solidFill>
                  </a:tcPr>
                </a:tc>
              </a:tr>
              <a:tr h="245059">
                <a:tc>
                  <a:txBody>
                    <a:bodyPr wrap="square"/>
                    <a:lstStyle/>
                    <a:p>
                      <a:pPr algn="l"/>
                      <a:r>
                        <a:rPr sz="950" b="0">
                          <a:solidFill>
                            <a:srgbClr val="1E2F5C"/>
                          </a:solidFill>
                          <a:latin typeface="Kanit"/>
                        </a:rPr>
                        <a:t>MG</a:t>
                      </a:r>
                    </a:p>
                  </a:txBody>
                  <a:tcPr marL="54864" marR="54864" marT="18288" marB="18288" anchor="ctr">
                    <a:solidFill>
                      <a:srgbClr val="F7F9FC"/>
                    </a:solidFill>
                  </a:tcPr>
                </a:tc>
                <a:tc>
                  <a:txBody>
                    <a:bodyPr wrap="square"/>
                    <a:lstStyle/>
                    <a:p>
                      <a:pPr algn="l"/>
                      <a:r>
                        <a:rPr sz="950" b="0">
                          <a:solidFill>
                            <a:srgbClr val="606060"/>
                          </a:solidFill>
                          <a:latin typeface="Kanit"/>
                        </a:rPr>
                        <a:t/>
                      </a:r>
                    </a:p>
                  </a:txBody>
                  <a:tcPr marL="54864" marR="54864" marT="18288" marB="18288" anchor="ctr">
                    <a:solidFill>
                      <a:srgbClr val="F7F9FC"/>
                    </a:solidFill>
                  </a:tcPr>
                </a:tc>
                <a:tc>
                  <a:txBody>
                    <a:bodyPr wrap="square"/>
                    <a:lstStyle/>
                    <a:p>
                      <a:pPr algn="r"/>
                      <a:r>
                        <a:rPr sz="950" b="0">
                          <a:solidFill>
                            <a:srgbClr val="1E2F5C"/>
                          </a:solidFill>
                          <a:latin typeface="Kanit"/>
                        </a:rPr>
                        <a:t>25,839</a:t>
                      </a:r>
                    </a:p>
                  </a:txBody>
                  <a:tcPr marL="54864" marR="54864" marT="18288" marB="18288" anchor="ctr">
                    <a:solidFill>
                      <a:srgbClr val="F7F9FC"/>
                    </a:solidFill>
                  </a:tcPr>
                </a:tc>
                <a:tc>
                  <a:txBody>
                    <a:bodyPr wrap="square"/>
                    <a:lstStyle/>
                    <a:p>
                      <a:pPr algn="r"/>
                      <a:r>
                        <a:rPr sz="950" b="1">
                          <a:solidFill>
                            <a:srgbClr val="CC0000"/>
                          </a:solidFill>
                          <a:latin typeface="Kanit"/>
                        </a:rPr>
                        <a:t>5.82%</a:t>
                      </a:r>
                    </a:p>
                  </a:txBody>
                  <a:tcPr marL="54864" marR="54864" marT="18288" marB="18288" anchor="ctr">
                    <a:solidFill>
                      <a:srgbClr val="F7F9FC"/>
                    </a:solidFill>
                  </a:tcPr>
                </a:tc>
              </a:tr>
              <a:tr h="245059">
                <a:tc>
                  <a:txBody>
                    <a:bodyPr wrap="square"/>
                    <a:lstStyle/>
                    <a:p>
                      <a:pPr algn="l"/>
                      <a:r>
                        <a:rPr sz="950" b="0">
                          <a:solidFill>
                            <a:srgbClr val="1E2F5C"/>
                          </a:solidFill>
                          <a:latin typeface="Kanit"/>
                        </a:rPr>
                        <a:t>JAECOO</a:t>
                      </a:r>
                    </a:p>
                  </a:txBody>
                  <a:tcPr marL="54864" marR="54864" marT="18288" marB="18288" anchor="ctr">
                    <a:solidFill>
                      <a:srgbClr val="FFFFFF"/>
                    </a:solidFill>
                  </a:tcPr>
                </a:tc>
                <a:tc>
                  <a:txBody>
                    <a:bodyPr wrap="square"/>
                    <a:lstStyle/>
                    <a:p>
                      <a:pPr algn="l"/>
                      <a:r>
                        <a:rPr sz="950" b="0">
                          <a:solidFill>
                            <a:srgbClr val="606060"/>
                          </a:solidFill>
                          <a:latin typeface="Kanit"/>
                        </a:rPr>
                        <a:t/>
                      </a:r>
                    </a:p>
                  </a:txBody>
                  <a:tcPr marL="54864" marR="54864" marT="18288" marB="18288" anchor="ctr">
                    <a:solidFill>
                      <a:srgbClr val="FFFFFF"/>
                    </a:solidFill>
                  </a:tcPr>
                </a:tc>
                <a:tc>
                  <a:txBody>
                    <a:bodyPr wrap="square"/>
                    <a:lstStyle/>
                    <a:p>
                      <a:pPr algn="r"/>
                      <a:r>
                        <a:rPr sz="950" b="0">
                          <a:solidFill>
                            <a:srgbClr val="1E2F5C"/>
                          </a:solidFill>
                          <a:latin typeface="Kanit"/>
                        </a:rPr>
                        <a:t>16,905</a:t>
                      </a:r>
                    </a:p>
                  </a:txBody>
                  <a:tcPr marL="54864" marR="54864" marT="18288" marB="18288" anchor="ctr">
                    <a:solidFill>
                      <a:srgbClr val="FFFFFF"/>
                    </a:solidFill>
                  </a:tcPr>
                </a:tc>
                <a:tc>
                  <a:txBody>
                    <a:bodyPr wrap="square"/>
                    <a:lstStyle/>
                    <a:p>
                      <a:pPr algn="r"/>
                      <a:r>
                        <a:rPr sz="950" b="1">
                          <a:solidFill>
                            <a:srgbClr val="CC0000"/>
                          </a:solidFill>
                          <a:latin typeface="Kanit"/>
                        </a:rPr>
                        <a:t>3.81%</a:t>
                      </a:r>
                    </a:p>
                  </a:txBody>
                  <a:tcPr marL="54864" marR="54864" marT="18288" marB="18288" anchor="ctr">
                    <a:solidFill>
                      <a:srgbClr val="FFFFFF"/>
                    </a:solidFill>
                  </a:tcPr>
                </a:tc>
              </a:tr>
              <a:tr h="245059">
                <a:tc>
                  <a:txBody>
                    <a:bodyPr wrap="square"/>
                    <a:lstStyle/>
                    <a:p>
                      <a:pPr algn="l"/>
                      <a:r>
                        <a:rPr sz="950" b="0">
                          <a:solidFill>
                            <a:srgbClr val="1E2F5C"/>
                          </a:solidFill>
                          <a:latin typeface="Kanit"/>
                        </a:rPr>
                        <a:t>MITSUBISHI</a:t>
                      </a:r>
                    </a:p>
                  </a:txBody>
                  <a:tcPr marL="54864" marR="54864" marT="18288" marB="18288" anchor="ctr">
                    <a:solidFill>
                      <a:srgbClr val="F7F9FC"/>
                    </a:solidFill>
                  </a:tcPr>
                </a:tc>
                <a:tc>
                  <a:txBody>
                    <a:bodyPr wrap="square"/>
                    <a:lstStyle/>
                    <a:p>
                      <a:pPr algn="l"/>
                      <a:r>
                        <a:rPr sz="950" b="0">
                          <a:solidFill>
                            <a:srgbClr val="606060"/>
                          </a:solidFill>
                          <a:latin typeface="Kanit"/>
                        </a:rPr>
                        <a:t/>
                      </a:r>
                    </a:p>
                  </a:txBody>
                  <a:tcPr marL="54864" marR="54864" marT="18288" marB="18288" anchor="ctr">
                    <a:solidFill>
                      <a:srgbClr val="F7F9FC"/>
                    </a:solidFill>
                  </a:tcPr>
                </a:tc>
                <a:tc>
                  <a:txBody>
                    <a:bodyPr wrap="square"/>
                    <a:lstStyle/>
                    <a:p>
                      <a:pPr algn="r"/>
                      <a:r>
                        <a:rPr sz="950" b="0">
                          <a:solidFill>
                            <a:srgbClr val="1E2F5C"/>
                          </a:solidFill>
                          <a:latin typeface="Kanit"/>
                        </a:rPr>
                        <a:t>16,253</a:t>
                      </a:r>
                    </a:p>
                  </a:txBody>
                  <a:tcPr marL="54864" marR="54864" marT="18288" marB="18288" anchor="ctr">
                    <a:solidFill>
                      <a:srgbClr val="F7F9FC"/>
                    </a:solidFill>
                  </a:tcPr>
                </a:tc>
                <a:tc>
                  <a:txBody>
                    <a:bodyPr wrap="square"/>
                    <a:lstStyle/>
                    <a:p>
                      <a:pPr algn="r"/>
                      <a:r>
                        <a:rPr sz="950" b="1">
                          <a:solidFill>
                            <a:srgbClr val="CC0000"/>
                          </a:solidFill>
                          <a:latin typeface="Kanit"/>
                        </a:rPr>
                        <a:t>3.66%</a:t>
                      </a:r>
                    </a:p>
                  </a:txBody>
                  <a:tcPr marL="54864" marR="54864" marT="18288" marB="18288" anchor="ctr">
                    <a:solidFill>
                      <a:srgbClr val="F7F9FC"/>
                    </a:solidFill>
                  </a:tcPr>
                </a:tc>
              </a:tr>
              <a:tr h="245059">
                <a:tc>
                  <a:txBody>
                    <a:bodyPr wrap="square"/>
                    <a:lstStyle/>
                    <a:p>
                      <a:pPr algn="l"/>
                      <a:r>
                        <a:rPr sz="950" b="0">
                          <a:solidFill>
                            <a:srgbClr val="1E2F5C"/>
                          </a:solidFill>
                          <a:latin typeface="Kanit"/>
                        </a:rPr>
                        <a:t>AION</a:t>
                      </a:r>
                    </a:p>
                  </a:txBody>
                  <a:tcPr marL="54864" marR="54864" marT="18288" marB="18288" anchor="ctr">
                    <a:solidFill>
                      <a:srgbClr val="FFFFFF"/>
                    </a:solidFill>
                  </a:tcPr>
                </a:tc>
                <a:tc>
                  <a:txBody>
                    <a:bodyPr wrap="square"/>
                    <a:lstStyle/>
                    <a:p>
                      <a:pPr algn="l"/>
                      <a:r>
                        <a:rPr sz="950" b="0">
                          <a:solidFill>
                            <a:srgbClr val="606060"/>
                          </a:solidFill>
                          <a:latin typeface="Kanit"/>
                        </a:rPr>
                        <a:t/>
                      </a:r>
                    </a:p>
                  </a:txBody>
                  <a:tcPr marL="54864" marR="54864" marT="18288" marB="18288" anchor="ctr">
                    <a:solidFill>
                      <a:srgbClr val="FFFFFF"/>
                    </a:solidFill>
                  </a:tcPr>
                </a:tc>
                <a:tc>
                  <a:txBody>
                    <a:bodyPr wrap="square"/>
                    <a:lstStyle/>
                    <a:p>
                      <a:pPr algn="r"/>
                      <a:r>
                        <a:rPr sz="950" b="0">
                          <a:solidFill>
                            <a:srgbClr val="1E2F5C"/>
                          </a:solidFill>
                          <a:latin typeface="Kanit"/>
                        </a:rPr>
                        <a:t>15,378</a:t>
                      </a:r>
                    </a:p>
                  </a:txBody>
                  <a:tcPr marL="54864" marR="54864" marT="18288" marB="18288" anchor="ctr">
                    <a:solidFill>
                      <a:srgbClr val="FFFFFF"/>
                    </a:solidFill>
                  </a:tcPr>
                </a:tc>
                <a:tc>
                  <a:txBody>
                    <a:bodyPr wrap="square"/>
                    <a:lstStyle/>
                    <a:p>
                      <a:pPr algn="r"/>
                      <a:r>
                        <a:rPr sz="950" b="1">
                          <a:solidFill>
                            <a:srgbClr val="CC0000"/>
                          </a:solidFill>
                          <a:latin typeface="Kanit"/>
                        </a:rPr>
                        <a:t>3.47%</a:t>
                      </a:r>
                    </a:p>
                  </a:txBody>
                  <a:tcPr marL="54864" marR="54864" marT="18288" marB="18288" anchor="ctr">
                    <a:solidFill>
                      <a:srgbClr val="FFFFFF"/>
                    </a:solidFill>
                  </a:tcPr>
                </a:tc>
              </a:tr>
              <a:tr h="245059">
                <a:tc>
                  <a:txBody>
                    <a:bodyPr wrap="square"/>
                    <a:lstStyle/>
                    <a:p>
                      <a:pPr algn="l"/>
                      <a:r>
                        <a:rPr sz="950" b="0">
                          <a:solidFill>
                            <a:srgbClr val="1E2F5C"/>
                          </a:solidFill>
                          <a:latin typeface="Kanit"/>
                        </a:rPr>
                        <a:t>DEEPAL</a:t>
                      </a:r>
                    </a:p>
                  </a:txBody>
                  <a:tcPr marL="54864" marR="54864" marT="18288" marB="18288" anchor="ctr">
                    <a:solidFill>
                      <a:srgbClr val="F7F9FC"/>
                    </a:solidFill>
                  </a:tcPr>
                </a:tc>
                <a:tc>
                  <a:txBody>
                    <a:bodyPr wrap="square"/>
                    <a:lstStyle/>
                    <a:p>
                      <a:pPr algn="l"/>
                      <a:r>
                        <a:rPr sz="950" b="0">
                          <a:solidFill>
                            <a:srgbClr val="606060"/>
                          </a:solidFill>
                          <a:latin typeface="Kanit"/>
                        </a:rPr>
                        <a:t/>
                      </a:r>
                    </a:p>
                  </a:txBody>
                  <a:tcPr marL="54864" marR="54864" marT="18288" marB="18288" anchor="ctr">
                    <a:solidFill>
                      <a:srgbClr val="F7F9FC"/>
                    </a:solidFill>
                  </a:tcPr>
                </a:tc>
                <a:tc>
                  <a:txBody>
                    <a:bodyPr wrap="square"/>
                    <a:lstStyle/>
                    <a:p>
                      <a:pPr algn="r"/>
                      <a:r>
                        <a:rPr sz="950" b="0">
                          <a:solidFill>
                            <a:srgbClr val="1E2F5C"/>
                          </a:solidFill>
                          <a:latin typeface="Kanit"/>
                        </a:rPr>
                        <a:t>10,628</a:t>
                      </a:r>
                    </a:p>
                  </a:txBody>
                  <a:tcPr marL="54864" marR="54864" marT="18288" marB="18288" anchor="ctr">
                    <a:solidFill>
                      <a:srgbClr val="F7F9FC"/>
                    </a:solidFill>
                  </a:tcPr>
                </a:tc>
                <a:tc>
                  <a:txBody>
                    <a:bodyPr wrap="square"/>
                    <a:lstStyle/>
                    <a:p>
                      <a:pPr algn="r"/>
                      <a:r>
                        <a:rPr sz="950" b="1">
                          <a:solidFill>
                            <a:srgbClr val="CC0000"/>
                          </a:solidFill>
                          <a:latin typeface="Kanit"/>
                        </a:rPr>
                        <a:t>2.40%</a:t>
                      </a:r>
                    </a:p>
                  </a:txBody>
                  <a:tcPr marL="54864" marR="54864" marT="18288" marB="18288" anchor="ctr">
                    <a:solidFill>
                      <a:srgbClr val="F7F9FC"/>
                    </a:solidFill>
                  </a:tcPr>
                </a:tc>
              </a:tr>
            </a:tbl>
          </a:graphicData>
        </a:graphic>
      </p:graphicFrame>
      <p:sp>
        <p:nvSpPr>
          <p:cNvPr id="27" name="Rounded Rectangle 26"/>
          <p:cNvSpPr/>
          <p:nvPr/>
        </p:nvSpPr>
        <p:spPr>
          <a:xfrm>
            <a:off x="411480" y="4831689"/>
            <a:ext cx="754177" cy="192024"/>
          </a:xfrm>
          <a:prstGeom prst="roundRect">
            <a:avLst>
              <a:gd name="adj" fmla="val 50000"/>
            </a:avLst>
          </a:prstGeom>
          <a:noFill/>
          <a:ln w="9525">
            <a:solidFill>
              <a:srgbClr val="15795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411480" y="4860950"/>
            <a:ext cx="754177" cy="134112"/>
          </a:xfrm>
          <a:prstGeom prst="rect">
            <a:avLst/>
          </a:prstGeom>
          <a:noFill/>
        </p:spPr>
        <p:txBody>
          <a:bodyPr wrap="square" lIns="0" rIns="0" tIns="0" bIns="0" anchor="t">
            <a:noAutofit/>
          </a:bodyPr>
          <a:lstStyle/>
          <a:p>
            <a:pPr algn="ctr">
              <a:lnSpc>
                <a:spcPts val="1056"/>
              </a:lnSpc>
            </a:pPr>
            <a:r>
              <a:rPr sz="800" b="1">
                <a:solidFill>
                  <a:srgbClr val="15795F"/>
                </a:solidFill>
                <a:latin typeface="Kanit"/>
              </a:rPr>
              <a:t>MEASURED</a:t>
            </a:r>
          </a:p>
        </p:txBody>
      </p:sp>
      <p:sp>
        <p:nvSpPr>
          <p:cNvPr id="29" name="TextBox 28"/>
          <p:cNvSpPr txBox="1"/>
          <p:nvPr/>
        </p:nvSpPr>
        <p:spPr>
          <a:xfrm>
            <a:off x="1275385" y="4845405"/>
            <a:ext cx="10502086" cy="154305"/>
          </a:xfrm>
          <a:prstGeom prst="rect">
            <a:avLst/>
          </a:prstGeom>
          <a:noFill/>
        </p:spPr>
        <p:txBody>
          <a:bodyPr wrap="square" lIns="0" rIns="0" tIns="0" bIns="0" anchor="t">
            <a:noAutofit/>
          </a:bodyPr>
          <a:lstStyle/>
          <a:p>
            <a:pPr algn="l">
              <a:lnSpc>
                <a:spcPts val="1215"/>
              </a:lnSpc>
            </a:pPr>
            <a:r>
              <a:rPr sz="900" b="0">
                <a:solidFill>
                  <a:srgbClr val="606060"/>
                </a:solidFill>
                <a:latin typeface="Kanit"/>
              </a:rPr>
              <a:t>DLT first registrations at nameplate grain, trailing 12 months, NATIONAL only — no province column exists. First registrations are the FUTURE collateral pool, not our book and not used-vehicle sales.</a:t>
            </a:r>
          </a:p>
        </p:txBody>
      </p:sp>
      <p:sp>
        <p:nvSpPr>
          <p:cNvPr id="30" name="Rectangle 29"/>
          <p:cNvSpPr/>
          <p:nvPr/>
        </p:nvSpPr>
        <p:spPr>
          <a:xfrm>
            <a:off x="411480" y="5150586"/>
            <a:ext cx="11365992" cy="1390523"/>
          </a:xfrm>
          <a:prstGeom prst="rect">
            <a:avLst/>
          </a:prstGeom>
          <a:solidFill>
            <a:srgbClr val="FCEFE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1" name="Rectangle 30"/>
          <p:cNvSpPr/>
          <p:nvPr/>
        </p:nvSpPr>
        <p:spPr>
          <a:xfrm>
            <a:off x="411480" y="5150586"/>
            <a:ext cx="50292" cy="1390523"/>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TextBox 31"/>
          <p:cNvSpPr txBox="1"/>
          <p:nvPr/>
        </p:nvSpPr>
        <p:spPr>
          <a:xfrm>
            <a:off x="630936" y="5296890"/>
            <a:ext cx="11036808" cy="158750"/>
          </a:xfrm>
          <a:prstGeom prst="rect">
            <a:avLst/>
          </a:prstGeom>
          <a:noFill/>
        </p:spPr>
        <p:txBody>
          <a:bodyPr wrap="square" lIns="0" rIns="0" tIns="0" bIns="0" anchor="t">
            <a:noAutofit/>
          </a:bodyPr>
          <a:lstStyle/>
          <a:p>
            <a:pPr algn="l">
              <a:lnSpc>
                <a:spcPts val="1250"/>
              </a:lnSpc>
            </a:pPr>
            <a:r>
              <a:rPr sz="950" b="1">
                <a:solidFill>
                  <a:srgbClr val="CC0000"/>
                </a:solidFill>
                <a:latin typeface="Kanit"/>
              </a:rPr>
              <a:t>This is a recovery-value question, not a market-share one</a:t>
            </a:r>
          </a:p>
        </p:txBody>
      </p:sp>
      <p:sp>
        <p:nvSpPr>
          <p:cNvPr id="33" name="TextBox 32"/>
          <p:cNvSpPr txBox="1"/>
          <p:nvPr/>
        </p:nvSpPr>
        <p:spPr>
          <a:xfrm>
            <a:off x="630936" y="5501360"/>
            <a:ext cx="11036808" cy="893445"/>
          </a:xfrm>
          <a:prstGeom prst="rect">
            <a:avLst/>
          </a:prstGeom>
          <a:noFill/>
        </p:spPr>
        <p:txBody>
          <a:bodyPr wrap="square" lIns="0" rIns="0" tIns="0" bIns="0" anchor="t">
            <a:noAutofit/>
          </a:bodyPr>
          <a:lstStyle/>
          <a:p>
            <a:pPr algn="l">
              <a:lnSpc>
                <a:spcPts val="1407"/>
              </a:lnSpc>
            </a:pPr>
            <a:r>
              <a:rPr sz="1050" b="0">
                <a:solidFill>
                  <a:srgbClr val="1E2F5C"/>
                </a:solidFill>
                <a:latin typeface="Kanit"/>
              </a:rPr>
              <a:t>Pickup is close to a two-NAMEPLATE market — Hilux Revo and D-Max, not “Toyota’s various pickups”. The resale value of most of our pickup book rides on two specific models’ residual histories.
The car side does the opposite. Toyota and Honda have given up 9.4 points of new-car share in a year to brands with little or no Thai residual record. Those vehicles age into the used pool we recover into, and we would be setting advance rates on them without the history we have on a Hilux.</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09D · WHAT WE HOLD</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The book to 100%: eight collateral types, ranked by baht.</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graphicFrame>
        <p:nvGraphicFramePr>
          <p:cNvPr id="9" name="Table 8"/>
          <p:cNvGraphicFramePr>
            <a:graphicFrameLocks noGrp="1"/>
          </p:cNvGraphicFramePr>
          <p:nvPr/>
        </p:nvGraphicFramePr>
        <p:xfrm>
          <a:off x="411480" y="1152144"/>
          <a:ext cx="11365992" cy="2362808"/>
        </p:xfrm>
        <a:graphic>
          <a:graphicData uri="http://schemas.openxmlformats.org/drawingml/2006/table">
            <a:tbl>
              <a:tblPr>
                <a:tableStyleId>{5C22544A-7EE6-4342-B048-85BDC9FD1C3A}</a:tableStyleId>
              </a:tblPr>
              <a:tblGrid>
                <a:gridCol w="2291531"/>
                <a:gridCol w="1374918"/>
                <a:gridCol w="1099935"/>
                <a:gridCol w="1008273"/>
                <a:gridCol w="1374918"/>
                <a:gridCol w="1283257"/>
                <a:gridCol w="1466580"/>
                <a:gridCol w="1466580"/>
              </a:tblGrid>
              <a:tr h="329184">
                <a:tc>
                  <a:txBody>
                    <a:bodyPr wrap="square"/>
                    <a:lstStyle/>
                    <a:p>
                      <a:pPr algn="l"/>
                      <a:r>
                        <a:rPr sz="1050" b="1">
                          <a:solidFill>
                            <a:srgbClr val="FFFFFF"/>
                          </a:solidFill>
                          <a:latin typeface="Kanit"/>
                        </a:rPr>
                        <a:t>Collateral type</a:t>
                      </a:r>
                    </a:p>
                  </a:txBody>
                  <a:tcPr marL="54864" marR="54864" marT="18288" marB="18288" anchor="ctr">
                    <a:solidFill>
                      <a:srgbClr val="1B2A6B"/>
                    </a:solidFill>
                  </a:tcPr>
                </a:tc>
                <a:tc>
                  <a:txBody>
                    <a:bodyPr wrap="square"/>
                    <a:lstStyle/>
                    <a:p>
                      <a:pPr algn="r"/>
                      <a:r>
                        <a:rPr sz="1050" b="1">
                          <a:solidFill>
                            <a:srgbClr val="FFFFFF"/>
                          </a:solidFill>
                          <a:latin typeface="Kanit"/>
                        </a:rPr>
                        <a:t>Accounts</a:t>
                      </a:r>
                    </a:p>
                  </a:txBody>
                  <a:tcPr marL="54864" marR="54864" marT="18288" marB="18288" anchor="ctr">
                    <a:solidFill>
                      <a:srgbClr val="1B2A6B"/>
                    </a:solidFill>
                  </a:tcPr>
                </a:tc>
                <a:tc>
                  <a:txBody>
                    <a:bodyPr wrap="square"/>
                    <a:lstStyle/>
                    <a:p>
                      <a:pPr algn="r"/>
                      <a:r>
                        <a:rPr sz="1050" b="1">
                          <a:solidFill>
                            <a:srgbClr val="FFFFFF"/>
                          </a:solidFill>
                          <a:latin typeface="Kanit"/>
                        </a:rPr>
                        <a:t>฿bn out</a:t>
                      </a:r>
                    </a:p>
                  </a:txBody>
                  <a:tcPr marL="54864" marR="54864" marT="18288" marB="18288" anchor="ctr">
                    <a:solidFill>
                      <a:srgbClr val="1B2A6B"/>
                    </a:solidFill>
                  </a:tcPr>
                </a:tc>
                <a:tc>
                  <a:txBody>
                    <a:bodyPr wrap="square"/>
                    <a:lstStyle/>
                    <a:p>
                      <a:pPr algn="r"/>
                      <a:r>
                        <a:rPr sz="1050" b="1">
                          <a:solidFill>
                            <a:srgbClr val="FFFFFF"/>
                          </a:solidFill>
                          <a:latin typeface="Kanit"/>
                        </a:rPr>
                        <a:t>Share</a:t>
                      </a:r>
                    </a:p>
                  </a:txBody>
                  <a:tcPr marL="54864" marR="54864" marT="18288" marB="18288" anchor="ctr">
                    <a:solidFill>
                      <a:srgbClr val="1B2A6B"/>
                    </a:solidFill>
                  </a:tcPr>
                </a:tc>
                <a:tc>
                  <a:txBody>
                    <a:bodyPr wrap="square"/>
                    <a:lstStyle/>
                    <a:p>
                      <a:pPr algn="r"/>
                      <a:r>
                        <a:rPr sz="1050" b="1">
                          <a:solidFill>
                            <a:srgbClr val="FFFFFF"/>
                          </a:solidFill>
                          <a:latin typeface="Kanit"/>
                        </a:rPr>
                        <a:t>Ticket ฿</a:t>
                      </a:r>
                    </a:p>
                  </a:txBody>
                  <a:tcPr marL="54864" marR="54864" marT="18288" marB="18288" anchor="ctr">
                    <a:solidFill>
                      <a:srgbClr val="1B2A6B"/>
                    </a:solidFill>
                  </a:tcPr>
                </a:tc>
                <a:tc>
                  <a:txBody>
                    <a:bodyPr wrap="square"/>
                    <a:lstStyle/>
                    <a:p>
                      <a:pPr algn="r"/>
                      <a:r>
                        <a:rPr sz="1050" b="1">
                          <a:solidFill>
                            <a:srgbClr val="FFFFFF"/>
                          </a:solidFill>
                          <a:latin typeface="Kanit"/>
                        </a:rPr>
                        <a:t>LTV proxy</a:t>
                      </a:r>
                    </a:p>
                  </a:txBody>
                  <a:tcPr marL="54864" marR="54864" marT="18288" marB="18288" anchor="ctr">
                    <a:solidFill>
                      <a:srgbClr val="1B2A6B"/>
                    </a:solidFill>
                  </a:tcPr>
                </a:tc>
                <a:tc>
                  <a:txBody>
                    <a:bodyPr wrap="square"/>
                    <a:lstStyle/>
                    <a:p>
                      <a:pPr algn="r"/>
                      <a:r>
                        <a:rPr sz="1050" b="1">
                          <a:solidFill>
                            <a:srgbClr val="FFFFFF"/>
                          </a:solidFill>
                          <a:latin typeface="Kanit"/>
                        </a:rPr>
                        <a:t>90+ arrears</a:t>
                      </a:r>
                    </a:p>
                  </a:txBody>
                  <a:tcPr marL="54864" marR="54864" marT="18288" marB="18288" anchor="ctr">
                    <a:solidFill>
                      <a:srgbClr val="1B2A6B"/>
                    </a:solidFill>
                  </a:tcPr>
                </a:tc>
                <a:tc>
                  <a:txBody>
                    <a:bodyPr wrap="square"/>
                    <a:lstStyle/>
                    <a:p>
                      <a:pPr algn="r"/>
                      <a:r>
                        <a:rPr sz="1050" b="1">
                          <a:solidFill>
                            <a:srgbClr val="FFFFFF"/>
                          </a:solidFill>
                          <a:latin typeface="Kanit"/>
                        </a:rPr>
                        <a:t>NPAT ฿/acct</a:t>
                      </a:r>
                    </a:p>
                  </a:txBody>
                  <a:tcPr marL="54864" marR="54864" marT="18288" marB="18288" anchor="ctr">
                    <a:solidFill>
                      <a:srgbClr val="1B2A6B"/>
                    </a:solidFill>
                  </a:tcPr>
                </a:tc>
              </a:tr>
              <a:tr h="254203">
                <a:tc>
                  <a:txBody>
                    <a:bodyPr wrap="square"/>
                    <a:lstStyle/>
                    <a:p>
                      <a:pPr algn="l"/>
                      <a:r>
                        <a:rPr sz="1000" b="1">
                          <a:solidFill>
                            <a:srgbClr val="1E2F5C"/>
                          </a:solidFill>
                          <a:latin typeface="Kanit"/>
                        </a:rPr>
                        <a:t>Pickup</a:t>
                      </a:r>
                    </a:p>
                  </a:txBody>
                  <a:tcPr marL="54864" marR="54864" marT="18288" marB="18288" anchor="ctr">
                    <a:solidFill>
                      <a:srgbClr val="FFFFFF"/>
                    </a:solidFill>
                  </a:tcPr>
                </a:tc>
                <a:tc>
                  <a:txBody>
                    <a:bodyPr wrap="square"/>
                    <a:lstStyle/>
                    <a:p>
                      <a:pPr algn="r"/>
                      <a:r>
                        <a:rPr sz="1000" b="0">
                          <a:solidFill>
                            <a:srgbClr val="1E2F5C"/>
                          </a:solidFill>
                          <a:latin typeface="Kanit"/>
                        </a:rPr>
                        <a:t>119,738</a:t>
                      </a:r>
                    </a:p>
                  </a:txBody>
                  <a:tcPr marL="54864" marR="54864" marT="18288" marB="18288" anchor="ctr">
                    <a:solidFill>
                      <a:srgbClr val="FFFFFF"/>
                    </a:solidFill>
                  </a:tcPr>
                </a:tc>
                <a:tc>
                  <a:txBody>
                    <a:bodyPr wrap="square"/>
                    <a:lstStyle/>
                    <a:p>
                      <a:pPr algn="r"/>
                      <a:r>
                        <a:rPr sz="1000" b="1">
                          <a:solidFill>
                            <a:srgbClr val="1E2F5C"/>
                          </a:solidFill>
                          <a:latin typeface="Kanit"/>
                        </a:rPr>
                        <a:t>17.82</a:t>
                      </a:r>
                    </a:p>
                  </a:txBody>
                  <a:tcPr marL="54864" marR="54864" marT="18288" marB="18288" anchor="ctr">
                    <a:solidFill>
                      <a:srgbClr val="FFFFFF"/>
                    </a:solidFill>
                  </a:tcPr>
                </a:tc>
                <a:tc>
                  <a:txBody>
                    <a:bodyPr wrap="square"/>
                    <a:lstStyle/>
                    <a:p>
                      <a:pPr algn="r"/>
                      <a:r>
                        <a:rPr sz="1000" b="0">
                          <a:solidFill>
                            <a:srgbClr val="1E2F5C"/>
                          </a:solidFill>
                          <a:latin typeface="Kanit"/>
                        </a:rPr>
                        <a:t>38.3%</a:t>
                      </a:r>
                    </a:p>
                  </a:txBody>
                  <a:tcPr marL="54864" marR="54864" marT="18288" marB="18288" anchor="ctr">
                    <a:solidFill>
                      <a:srgbClr val="FFFFFF"/>
                    </a:solidFill>
                  </a:tcPr>
                </a:tc>
                <a:tc>
                  <a:txBody>
                    <a:bodyPr wrap="square"/>
                    <a:lstStyle/>
                    <a:p>
                      <a:pPr algn="r"/>
                      <a:r>
                        <a:rPr sz="1000" b="0">
                          <a:solidFill>
                            <a:srgbClr val="1E2F5C"/>
                          </a:solidFill>
                          <a:latin typeface="Kanit"/>
                        </a:rPr>
                        <a:t>148,843</a:t>
                      </a:r>
                    </a:p>
                  </a:txBody>
                  <a:tcPr marL="54864" marR="54864" marT="18288" marB="18288" anchor="ctr">
                    <a:solidFill>
                      <a:srgbClr val="FFFFFF"/>
                    </a:solidFill>
                  </a:tcPr>
                </a:tc>
                <a:tc>
                  <a:txBody>
                    <a:bodyPr wrap="square"/>
                    <a:lstStyle/>
                    <a:p>
                      <a:pPr algn="r"/>
                      <a:r>
                        <a:rPr sz="1000" b="0">
                          <a:solidFill>
                            <a:srgbClr val="1E2F5C"/>
                          </a:solidFill>
                          <a:latin typeface="Kanit"/>
                        </a:rPr>
                        <a:t>53.3%</a:t>
                      </a:r>
                    </a:p>
                  </a:txBody>
                  <a:tcPr marL="54864" marR="54864" marT="18288" marB="18288" anchor="ctr">
                    <a:solidFill>
                      <a:srgbClr val="FFFFFF"/>
                    </a:solidFill>
                  </a:tcPr>
                </a:tc>
                <a:tc>
                  <a:txBody>
                    <a:bodyPr wrap="square"/>
                    <a:lstStyle/>
                    <a:p>
                      <a:pPr algn="r"/>
                      <a:r>
                        <a:rPr sz="1000" b="1">
                          <a:solidFill>
                            <a:srgbClr val="1E2F5C"/>
                          </a:solidFill>
                          <a:latin typeface="Kanit"/>
                        </a:rPr>
                        <a:t>13.30%</a:t>
                      </a:r>
                    </a:p>
                  </a:txBody>
                  <a:tcPr marL="54864" marR="54864" marT="18288" marB="18288" anchor="ctr">
                    <a:solidFill>
                      <a:srgbClr val="FFFFFF"/>
                    </a:solidFill>
                  </a:tcPr>
                </a:tc>
                <a:tc>
                  <a:txBody>
                    <a:bodyPr wrap="square"/>
                    <a:lstStyle/>
                    <a:p>
                      <a:pPr algn="r"/>
                      <a:r>
                        <a:rPr sz="1000" b="0">
                          <a:solidFill>
                            <a:srgbClr val="1E2F5C"/>
                          </a:solidFill>
                          <a:latin typeface="Kanit"/>
                        </a:rPr>
                        <a:t>13,021</a:t>
                      </a:r>
                    </a:p>
                  </a:txBody>
                  <a:tcPr marL="54864" marR="54864" marT="18288" marB="18288" anchor="ctr">
                    <a:solidFill>
                      <a:srgbClr val="FFFFFF"/>
                    </a:solidFill>
                  </a:tcPr>
                </a:tc>
              </a:tr>
              <a:tr h="254203">
                <a:tc>
                  <a:txBody>
                    <a:bodyPr wrap="square"/>
                    <a:lstStyle/>
                    <a:p>
                      <a:pPr algn="l"/>
                      <a:r>
                        <a:rPr sz="1000" b="1">
                          <a:solidFill>
                            <a:srgbClr val="1E2F5C"/>
                          </a:solidFill>
                          <a:latin typeface="Kanit"/>
                        </a:rPr>
                        <a:t>Property (mortgage)</a:t>
                      </a:r>
                    </a:p>
                  </a:txBody>
                  <a:tcPr marL="54864" marR="54864" marT="18288" marB="18288" anchor="ctr">
                    <a:solidFill>
                      <a:srgbClr val="F7F9FC"/>
                    </a:solidFill>
                  </a:tcPr>
                </a:tc>
                <a:tc>
                  <a:txBody>
                    <a:bodyPr wrap="square"/>
                    <a:lstStyle/>
                    <a:p>
                      <a:pPr algn="r"/>
                      <a:r>
                        <a:rPr sz="1000" b="0">
                          <a:solidFill>
                            <a:srgbClr val="1E2F5C"/>
                          </a:solidFill>
                          <a:latin typeface="Kanit"/>
                        </a:rPr>
                        <a:t>30,538</a:t>
                      </a:r>
                    </a:p>
                  </a:txBody>
                  <a:tcPr marL="54864" marR="54864" marT="18288" marB="18288" anchor="ctr">
                    <a:solidFill>
                      <a:srgbClr val="F7F9FC"/>
                    </a:solidFill>
                  </a:tcPr>
                </a:tc>
                <a:tc>
                  <a:txBody>
                    <a:bodyPr wrap="square"/>
                    <a:lstStyle/>
                    <a:p>
                      <a:pPr algn="r"/>
                      <a:r>
                        <a:rPr sz="1000" b="1">
                          <a:solidFill>
                            <a:srgbClr val="1E2F5C"/>
                          </a:solidFill>
                          <a:latin typeface="Kanit"/>
                        </a:rPr>
                        <a:t>11.78</a:t>
                      </a:r>
                    </a:p>
                  </a:txBody>
                  <a:tcPr marL="54864" marR="54864" marT="18288" marB="18288" anchor="ctr">
                    <a:solidFill>
                      <a:srgbClr val="F7F9FC"/>
                    </a:solidFill>
                  </a:tcPr>
                </a:tc>
                <a:tc>
                  <a:txBody>
                    <a:bodyPr wrap="square"/>
                    <a:lstStyle/>
                    <a:p>
                      <a:pPr algn="r"/>
                      <a:r>
                        <a:rPr sz="1000" b="0">
                          <a:solidFill>
                            <a:srgbClr val="1E2F5C"/>
                          </a:solidFill>
                          <a:latin typeface="Kanit"/>
                        </a:rPr>
                        <a:t>25.3%</a:t>
                      </a:r>
                    </a:p>
                  </a:txBody>
                  <a:tcPr marL="54864" marR="54864" marT="18288" marB="18288" anchor="ctr">
                    <a:solidFill>
                      <a:srgbClr val="F7F9FC"/>
                    </a:solidFill>
                  </a:tcPr>
                </a:tc>
                <a:tc>
                  <a:txBody>
                    <a:bodyPr wrap="square"/>
                    <a:lstStyle/>
                    <a:p>
                      <a:pPr algn="r"/>
                      <a:r>
                        <a:rPr sz="1000" b="0">
                          <a:solidFill>
                            <a:srgbClr val="1E2F5C"/>
                          </a:solidFill>
                          <a:latin typeface="Kanit"/>
                        </a:rPr>
                        <a:t>385,901</a:t>
                      </a:r>
                    </a:p>
                  </a:txBody>
                  <a:tcPr marL="54864" marR="54864" marT="18288" marB="18288" anchor="ctr">
                    <a:solidFill>
                      <a:srgbClr val="F7F9FC"/>
                    </a:solidFill>
                  </a:tcPr>
                </a:tc>
                <a:tc>
                  <a:txBody>
                    <a:bodyPr wrap="square"/>
                    <a:lstStyle/>
                    <a:p>
                      <a:pPr algn="r"/>
                      <a:r>
                        <a:rPr sz="1000" b="0">
                          <a:solidFill>
                            <a:srgbClr val="1E2F5C"/>
                          </a:solidFill>
                          <a:latin typeface="Kanit"/>
                        </a:rPr>
                        <a:t>52.4%</a:t>
                      </a:r>
                    </a:p>
                  </a:txBody>
                  <a:tcPr marL="54864" marR="54864" marT="18288" marB="18288" anchor="ctr">
                    <a:solidFill>
                      <a:srgbClr val="F7F9FC"/>
                    </a:solidFill>
                  </a:tcPr>
                </a:tc>
                <a:tc>
                  <a:txBody>
                    <a:bodyPr wrap="square"/>
                    <a:lstStyle/>
                    <a:p>
                      <a:pPr algn="r"/>
                      <a:r>
                        <a:rPr sz="1000" b="1">
                          <a:solidFill>
                            <a:srgbClr val="1E2F5C"/>
                          </a:solidFill>
                          <a:latin typeface="Kanit"/>
                        </a:rPr>
                        <a:t>12.62%</a:t>
                      </a:r>
                    </a:p>
                  </a:txBody>
                  <a:tcPr marL="54864" marR="54864" marT="18288" marB="18288" anchor="ctr">
                    <a:solidFill>
                      <a:srgbClr val="F7F9FC"/>
                    </a:solidFill>
                  </a:tcPr>
                </a:tc>
                <a:tc>
                  <a:txBody>
                    <a:bodyPr wrap="square"/>
                    <a:lstStyle/>
                    <a:p>
                      <a:pPr algn="r"/>
                      <a:r>
                        <a:rPr sz="1000" b="0">
                          <a:solidFill>
                            <a:srgbClr val="1E2F5C"/>
                          </a:solidFill>
                          <a:latin typeface="Kanit"/>
                        </a:rPr>
                        <a:t>15,405</a:t>
                      </a:r>
                    </a:p>
                  </a:txBody>
                  <a:tcPr marL="54864" marR="54864" marT="18288" marB="18288" anchor="ctr">
                    <a:solidFill>
                      <a:srgbClr val="F7F9FC"/>
                    </a:solidFill>
                  </a:tcPr>
                </a:tc>
              </a:tr>
              <a:tr h="254203">
                <a:tc>
                  <a:txBody>
                    <a:bodyPr wrap="square"/>
                    <a:lstStyle/>
                    <a:p>
                      <a:pPr algn="l"/>
                      <a:r>
                        <a:rPr sz="1000" b="1">
                          <a:solidFill>
                            <a:srgbClr val="1E2F5C"/>
                          </a:solidFill>
                          <a:latin typeface="Kanit"/>
                        </a:rPr>
                        <a:t>Passenger car</a:t>
                      </a:r>
                    </a:p>
                  </a:txBody>
                  <a:tcPr marL="54864" marR="54864" marT="18288" marB="18288" anchor="ctr">
                    <a:solidFill>
                      <a:srgbClr val="FFFFFF"/>
                    </a:solidFill>
                  </a:tcPr>
                </a:tc>
                <a:tc>
                  <a:txBody>
                    <a:bodyPr wrap="square"/>
                    <a:lstStyle/>
                    <a:p>
                      <a:pPr algn="r"/>
                      <a:r>
                        <a:rPr sz="1000" b="0">
                          <a:solidFill>
                            <a:srgbClr val="1E2F5C"/>
                          </a:solidFill>
                          <a:latin typeface="Kanit"/>
                        </a:rPr>
                        <a:t>86,867</a:t>
                      </a:r>
                    </a:p>
                  </a:txBody>
                  <a:tcPr marL="54864" marR="54864" marT="18288" marB="18288" anchor="ctr">
                    <a:solidFill>
                      <a:srgbClr val="FFFFFF"/>
                    </a:solidFill>
                  </a:tcPr>
                </a:tc>
                <a:tc>
                  <a:txBody>
                    <a:bodyPr wrap="square"/>
                    <a:lstStyle/>
                    <a:p>
                      <a:pPr algn="r"/>
                      <a:r>
                        <a:rPr sz="1000" b="1">
                          <a:solidFill>
                            <a:srgbClr val="1E2F5C"/>
                          </a:solidFill>
                          <a:latin typeface="Kanit"/>
                        </a:rPr>
                        <a:t>10.43</a:t>
                      </a:r>
                    </a:p>
                  </a:txBody>
                  <a:tcPr marL="54864" marR="54864" marT="18288" marB="18288" anchor="ctr">
                    <a:solidFill>
                      <a:srgbClr val="FFFFFF"/>
                    </a:solidFill>
                  </a:tcPr>
                </a:tc>
                <a:tc>
                  <a:txBody>
                    <a:bodyPr wrap="square"/>
                    <a:lstStyle/>
                    <a:p>
                      <a:pPr algn="r"/>
                      <a:r>
                        <a:rPr sz="1000" b="0">
                          <a:solidFill>
                            <a:srgbClr val="1E2F5C"/>
                          </a:solidFill>
                          <a:latin typeface="Kanit"/>
                        </a:rPr>
                        <a:t>22.4%</a:t>
                      </a:r>
                    </a:p>
                  </a:txBody>
                  <a:tcPr marL="54864" marR="54864" marT="18288" marB="18288" anchor="ctr">
                    <a:solidFill>
                      <a:srgbClr val="FFFFFF"/>
                    </a:solidFill>
                  </a:tcPr>
                </a:tc>
                <a:tc>
                  <a:txBody>
                    <a:bodyPr wrap="square"/>
                    <a:lstStyle/>
                    <a:p>
                      <a:pPr algn="r"/>
                      <a:r>
                        <a:rPr sz="1000" b="0">
                          <a:solidFill>
                            <a:srgbClr val="1E2F5C"/>
                          </a:solidFill>
                          <a:latin typeface="Kanit"/>
                        </a:rPr>
                        <a:t>120,052</a:t>
                      </a:r>
                    </a:p>
                  </a:txBody>
                  <a:tcPr marL="54864" marR="54864" marT="18288" marB="18288" anchor="ctr">
                    <a:solidFill>
                      <a:srgbClr val="FFFFFF"/>
                    </a:solidFill>
                  </a:tcPr>
                </a:tc>
                <a:tc>
                  <a:txBody>
                    <a:bodyPr wrap="square"/>
                    <a:lstStyle/>
                    <a:p>
                      <a:pPr algn="r"/>
                      <a:r>
                        <a:rPr sz="1000" b="0">
                          <a:solidFill>
                            <a:srgbClr val="1E2F5C"/>
                          </a:solidFill>
                          <a:latin typeface="Kanit"/>
                        </a:rPr>
                        <a:t>51.5%</a:t>
                      </a:r>
                    </a:p>
                  </a:txBody>
                  <a:tcPr marL="54864" marR="54864" marT="18288" marB="18288" anchor="ctr">
                    <a:solidFill>
                      <a:srgbClr val="FFFFFF"/>
                    </a:solidFill>
                  </a:tcPr>
                </a:tc>
                <a:tc>
                  <a:txBody>
                    <a:bodyPr wrap="square"/>
                    <a:lstStyle/>
                    <a:p>
                      <a:pPr algn="r"/>
                      <a:r>
                        <a:rPr sz="1000" b="1">
                          <a:solidFill>
                            <a:srgbClr val="1E2F5C"/>
                          </a:solidFill>
                          <a:latin typeface="Kanit"/>
                        </a:rPr>
                        <a:t>14.47%</a:t>
                      </a:r>
                    </a:p>
                  </a:txBody>
                  <a:tcPr marL="54864" marR="54864" marT="18288" marB="18288" anchor="ctr">
                    <a:solidFill>
                      <a:srgbClr val="FFFFFF"/>
                    </a:solidFill>
                  </a:tcPr>
                </a:tc>
                <a:tc>
                  <a:txBody>
                    <a:bodyPr wrap="square"/>
                    <a:lstStyle/>
                    <a:p>
                      <a:pPr algn="r"/>
                      <a:r>
                        <a:rPr sz="1000" b="0">
                          <a:solidFill>
                            <a:srgbClr val="1E2F5C"/>
                          </a:solidFill>
                          <a:latin typeface="Kanit"/>
                        </a:rPr>
                        <a:t>10,073</a:t>
                      </a:r>
                    </a:p>
                  </a:txBody>
                  <a:tcPr marL="54864" marR="54864" marT="18288" marB="18288" anchor="ctr">
                    <a:solidFill>
                      <a:srgbClr val="FFFFFF"/>
                    </a:solidFill>
                  </a:tcPr>
                </a:tc>
              </a:tr>
              <a:tr h="254203">
                <a:tc>
                  <a:txBody>
                    <a:bodyPr wrap="square"/>
                    <a:lstStyle/>
                    <a:p>
                      <a:pPr algn="l"/>
                      <a:r>
                        <a:rPr sz="1000" b="1">
                          <a:solidFill>
                            <a:srgbClr val="1E2F5C"/>
                          </a:solidFill>
                          <a:latin typeface="Kanit"/>
                        </a:rPr>
                        <a:t>Motorcycle</a:t>
                      </a:r>
                    </a:p>
                  </a:txBody>
                  <a:tcPr marL="54864" marR="54864" marT="18288" marB="18288" anchor="ctr">
                    <a:solidFill>
                      <a:srgbClr val="F7F9FC"/>
                    </a:solidFill>
                  </a:tcPr>
                </a:tc>
                <a:tc>
                  <a:txBody>
                    <a:bodyPr wrap="square"/>
                    <a:lstStyle/>
                    <a:p>
                      <a:pPr algn="r"/>
                      <a:r>
                        <a:rPr sz="1000" b="0">
                          <a:solidFill>
                            <a:srgbClr val="1E2F5C"/>
                          </a:solidFill>
                          <a:latin typeface="Kanit"/>
                        </a:rPr>
                        <a:t>127,628</a:t>
                      </a:r>
                    </a:p>
                  </a:txBody>
                  <a:tcPr marL="54864" marR="54864" marT="18288" marB="18288" anchor="ctr">
                    <a:solidFill>
                      <a:srgbClr val="F7F9FC"/>
                    </a:solidFill>
                  </a:tcPr>
                </a:tc>
                <a:tc>
                  <a:txBody>
                    <a:bodyPr wrap="square"/>
                    <a:lstStyle/>
                    <a:p>
                      <a:pPr algn="r"/>
                      <a:r>
                        <a:rPr sz="1000" b="1">
                          <a:solidFill>
                            <a:srgbClr val="1E2F5C"/>
                          </a:solidFill>
                          <a:latin typeface="Kanit"/>
                        </a:rPr>
                        <a:t>2.69</a:t>
                      </a:r>
                    </a:p>
                  </a:txBody>
                  <a:tcPr marL="54864" marR="54864" marT="18288" marB="18288" anchor="ctr">
                    <a:solidFill>
                      <a:srgbClr val="F7F9FC"/>
                    </a:solidFill>
                  </a:tcPr>
                </a:tc>
                <a:tc>
                  <a:txBody>
                    <a:bodyPr wrap="square"/>
                    <a:lstStyle/>
                    <a:p>
                      <a:pPr algn="r"/>
                      <a:r>
                        <a:rPr sz="1000" b="0">
                          <a:solidFill>
                            <a:srgbClr val="1E2F5C"/>
                          </a:solidFill>
                          <a:latin typeface="Kanit"/>
                        </a:rPr>
                        <a:t>5.8%</a:t>
                      </a:r>
                    </a:p>
                  </a:txBody>
                  <a:tcPr marL="54864" marR="54864" marT="18288" marB="18288" anchor="ctr">
                    <a:solidFill>
                      <a:srgbClr val="F7F9FC"/>
                    </a:solidFill>
                  </a:tcPr>
                </a:tc>
                <a:tc>
                  <a:txBody>
                    <a:bodyPr wrap="square"/>
                    <a:lstStyle/>
                    <a:p>
                      <a:pPr algn="r"/>
                      <a:r>
                        <a:rPr sz="1000" b="0">
                          <a:solidFill>
                            <a:srgbClr val="1E2F5C"/>
                          </a:solidFill>
                          <a:latin typeface="Kanit"/>
                        </a:rPr>
                        <a:t>21,098</a:t>
                      </a:r>
                    </a:p>
                  </a:txBody>
                  <a:tcPr marL="54864" marR="54864" marT="18288" marB="18288" anchor="ctr">
                    <a:solidFill>
                      <a:srgbClr val="F7F9FC"/>
                    </a:solidFill>
                  </a:tcPr>
                </a:tc>
                <a:tc>
                  <a:txBody>
                    <a:bodyPr wrap="square"/>
                    <a:lstStyle/>
                    <a:p>
                      <a:pPr algn="r"/>
                      <a:r>
                        <a:rPr sz="1000" b="0">
                          <a:solidFill>
                            <a:srgbClr val="1E2F5C"/>
                          </a:solidFill>
                          <a:latin typeface="Kanit"/>
                        </a:rPr>
                        <a:t>58.0%</a:t>
                      </a:r>
                    </a:p>
                  </a:txBody>
                  <a:tcPr marL="54864" marR="54864" marT="18288" marB="18288" anchor="ctr">
                    <a:solidFill>
                      <a:srgbClr val="F7F9FC"/>
                    </a:solidFill>
                  </a:tcPr>
                </a:tc>
                <a:tc>
                  <a:txBody>
                    <a:bodyPr wrap="square"/>
                    <a:lstStyle/>
                    <a:p>
                      <a:pPr algn="r"/>
                      <a:r>
                        <a:rPr sz="1000" b="1">
                          <a:solidFill>
                            <a:srgbClr val="CC0000"/>
                          </a:solidFill>
                          <a:latin typeface="Kanit"/>
                        </a:rPr>
                        <a:t>17.92%</a:t>
                      </a:r>
                    </a:p>
                  </a:txBody>
                  <a:tcPr marL="54864" marR="54864" marT="18288" marB="18288" anchor="ctr">
                    <a:solidFill>
                      <a:srgbClr val="F7F9FC"/>
                    </a:solidFill>
                  </a:tcPr>
                </a:tc>
                <a:tc>
                  <a:txBody>
                    <a:bodyPr wrap="square"/>
                    <a:lstStyle/>
                    <a:p>
                      <a:pPr algn="r"/>
                      <a:r>
                        <a:rPr sz="1000" b="0">
                          <a:solidFill>
                            <a:srgbClr val="1E2F5C"/>
                          </a:solidFill>
                          <a:latin typeface="Kanit"/>
                        </a:rPr>
                        <a:t>1,383</a:t>
                      </a:r>
                    </a:p>
                  </a:txBody>
                  <a:tcPr marL="54864" marR="54864" marT="18288" marB="18288" anchor="ctr">
                    <a:solidFill>
                      <a:srgbClr val="F7F9FC"/>
                    </a:solidFill>
                  </a:tcPr>
                </a:tc>
              </a:tr>
              <a:tr h="254203">
                <a:tc>
                  <a:txBody>
                    <a:bodyPr wrap="square"/>
                    <a:lstStyle/>
                    <a:p>
                      <a:pPr algn="l"/>
                      <a:r>
                        <a:rPr sz="1000" b="1">
                          <a:solidFill>
                            <a:srgbClr val="1E2F5C"/>
                          </a:solidFill>
                          <a:latin typeface="Kanit"/>
                        </a:rPr>
                        <a:t>Truck</a:t>
                      </a:r>
                    </a:p>
                  </a:txBody>
                  <a:tcPr marL="54864" marR="54864" marT="18288" marB="18288" anchor="ctr">
                    <a:solidFill>
                      <a:srgbClr val="FFFFFF"/>
                    </a:solidFill>
                  </a:tcPr>
                </a:tc>
                <a:tc>
                  <a:txBody>
                    <a:bodyPr wrap="square"/>
                    <a:lstStyle/>
                    <a:p>
                      <a:pPr algn="r"/>
                      <a:r>
                        <a:rPr sz="1000" b="0">
                          <a:solidFill>
                            <a:srgbClr val="1E2F5C"/>
                          </a:solidFill>
                          <a:latin typeface="Kanit"/>
                        </a:rPr>
                        <a:t>4,834</a:t>
                      </a:r>
                    </a:p>
                  </a:txBody>
                  <a:tcPr marL="54864" marR="54864" marT="18288" marB="18288" anchor="ctr">
                    <a:solidFill>
                      <a:srgbClr val="FFFFFF"/>
                    </a:solidFill>
                  </a:tcPr>
                </a:tc>
                <a:tc>
                  <a:txBody>
                    <a:bodyPr wrap="square"/>
                    <a:lstStyle/>
                    <a:p>
                      <a:pPr algn="r"/>
                      <a:r>
                        <a:rPr sz="1000" b="1">
                          <a:solidFill>
                            <a:srgbClr val="1E2F5C"/>
                          </a:solidFill>
                          <a:latin typeface="Kanit"/>
                        </a:rPr>
                        <a:t>1.84</a:t>
                      </a:r>
                    </a:p>
                  </a:txBody>
                  <a:tcPr marL="54864" marR="54864" marT="18288" marB="18288" anchor="ctr">
                    <a:solidFill>
                      <a:srgbClr val="FFFFFF"/>
                    </a:solidFill>
                  </a:tcPr>
                </a:tc>
                <a:tc>
                  <a:txBody>
                    <a:bodyPr wrap="square"/>
                    <a:lstStyle/>
                    <a:p>
                      <a:pPr algn="r"/>
                      <a:r>
                        <a:rPr sz="1000" b="0">
                          <a:solidFill>
                            <a:srgbClr val="1E2F5C"/>
                          </a:solidFill>
                          <a:latin typeface="Kanit"/>
                        </a:rPr>
                        <a:t>4.0%</a:t>
                      </a:r>
                    </a:p>
                  </a:txBody>
                  <a:tcPr marL="54864" marR="54864" marT="18288" marB="18288" anchor="ctr">
                    <a:solidFill>
                      <a:srgbClr val="FFFFFF"/>
                    </a:solidFill>
                  </a:tcPr>
                </a:tc>
                <a:tc>
                  <a:txBody>
                    <a:bodyPr wrap="square"/>
                    <a:lstStyle/>
                    <a:p>
                      <a:pPr algn="r"/>
                      <a:r>
                        <a:rPr sz="1000" b="0">
                          <a:solidFill>
                            <a:srgbClr val="1E2F5C"/>
                          </a:solidFill>
                          <a:latin typeface="Kanit"/>
                        </a:rPr>
                        <a:t>381,496</a:t>
                      </a:r>
                    </a:p>
                  </a:txBody>
                  <a:tcPr marL="54864" marR="54864" marT="18288" marB="18288" anchor="ctr">
                    <a:solidFill>
                      <a:srgbClr val="FFFFFF"/>
                    </a:solidFill>
                  </a:tcPr>
                </a:tc>
                <a:tc>
                  <a:txBody>
                    <a:bodyPr wrap="square"/>
                    <a:lstStyle/>
                    <a:p>
                      <a:pPr algn="r"/>
                      <a:r>
                        <a:rPr sz="1000" b="0">
                          <a:solidFill>
                            <a:srgbClr val="1E2F5C"/>
                          </a:solidFill>
                          <a:latin typeface="Kanit"/>
                        </a:rPr>
                        <a:t>49.6%</a:t>
                      </a:r>
                    </a:p>
                  </a:txBody>
                  <a:tcPr marL="54864" marR="54864" marT="18288" marB="18288" anchor="ctr">
                    <a:solidFill>
                      <a:srgbClr val="FFFFFF"/>
                    </a:solidFill>
                  </a:tcPr>
                </a:tc>
                <a:tc>
                  <a:txBody>
                    <a:bodyPr wrap="square"/>
                    <a:lstStyle/>
                    <a:p>
                      <a:pPr algn="r"/>
                      <a:r>
                        <a:rPr sz="1000" b="1">
                          <a:solidFill>
                            <a:srgbClr val="1E2F5C"/>
                          </a:solidFill>
                          <a:latin typeface="Kanit"/>
                        </a:rPr>
                        <a:t>10.82%</a:t>
                      </a:r>
                    </a:p>
                  </a:txBody>
                  <a:tcPr marL="54864" marR="54864" marT="18288" marB="18288" anchor="ctr">
                    <a:solidFill>
                      <a:srgbClr val="FFFFFF"/>
                    </a:solidFill>
                  </a:tcPr>
                </a:tc>
                <a:tc>
                  <a:txBody>
                    <a:bodyPr wrap="square"/>
                    <a:lstStyle/>
                    <a:p>
                      <a:pPr algn="r"/>
                      <a:r>
                        <a:rPr sz="1000" b="0">
                          <a:solidFill>
                            <a:srgbClr val="1E2F5C"/>
                          </a:solidFill>
                          <a:latin typeface="Kanit"/>
                        </a:rPr>
                        <a:t>17,835</a:t>
                      </a:r>
                    </a:p>
                  </a:txBody>
                  <a:tcPr marL="54864" marR="54864" marT="18288" marB="18288" anchor="ctr">
                    <a:solidFill>
                      <a:srgbClr val="FFFFFF"/>
                    </a:solidFill>
                  </a:tcPr>
                </a:tc>
              </a:tr>
              <a:tr h="254203">
                <a:tc>
                  <a:txBody>
                    <a:bodyPr wrap="square"/>
                    <a:lstStyle/>
                    <a:p>
                      <a:pPr algn="l"/>
                      <a:r>
                        <a:rPr sz="1000" b="1">
                          <a:solidFill>
                            <a:srgbClr val="1E2F5C"/>
                          </a:solidFill>
                          <a:latin typeface="Kanit"/>
                        </a:rPr>
                        <a:t>Tractor</a:t>
                      </a:r>
                    </a:p>
                  </a:txBody>
                  <a:tcPr marL="54864" marR="54864" marT="18288" marB="18288" anchor="ctr">
                    <a:solidFill>
                      <a:srgbClr val="F7F9FC"/>
                    </a:solidFill>
                  </a:tcPr>
                </a:tc>
                <a:tc>
                  <a:txBody>
                    <a:bodyPr wrap="square"/>
                    <a:lstStyle/>
                    <a:p>
                      <a:pPr algn="r"/>
                      <a:r>
                        <a:rPr sz="1000" b="0">
                          <a:solidFill>
                            <a:srgbClr val="1E2F5C"/>
                          </a:solidFill>
                          <a:latin typeface="Kanit"/>
                        </a:rPr>
                        <a:t>4,600</a:t>
                      </a:r>
                    </a:p>
                  </a:txBody>
                  <a:tcPr marL="54864" marR="54864" marT="18288" marB="18288" anchor="ctr">
                    <a:solidFill>
                      <a:srgbClr val="F7F9FC"/>
                    </a:solidFill>
                  </a:tcPr>
                </a:tc>
                <a:tc>
                  <a:txBody>
                    <a:bodyPr wrap="square"/>
                    <a:lstStyle/>
                    <a:p>
                      <a:pPr algn="r"/>
                      <a:r>
                        <a:rPr sz="1000" b="1">
                          <a:solidFill>
                            <a:srgbClr val="1E2F5C"/>
                          </a:solidFill>
                          <a:latin typeface="Kanit"/>
                        </a:rPr>
                        <a:t>0.98</a:t>
                      </a:r>
                    </a:p>
                  </a:txBody>
                  <a:tcPr marL="54864" marR="54864" marT="18288" marB="18288" anchor="ctr">
                    <a:solidFill>
                      <a:srgbClr val="F7F9FC"/>
                    </a:solidFill>
                  </a:tcPr>
                </a:tc>
                <a:tc>
                  <a:txBody>
                    <a:bodyPr wrap="square"/>
                    <a:lstStyle/>
                    <a:p>
                      <a:pPr algn="r"/>
                      <a:r>
                        <a:rPr sz="1000" b="0">
                          <a:solidFill>
                            <a:srgbClr val="1E2F5C"/>
                          </a:solidFill>
                          <a:latin typeface="Kanit"/>
                        </a:rPr>
                        <a:t>2.1%</a:t>
                      </a:r>
                    </a:p>
                  </a:txBody>
                  <a:tcPr marL="54864" marR="54864" marT="18288" marB="18288" anchor="ctr">
                    <a:solidFill>
                      <a:srgbClr val="F7F9FC"/>
                    </a:solidFill>
                  </a:tcPr>
                </a:tc>
                <a:tc>
                  <a:txBody>
                    <a:bodyPr wrap="square"/>
                    <a:lstStyle/>
                    <a:p>
                      <a:pPr algn="r"/>
                      <a:r>
                        <a:rPr sz="1000" b="0">
                          <a:solidFill>
                            <a:srgbClr val="1E2F5C"/>
                          </a:solidFill>
                          <a:latin typeface="Kanit"/>
                        </a:rPr>
                        <a:t>212,904</a:t>
                      </a:r>
                    </a:p>
                  </a:txBody>
                  <a:tcPr marL="54864" marR="54864" marT="18288" marB="18288" anchor="ctr">
                    <a:solidFill>
                      <a:srgbClr val="F7F9FC"/>
                    </a:solidFill>
                  </a:tcPr>
                </a:tc>
                <a:tc>
                  <a:txBody>
                    <a:bodyPr wrap="square"/>
                    <a:lstStyle/>
                    <a:p>
                      <a:pPr algn="r"/>
                      <a:r>
                        <a:rPr sz="1000" b="0">
                          <a:solidFill>
                            <a:srgbClr val="1E2F5C"/>
                          </a:solidFill>
                          <a:latin typeface="Kanit"/>
                        </a:rPr>
                        <a:t>43.5%</a:t>
                      </a:r>
                    </a:p>
                  </a:txBody>
                  <a:tcPr marL="54864" marR="54864" marT="18288" marB="18288" anchor="ctr">
                    <a:solidFill>
                      <a:srgbClr val="F7F9FC"/>
                    </a:solidFill>
                  </a:tcPr>
                </a:tc>
                <a:tc>
                  <a:txBody>
                    <a:bodyPr wrap="square"/>
                    <a:lstStyle/>
                    <a:p>
                      <a:pPr algn="r"/>
                      <a:r>
                        <a:rPr sz="1000" b="1">
                          <a:solidFill>
                            <a:srgbClr val="1E2F5C"/>
                          </a:solidFill>
                          <a:latin typeface="Kanit"/>
                        </a:rPr>
                        <a:t>12.85%</a:t>
                      </a:r>
                    </a:p>
                  </a:txBody>
                  <a:tcPr marL="54864" marR="54864" marT="18288" marB="18288" anchor="ctr">
                    <a:solidFill>
                      <a:srgbClr val="F7F9FC"/>
                    </a:solidFill>
                  </a:tcPr>
                </a:tc>
                <a:tc>
                  <a:txBody>
                    <a:bodyPr wrap="square"/>
                    <a:lstStyle/>
                    <a:p>
                      <a:pPr algn="r"/>
                      <a:r>
                        <a:rPr sz="1000" b="0">
                          <a:solidFill>
                            <a:srgbClr val="1E2F5C"/>
                          </a:solidFill>
                          <a:latin typeface="Kanit"/>
                        </a:rPr>
                        <a:t>14,447</a:t>
                      </a:r>
                    </a:p>
                  </a:txBody>
                  <a:tcPr marL="54864" marR="54864" marT="18288" marB="18288" anchor="ctr">
                    <a:solidFill>
                      <a:srgbClr val="F7F9FC"/>
                    </a:solidFill>
                  </a:tcPr>
                </a:tc>
              </a:tr>
              <a:tr h="254203">
                <a:tc>
                  <a:txBody>
                    <a:bodyPr wrap="square"/>
                    <a:lstStyle/>
                    <a:p>
                      <a:pPr algn="l"/>
                      <a:r>
                        <a:rPr sz="1000" b="1">
                          <a:solidFill>
                            <a:srgbClr val="1E2F5C"/>
                          </a:solidFill>
                          <a:latin typeface="Kanit"/>
                        </a:rPr>
                        <a:t>Van</a:t>
                      </a:r>
                    </a:p>
                  </a:txBody>
                  <a:tcPr marL="54864" marR="54864" marT="18288" marB="18288" anchor="ctr">
                    <a:solidFill>
                      <a:srgbClr val="FFFFFF"/>
                    </a:solidFill>
                  </a:tcPr>
                </a:tc>
                <a:tc>
                  <a:txBody>
                    <a:bodyPr wrap="square"/>
                    <a:lstStyle/>
                    <a:p>
                      <a:pPr algn="r"/>
                      <a:r>
                        <a:rPr sz="1000" b="0">
                          <a:solidFill>
                            <a:srgbClr val="1E2F5C"/>
                          </a:solidFill>
                          <a:latin typeface="Kanit"/>
                        </a:rPr>
                        <a:t>3,673</a:t>
                      </a:r>
                    </a:p>
                  </a:txBody>
                  <a:tcPr marL="54864" marR="54864" marT="18288" marB="18288" anchor="ctr">
                    <a:solidFill>
                      <a:srgbClr val="FFFFFF"/>
                    </a:solidFill>
                  </a:tcPr>
                </a:tc>
                <a:tc>
                  <a:txBody>
                    <a:bodyPr wrap="square"/>
                    <a:lstStyle/>
                    <a:p>
                      <a:pPr algn="r"/>
                      <a:r>
                        <a:rPr sz="1000" b="1">
                          <a:solidFill>
                            <a:srgbClr val="1E2F5C"/>
                          </a:solidFill>
                          <a:latin typeface="Kanit"/>
                        </a:rPr>
                        <a:t>0.67</a:t>
                      </a:r>
                    </a:p>
                  </a:txBody>
                  <a:tcPr marL="54864" marR="54864" marT="18288" marB="18288" anchor="ctr">
                    <a:solidFill>
                      <a:srgbClr val="FFFFFF"/>
                    </a:solidFill>
                  </a:tcPr>
                </a:tc>
                <a:tc>
                  <a:txBody>
                    <a:bodyPr wrap="square"/>
                    <a:lstStyle/>
                    <a:p>
                      <a:pPr algn="r"/>
                      <a:r>
                        <a:rPr sz="1000" b="0">
                          <a:solidFill>
                            <a:srgbClr val="1E2F5C"/>
                          </a:solidFill>
                          <a:latin typeface="Kanit"/>
                        </a:rPr>
                        <a:t>1.4%</a:t>
                      </a:r>
                    </a:p>
                  </a:txBody>
                  <a:tcPr marL="54864" marR="54864" marT="18288" marB="18288" anchor="ctr">
                    <a:solidFill>
                      <a:srgbClr val="FFFFFF"/>
                    </a:solidFill>
                  </a:tcPr>
                </a:tc>
                <a:tc>
                  <a:txBody>
                    <a:bodyPr wrap="square"/>
                    <a:lstStyle/>
                    <a:p>
                      <a:pPr algn="r"/>
                      <a:r>
                        <a:rPr sz="1000" b="0">
                          <a:solidFill>
                            <a:srgbClr val="1E2F5C"/>
                          </a:solidFill>
                          <a:latin typeface="Kanit"/>
                        </a:rPr>
                        <a:t>183,368</a:t>
                      </a:r>
                    </a:p>
                  </a:txBody>
                  <a:tcPr marL="54864" marR="54864" marT="18288" marB="18288" anchor="ctr">
                    <a:solidFill>
                      <a:srgbClr val="FFFFFF"/>
                    </a:solidFill>
                  </a:tcPr>
                </a:tc>
                <a:tc>
                  <a:txBody>
                    <a:bodyPr wrap="square"/>
                    <a:lstStyle/>
                    <a:p>
                      <a:pPr algn="r"/>
                      <a:r>
                        <a:rPr sz="1000" b="0">
                          <a:solidFill>
                            <a:srgbClr val="1E2F5C"/>
                          </a:solidFill>
                          <a:latin typeface="Kanit"/>
                        </a:rPr>
                        <a:t>45.2%</a:t>
                      </a:r>
                    </a:p>
                  </a:txBody>
                  <a:tcPr marL="54864" marR="54864" marT="18288" marB="18288" anchor="ctr">
                    <a:solidFill>
                      <a:srgbClr val="FFFFFF"/>
                    </a:solidFill>
                  </a:tcPr>
                </a:tc>
                <a:tc>
                  <a:txBody>
                    <a:bodyPr wrap="square"/>
                    <a:lstStyle/>
                    <a:p>
                      <a:pPr algn="r"/>
                      <a:r>
                        <a:rPr sz="1000" b="1">
                          <a:solidFill>
                            <a:srgbClr val="1E2F5C"/>
                          </a:solidFill>
                          <a:latin typeface="Kanit"/>
                        </a:rPr>
                        <a:t>8.25%</a:t>
                      </a:r>
                    </a:p>
                  </a:txBody>
                  <a:tcPr marL="54864" marR="54864" marT="18288" marB="18288" anchor="ctr">
                    <a:solidFill>
                      <a:srgbClr val="FFFFFF"/>
                    </a:solidFill>
                  </a:tcPr>
                </a:tc>
                <a:tc>
                  <a:txBody>
                    <a:bodyPr wrap="square"/>
                    <a:lstStyle/>
                    <a:p>
                      <a:pPr algn="r"/>
                      <a:r>
                        <a:rPr sz="1000" b="0">
                          <a:solidFill>
                            <a:srgbClr val="1E2F5C"/>
                          </a:solidFill>
                          <a:latin typeface="Kanit"/>
                        </a:rPr>
                        <a:t>21,089</a:t>
                      </a:r>
                    </a:p>
                  </a:txBody>
                  <a:tcPr marL="54864" marR="54864" marT="18288" marB="18288" anchor="ctr">
                    <a:solidFill>
                      <a:srgbClr val="FFFFFF"/>
                    </a:solidFill>
                  </a:tcPr>
                </a:tc>
              </a:tr>
              <a:tr h="254203">
                <a:tc>
                  <a:txBody>
                    <a:bodyPr wrap="square"/>
                    <a:lstStyle/>
                    <a:p>
                      <a:pPr algn="l"/>
                      <a:r>
                        <a:rPr sz="1000" b="1">
                          <a:solidFill>
                            <a:srgbClr val="1E2F5C"/>
                          </a:solidFill>
                          <a:latin typeface="Kanit"/>
                        </a:rPr>
                        <a:t>Land title</a:t>
                      </a:r>
                    </a:p>
                  </a:txBody>
                  <a:tcPr marL="54864" marR="54864" marT="18288" marB="18288" anchor="ctr">
                    <a:solidFill>
                      <a:srgbClr val="F7F9FC"/>
                    </a:solidFill>
                  </a:tcPr>
                </a:tc>
                <a:tc>
                  <a:txBody>
                    <a:bodyPr wrap="square"/>
                    <a:lstStyle/>
                    <a:p>
                      <a:pPr algn="r"/>
                      <a:r>
                        <a:rPr sz="1000" b="0">
                          <a:solidFill>
                            <a:srgbClr val="1E2F5C"/>
                          </a:solidFill>
                          <a:latin typeface="Kanit"/>
                        </a:rPr>
                        <a:t>4,857</a:t>
                      </a:r>
                    </a:p>
                  </a:txBody>
                  <a:tcPr marL="54864" marR="54864" marT="18288" marB="18288" anchor="ctr">
                    <a:solidFill>
                      <a:srgbClr val="F7F9FC"/>
                    </a:solidFill>
                  </a:tcPr>
                </a:tc>
                <a:tc>
                  <a:txBody>
                    <a:bodyPr wrap="square"/>
                    <a:lstStyle/>
                    <a:p>
                      <a:pPr algn="r"/>
                      <a:r>
                        <a:rPr sz="1000" b="1">
                          <a:solidFill>
                            <a:srgbClr val="1E2F5C"/>
                          </a:solidFill>
                          <a:latin typeface="Kanit"/>
                        </a:rPr>
                        <a:t>0.35</a:t>
                      </a:r>
                    </a:p>
                  </a:txBody>
                  <a:tcPr marL="54864" marR="54864" marT="18288" marB="18288" anchor="ctr">
                    <a:solidFill>
                      <a:srgbClr val="F7F9FC"/>
                    </a:solidFill>
                  </a:tcPr>
                </a:tc>
                <a:tc>
                  <a:txBody>
                    <a:bodyPr wrap="square"/>
                    <a:lstStyle/>
                    <a:p>
                      <a:pPr algn="r"/>
                      <a:r>
                        <a:rPr sz="1000" b="0">
                          <a:solidFill>
                            <a:srgbClr val="1E2F5C"/>
                          </a:solidFill>
                          <a:latin typeface="Kanit"/>
                        </a:rPr>
                        <a:t>0.7%</a:t>
                      </a:r>
                    </a:p>
                  </a:txBody>
                  <a:tcPr marL="54864" marR="54864" marT="18288" marB="18288" anchor="ctr">
                    <a:solidFill>
                      <a:srgbClr val="F7F9FC"/>
                    </a:solidFill>
                  </a:tcPr>
                </a:tc>
                <a:tc>
                  <a:txBody>
                    <a:bodyPr wrap="square"/>
                    <a:lstStyle/>
                    <a:p>
                      <a:pPr algn="r"/>
                      <a:r>
                        <a:rPr sz="1000" b="0">
                          <a:solidFill>
                            <a:srgbClr val="1E2F5C"/>
                          </a:solidFill>
                          <a:latin typeface="Kanit"/>
                        </a:rPr>
                        <a:t>71,437</a:t>
                      </a:r>
                    </a:p>
                  </a:txBody>
                  <a:tcPr marL="54864" marR="54864" marT="18288" marB="18288" anchor="ctr">
                    <a:solidFill>
                      <a:srgbClr val="F7F9FC"/>
                    </a:solidFill>
                  </a:tcPr>
                </a:tc>
                <a:tc>
                  <a:txBody>
                    <a:bodyPr wrap="square"/>
                    <a:lstStyle/>
                    <a:p>
                      <a:pPr algn="r"/>
                      <a:r>
                        <a:rPr sz="1000" b="0">
                          <a:solidFill>
                            <a:srgbClr val="1E2F5C"/>
                          </a:solidFill>
                          <a:latin typeface="Kanit"/>
                        </a:rPr>
                        <a:t>34.8%</a:t>
                      </a:r>
                    </a:p>
                  </a:txBody>
                  <a:tcPr marL="54864" marR="54864" marT="18288" marB="18288" anchor="ctr">
                    <a:solidFill>
                      <a:srgbClr val="F7F9FC"/>
                    </a:solidFill>
                  </a:tcPr>
                </a:tc>
                <a:tc>
                  <a:txBody>
                    <a:bodyPr wrap="square"/>
                    <a:lstStyle/>
                    <a:p>
                      <a:pPr algn="r"/>
                      <a:r>
                        <a:rPr sz="1000" b="1">
                          <a:solidFill>
                            <a:srgbClr val="1E2F5C"/>
                          </a:solidFill>
                          <a:latin typeface="Kanit"/>
                        </a:rPr>
                        <a:t>5.87%</a:t>
                      </a:r>
                    </a:p>
                  </a:txBody>
                  <a:tcPr marL="54864" marR="54864" marT="18288" marB="18288" anchor="ctr">
                    <a:solidFill>
                      <a:srgbClr val="F7F9FC"/>
                    </a:solidFill>
                  </a:tcPr>
                </a:tc>
                <a:tc>
                  <a:txBody>
                    <a:bodyPr wrap="square"/>
                    <a:lstStyle/>
                    <a:p>
                      <a:pPr algn="r"/>
                      <a:r>
                        <a:rPr sz="1000" b="0">
                          <a:solidFill>
                            <a:srgbClr val="1E2F5C"/>
                          </a:solidFill>
                          <a:latin typeface="Kanit"/>
                        </a:rPr>
                        <a:t>4,985</a:t>
                      </a:r>
                    </a:p>
                  </a:txBody>
                  <a:tcPr marL="54864" marR="54864" marT="18288" marB="18288" anchor="ctr">
                    <a:solidFill>
                      <a:srgbClr val="F7F9FC"/>
                    </a:solidFill>
                  </a:tcPr>
                </a:tc>
              </a:tr>
            </a:tbl>
          </a:graphicData>
        </a:graphic>
      </p:graphicFrame>
      <p:sp>
        <p:nvSpPr>
          <p:cNvPr id="10" name="Rounded Rectangle 9"/>
          <p:cNvSpPr/>
          <p:nvPr/>
        </p:nvSpPr>
        <p:spPr>
          <a:xfrm>
            <a:off x="411480" y="3661257"/>
            <a:ext cx="754177" cy="192024"/>
          </a:xfrm>
          <a:prstGeom prst="roundRect">
            <a:avLst>
              <a:gd name="adj" fmla="val 50000"/>
            </a:avLst>
          </a:prstGeom>
          <a:noFill/>
          <a:ln w="9525">
            <a:solidFill>
              <a:srgbClr val="15795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411480" y="3690518"/>
            <a:ext cx="754177" cy="134112"/>
          </a:xfrm>
          <a:prstGeom prst="rect">
            <a:avLst/>
          </a:prstGeom>
          <a:noFill/>
        </p:spPr>
        <p:txBody>
          <a:bodyPr wrap="square" lIns="0" rIns="0" tIns="0" bIns="0" anchor="t">
            <a:noAutofit/>
          </a:bodyPr>
          <a:lstStyle/>
          <a:p>
            <a:pPr algn="ctr">
              <a:lnSpc>
                <a:spcPts val="1056"/>
              </a:lnSpc>
            </a:pPr>
            <a:r>
              <a:rPr sz="800" b="1">
                <a:solidFill>
                  <a:srgbClr val="15795F"/>
                </a:solidFill>
                <a:latin typeface="Kanit"/>
              </a:rPr>
              <a:t>MEASURED</a:t>
            </a:r>
          </a:p>
        </p:txBody>
      </p:sp>
      <p:sp>
        <p:nvSpPr>
          <p:cNvPr id="12" name="TextBox 11"/>
          <p:cNvSpPr txBox="1"/>
          <p:nvPr/>
        </p:nvSpPr>
        <p:spPr>
          <a:xfrm>
            <a:off x="1275385" y="3674973"/>
            <a:ext cx="10502086" cy="154305"/>
          </a:xfrm>
          <a:prstGeom prst="rect">
            <a:avLst/>
          </a:prstGeom>
          <a:noFill/>
        </p:spPr>
        <p:txBody>
          <a:bodyPr wrap="square" lIns="0" rIns="0" tIns="0" bIns="0" anchor="t">
            <a:noAutofit/>
          </a:bodyPr>
          <a:lstStyle/>
          <a:p>
            <a:pPr algn="l">
              <a:lnSpc>
                <a:spcPts val="1215"/>
              </a:lnSpc>
            </a:pPr>
            <a:r>
              <a:rPr sz="900" b="0">
                <a:solidFill>
                  <a:srgbClr val="606060"/>
                </a:solidFill>
                <a:latin typeface="Kanit"/>
              </a:rPr>
              <a:t>Real loan tape — 382,735 accounts, ฿46.57bn outstanding, 14.87% at 90+ book-wide, LTV proxy 52.2%. No-PII aggregates; nothing below the 30-account cell floor is published.</a:t>
            </a:r>
          </a:p>
        </p:txBody>
      </p:sp>
      <p:sp>
        <p:nvSpPr>
          <p:cNvPr id="13" name="Rectangle 12"/>
          <p:cNvSpPr/>
          <p:nvPr/>
        </p:nvSpPr>
        <p:spPr>
          <a:xfrm>
            <a:off x="411480" y="3961866"/>
            <a:ext cx="11365992" cy="837438"/>
          </a:xfrm>
          <a:prstGeom prst="rect">
            <a:avLst/>
          </a:prstGeom>
          <a:solidFill>
            <a:srgbClr val="EE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411480" y="3961866"/>
            <a:ext cx="50292" cy="837438"/>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630936" y="4108170"/>
            <a:ext cx="11036808" cy="158750"/>
          </a:xfrm>
          <a:prstGeom prst="rect">
            <a:avLst/>
          </a:prstGeom>
          <a:noFill/>
        </p:spPr>
        <p:txBody>
          <a:bodyPr wrap="square" lIns="0" rIns="0" tIns="0" bIns="0" anchor="t">
            <a:noAutofit/>
          </a:bodyPr>
          <a:lstStyle/>
          <a:p>
            <a:pPr algn="l">
              <a:lnSpc>
                <a:spcPts val="1250"/>
              </a:lnSpc>
            </a:pPr>
            <a:r>
              <a:rPr sz="950" b="1">
                <a:solidFill>
                  <a:srgbClr val="1E2F5C"/>
                </a:solidFill>
                <a:latin typeface="Kanit"/>
              </a:rPr>
              <a:t>Two readings a baht ranking gives you that an account ranking does not</a:t>
            </a:r>
          </a:p>
        </p:txBody>
      </p:sp>
      <p:sp>
        <p:nvSpPr>
          <p:cNvPr id="16" name="TextBox 15"/>
          <p:cNvSpPr txBox="1"/>
          <p:nvPr/>
        </p:nvSpPr>
        <p:spPr>
          <a:xfrm>
            <a:off x="630936" y="4312640"/>
            <a:ext cx="11036808" cy="34036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Motorcycles are 33.3% of accounts and 5.8% of the money — the worst arrears on the book at 17.92%, on ฿1,383 of profit per account. Property is the second-largest class at ฿11.78bn and is not a vehicle at all: nothing on the resale slides moves it.</a:t>
            </a:r>
          </a:p>
        </p:txBody>
      </p:sp>
      <p:sp>
        <p:nvSpPr>
          <p:cNvPr id="17" name="Rectangle 16"/>
          <p:cNvSpPr/>
          <p:nvPr/>
        </p:nvSpPr>
        <p:spPr>
          <a:xfrm>
            <a:off x="411480" y="4909032"/>
            <a:ext cx="11365992" cy="837438"/>
          </a:xfrm>
          <a:prstGeom prst="rect">
            <a:avLst/>
          </a:prstGeom>
          <a:solidFill>
            <a:srgbClr val="FCEFE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Rectangle 17"/>
          <p:cNvSpPr/>
          <p:nvPr/>
        </p:nvSpPr>
        <p:spPr>
          <a:xfrm>
            <a:off x="411480" y="4909032"/>
            <a:ext cx="50292" cy="83743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630936" y="5055336"/>
            <a:ext cx="11036808" cy="158750"/>
          </a:xfrm>
          <a:prstGeom prst="rect">
            <a:avLst/>
          </a:prstGeom>
          <a:noFill/>
        </p:spPr>
        <p:txBody>
          <a:bodyPr wrap="square" lIns="0" rIns="0" tIns="0" bIns="0" anchor="t">
            <a:noAutofit/>
          </a:bodyPr>
          <a:lstStyle/>
          <a:p>
            <a:pPr algn="l">
              <a:lnSpc>
                <a:spcPts val="1250"/>
              </a:lnSpc>
            </a:pPr>
            <a:r>
              <a:rPr sz="950" b="1">
                <a:solidFill>
                  <a:srgbClr val="CC0000"/>
                </a:solidFill>
                <a:latin typeface="Kanit"/>
              </a:rPr>
              <a:t>Pickup and car together are 60.7% of outstanding on 54.0% of accounts</a:t>
            </a:r>
          </a:p>
        </p:txBody>
      </p:sp>
      <p:sp>
        <p:nvSpPr>
          <p:cNvPr id="20" name="TextBox 19"/>
          <p:cNvSpPr txBox="1"/>
          <p:nvPr/>
        </p:nvSpPr>
        <p:spPr>
          <a:xfrm>
            <a:off x="630936" y="5259806"/>
            <a:ext cx="11036808" cy="34036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That is the exposure the used-vehicle index on the previous slides actually prices, and the concentration that makes the 2022 pickup break an underwriting question rather than a market observation.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09E · WHICH BRANDS WE HOLD</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The titles in the drawer, and how each performs.</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graphicFrame>
        <p:nvGraphicFramePr>
          <p:cNvPr id="9" name="Table 8"/>
          <p:cNvGraphicFramePr>
            <a:graphicFrameLocks noGrp="1"/>
          </p:cNvGraphicFramePr>
          <p:nvPr/>
        </p:nvGraphicFramePr>
        <p:xfrm>
          <a:off x="411480" y="1152144"/>
          <a:ext cx="11365991" cy="2617011"/>
        </p:xfrm>
        <a:graphic>
          <a:graphicData uri="http://schemas.openxmlformats.org/drawingml/2006/table">
            <a:tbl>
              <a:tblPr>
                <a:tableStyleId>{5C22544A-7EE6-4342-B048-85BDC9FD1C3A}</a:tableStyleId>
              </a:tblPr>
              <a:tblGrid>
                <a:gridCol w="2273198"/>
                <a:gridCol w="1363919"/>
                <a:gridCol w="1091135"/>
                <a:gridCol w="1363919"/>
                <a:gridCol w="1272991"/>
                <a:gridCol w="1272991"/>
                <a:gridCol w="1363919"/>
                <a:gridCol w="1363919"/>
              </a:tblGrid>
              <a:tr h="329184">
                <a:tc>
                  <a:txBody>
                    <a:bodyPr wrap="square"/>
                    <a:lstStyle/>
                    <a:p>
                      <a:pPr algn="l"/>
                      <a:r>
                        <a:rPr sz="1050" b="1">
                          <a:solidFill>
                            <a:srgbClr val="FFFFFF"/>
                          </a:solidFill>
                          <a:latin typeface="Kanit"/>
                        </a:rPr>
                        <a:t>Brand on the title</a:t>
                      </a:r>
                    </a:p>
                  </a:txBody>
                  <a:tcPr marL="54864" marR="54864" marT="18288" marB="18288" anchor="ctr">
                    <a:solidFill>
                      <a:srgbClr val="1B2A6B"/>
                    </a:solidFill>
                  </a:tcPr>
                </a:tc>
                <a:tc>
                  <a:txBody>
                    <a:bodyPr wrap="square"/>
                    <a:lstStyle/>
                    <a:p>
                      <a:pPr algn="r"/>
                      <a:r>
                        <a:rPr sz="1050" b="1">
                          <a:solidFill>
                            <a:srgbClr val="FFFFFF"/>
                          </a:solidFill>
                          <a:latin typeface="Kanit"/>
                        </a:rPr>
                        <a:t>Accounts</a:t>
                      </a:r>
                    </a:p>
                  </a:txBody>
                  <a:tcPr marL="54864" marR="54864" marT="18288" marB="18288" anchor="ctr">
                    <a:solidFill>
                      <a:srgbClr val="1B2A6B"/>
                    </a:solidFill>
                  </a:tcPr>
                </a:tc>
                <a:tc>
                  <a:txBody>
                    <a:bodyPr wrap="square"/>
                    <a:lstStyle/>
                    <a:p>
                      <a:pPr algn="r"/>
                      <a:r>
                        <a:rPr sz="1050" b="1">
                          <a:solidFill>
                            <a:srgbClr val="FFFFFF"/>
                          </a:solidFill>
                          <a:latin typeface="Kanit"/>
                        </a:rPr>
                        <a:t>฿bn out</a:t>
                      </a:r>
                    </a:p>
                  </a:txBody>
                  <a:tcPr marL="54864" marR="54864" marT="18288" marB="18288" anchor="ctr">
                    <a:solidFill>
                      <a:srgbClr val="1B2A6B"/>
                    </a:solidFill>
                  </a:tcPr>
                </a:tc>
                <a:tc>
                  <a:txBody>
                    <a:bodyPr wrap="square"/>
                    <a:lstStyle/>
                    <a:p>
                      <a:pPr algn="r"/>
                      <a:r>
                        <a:rPr sz="1050" b="1">
                          <a:solidFill>
                            <a:srgbClr val="FFFFFF"/>
                          </a:solidFill>
                          <a:latin typeface="Kanit"/>
                        </a:rPr>
                        <a:t>Share of book</a:t>
                      </a:r>
                    </a:p>
                  </a:txBody>
                  <a:tcPr marL="54864" marR="54864" marT="18288" marB="18288" anchor="ctr">
                    <a:solidFill>
                      <a:srgbClr val="1B2A6B"/>
                    </a:solidFill>
                  </a:tcPr>
                </a:tc>
                <a:tc>
                  <a:txBody>
                    <a:bodyPr wrap="square"/>
                    <a:lstStyle/>
                    <a:p>
                      <a:pPr algn="r"/>
                      <a:r>
                        <a:rPr sz="1050" b="1">
                          <a:solidFill>
                            <a:srgbClr val="FFFFFF"/>
                          </a:solidFill>
                          <a:latin typeface="Kanit"/>
                        </a:rPr>
                        <a:t>Ticket ฿</a:t>
                      </a:r>
                    </a:p>
                  </a:txBody>
                  <a:tcPr marL="54864" marR="54864" marT="18288" marB="18288" anchor="ctr">
                    <a:solidFill>
                      <a:srgbClr val="1B2A6B"/>
                    </a:solidFill>
                  </a:tcPr>
                </a:tc>
                <a:tc>
                  <a:txBody>
                    <a:bodyPr wrap="square"/>
                    <a:lstStyle/>
                    <a:p>
                      <a:pPr algn="r"/>
                      <a:r>
                        <a:rPr sz="1050" b="1">
                          <a:solidFill>
                            <a:srgbClr val="FFFFFF"/>
                          </a:solidFill>
                          <a:latin typeface="Kanit"/>
                        </a:rPr>
                        <a:t>LTV proxy</a:t>
                      </a:r>
                    </a:p>
                  </a:txBody>
                  <a:tcPr marL="54864" marR="54864" marT="18288" marB="18288" anchor="ctr">
                    <a:solidFill>
                      <a:srgbClr val="1B2A6B"/>
                    </a:solidFill>
                  </a:tcPr>
                </a:tc>
                <a:tc>
                  <a:txBody>
                    <a:bodyPr wrap="square"/>
                    <a:lstStyle/>
                    <a:p>
                      <a:pPr algn="r"/>
                      <a:r>
                        <a:rPr sz="1050" b="1">
                          <a:solidFill>
                            <a:srgbClr val="FFFFFF"/>
                          </a:solidFill>
                          <a:latin typeface="Kanit"/>
                        </a:rPr>
                        <a:t>90+ arrears</a:t>
                      </a:r>
                    </a:p>
                  </a:txBody>
                  <a:tcPr marL="54864" marR="54864" marT="18288" marB="18288" anchor="ctr">
                    <a:solidFill>
                      <a:srgbClr val="1B2A6B"/>
                    </a:solidFill>
                  </a:tcPr>
                </a:tc>
                <a:tc>
                  <a:txBody>
                    <a:bodyPr wrap="square"/>
                    <a:lstStyle/>
                    <a:p>
                      <a:pPr algn="r"/>
                      <a:r>
                        <a:rPr sz="1050" b="1">
                          <a:solidFill>
                            <a:srgbClr val="FFFFFF"/>
                          </a:solidFill>
                          <a:latin typeface="Kanit"/>
                        </a:rPr>
                        <a:t>180+ legacy</a:t>
                      </a:r>
                    </a:p>
                  </a:txBody>
                  <a:tcPr marL="54864" marR="54864" marT="18288" marB="18288" anchor="ctr">
                    <a:solidFill>
                      <a:srgbClr val="1B2A6B"/>
                    </a:solidFill>
                  </a:tcPr>
                </a:tc>
              </a:tr>
              <a:tr h="254203">
                <a:tc>
                  <a:txBody>
                    <a:bodyPr wrap="square"/>
                    <a:lstStyle/>
                    <a:p>
                      <a:pPr algn="l"/>
                      <a:r>
                        <a:rPr sz="1000" b="1">
                          <a:solidFill>
                            <a:srgbClr val="1E2F5C"/>
                          </a:solidFill>
                          <a:latin typeface="Kanit"/>
                        </a:rPr>
                        <a:t>ที่ดิน(จำนอง)</a:t>
                      </a:r>
                    </a:p>
                  </a:txBody>
                  <a:tcPr marL="54864" marR="54864" marT="18288" marB="18288" anchor="ctr">
                    <a:solidFill>
                      <a:srgbClr val="FFFFFF"/>
                    </a:solidFill>
                  </a:tcPr>
                </a:tc>
                <a:tc>
                  <a:txBody>
                    <a:bodyPr wrap="square"/>
                    <a:lstStyle/>
                    <a:p>
                      <a:pPr algn="r"/>
                      <a:r>
                        <a:rPr sz="1000" b="0">
                          <a:solidFill>
                            <a:srgbClr val="1E2F5C"/>
                          </a:solidFill>
                          <a:latin typeface="Kanit"/>
                        </a:rPr>
                        <a:t>30,166</a:t>
                      </a:r>
                    </a:p>
                  </a:txBody>
                  <a:tcPr marL="54864" marR="54864" marT="18288" marB="18288" anchor="ctr">
                    <a:solidFill>
                      <a:srgbClr val="FFFFFF"/>
                    </a:solidFill>
                  </a:tcPr>
                </a:tc>
                <a:tc>
                  <a:txBody>
                    <a:bodyPr wrap="square"/>
                    <a:lstStyle/>
                    <a:p>
                      <a:pPr algn="r"/>
                      <a:r>
                        <a:rPr sz="1000" b="1">
                          <a:solidFill>
                            <a:srgbClr val="1E2F5C"/>
                          </a:solidFill>
                          <a:latin typeface="Kanit"/>
                        </a:rPr>
                        <a:t>11.68</a:t>
                      </a:r>
                    </a:p>
                  </a:txBody>
                  <a:tcPr marL="54864" marR="54864" marT="18288" marB="18288" anchor="ctr">
                    <a:solidFill>
                      <a:srgbClr val="FFFFFF"/>
                    </a:solidFill>
                  </a:tcPr>
                </a:tc>
                <a:tc>
                  <a:txBody>
                    <a:bodyPr wrap="square"/>
                    <a:lstStyle/>
                    <a:p>
                      <a:pPr algn="r"/>
                      <a:r>
                        <a:rPr sz="1000" b="0">
                          <a:solidFill>
                            <a:srgbClr val="1E2F5C"/>
                          </a:solidFill>
                          <a:latin typeface="Kanit"/>
                        </a:rPr>
                        <a:t>25.1%</a:t>
                      </a:r>
                    </a:p>
                  </a:txBody>
                  <a:tcPr marL="54864" marR="54864" marT="18288" marB="18288" anchor="ctr">
                    <a:solidFill>
                      <a:srgbClr val="FFFFFF"/>
                    </a:solidFill>
                  </a:tcPr>
                </a:tc>
                <a:tc>
                  <a:txBody>
                    <a:bodyPr wrap="square"/>
                    <a:lstStyle/>
                    <a:p>
                      <a:pPr algn="r"/>
                      <a:r>
                        <a:rPr sz="1000" b="0">
                          <a:solidFill>
                            <a:srgbClr val="1E2F5C"/>
                          </a:solidFill>
                          <a:latin typeface="Kanit"/>
                        </a:rPr>
                        <a:t>387,300</a:t>
                      </a:r>
                    </a:p>
                  </a:txBody>
                  <a:tcPr marL="54864" marR="54864" marT="18288" marB="18288" anchor="ctr">
                    <a:solidFill>
                      <a:srgbClr val="FFFFFF"/>
                    </a:solidFill>
                  </a:tcPr>
                </a:tc>
                <a:tc>
                  <a:txBody>
                    <a:bodyPr wrap="square"/>
                    <a:lstStyle/>
                    <a:p>
                      <a:pPr algn="r"/>
                      <a:r>
                        <a:rPr sz="1000" b="0">
                          <a:solidFill>
                            <a:srgbClr val="1E2F5C"/>
                          </a:solidFill>
                          <a:latin typeface="Kanit"/>
                        </a:rPr>
                        <a:t>52.4%</a:t>
                      </a:r>
                    </a:p>
                  </a:txBody>
                  <a:tcPr marL="54864" marR="54864" marT="18288" marB="18288" anchor="ctr">
                    <a:solidFill>
                      <a:srgbClr val="FFFFFF"/>
                    </a:solidFill>
                  </a:tcPr>
                </a:tc>
                <a:tc>
                  <a:txBody>
                    <a:bodyPr wrap="square"/>
                    <a:lstStyle/>
                    <a:p>
                      <a:pPr algn="r"/>
                      <a:r>
                        <a:rPr sz="1000" b="1">
                          <a:solidFill>
                            <a:srgbClr val="1E2F5C"/>
                          </a:solidFill>
                          <a:latin typeface="Kanit"/>
                        </a:rPr>
                        <a:t>12.63%</a:t>
                      </a:r>
                    </a:p>
                  </a:txBody>
                  <a:tcPr marL="54864" marR="54864" marT="18288" marB="18288" anchor="ctr">
                    <a:solidFill>
                      <a:srgbClr val="FFFFFF"/>
                    </a:solidFill>
                  </a:tcPr>
                </a:tc>
                <a:tc>
                  <a:txBody>
                    <a:bodyPr wrap="square"/>
                    <a:lstStyle/>
                    <a:p>
                      <a:pPr algn="r"/>
                      <a:r>
                        <a:rPr sz="1000" b="0">
                          <a:solidFill>
                            <a:srgbClr val="1E2F5C"/>
                          </a:solidFill>
                          <a:latin typeface="Kanit"/>
                        </a:rPr>
                        <a:t>7.42%</a:t>
                      </a:r>
                    </a:p>
                  </a:txBody>
                  <a:tcPr marL="54864" marR="54864" marT="18288" marB="18288" anchor="ctr">
                    <a:solidFill>
                      <a:srgbClr val="FFFFFF"/>
                    </a:solidFill>
                  </a:tcPr>
                </a:tc>
              </a:tr>
              <a:tr h="254203">
                <a:tc>
                  <a:txBody>
                    <a:bodyPr wrap="square"/>
                    <a:lstStyle/>
                    <a:p>
                      <a:pPr algn="l"/>
                      <a:r>
                        <a:rPr sz="1000" b="1">
                          <a:solidFill>
                            <a:srgbClr val="1E2F5C"/>
                          </a:solidFill>
                          <a:latin typeface="Kanit"/>
                        </a:rPr>
                        <a:t>TOYOTA PU</a:t>
                      </a:r>
                    </a:p>
                  </a:txBody>
                  <a:tcPr marL="54864" marR="54864" marT="18288" marB="18288" anchor="ctr">
                    <a:solidFill>
                      <a:srgbClr val="F7F9FC"/>
                    </a:solidFill>
                  </a:tcPr>
                </a:tc>
                <a:tc>
                  <a:txBody>
                    <a:bodyPr wrap="square"/>
                    <a:lstStyle/>
                    <a:p>
                      <a:pPr algn="r"/>
                      <a:r>
                        <a:rPr sz="1000" b="0">
                          <a:solidFill>
                            <a:srgbClr val="1E2F5C"/>
                          </a:solidFill>
                          <a:latin typeface="Kanit"/>
                        </a:rPr>
                        <a:t>46,794</a:t>
                      </a:r>
                    </a:p>
                  </a:txBody>
                  <a:tcPr marL="54864" marR="54864" marT="18288" marB="18288" anchor="ctr">
                    <a:solidFill>
                      <a:srgbClr val="F7F9FC"/>
                    </a:solidFill>
                  </a:tcPr>
                </a:tc>
                <a:tc>
                  <a:txBody>
                    <a:bodyPr wrap="square"/>
                    <a:lstStyle/>
                    <a:p>
                      <a:pPr algn="r"/>
                      <a:r>
                        <a:rPr sz="1000" b="1">
                          <a:solidFill>
                            <a:srgbClr val="1E2F5C"/>
                          </a:solidFill>
                          <a:latin typeface="Kanit"/>
                        </a:rPr>
                        <a:t>7.29</a:t>
                      </a:r>
                    </a:p>
                  </a:txBody>
                  <a:tcPr marL="54864" marR="54864" marT="18288" marB="18288" anchor="ctr">
                    <a:solidFill>
                      <a:srgbClr val="F7F9FC"/>
                    </a:solidFill>
                  </a:tcPr>
                </a:tc>
                <a:tc>
                  <a:txBody>
                    <a:bodyPr wrap="square"/>
                    <a:lstStyle/>
                    <a:p>
                      <a:pPr algn="r"/>
                      <a:r>
                        <a:rPr sz="1000" b="0">
                          <a:solidFill>
                            <a:srgbClr val="1E2F5C"/>
                          </a:solidFill>
                          <a:latin typeface="Kanit"/>
                        </a:rPr>
                        <a:t>15.7%</a:t>
                      </a:r>
                    </a:p>
                  </a:txBody>
                  <a:tcPr marL="54864" marR="54864" marT="18288" marB="18288" anchor="ctr">
                    <a:solidFill>
                      <a:srgbClr val="F7F9FC"/>
                    </a:solidFill>
                  </a:tcPr>
                </a:tc>
                <a:tc>
                  <a:txBody>
                    <a:bodyPr wrap="square"/>
                    <a:lstStyle/>
                    <a:p>
                      <a:pPr algn="r"/>
                      <a:r>
                        <a:rPr sz="1000" b="0">
                          <a:solidFill>
                            <a:srgbClr val="1E2F5C"/>
                          </a:solidFill>
                          <a:latin typeface="Kanit"/>
                        </a:rPr>
                        <a:t>155,779</a:t>
                      </a:r>
                    </a:p>
                  </a:txBody>
                  <a:tcPr marL="54864" marR="54864" marT="18288" marB="18288" anchor="ctr">
                    <a:solidFill>
                      <a:srgbClr val="F7F9FC"/>
                    </a:solidFill>
                  </a:tcPr>
                </a:tc>
                <a:tc>
                  <a:txBody>
                    <a:bodyPr wrap="square"/>
                    <a:lstStyle/>
                    <a:p>
                      <a:pPr algn="r"/>
                      <a:r>
                        <a:rPr sz="1000" b="0">
                          <a:solidFill>
                            <a:srgbClr val="1E2F5C"/>
                          </a:solidFill>
                          <a:latin typeface="Kanit"/>
                        </a:rPr>
                        <a:t>54.8%</a:t>
                      </a:r>
                    </a:p>
                  </a:txBody>
                  <a:tcPr marL="54864" marR="54864" marT="18288" marB="18288" anchor="ctr">
                    <a:solidFill>
                      <a:srgbClr val="F7F9FC"/>
                    </a:solidFill>
                  </a:tcPr>
                </a:tc>
                <a:tc>
                  <a:txBody>
                    <a:bodyPr wrap="square"/>
                    <a:lstStyle/>
                    <a:p>
                      <a:pPr algn="r"/>
                      <a:r>
                        <a:rPr sz="1000" b="1">
                          <a:solidFill>
                            <a:srgbClr val="1E2F5C"/>
                          </a:solidFill>
                          <a:latin typeface="Kanit"/>
                        </a:rPr>
                        <a:t>13.58%</a:t>
                      </a:r>
                    </a:p>
                  </a:txBody>
                  <a:tcPr marL="54864" marR="54864" marT="18288" marB="18288" anchor="ctr">
                    <a:solidFill>
                      <a:srgbClr val="F7F9FC"/>
                    </a:solidFill>
                  </a:tcPr>
                </a:tc>
                <a:tc>
                  <a:txBody>
                    <a:bodyPr wrap="square"/>
                    <a:lstStyle/>
                    <a:p>
                      <a:pPr algn="r"/>
                      <a:r>
                        <a:rPr sz="1000" b="0">
                          <a:solidFill>
                            <a:srgbClr val="1E2F5C"/>
                          </a:solidFill>
                          <a:latin typeface="Kanit"/>
                        </a:rPr>
                        <a:t>9.17%</a:t>
                      </a:r>
                    </a:p>
                  </a:txBody>
                  <a:tcPr marL="54864" marR="54864" marT="18288" marB="18288" anchor="ctr">
                    <a:solidFill>
                      <a:srgbClr val="F7F9FC"/>
                    </a:solidFill>
                  </a:tcPr>
                </a:tc>
              </a:tr>
              <a:tr h="254203">
                <a:tc>
                  <a:txBody>
                    <a:bodyPr wrap="square"/>
                    <a:lstStyle/>
                    <a:p>
                      <a:pPr algn="l"/>
                      <a:r>
                        <a:rPr sz="1000" b="1">
                          <a:solidFill>
                            <a:srgbClr val="1E2F5C"/>
                          </a:solidFill>
                          <a:latin typeface="Kanit"/>
                        </a:rPr>
                        <a:t>ISUZU PU</a:t>
                      </a:r>
                    </a:p>
                  </a:txBody>
                  <a:tcPr marL="54864" marR="54864" marT="18288" marB="18288" anchor="ctr">
                    <a:solidFill>
                      <a:srgbClr val="FFFFFF"/>
                    </a:solidFill>
                  </a:tcPr>
                </a:tc>
                <a:tc>
                  <a:txBody>
                    <a:bodyPr wrap="square"/>
                    <a:lstStyle/>
                    <a:p>
                      <a:pPr algn="r"/>
                      <a:r>
                        <a:rPr sz="1000" b="0">
                          <a:solidFill>
                            <a:srgbClr val="1E2F5C"/>
                          </a:solidFill>
                          <a:latin typeface="Kanit"/>
                        </a:rPr>
                        <a:t>45,410</a:t>
                      </a:r>
                    </a:p>
                  </a:txBody>
                  <a:tcPr marL="54864" marR="54864" marT="18288" marB="18288" anchor="ctr">
                    <a:solidFill>
                      <a:srgbClr val="FFFFFF"/>
                    </a:solidFill>
                  </a:tcPr>
                </a:tc>
                <a:tc>
                  <a:txBody>
                    <a:bodyPr wrap="square"/>
                    <a:lstStyle/>
                    <a:p>
                      <a:pPr algn="r"/>
                      <a:r>
                        <a:rPr sz="1000" b="1">
                          <a:solidFill>
                            <a:srgbClr val="1E2F5C"/>
                          </a:solidFill>
                          <a:latin typeface="Kanit"/>
                        </a:rPr>
                        <a:t>6.80</a:t>
                      </a:r>
                    </a:p>
                  </a:txBody>
                  <a:tcPr marL="54864" marR="54864" marT="18288" marB="18288" anchor="ctr">
                    <a:solidFill>
                      <a:srgbClr val="FFFFFF"/>
                    </a:solidFill>
                  </a:tcPr>
                </a:tc>
                <a:tc>
                  <a:txBody>
                    <a:bodyPr wrap="square"/>
                    <a:lstStyle/>
                    <a:p>
                      <a:pPr algn="r"/>
                      <a:r>
                        <a:rPr sz="1000" b="0">
                          <a:solidFill>
                            <a:srgbClr val="1E2F5C"/>
                          </a:solidFill>
                          <a:latin typeface="Kanit"/>
                        </a:rPr>
                        <a:t>14.6%</a:t>
                      </a:r>
                    </a:p>
                  </a:txBody>
                  <a:tcPr marL="54864" marR="54864" marT="18288" marB="18288" anchor="ctr">
                    <a:solidFill>
                      <a:srgbClr val="FFFFFF"/>
                    </a:solidFill>
                  </a:tcPr>
                </a:tc>
                <a:tc>
                  <a:txBody>
                    <a:bodyPr wrap="square"/>
                    <a:lstStyle/>
                    <a:p>
                      <a:pPr algn="r"/>
                      <a:r>
                        <a:rPr sz="1000" b="0">
                          <a:solidFill>
                            <a:srgbClr val="1E2F5C"/>
                          </a:solidFill>
                          <a:latin typeface="Kanit"/>
                        </a:rPr>
                        <a:t>149,838</a:t>
                      </a:r>
                    </a:p>
                  </a:txBody>
                  <a:tcPr marL="54864" marR="54864" marT="18288" marB="18288" anchor="ctr">
                    <a:solidFill>
                      <a:srgbClr val="FFFFFF"/>
                    </a:solidFill>
                  </a:tcPr>
                </a:tc>
                <a:tc>
                  <a:txBody>
                    <a:bodyPr wrap="square"/>
                    <a:lstStyle/>
                    <a:p>
                      <a:pPr algn="r"/>
                      <a:r>
                        <a:rPr sz="1000" b="0">
                          <a:solidFill>
                            <a:srgbClr val="1E2F5C"/>
                          </a:solidFill>
                          <a:latin typeface="Kanit"/>
                        </a:rPr>
                        <a:t>54.6%</a:t>
                      </a:r>
                    </a:p>
                  </a:txBody>
                  <a:tcPr marL="54864" marR="54864" marT="18288" marB="18288" anchor="ctr">
                    <a:solidFill>
                      <a:srgbClr val="FFFFFF"/>
                    </a:solidFill>
                  </a:tcPr>
                </a:tc>
                <a:tc>
                  <a:txBody>
                    <a:bodyPr wrap="square"/>
                    <a:lstStyle/>
                    <a:p>
                      <a:pPr algn="r"/>
                      <a:r>
                        <a:rPr sz="1000" b="1">
                          <a:solidFill>
                            <a:srgbClr val="1E2F5C"/>
                          </a:solidFill>
                          <a:latin typeface="Kanit"/>
                        </a:rPr>
                        <a:t>13.36%</a:t>
                      </a:r>
                    </a:p>
                  </a:txBody>
                  <a:tcPr marL="54864" marR="54864" marT="18288" marB="18288" anchor="ctr">
                    <a:solidFill>
                      <a:srgbClr val="FFFFFF"/>
                    </a:solidFill>
                  </a:tcPr>
                </a:tc>
                <a:tc>
                  <a:txBody>
                    <a:bodyPr wrap="square"/>
                    <a:lstStyle/>
                    <a:p>
                      <a:pPr algn="r"/>
                      <a:r>
                        <a:rPr sz="1000" b="0">
                          <a:solidFill>
                            <a:srgbClr val="1E2F5C"/>
                          </a:solidFill>
                          <a:latin typeface="Kanit"/>
                        </a:rPr>
                        <a:t>9.16%</a:t>
                      </a:r>
                    </a:p>
                  </a:txBody>
                  <a:tcPr marL="54864" marR="54864" marT="18288" marB="18288" anchor="ctr">
                    <a:solidFill>
                      <a:srgbClr val="FFFFFF"/>
                    </a:solidFill>
                  </a:tcPr>
                </a:tc>
              </a:tr>
              <a:tr h="254203">
                <a:tc>
                  <a:txBody>
                    <a:bodyPr wrap="square"/>
                    <a:lstStyle/>
                    <a:p>
                      <a:pPr algn="l"/>
                      <a:r>
                        <a:rPr sz="1000" b="1">
                          <a:solidFill>
                            <a:srgbClr val="1E2F5C"/>
                          </a:solidFill>
                          <a:latin typeface="Kanit"/>
                        </a:rPr>
                        <a:t>HONDA</a:t>
                      </a:r>
                    </a:p>
                  </a:txBody>
                  <a:tcPr marL="54864" marR="54864" marT="18288" marB="18288" anchor="ctr">
                    <a:solidFill>
                      <a:srgbClr val="F7F9FC"/>
                    </a:solidFill>
                  </a:tcPr>
                </a:tc>
                <a:tc>
                  <a:txBody>
                    <a:bodyPr wrap="square"/>
                    <a:lstStyle/>
                    <a:p>
                      <a:pPr algn="r"/>
                      <a:r>
                        <a:rPr sz="1000" b="0">
                          <a:solidFill>
                            <a:srgbClr val="1E2F5C"/>
                          </a:solidFill>
                          <a:latin typeface="Kanit"/>
                        </a:rPr>
                        <a:t>80,539</a:t>
                      </a:r>
                    </a:p>
                  </a:txBody>
                  <a:tcPr marL="54864" marR="54864" marT="18288" marB="18288" anchor="ctr">
                    <a:solidFill>
                      <a:srgbClr val="F7F9FC"/>
                    </a:solidFill>
                  </a:tcPr>
                </a:tc>
                <a:tc>
                  <a:txBody>
                    <a:bodyPr wrap="square"/>
                    <a:lstStyle/>
                    <a:p>
                      <a:pPr algn="r"/>
                      <a:r>
                        <a:rPr sz="1000" b="1">
                          <a:solidFill>
                            <a:srgbClr val="1E2F5C"/>
                          </a:solidFill>
                          <a:latin typeface="Kanit"/>
                        </a:rPr>
                        <a:t>4.53</a:t>
                      </a:r>
                    </a:p>
                  </a:txBody>
                  <a:tcPr marL="54864" marR="54864" marT="18288" marB="18288" anchor="ctr">
                    <a:solidFill>
                      <a:srgbClr val="F7F9FC"/>
                    </a:solidFill>
                  </a:tcPr>
                </a:tc>
                <a:tc>
                  <a:txBody>
                    <a:bodyPr wrap="square"/>
                    <a:lstStyle/>
                    <a:p>
                      <a:pPr algn="r"/>
                      <a:r>
                        <a:rPr sz="1000" b="0">
                          <a:solidFill>
                            <a:srgbClr val="1E2F5C"/>
                          </a:solidFill>
                          <a:latin typeface="Kanit"/>
                        </a:rPr>
                        <a:t>9.7%</a:t>
                      </a:r>
                    </a:p>
                  </a:txBody>
                  <a:tcPr marL="54864" marR="54864" marT="18288" marB="18288" anchor="ctr">
                    <a:solidFill>
                      <a:srgbClr val="F7F9FC"/>
                    </a:solidFill>
                  </a:tcPr>
                </a:tc>
                <a:tc>
                  <a:txBody>
                    <a:bodyPr wrap="square"/>
                    <a:lstStyle/>
                    <a:p>
                      <a:pPr algn="r"/>
                      <a:r>
                        <a:rPr sz="1000" b="0">
                          <a:solidFill>
                            <a:srgbClr val="1E2F5C"/>
                          </a:solidFill>
                          <a:latin typeface="Kanit"/>
                        </a:rPr>
                        <a:t>56,289</a:t>
                      </a:r>
                    </a:p>
                  </a:txBody>
                  <a:tcPr marL="54864" marR="54864" marT="18288" marB="18288" anchor="ctr">
                    <a:solidFill>
                      <a:srgbClr val="F7F9FC"/>
                    </a:solidFill>
                  </a:tcPr>
                </a:tc>
                <a:tc>
                  <a:txBody>
                    <a:bodyPr wrap="square"/>
                    <a:lstStyle/>
                    <a:p>
                      <a:pPr algn="r"/>
                      <a:r>
                        <a:rPr sz="1000" b="0">
                          <a:solidFill>
                            <a:srgbClr val="1E2F5C"/>
                          </a:solidFill>
                          <a:latin typeface="Kanit"/>
                        </a:rPr>
                        <a:t>52.4%</a:t>
                      </a:r>
                    </a:p>
                  </a:txBody>
                  <a:tcPr marL="54864" marR="54864" marT="18288" marB="18288" anchor="ctr">
                    <a:solidFill>
                      <a:srgbClr val="F7F9FC"/>
                    </a:solidFill>
                  </a:tcPr>
                </a:tc>
                <a:tc>
                  <a:txBody>
                    <a:bodyPr wrap="square"/>
                    <a:lstStyle/>
                    <a:p>
                      <a:pPr algn="r"/>
                      <a:r>
                        <a:rPr sz="1000" b="1">
                          <a:solidFill>
                            <a:srgbClr val="CC0000"/>
                          </a:solidFill>
                          <a:latin typeface="Kanit"/>
                        </a:rPr>
                        <a:t>17.53%</a:t>
                      </a:r>
                    </a:p>
                  </a:txBody>
                  <a:tcPr marL="54864" marR="54864" marT="18288" marB="18288" anchor="ctr">
                    <a:solidFill>
                      <a:srgbClr val="F7F9FC"/>
                    </a:solidFill>
                  </a:tcPr>
                </a:tc>
                <a:tc>
                  <a:txBody>
                    <a:bodyPr wrap="square"/>
                    <a:lstStyle/>
                    <a:p>
                      <a:pPr algn="r"/>
                      <a:r>
                        <a:rPr sz="1000" b="0">
                          <a:solidFill>
                            <a:srgbClr val="1E2F5C"/>
                          </a:solidFill>
                          <a:latin typeface="Kanit"/>
                        </a:rPr>
                        <a:t>13.18%</a:t>
                      </a:r>
                    </a:p>
                  </a:txBody>
                  <a:tcPr marL="54864" marR="54864" marT="18288" marB="18288" anchor="ctr">
                    <a:solidFill>
                      <a:srgbClr val="F7F9FC"/>
                    </a:solidFill>
                  </a:tcPr>
                </a:tc>
              </a:tr>
              <a:tr h="254203">
                <a:tc>
                  <a:txBody>
                    <a:bodyPr wrap="square"/>
                    <a:lstStyle/>
                    <a:p>
                      <a:pPr algn="l"/>
                      <a:r>
                        <a:rPr sz="1000" b="1">
                          <a:solidFill>
                            <a:srgbClr val="1E2F5C"/>
                          </a:solidFill>
                          <a:latin typeface="Kanit"/>
                        </a:rPr>
                        <a:t>TOYOTA</a:t>
                      </a:r>
                    </a:p>
                  </a:txBody>
                  <a:tcPr marL="54864" marR="54864" marT="18288" marB="18288" anchor="ctr">
                    <a:solidFill>
                      <a:srgbClr val="FFFFFF"/>
                    </a:solidFill>
                  </a:tcPr>
                </a:tc>
                <a:tc>
                  <a:txBody>
                    <a:bodyPr wrap="square"/>
                    <a:lstStyle/>
                    <a:p>
                      <a:pPr algn="r"/>
                      <a:r>
                        <a:rPr sz="1000" b="0">
                          <a:solidFill>
                            <a:srgbClr val="1E2F5C"/>
                          </a:solidFill>
                          <a:latin typeface="Kanit"/>
                        </a:rPr>
                        <a:t>36,689</a:t>
                      </a:r>
                    </a:p>
                  </a:txBody>
                  <a:tcPr marL="54864" marR="54864" marT="18288" marB="18288" anchor="ctr">
                    <a:solidFill>
                      <a:srgbClr val="FFFFFF"/>
                    </a:solidFill>
                  </a:tcPr>
                </a:tc>
                <a:tc>
                  <a:txBody>
                    <a:bodyPr wrap="square"/>
                    <a:lstStyle/>
                    <a:p>
                      <a:pPr algn="r"/>
                      <a:r>
                        <a:rPr sz="1000" b="1">
                          <a:solidFill>
                            <a:srgbClr val="1E2F5C"/>
                          </a:solidFill>
                          <a:latin typeface="Kanit"/>
                        </a:rPr>
                        <a:t>4.50</a:t>
                      </a:r>
                    </a:p>
                  </a:txBody>
                  <a:tcPr marL="54864" marR="54864" marT="18288" marB="18288" anchor="ctr">
                    <a:solidFill>
                      <a:srgbClr val="FFFFFF"/>
                    </a:solidFill>
                  </a:tcPr>
                </a:tc>
                <a:tc>
                  <a:txBody>
                    <a:bodyPr wrap="square"/>
                    <a:lstStyle/>
                    <a:p>
                      <a:pPr algn="r"/>
                      <a:r>
                        <a:rPr sz="1000" b="0">
                          <a:solidFill>
                            <a:srgbClr val="1E2F5C"/>
                          </a:solidFill>
                          <a:latin typeface="Kanit"/>
                        </a:rPr>
                        <a:t>9.7%</a:t>
                      </a:r>
                    </a:p>
                  </a:txBody>
                  <a:tcPr marL="54864" marR="54864" marT="18288" marB="18288" anchor="ctr">
                    <a:solidFill>
                      <a:srgbClr val="FFFFFF"/>
                    </a:solidFill>
                  </a:tcPr>
                </a:tc>
                <a:tc>
                  <a:txBody>
                    <a:bodyPr wrap="square"/>
                    <a:lstStyle/>
                    <a:p>
                      <a:pPr algn="r"/>
                      <a:r>
                        <a:rPr sz="1000" b="0">
                          <a:solidFill>
                            <a:srgbClr val="1E2F5C"/>
                          </a:solidFill>
                          <a:latin typeface="Kanit"/>
                        </a:rPr>
                        <a:t>122,633</a:t>
                      </a:r>
                    </a:p>
                  </a:txBody>
                  <a:tcPr marL="54864" marR="54864" marT="18288" marB="18288" anchor="ctr">
                    <a:solidFill>
                      <a:srgbClr val="FFFFFF"/>
                    </a:solidFill>
                  </a:tcPr>
                </a:tc>
                <a:tc>
                  <a:txBody>
                    <a:bodyPr wrap="square"/>
                    <a:lstStyle/>
                    <a:p>
                      <a:pPr algn="r"/>
                      <a:r>
                        <a:rPr sz="1000" b="0">
                          <a:solidFill>
                            <a:srgbClr val="1E2F5C"/>
                          </a:solidFill>
                          <a:latin typeface="Kanit"/>
                        </a:rPr>
                        <a:t>52.8%</a:t>
                      </a:r>
                    </a:p>
                  </a:txBody>
                  <a:tcPr marL="54864" marR="54864" marT="18288" marB="18288" anchor="ctr">
                    <a:solidFill>
                      <a:srgbClr val="FFFFFF"/>
                    </a:solidFill>
                  </a:tcPr>
                </a:tc>
                <a:tc>
                  <a:txBody>
                    <a:bodyPr wrap="square"/>
                    <a:lstStyle/>
                    <a:p>
                      <a:pPr algn="r"/>
                      <a:r>
                        <a:rPr sz="1000" b="1">
                          <a:solidFill>
                            <a:srgbClr val="1E2F5C"/>
                          </a:solidFill>
                          <a:latin typeface="Kanit"/>
                        </a:rPr>
                        <a:t>13.80%</a:t>
                      </a:r>
                    </a:p>
                  </a:txBody>
                  <a:tcPr marL="54864" marR="54864" marT="18288" marB="18288" anchor="ctr">
                    <a:solidFill>
                      <a:srgbClr val="FFFFFF"/>
                    </a:solidFill>
                  </a:tcPr>
                </a:tc>
                <a:tc>
                  <a:txBody>
                    <a:bodyPr wrap="square"/>
                    <a:lstStyle/>
                    <a:p>
                      <a:pPr algn="r"/>
                      <a:r>
                        <a:rPr sz="1000" b="0">
                          <a:solidFill>
                            <a:srgbClr val="1E2F5C"/>
                          </a:solidFill>
                          <a:latin typeface="Kanit"/>
                        </a:rPr>
                        <a:t>9.31%</a:t>
                      </a:r>
                    </a:p>
                  </a:txBody>
                  <a:tcPr marL="54864" marR="54864" marT="18288" marB="18288" anchor="ctr">
                    <a:solidFill>
                      <a:srgbClr val="FFFFFF"/>
                    </a:solidFill>
                  </a:tcPr>
                </a:tc>
              </a:tr>
              <a:tr h="254203">
                <a:tc>
                  <a:txBody>
                    <a:bodyPr wrap="square"/>
                    <a:lstStyle/>
                    <a:p>
                      <a:pPr algn="l"/>
                      <a:r>
                        <a:rPr sz="1000" b="1">
                          <a:solidFill>
                            <a:srgbClr val="1E2F5C"/>
                          </a:solidFill>
                          <a:latin typeface="Kanit"/>
                        </a:rPr>
                        <a:t>MITSUBISHI PU</a:t>
                      </a:r>
                    </a:p>
                  </a:txBody>
                  <a:tcPr marL="54864" marR="54864" marT="18288" marB="18288" anchor="ctr">
                    <a:solidFill>
                      <a:srgbClr val="F7F9FC"/>
                    </a:solidFill>
                  </a:tcPr>
                </a:tc>
                <a:tc>
                  <a:txBody>
                    <a:bodyPr wrap="square"/>
                    <a:lstStyle/>
                    <a:p>
                      <a:pPr algn="r"/>
                      <a:r>
                        <a:rPr sz="1000" b="0">
                          <a:solidFill>
                            <a:srgbClr val="1E2F5C"/>
                          </a:solidFill>
                          <a:latin typeface="Kanit"/>
                        </a:rPr>
                        <a:t>9,300</a:t>
                      </a:r>
                    </a:p>
                  </a:txBody>
                  <a:tcPr marL="54864" marR="54864" marT="18288" marB="18288" anchor="ctr">
                    <a:solidFill>
                      <a:srgbClr val="F7F9FC"/>
                    </a:solidFill>
                  </a:tcPr>
                </a:tc>
                <a:tc>
                  <a:txBody>
                    <a:bodyPr wrap="square"/>
                    <a:lstStyle/>
                    <a:p>
                      <a:pPr algn="r"/>
                      <a:r>
                        <a:rPr sz="1000" b="1">
                          <a:solidFill>
                            <a:srgbClr val="1E2F5C"/>
                          </a:solidFill>
                          <a:latin typeface="Kanit"/>
                        </a:rPr>
                        <a:t>1.21</a:t>
                      </a:r>
                    </a:p>
                  </a:txBody>
                  <a:tcPr marL="54864" marR="54864" marT="18288" marB="18288" anchor="ctr">
                    <a:solidFill>
                      <a:srgbClr val="F7F9FC"/>
                    </a:solidFill>
                  </a:tcPr>
                </a:tc>
                <a:tc>
                  <a:txBody>
                    <a:bodyPr wrap="square"/>
                    <a:lstStyle/>
                    <a:p>
                      <a:pPr algn="r"/>
                      <a:r>
                        <a:rPr sz="1000" b="0">
                          <a:solidFill>
                            <a:srgbClr val="1E2F5C"/>
                          </a:solidFill>
                          <a:latin typeface="Kanit"/>
                        </a:rPr>
                        <a:t>2.6%</a:t>
                      </a:r>
                    </a:p>
                  </a:txBody>
                  <a:tcPr marL="54864" marR="54864" marT="18288" marB="18288" anchor="ctr">
                    <a:solidFill>
                      <a:srgbClr val="F7F9FC"/>
                    </a:solidFill>
                  </a:tcPr>
                </a:tc>
                <a:tc>
                  <a:txBody>
                    <a:bodyPr wrap="square"/>
                    <a:lstStyle/>
                    <a:p>
                      <a:pPr algn="r"/>
                      <a:r>
                        <a:rPr sz="1000" b="0">
                          <a:solidFill>
                            <a:srgbClr val="1E2F5C"/>
                          </a:solidFill>
                          <a:latin typeface="Kanit"/>
                        </a:rPr>
                        <a:t>130,035</a:t>
                      </a:r>
                    </a:p>
                  </a:txBody>
                  <a:tcPr marL="54864" marR="54864" marT="18288" marB="18288" anchor="ctr">
                    <a:solidFill>
                      <a:srgbClr val="F7F9FC"/>
                    </a:solidFill>
                  </a:tcPr>
                </a:tc>
                <a:tc>
                  <a:txBody>
                    <a:bodyPr wrap="square"/>
                    <a:lstStyle/>
                    <a:p>
                      <a:pPr algn="r"/>
                      <a:r>
                        <a:rPr sz="1000" b="0">
                          <a:solidFill>
                            <a:srgbClr val="1E2F5C"/>
                          </a:solidFill>
                          <a:latin typeface="Kanit"/>
                        </a:rPr>
                        <a:t>48.8%</a:t>
                      </a:r>
                    </a:p>
                  </a:txBody>
                  <a:tcPr marL="54864" marR="54864" marT="18288" marB="18288" anchor="ctr">
                    <a:solidFill>
                      <a:srgbClr val="F7F9FC"/>
                    </a:solidFill>
                  </a:tcPr>
                </a:tc>
                <a:tc>
                  <a:txBody>
                    <a:bodyPr wrap="square"/>
                    <a:lstStyle/>
                    <a:p>
                      <a:pPr algn="r"/>
                      <a:r>
                        <a:rPr sz="1000" b="1">
                          <a:solidFill>
                            <a:srgbClr val="1E2F5C"/>
                          </a:solidFill>
                          <a:latin typeface="Kanit"/>
                        </a:rPr>
                        <a:t>14.16%</a:t>
                      </a:r>
                    </a:p>
                  </a:txBody>
                  <a:tcPr marL="54864" marR="54864" marT="18288" marB="18288" anchor="ctr">
                    <a:solidFill>
                      <a:srgbClr val="F7F9FC"/>
                    </a:solidFill>
                  </a:tcPr>
                </a:tc>
                <a:tc>
                  <a:txBody>
                    <a:bodyPr wrap="square"/>
                    <a:lstStyle/>
                    <a:p>
                      <a:pPr algn="r"/>
                      <a:r>
                        <a:rPr sz="1000" b="0">
                          <a:solidFill>
                            <a:srgbClr val="1E2F5C"/>
                          </a:solidFill>
                          <a:latin typeface="Kanit"/>
                        </a:rPr>
                        <a:t>9.67%</a:t>
                      </a:r>
                    </a:p>
                  </a:txBody>
                  <a:tcPr marL="54864" marR="54864" marT="18288" marB="18288" anchor="ctr">
                    <a:solidFill>
                      <a:srgbClr val="F7F9FC"/>
                    </a:solidFill>
                  </a:tcPr>
                </a:tc>
              </a:tr>
              <a:tr h="254203">
                <a:tc>
                  <a:txBody>
                    <a:bodyPr wrap="square"/>
                    <a:lstStyle/>
                    <a:p>
                      <a:pPr algn="l"/>
                      <a:r>
                        <a:rPr sz="1000" b="1">
                          <a:solidFill>
                            <a:srgbClr val="1E2F5C"/>
                          </a:solidFill>
                          <a:latin typeface="Kanit"/>
                        </a:rPr>
                        <a:t>MAZDA</a:t>
                      </a:r>
                    </a:p>
                  </a:txBody>
                  <a:tcPr marL="54864" marR="54864" marT="18288" marB="18288" anchor="ctr">
                    <a:solidFill>
                      <a:srgbClr val="FFFFFF"/>
                    </a:solidFill>
                  </a:tcPr>
                </a:tc>
                <a:tc>
                  <a:txBody>
                    <a:bodyPr wrap="square"/>
                    <a:lstStyle/>
                    <a:p>
                      <a:pPr algn="r"/>
                      <a:r>
                        <a:rPr sz="1000" b="0">
                          <a:solidFill>
                            <a:srgbClr val="1E2F5C"/>
                          </a:solidFill>
                          <a:latin typeface="Kanit"/>
                        </a:rPr>
                        <a:t>7,953</a:t>
                      </a:r>
                    </a:p>
                  </a:txBody>
                  <a:tcPr marL="54864" marR="54864" marT="18288" marB="18288" anchor="ctr">
                    <a:solidFill>
                      <a:srgbClr val="FFFFFF"/>
                    </a:solidFill>
                  </a:tcPr>
                </a:tc>
                <a:tc>
                  <a:txBody>
                    <a:bodyPr wrap="square"/>
                    <a:lstStyle/>
                    <a:p>
                      <a:pPr algn="r"/>
                      <a:r>
                        <a:rPr sz="1000" b="1">
                          <a:solidFill>
                            <a:srgbClr val="1E2F5C"/>
                          </a:solidFill>
                          <a:latin typeface="Kanit"/>
                        </a:rPr>
                        <a:t>1.02</a:t>
                      </a:r>
                    </a:p>
                  </a:txBody>
                  <a:tcPr marL="54864" marR="54864" marT="18288" marB="18288" anchor="ctr">
                    <a:solidFill>
                      <a:srgbClr val="FFFFFF"/>
                    </a:solidFill>
                  </a:tcPr>
                </a:tc>
                <a:tc>
                  <a:txBody>
                    <a:bodyPr wrap="square"/>
                    <a:lstStyle/>
                    <a:p>
                      <a:pPr algn="r"/>
                      <a:r>
                        <a:rPr sz="1000" b="0">
                          <a:solidFill>
                            <a:srgbClr val="1E2F5C"/>
                          </a:solidFill>
                          <a:latin typeface="Kanit"/>
                        </a:rPr>
                        <a:t>2.2%</a:t>
                      </a:r>
                    </a:p>
                  </a:txBody>
                  <a:tcPr marL="54864" marR="54864" marT="18288" marB="18288" anchor="ctr">
                    <a:solidFill>
                      <a:srgbClr val="FFFFFF"/>
                    </a:solidFill>
                  </a:tcPr>
                </a:tc>
                <a:tc>
                  <a:txBody>
                    <a:bodyPr wrap="square"/>
                    <a:lstStyle/>
                    <a:p>
                      <a:pPr algn="r"/>
                      <a:r>
                        <a:rPr sz="1000" b="0">
                          <a:solidFill>
                            <a:srgbClr val="1E2F5C"/>
                          </a:solidFill>
                          <a:latin typeface="Kanit"/>
                        </a:rPr>
                        <a:t>128,178</a:t>
                      </a:r>
                    </a:p>
                  </a:txBody>
                  <a:tcPr marL="54864" marR="54864" marT="18288" marB="18288" anchor="ctr">
                    <a:solidFill>
                      <a:srgbClr val="FFFFFF"/>
                    </a:solidFill>
                  </a:tcPr>
                </a:tc>
                <a:tc>
                  <a:txBody>
                    <a:bodyPr wrap="square"/>
                    <a:lstStyle/>
                    <a:p>
                      <a:pPr algn="r"/>
                      <a:r>
                        <a:rPr sz="1000" b="0">
                          <a:solidFill>
                            <a:srgbClr val="1E2F5C"/>
                          </a:solidFill>
                          <a:latin typeface="Kanit"/>
                        </a:rPr>
                        <a:t>51.5%</a:t>
                      </a:r>
                    </a:p>
                  </a:txBody>
                  <a:tcPr marL="54864" marR="54864" marT="18288" marB="18288" anchor="ctr">
                    <a:solidFill>
                      <a:srgbClr val="FFFFFF"/>
                    </a:solidFill>
                  </a:tcPr>
                </a:tc>
                <a:tc>
                  <a:txBody>
                    <a:bodyPr wrap="square"/>
                    <a:lstStyle/>
                    <a:p>
                      <a:pPr algn="r"/>
                      <a:r>
                        <a:rPr sz="1000" b="1">
                          <a:solidFill>
                            <a:srgbClr val="1E2F5C"/>
                          </a:solidFill>
                          <a:latin typeface="Kanit"/>
                        </a:rPr>
                        <a:t>13.74%</a:t>
                      </a:r>
                    </a:p>
                  </a:txBody>
                  <a:tcPr marL="54864" marR="54864" marT="18288" marB="18288" anchor="ctr">
                    <a:solidFill>
                      <a:srgbClr val="FFFFFF"/>
                    </a:solidFill>
                  </a:tcPr>
                </a:tc>
                <a:tc>
                  <a:txBody>
                    <a:bodyPr wrap="square"/>
                    <a:lstStyle/>
                    <a:p>
                      <a:pPr algn="r"/>
                      <a:r>
                        <a:rPr sz="1000" b="0">
                          <a:solidFill>
                            <a:srgbClr val="1E2F5C"/>
                          </a:solidFill>
                          <a:latin typeface="Kanit"/>
                        </a:rPr>
                        <a:t>9.18%</a:t>
                      </a:r>
                    </a:p>
                  </a:txBody>
                  <a:tcPr marL="54864" marR="54864" marT="18288" marB="18288" anchor="ctr">
                    <a:solidFill>
                      <a:srgbClr val="FFFFFF"/>
                    </a:solidFill>
                  </a:tcPr>
                </a:tc>
              </a:tr>
              <a:tr h="254203">
                <a:tc>
                  <a:txBody>
                    <a:bodyPr wrap="square"/>
                    <a:lstStyle/>
                    <a:p>
                      <a:pPr algn="l"/>
                      <a:r>
                        <a:rPr sz="1000" b="1">
                          <a:solidFill>
                            <a:srgbClr val="1E2F5C"/>
                          </a:solidFill>
                          <a:latin typeface="Kanit"/>
                        </a:rPr>
                        <a:t>NISSAN</a:t>
                      </a:r>
                    </a:p>
                  </a:txBody>
                  <a:tcPr marL="54864" marR="54864" marT="18288" marB="18288" anchor="ctr">
                    <a:solidFill>
                      <a:srgbClr val="F7F9FC"/>
                    </a:solidFill>
                  </a:tcPr>
                </a:tc>
                <a:tc>
                  <a:txBody>
                    <a:bodyPr wrap="square"/>
                    <a:lstStyle/>
                    <a:p>
                      <a:pPr algn="r"/>
                      <a:r>
                        <a:rPr sz="1000" b="0">
                          <a:solidFill>
                            <a:srgbClr val="1E2F5C"/>
                          </a:solidFill>
                          <a:latin typeface="Kanit"/>
                        </a:rPr>
                        <a:t>8,426</a:t>
                      </a:r>
                    </a:p>
                  </a:txBody>
                  <a:tcPr marL="54864" marR="54864" marT="18288" marB="18288" anchor="ctr">
                    <a:solidFill>
                      <a:srgbClr val="F7F9FC"/>
                    </a:solidFill>
                  </a:tcPr>
                </a:tc>
                <a:tc>
                  <a:txBody>
                    <a:bodyPr wrap="square"/>
                    <a:lstStyle/>
                    <a:p>
                      <a:pPr algn="r"/>
                      <a:r>
                        <a:rPr sz="1000" b="1">
                          <a:solidFill>
                            <a:srgbClr val="1E2F5C"/>
                          </a:solidFill>
                          <a:latin typeface="Kanit"/>
                        </a:rPr>
                        <a:t>0.93</a:t>
                      </a:r>
                    </a:p>
                  </a:txBody>
                  <a:tcPr marL="54864" marR="54864" marT="18288" marB="18288" anchor="ctr">
                    <a:solidFill>
                      <a:srgbClr val="F7F9FC"/>
                    </a:solidFill>
                  </a:tcPr>
                </a:tc>
                <a:tc>
                  <a:txBody>
                    <a:bodyPr wrap="square"/>
                    <a:lstStyle/>
                    <a:p>
                      <a:pPr algn="r"/>
                      <a:r>
                        <a:rPr sz="1000" b="0">
                          <a:solidFill>
                            <a:srgbClr val="1E2F5C"/>
                          </a:solidFill>
                          <a:latin typeface="Kanit"/>
                        </a:rPr>
                        <a:t>2.0%</a:t>
                      </a:r>
                    </a:p>
                  </a:txBody>
                  <a:tcPr marL="54864" marR="54864" marT="18288" marB="18288" anchor="ctr">
                    <a:solidFill>
                      <a:srgbClr val="F7F9FC"/>
                    </a:solidFill>
                  </a:tcPr>
                </a:tc>
                <a:tc>
                  <a:txBody>
                    <a:bodyPr wrap="square"/>
                    <a:lstStyle/>
                    <a:p>
                      <a:pPr algn="r"/>
                      <a:r>
                        <a:rPr sz="1000" b="0">
                          <a:solidFill>
                            <a:srgbClr val="1E2F5C"/>
                          </a:solidFill>
                          <a:latin typeface="Kanit"/>
                        </a:rPr>
                        <a:t>110,486</a:t>
                      </a:r>
                    </a:p>
                  </a:txBody>
                  <a:tcPr marL="54864" marR="54864" marT="18288" marB="18288" anchor="ctr">
                    <a:solidFill>
                      <a:srgbClr val="F7F9FC"/>
                    </a:solidFill>
                  </a:tcPr>
                </a:tc>
                <a:tc>
                  <a:txBody>
                    <a:bodyPr wrap="square"/>
                    <a:lstStyle/>
                    <a:p>
                      <a:pPr algn="r"/>
                      <a:r>
                        <a:rPr sz="1000" b="0">
                          <a:solidFill>
                            <a:srgbClr val="1E2F5C"/>
                          </a:solidFill>
                          <a:latin typeface="Kanit"/>
                        </a:rPr>
                        <a:t>52.8%</a:t>
                      </a:r>
                    </a:p>
                  </a:txBody>
                  <a:tcPr marL="54864" marR="54864" marT="18288" marB="18288" anchor="ctr">
                    <a:solidFill>
                      <a:srgbClr val="F7F9FC"/>
                    </a:solidFill>
                  </a:tcPr>
                </a:tc>
                <a:tc>
                  <a:txBody>
                    <a:bodyPr wrap="square"/>
                    <a:lstStyle/>
                    <a:p>
                      <a:pPr algn="r"/>
                      <a:r>
                        <a:rPr sz="1000" b="1">
                          <a:solidFill>
                            <a:srgbClr val="1E2F5C"/>
                          </a:solidFill>
                          <a:latin typeface="Kanit"/>
                        </a:rPr>
                        <a:t>13.19%</a:t>
                      </a:r>
                    </a:p>
                  </a:txBody>
                  <a:tcPr marL="54864" marR="54864" marT="18288" marB="18288" anchor="ctr">
                    <a:solidFill>
                      <a:srgbClr val="F7F9FC"/>
                    </a:solidFill>
                  </a:tcPr>
                </a:tc>
                <a:tc>
                  <a:txBody>
                    <a:bodyPr wrap="square"/>
                    <a:lstStyle/>
                    <a:p>
                      <a:pPr algn="r"/>
                      <a:r>
                        <a:rPr sz="1000" b="0">
                          <a:solidFill>
                            <a:srgbClr val="1E2F5C"/>
                          </a:solidFill>
                          <a:latin typeface="Kanit"/>
                        </a:rPr>
                        <a:t>8.82%</a:t>
                      </a:r>
                    </a:p>
                  </a:txBody>
                  <a:tcPr marL="54864" marR="54864" marT="18288" marB="18288" anchor="ctr">
                    <a:solidFill>
                      <a:srgbClr val="F7F9FC"/>
                    </a:solidFill>
                  </a:tcPr>
                </a:tc>
              </a:tr>
              <a:tr h="254203">
                <a:tc>
                  <a:txBody>
                    <a:bodyPr wrap="square"/>
                    <a:lstStyle/>
                    <a:p>
                      <a:pPr algn="l"/>
                      <a:r>
                        <a:rPr sz="1000" b="1">
                          <a:solidFill>
                            <a:srgbClr val="1E2F5C"/>
                          </a:solidFill>
                          <a:latin typeface="Kanit"/>
                        </a:rPr>
                        <a:t>MITSUBISHI</a:t>
                      </a:r>
                    </a:p>
                  </a:txBody>
                  <a:tcPr marL="54864" marR="54864" marT="18288" marB="18288" anchor="ctr">
                    <a:solidFill>
                      <a:srgbClr val="FFFFFF"/>
                    </a:solidFill>
                  </a:tcPr>
                </a:tc>
                <a:tc>
                  <a:txBody>
                    <a:bodyPr wrap="square"/>
                    <a:lstStyle/>
                    <a:p>
                      <a:pPr algn="r"/>
                      <a:r>
                        <a:rPr sz="1000" b="0">
                          <a:solidFill>
                            <a:srgbClr val="1E2F5C"/>
                          </a:solidFill>
                          <a:latin typeface="Kanit"/>
                        </a:rPr>
                        <a:t>6,351</a:t>
                      </a:r>
                    </a:p>
                  </a:txBody>
                  <a:tcPr marL="54864" marR="54864" marT="18288" marB="18288" anchor="ctr">
                    <a:solidFill>
                      <a:srgbClr val="FFFFFF"/>
                    </a:solidFill>
                  </a:tcPr>
                </a:tc>
                <a:tc>
                  <a:txBody>
                    <a:bodyPr wrap="square"/>
                    <a:lstStyle/>
                    <a:p>
                      <a:pPr algn="r"/>
                      <a:r>
                        <a:rPr sz="1000" b="1">
                          <a:solidFill>
                            <a:srgbClr val="1E2F5C"/>
                          </a:solidFill>
                          <a:latin typeface="Kanit"/>
                        </a:rPr>
                        <a:t>0.84</a:t>
                      </a:r>
                    </a:p>
                  </a:txBody>
                  <a:tcPr marL="54864" marR="54864" marT="18288" marB="18288" anchor="ctr">
                    <a:solidFill>
                      <a:srgbClr val="FFFFFF"/>
                    </a:solidFill>
                  </a:tcPr>
                </a:tc>
                <a:tc>
                  <a:txBody>
                    <a:bodyPr wrap="square"/>
                    <a:lstStyle/>
                    <a:p>
                      <a:pPr algn="r"/>
                      <a:r>
                        <a:rPr sz="1000" b="0">
                          <a:solidFill>
                            <a:srgbClr val="1E2F5C"/>
                          </a:solidFill>
                          <a:latin typeface="Kanit"/>
                        </a:rPr>
                        <a:t>1.8%</a:t>
                      </a:r>
                    </a:p>
                  </a:txBody>
                  <a:tcPr marL="54864" marR="54864" marT="18288" marB="18288" anchor="ctr">
                    <a:solidFill>
                      <a:srgbClr val="FFFFFF"/>
                    </a:solidFill>
                  </a:tcPr>
                </a:tc>
                <a:tc>
                  <a:txBody>
                    <a:bodyPr wrap="square"/>
                    <a:lstStyle/>
                    <a:p>
                      <a:pPr algn="r"/>
                      <a:r>
                        <a:rPr sz="1000" b="0">
                          <a:solidFill>
                            <a:srgbClr val="1E2F5C"/>
                          </a:solidFill>
                          <a:latin typeface="Kanit"/>
                        </a:rPr>
                        <a:t>131,631</a:t>
                      </a:r>
                    </a:p>
                  </a:txBody>
                  <a:tcPr marL="54864" marR="54864" marT="18288" marB="18288" anchor="ctr">
                    <a:solidFill>
                      <a:srgbClr val="FFFFFF"/>
                    </a:solidFill>
                  </a:tcPr>
                </a:tc>
                <a:tc>
                  <a:txBody>
                    <a:bodyPr wrap="square"/>
                    <a:lstStyle/>
                    <a:p>
                      <a:pPr algn="r"/>
                      <a:r>
                        <a:rPr sz="1000" b="0">
                          <a:solidFill>
                            <a:srgbClr val="1E2F5C"/>
                          </a:solidFill>
                          <a:latin typeface="Kanit"/>
                        </a:rPr>
                        <a:t>52.9%</a:t>
                      </a:r>
                    </a:p>
                  </a:txBody>
                  <a:tcPr marL="54864" marR="54864" marT="18288" marB="18288" anchor="ctr">
                    <a:solidFill>
                      <a:srgbClr val="FFFFFF"/>
                    </a:solidFill>
                  </a:tcPr>
                </a:tc>
                <a:tc>
                  <a:txBody>
                    <a:bodyPr wrap="square"/>
                    <a:lstStyle/>
                    <a:p>
                      <a:pPr algn="r"/>
                      <a:r>
                        <a:rPr sz="1000" b="1">
                          <a:solidFill>
                            <a:srgbClr val="1E2F5C"/>
                          </a:solidFill>
                          <a:latin typeface="Kanit"/>
                        </a:rPr>
                        <a:t>13.01%</a:t>
                      </a:r>
                    </a:p>
                  </a:txBody>
                  <a:tcPr marL="54864" marR="54864" marT="18288" marB="18288" anchor="ctr">
                    <a:solidFill>
                      <a:srgbClr val="FFFFFF"/>
                    </a:solidFill>
                  </a:tcPr>
                </a:tc>
                <a:tc>
                  <a:txBody>
                    <a:bodyPr wrap="square"/>
                    <a:lstStyle/>
                    <a:p>
                      <a:pPr algn="r"/>
                      <a:r>
                        <a:rPr sz="1000" b="0">
                          <a:solidFill>
                            <a:srgbClr val="1E2F5C"/>
                          </a:solidFill>
                          <a:latin typeface="Kanit"/>
                        </a:rPr>
                        <a:t>8.57%</a:t>
                      </a:r>
                    </a:p>
                  </a:txBody>
                  <a:tcPr marL="54864" marR="54864" marT="18288" marB="18288" anchor="ctr">
                    <a:solidFill>
                      <a:srgbClr val="FFFFFF"/>
                    </a:solidFill>
                  </a:tcPr>
                </a:tc>
              </a:tr>
            </a:tbl>
          </a:graphicData>
        </a:graphic>
      </p:graphicFrame>
      <p:sp>
        <p:nvSpPr>
          <p:cNvPr id="10" name="Rounded Rectangle 9"/>
          <p:cNvSpPr/>
          <p:nvPr/>
        </p:nvSpPr>
        <p:spPr>
          <a:xfrm>
            <a:off x="411480" y="3915460"/>
            <a:ext cx="754177" cy="192024"/>
          </a:xfrm>
          <a:prstGeom prst="roundRect">
            <a:avLst>
              <a:gd name="adj" fmla="val 50000"/>
            </a:avLst>
          </a:prstGeom>
          <a:noFill/>
          <a:ln w="9525">
            <a:solidFill>
              <a:srgbClr val="15795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411480" y="3944721"/>
            <a:ext cx="754177" cy="134112"/>
          </a:xfrm>
          <a:prstGeom prst="rect">
            <a:avLst/>
          </a:prstGeom>
          <a:noFill/>
        </p:spPr>
        <p:txBody>
          <a:bodyPr wrap="square" lIns="0" rIns="0" tIns="0" bIns="0" anchor="t">
            <a:noAutofit/>
          </a:bodyPr>
          <a:lstStyle/>
          <a:p>
            <a:pPr algn="ctr">
              <a:lnSpc>
                <a:spcPts val="1056"/>
              </a:lnSpc>
            </a:pPr>
            <a:r>
              <a:rPr sz="800" b="1">
                <a:solidFill>
                  <a:srgbClr val="15795F"/>
                </a:solidFill>
                <a:latin typeface="Kanit"/>
              </a:rPr>
              <a:t>MEASURED</a:t>
            </a:r>
          </a:p>
        </p:txBody>
      </p:sp>
      <p:sp>
        <p:nvSpPr>
          <p:cNvPr id="12" name="TextBox 11"/>
          <p:cNvSpPr txBox="1"/>
          <p:nvPr/>
        </p:nvSpPr>
        <p:spPr>
          <a:xfrm>
            <a:off x="1275385" y="3929176"/>
            <a:ext cx="10502086" cy="154305"/>
          </a:xfrm>
          <a:prstGeom prst="rect">
            <a:avLst/>
          </a:prstGeom>
          <a:noFill/>
        </p:spPr>
        <p:txBody>
          <a:bodyPr wrap="square" lIns="0" rIns="0" tIns="0" bIns="0" anchor="t">
            <a:noAutofit/>
          </a:bodyPr>
          <a:lstStyle/>
          <a:p>
            <a:pPr algn="l">
              <a:lnSpc>
                <a:spcPts val="1215"/>
              </a:lnSpc>
            </a:pPr>
            <a:r>
              <a:rPr sz="900" b="0">
                <a:solidFill>
                  <a:srgbClr val="606060"/>
                </a:solidFill>
                <a:latin typeface="Kanit"/>
              </a:rPr>
              <a:t>Real loan tape, brand as recorded on the title. ที่ดิน(จำนอง) is land and mortgage collateral, not a vehicle brand — and it is the single largest line in the book at 25.1% of outstanding.</a:t>
            </a:r>
          </a:p>
        </p:txBody>
      </p:sp>
      <p:sp>
        <p:nvSpPr>
          <p:cNvPr id="13" name="Rectangle 12"/>
          <p:cNvSpPr/>
          <p:nvPr/>
        </p:nvSpPr>
        <p:spPr>
          <a:xfrm>
            <a:off x="411480" y="4234357"/>
            <a:ext cx="11365992" cy="1033144"/>
          </a:xfrm>
          <a:prstGeom prst="rect">
            <a:avLst/>
          </a:prstGeom>
          <a:solidFill>
            <a:srgbClr val="FCEFE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411480" y="4234357"/>
            <a:ext cx="50292" cy="1033144"/>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630936" y="4380661"/>
            <a:ext cx="11036808" cy="158750"/>
          </a:xfrm>
          <a:prstGeom prst="rect">
            <a:avLst/>
          </a:prstGeom>
          <a:noFill/>
        </p:spPr>
        <p:txBody>
          <a:bodyPr wrap="square" lIns="0" rIns="0" tIns="0" bIns="0" anchor="t">
            <a:noAutofit/>
          </a:bodyPr>
          <a:lstStyle/>
          <a:p>
            <a:pPr algn="l">
              <a:lnSpc>
                <a:spcPts val="1250"/>
              </a:lnSpc>
            </a:pPr>
            <a:r>
              <a:rPr sz="950" b="1">
                <a:solidFill>
                  <a:srgbClr val="CC0000"/>
                </a:solidFill>
                <a:latin typeface="Kanit"/>
              </a:rPr>
              <a:t>Honda is the outlier, and it is a motorcycle story</a:t>
            </a:r>
          </a:p>
        </p:txBody>
      </p:sp>
      <p:sp>
        <p:nvSpPr>
          <p:cNvPr id="16" name="TextBox 15"/>
          <p:cNvSpPr txBox="1"/>
          <p:nvPr/>
        </p:nvSpPr>
        <p:spPr>
          <a:xfrm>
            <a:off x="630936" y="4585131"/>
            <a:ext cx="11036808" cy="536067"/>
          </a:xfrm>
          <a:prstGeom prst="rect">
            <a:avLst/>
          </a:prstGeom>
          <a:noFill/>
        </p:spPr>
        <p:txBody>
          <a:bodyPr wrap="square" lIns="0" rIns="0" tIns="0" bIns="0" anchor="t">
            <a:noAutofit/>
          </a:bodyPr>
          <a:lstStyle/>
          <a:p>
            <a:pPr algn="l">
              <a:lnSpc>
                <a:spcPts val="1407"/>
              </a:lnSpc>
            </a:pPr>
            <a:r>
              <a:rPr sz="1050" b="0">
                <a:solidFill>
                  <a:srgbClr val="1E2F5C"/>
                </a:solidFill>
                <a:latin typeface="Kanit"/>
              </a:rPr>
              <a:t>80,539 accounts — more than Toyota PU and Isuzu PU combined — on ฿4.53bn at a ฿56k ticket, 17.53% at 90+ against a 14.87% book average, with 13.18% already in the 180-plus legacy. The two pickup marques carry roughly three times the ticket at four points better arrears. It is the clearest read in the book that ticket size and collateral class, not brand reputation, drive performance.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09F · WHERE WE RECOVER</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A resale market we can sell into — for now.</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Rounded Rectangle 8"/>
          <p:cNvSpPr/>
          <p:nvPr/>
        </p:nvSpPr>
        <p:spPr>
          <a:xfrm>
            <a:off x="411480" y="1152144"/>
            <a:ext cx="2738628" cy="1024128"/>
          </a:xfrm>
          <a:prstGeom prst="roundRect">
            <a:avLst>
              <a:gd name="adj" fmla="val 8035"/>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548640"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Pickup stock</a:t>
            </a:r>
          </a:p>
        </p:txBody>
      </p:sp>
      <p:sp>
        <p:nvSpPr>
          <p:cNvPr id="11" name="TextBox 10"/>
          <p:cNvSpPr txBox="1"/>
          <p:nvPr/>
        </p:nvSpPr>
        <p:spPr>
          <a:xfrm>
            <a:off x="548640" y="1426464"/>
            <a:ext cx="2464308" cy="330200"/>
          </a:xfrm>
          <a:prstGeom prst="rect">
            <a:avLst/>
          </a:prstGeom>
          <a:noFill/>
        </p:spPr>
        <p:txBody>
          <a:bodyPr wrap="square" lIns="0" rIns="0" tIns="0" bIns="0" anchor="t">
            <a:noAutofit/>
          </a:bodyPr>
          <a:lstStyle/>
          <a:p>
            <a:pPr algn="l">
              <a:lnSpc>
                <a:spcPts val="2600"/>
              </a:lnSpc>
            </a:pPr>
            <a:r>
              <a:rPr sz="2100" b="1">
                <a:solidFill>
                  <a:srgbClr val="CC0000"/>
                </a:solidFill>
                <a:latin typeface="Kanit"/>
              </a:rPr>
              <a:t>6.98M</a:t>
            </a:r>
          </a:p>
        </p:txBody>
      </p:sp>
      <p:sp>
        <p:nvSpPr>
          <p:cNvPr id="12" name="TextBox 11"/>
          <p:cNvSpPr txBox="1"/>
          <p:nvPr/>
        </p:nvSpPr>
        <p:spPr>
          <a:xfrm>
            <a:off x="548640" y="1792224"/>
            <a:ext cx="2464308" cy="310896"/>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registered pickups · -0.77% YoY</a:t>
            </a:r>
          </a:p>
        </p:txBody>
      </p:sp>
      <p:sp>
        <p:nvSpPr>
          <p:cNvPr id="13" name="Rounded Rectangle 12"/>
          <p:cNvSpPr/>
          <p:nvPr/>
        </p:nvSpPr>
        <p:spPr>
          <a:xfrm>
            <a:off x="3287268" y="1152144"/>
            <a:ext cx="2738628" cy="1024128"/>
          </a:xfrm>
          <a:prstGeom prst="roundRect">
            <a:avLst>
              <a:gd name="adj" fmla="val 8035"/>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3424428"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Car stock</a:t>
            </a:r>
          </a:p>
        </p:txBody>
      </p:sp>
      <p:sp>
        <p:nvSpPr>
          <p:cNvPr id="15" name="TextBox 14"/>
          <p:cNvSpPr txBox="1"/>
          <p:nvPr/>
        </p:nvSpPr>
        <p:spPr>
          <a:xfrm>
            <a:off x="3424428" y="1426464"/>
            <a:ext cx="2464308" cy="330200"/>
          </a:xfrm>
          <a:prstGeom prst="rect">
            <a:avLst/>
          </a:prstGeom>
          <a:noFill/>
        </p:spPr>
        <p:txBody>
          <a:bodyPr wrap="square" lIns="0" rIns="0" tIns="0" bIns="0" anchor="t">
            <a:noAutofit/>
          </a:bodyPr>
          <a:lstStyle/>
          <a:p>
            <a:pPr algn="l">
              <a:lnSpc>
                <a:spcPts val="2600"/>
              </a:lnSpc>
            </a:pPr>
            <a:r>
              <a:rPr sz="2100" b="1">
                <a:solidFill>
                  <a:srgbClr val="15795F"/>
                </a:solidFill>
                <a:latin typeface="Kanit"/>
              </a:rPr>
              <a:t>12.98M</a:t>
            </a:r>
          </a:p>
        </p:txBody>
      </p:sp>
      <p:sp>
        <p:nvSpPr>
          <p:cNvPr id="16" name="TextBox 15"/>
          <p:cNvSpPr txBox="1"/>
          <p:nvPr/>
        </p:nvSpPr>
        <p:spPr>
          <a:xfrm>
            <a:off x="3424428" y="1792224"/>
            <a:ext cx="2464308" cy="310896"/>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+1.81% YoY · +19.3% since 2563</a:t>
            </a:r>
          </a:p>
        </p:txBody>
      </p:sp>
      <p:sp>
        <p:nvSpPr>
          <p:cNvPr id="17" name="Rounded Rectangle 16"/>
          <p:cNvSpPr/>
          <p:nvPr/>
        </p:nvSpPr>
        <p:spPr>
          <a:xfrm>
            <a:off x="6163056" y="1152144"/>
            <a:ext cx="2738628" cy="1024128"/>
          </a:xfrm>
          <a:prstGeom prst="roundRect">
            <a:avLst>
              <a:gd name="adj" fmla="val 8035"/>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6300216"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Diesel share</a:t>
            </a:r>
          </a:p>
        </p:txBody>
      </p:sp>
      <p:sp>
        <p:nvSpPr>
          <p:cNvPr id="19" name="TextBox 18"/>
          <p:cNvSpPr txBox="1"/>
          <p:nvPr/>
        </p:nvSpPr>
        <p:spPr>
          <a:xfrm>
            <a:off x="6300216" y="1426464"/>
            <a:ext cx="2464308" cy="330200"/>
          </a:xfrm>
          <a:prstGeom prst="rect">
            <a:avLst/>
          </a:prstGeom>
          <a:noFill/>
        </p:spPr>
        <p:txBody>
          <a:bodyPr wrap="square" lIns="0" rIns="0" tIns="0" bIns="0" anchor="t">
            <a:noAutofit/>
          </a:bodyPr>
          <a:lstStyle/>
          <a:p>
            <a:pPr algn="l">
              <a:lnSpc>
                <a:spcPts val="2600"/>
              </a:lnSpc>
            </a:pPr>
            <a:r>
              <a:rPr sz="2100" b="1">
                <a:solidFill>
                  <a:srgbClr val="1E2F5C"/>
                </a:solidFill>
                <a:latin typeface="Kanit"/>
              </a:rPr>
              <a:t>56.3%</a:t>
            </a:r>
          </a:p>
        </p:txBody>
      </p:sp>
      <p:sp>
        <p:nvSpPr>
          <p:cNvPr id="20" name="TextBox 19"/>
          <p:cNvSpPr txBox="1"/>
          <p:nvPr/>
        </p:nvSpPr>
        <p:spPr>
          <a:xfrm>
            <a:off x="6300216" y="1792224"/>
            <a:ext cx="2464308" cy="310896"/>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of the 44.3M fleet — the collateral we hold today</a:t>
            </a:r>
          </a:p>
        </p:txBody>
      </p:sp>
      <p:sp>
        <p:nvSpPr>
          <p:cNvPr id="21" name="Rounded Rectangle 20"/>
          <p:cNvSpPr/>
          <p:nvPr/>
        </p:nvSpPr>
        <p:spPr>
          <a:xfrm>
            <a:off x="9038844" y="1152144"/>
            <a:ext cx="2738628" cy="1024128"/>
          </a:xfrm>
          <a:prstGeom prst="roundRect">
            <a:avLst>
              <a:gd name="adj" fmla="val 8035"/>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9176004"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BEV share</a:t>
            </a:r>
          </a:p>
        </p:txBody>
      </p:sp>
      <p:sp>
        <p:nvSpPr>
          <p:cNvPr id="23" name="TextBox 22"/>
          <p:cNvSpPr txBox="1"/>
          <p:nvPr/>
        </p:nvSpPr>
        <p:spPr>
          <a:xfrm>
            <a:off x="9176004" y="1426464"/>
            <a:ext cx="2464308" cy="330200"/>
          </a:xfrm>
          <a:prstGeom prst="rect">
            <a:avLst/>
          </a:prstGeom>
          <a:noFill/>
        </p:spPr>
        <p:txBody>
          <a:bodyPr wrap="square" lIns="0" rIns="0" tIns="0" bIns="0" anchor="t">
            <a:noAutofit/>
          </a:bodyPr>
          <a:lstStyle/>
          <a:p>
            <a:pPr algn="l">
              <a:lnSpc>
                <a:spcPts val="2600"/>
              </a:lnSpc>
            </a:pPr>
            <a:r>
              <a:rPr sz="2100" b="1">
                <a:solidFill>
                  <a:srgbClr val="F5C242"/>
                </a:solidFill>
                <a:latin typeface="Kanit"/>
              </a:rPr>
              <a:t>0.95%</a:t>
            </a:r>
          </a:p>
        </p:txBody>
      </p:sp>
      <p:sp>
        <p:nvSpPr>
          <p:cNvPr id="24" name="TextBox 23"/>
          <p:cNvSpPr txBox="1"/>
          <p:nvPr/>
        </p:nvSpPr>
        <p:spPr>
          <a:xfrm>
            <a:off x="9176004" y="1792224"/>
            <a:ext cx="2464308" cy="310896"/>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electrified 2.57% — not a problem this quarter</a:t>
            </a:r>
          </a:p>
        </p:txBody>
      </p:sp>
      <p:graphicFrame>
        <p:nvGraphicFramePr>
          <p:cNvPr id="25" name="Table 24"/>
          <p:cNvGraphicFramePr>
            <a:graphicFrameLocks noGrp="1"/>
          </p:cNvGraphicFramePr>
          <p:nvPr/>
        </p:nvGraphicFramePr>
        <p:xfrm>
          <a:off x="411480" y="2359152"/>
          <a:ext cx="11365992" cy="1700784"/>
        </p:xfrm>
        <a:graphic>
          <a:graphicData uri="http://schemas.openxmlformats.org/drawingml/2006/table">
            <a:tbl>
              <a:tblPr>
                <a:tableStyleId>{5C22544A-7EE6-4342-B048-85BDC9FD1C3A}</a:tableStyleId>
              </a:tblPr>
              <a:tblGrid>
                <a:gridCol w="1775936"/>
                <a:gridCol w="1509546"/>
                <a:gridCol w="1864733"/>
                <a:gridCol w="1598343"/>
                <a:gridCol w="1598343"/>
                <a:gridCol w="1331952"/>
                <a:gridCol w="1687139"/>
              </a:tblGrid>
              <a:tr h="329184">
                <a:tc>
                  <a:txBody>
                    <a:bodyPr wrap="square"/>
                    <a:lstStyle/>
                    <a:p>
                      <a:pPr algn="l"/>
                      <a:r>
                        <a:rPr sz="1050" b="1">
                          <a:solidFill>
                            <a:srgbClr val="FFFFFF"/>
                          </a:solidFill>
                          <a:latin typeface="Kanit"/>
                        </a:rPr>
                        <a:t>Region</a:t>
                      </a:r>
                    </a:p>
                  </a:txBody>
                  <a:tcPr marL="54864" marR="54864" marT="18288" marB="18288" anchor="ctr">
                    <a:solidFill>
                      <a:srgbClr val="1B2A6B"/>
                    </a:solidFill>
                  </a:tcPr>
                </a:tc>
                <a:tc>
                  <a:txBody>
                    <a:bodyPr wrap="square"/>
                    <a:lstStyle/>
                    <a:p>
                      <a:pPr algn="r"/>
                      <a:r>
                        <a:rPr sz="1050" b="1">
                          <a:solidFill>
                            <a:srgbClr val="FFFFFF"/>
                          </a:solidFill>
                          <a:latin typeface="Kanit"/>
                        </a:rPr>
                        <a:t>our ฿bn out</a:t>
                      </a:r>
                    </a:p>
                  </a:txBody>
                  <a:tcPr marL="54864" marR="54864" marT="18288" marB="18288" anchor="ctr">
                    <a:solidFill>
                      <a:srgbClr val="1B2A6B"/>
                    </a:solidFill>
                  </a:tcPr>
                </a:tc>
                <a:tc>
                  <a:txBody>
                    <a:bodyPr wrap="square"/>
                    <a:lstStyle/>
                    <a:p>
                      <a:pPr algn="r"/>
                      <a:r>
                        <a:rPr sz="1050" b="1">
                          <a:solidFill>
                            <a:srgbClr val="FFFFFF"/>
                          </a:solidFill>
                          <a:latin typeface="Kanit"/>
                        </a:rPr>
                        <a:t>pickup % of its book</a:t>
                      </a:r>
                    </a:p>
                  </a:txBody>
                  <a:tcPr marL="54864" marR="54864" marT="18288" marB="18288" anchor="ctr">
                    <a:solidFill>
                      <a:srgbClr val="1B2A6B"/>
                    </a:solidFill>
                  </a:tcPr>
                </a:tc>
                <a:tc>
                  <a:txBody>
                    <a:bodyPr wrap="square"/>
                    <a:lstStyle/>
                    <a:p>
                      <a:pPr algn="r"/>
                      <a:r>
                        <a:rPr sz="1050" b="1">
                          <a:solidFill>
                            <a:srgbClr val="FFFFFF"/>
                          </a:solidFill>
                          <a:latin typeface="Kanit"/>
                        </a:rPr>
                        <a:t>its 90+ arrears</a:t>
                      </a:r>
                    </a:p>
                  </a:txBody>
                  <a:tcPr marL="54864" marR="54864" marT="18288" marB="18288" anchor="ctr">
                    <a:solidFill>
                      <a:srgbClr val="1B2A6B"/>
                    </a:solidFill>
                  </a:tcPr>
                </a:tc>
                <a:tc>
                  <a:txBody>
                    <a:bodyPr wrap="square"/>
                    <a:lstStyle/>
                    <a:p>
                      <a:pPr algn="r"/>
                      <a:r>
                        <a:rPr sz="1050" b="1">
                          <a:solidFill>
                            <a:srgbClr val="FFFFFF"/>
                          </a:solidFill>
                          <a:latin typeface="Kanit"/>
                        </a:rPr>
                        <a:t>pickup turnover</a:t>
                      </a:r>
                    </a:p>
                  </a:txBody>
                  <a:tcPr marL="54864" marR="54864" marT="18288" marB="18288" anchor="ctr">
                    <a:solidFill>
                      <a:srgbClr val="1B2A6B"/>
                    </a:solidFill>
                  </a:tcPr>
                </a:tc>
                <a:tc>
                  <a:txBody>
                    <a:bodyPr wrap="square"/>
                    <a:lstStyle/>
                    <a:p>
                      <a:pPr algn="r"/>
                      <a:r>
                        <a:rPr sz="1050" b="1">
                          <a:solidFill>
                            <a:srgbClr val="FFFFFF"/>
                          </a:solidFill>
                          <a:latin typeface="Kanit"/>
                        </a:rPr>
                        <a:t>car turnover</a:t>
                      </a:r>
                    </a:p>
                  </a:txBody>
                  <a:tcPr marL="54864" marR="54864" marT="18288" marB="18288" anchor="ctr">
                    <a:solidFill>
                      <a:srgbClr val="1B2A6B"/>
                    </a:solidFill>
                  </a:tcPr>
                </a:tc>
                <a:tc>
                  <a:txBody>
                    <a:bodyPr wrap="square"/>
                    <a:lstStyle/>
                    <a:p>
                      <a:pPr algn="r"/>
                      <a:r>
                        <a:rPr sz="1050" b="1">
                          <a:solidFill>
                            <a:srgbClr val="FFFFFF"/>
                          </a:solidFill>
                          <a:latin typeface="Kanit"/>
                        </a:rPr>
                        <a:t>motorcycle turnover</a:t>
                      </a:r>
                    </a:p>
                  </a:txBody>
                  <a:tcPr marL="54864" marR="54864" marT="18288" marB="18288" anchor="ctr">
                    <a:solidFill>
                      <a:srgbClr val="1B2A6B"/>
                    </a:solidFill>
                  </a:tcPr>
                </a:tc>
              </a:tr>
              <a:tr h="274320">
                <a:tc>
                  <a:txBody>
                    <a:bodyPr wrap="square"/>
                    <a:lstStyle/>
                    <a:p>
                      <a:pPr algn="l"/>
                      <a:r>
                        <a:rPr sz="1000" b="1">
                          <a:solidFill>
                            <a:srgbClr val="1E2F5C"/>
                          </a:solidFill>
                          <a:latin typeface="Kanit"/>
                        </a:rPr>
                        <a:t>Central&amp;BKK</a:t>
                      </a:r>
                    </a:p>
                  </a:txBody>
                  <a:tcPr marL="54864" marR="54864" marT="18288" marB="18288" anchor="ctr">
                    <a:solidFill>
                      <a:srgbClr val="FFFFFF"/>
                    </a:solidFill>
                  </a:tcPr>
                </a:tc>
                <a:tc>
                  <a:txBody>
                    <a:bodyPr wrap="square"/>
                    <a:lstStyle/>
                    <a:p>
                      <a:pPr algn="r"/>
                      <a:r>
                        <a:rPr sz="1000" b="1">
                          <a:solidFill>
                            <a:srgbClr val="1E2F5C"/>
                          </a:solidFill>
                          <a:latin typeface="Kanit"/>
                        </a:rPr>
                        <a:t>14.38</a:t>
                      </a:r>
                    </a:p>
                  </a:txBody>
                  <a:tcPr marL="54864" marR="54864" marT="18288" marB="18288" anchor="ctr">
                    <a:solidFill>
                      <a:srgbClr val="FFFFFF"/>
                    </a:solidFill>
                  </a:tcPr>
                </a:tc>
                <a:tc>
                  <a:txBody>
                    <a:bodyPr wrap="square"/>
                    <a:lstStyle/>
                    <a:p>
                      <a:pPr algn="r"/>
                      <a:r>
                        <a:rPr sz="1000" b="1">
                          <a:solidFill>
                            <a:srgbClr val="CC0000"/>
                          </a:solidFill>
                          <a:latin typeface="Kanit"/>
                        </a:rPr>
                        <a:t>39.4%</a:t>
                      </a:r>
                    </a:p>
                  </a:txBody>
                  <a:tcPr marL="54864" marR="54864" marT="18288" marB="18288" anchor="ctr">
                    <a:solidFill>
                      <a:srgbClr val="FFFFFF"/>
                    </a:solidFill>
                  </a:tcPr>
                </a:tc>
                <a:tc>
                  <a:txBody>
                    <a:bodyPr wrap="square"/>
                    <a:lstStyle/>
                    <a:p>
                      <a:pPr algn="r"/>
                      <a:r>
                        <a:rPr sz="1000" b="0">
                          <a:solidFill>
                            <a:srgbClr val="CC0000"/>
                          </a:solidFill>
                          <a:latin typeface="Kanit"/>
                        </a:rPr>
                        <a:t>15.83%</a:t>
                      </a:r>
                    </a:p>
                  </a:txBody>
                  <a:tcPr marL="54864" marR="54864" marT="18288" marB="18288" anchor="ctr">
                    <a:solidFill>
                      <a:srgbClr val="FFFFFF"/>
                    </a:solidFill>
                  </a:tcPr>
                </a:tc>
                <a:tc>
                  <a:txBody>
                    <a:bodyPr wrap="square"/>
                    <a:lstStyle/>
                    <a:p>
                      <a:pPr algn="r"/>
                      <a:r>
                        <a:rPr sz="1000" b="1">
                          <a:solidFill>
                            <a:srgbClr val="1E2F5C"/>
                          </a:solidFill>
                          <a:latin typeface="Kanit"/>
                        </a:rPr>
                        <a:t>7.60%</a:t>
                      </a:r>
                    </a:p>
                  </a:txBody>
                  <a:tcPr marL="54864" marR="54864" marT="18288" marB="18288" anchor="ctr">
                    <a:solidFill>
                      <a:srgbClr val="FFFFFF"/>
                    </a:solidFill>
                  </a:tcPr>
                </a:tc>
                <a:tc>
                  <a:txBody>
                    <a:bodyPr wrap="square"/>
                    <a:lstStyle/>
                    <a:p>
                      <a:pPr algn="r"/>
                      <a:r>
                        <a:rPr sz="1000" b="0">
                          <a:solidFill>
                            <a:srgbClr val="1E2F5C"/>
                          </a:solidFill>
                          <a:latin typeface="Kanit"/>
                        </a:rPr>
                        <a:t>10.18%</a:t>
                      </a:r>
                    </a:p>
                  </a:txBody>
                  <a:tcPr marL="54864" marR="54864" marT="18288" marB="18288" anchor="ctr">
                    <a:solidFill>
                      <a:srgbClr val="FFFFFF"/>
                    </a:solidFill>
                  </a:tcPr>
                </a:tc>
                <a:tc>
                  <a:txBody>
                    <a:bodyPr wrap="square"/>
                    <a:lstStyle/>
                    <a:p>
                      <a:pPr algn="r"/>
                      <a:r>
                        <a:rPr sz="1000" b="0">
                          <a:solidFill>
                            <a:srgbClr val="1E2F5C"/>
                          </a:solidFill>
                          <a:latin typeface="Kanit"/>
                        </a:rPr>
                        <a:t>6.64%</a:t>
                      </a:r>
                    </a:p>
                  </a:txBody>
                  <a:tcPr marL="54864" marR="54864" marT="18288" marB="18288" anchor="ctr">
                    <a:solidFill>
                      <a:srgbClr val="FFFFFF"/>
                    </a:solidFill>
                  </a:tcPr>
                </a:tc>
              </a:tr>
              <a:tr h="274320">
                <a:tc>
                  <a:txBody>
                    <a:bodyPr wrap="square"/>
                    <a:lstStyle/>
                    <a:p>
                      <a:pPr algn="l"/>
                      <a:r>
                        <a:rPr sz="1000" b="1">
                          <a:solidFill>
                            <a:srgbClr val="1E2F5C"/>
                          </a:solidFill>
                          <a:latin typeface="Kanit"/>
                        </a:rPr>
                        <a:t>East</a:t>
                      </a:r>
                    </a:p>
                  </a:txBody>
                  <a:tcPr marL="54864" marR="54864" marT="18288" marB="18288" anchor="ctr">
                    <a:solidFill>
                      <a:srgbClr val="F7F9FC"/>
                    </a:solidFill>
                  </a:tcPr>
                </a:tc>
                <a:tc>
                  <a:txBody>
                    <a:bodyPr wrap="square"/>
                    <a:lstStyle/>
                    <a:p>
                      <a:pPr algn="r"/>
                      <a:r>
                        <a:rPr sz="1000" b="1">
                          <a:solidFill>
                            <a:srgbClr val="1E2F5C"/>
                          </a:solidFill>
                          <a:latin typeface="Kanit"/>
                        </a:rPr>
                        <a:t>5.96</a:t>
                      </a:r>
                    </a:p>
                  </a:txBody>
                  <a:tcPr marL="54864" marR="54864" marT="18288" marB="18288" anchor="ctr">
                    <a:solidFill>
                      <a:srgbClr val="F7F9FC"/>
                    </a:solidFill>
                  </a:tcPr>
                </a:tc>
                <a:tc>
                  <a:txBody>
                    <a:bodyPr wrap="square"/>
                    <a:lstStyle/>
                    <a:p>
                      <a:pPr algn="r"/>
                      <a:r>
                        <a:rPr sz="1000" b="1">
                          <a:solidFill>
                            <a:srgbClr val="CC0000"/>
                          </a:solidFill>
                          <a:latin typeface="Kanit"/>
                        </a:rPr>
                        <a:t>44.6%</a:t>
                      </a:r>
                    </a:p>
                  </a:txBody>
                  <a:tcPr marL="54864" marR="54864" marT="18288" marB="18288" anchor="ctr">
                    <a:solidFill>
                      <a:srgbClr val="F7F9FC"/>
                    </a:solidFill>
                  </a:tcPr>
                </a:tc>
                <a:tc>
                  <a:txBody>
                    <a:bodyPr wrap="square"/>
                    <a:lstStyle/>
                    <a:p>
                      <a:pPr algn="r"/>
                      <a:r>
                        <a:rPr sz="1000" b="0">
                          <a:solidFill>
                            <a:srgbClr val="1E2F5C"/>
                          </a:solidFill>
                          <a:latin typeface="Kanit"/>
                        </a:rPr>
                        <a:t>14.09%</a:t>
                      </a:r>
                    </a:p>
                  </a:txBody>
                  <a:tcPr marL="54864" marR="54864" marT="18288" marB="18288" anchor="ctr">
                    <a:solidFill>
                      <a:srgbClr val="F7F9FC"/>
                    </a:solidFill>
                  </a:tcPr>
                </a:tc>
                <a:tc>
                  <a:txBody>
                    <a:bodyPr wrap="square"/>
                    <a:lstStyle/>
                    <a:p>
                      <a:pPr algn="r"/>
                      <a:r>
                        <a:rPr sz="1000" b="1">
                          <a:solidFill>
                            <a:srgbClr val="CC0000"/>
                          </a:solidFill>
                          <a:latin typeface="Kanit"/>
                        </a:rPr>
                        <a:t>5.21%</a:t>
                      </a:r>
                    </a:p>
                  </a:txBody>
                  <a:tcPr marL="54864" marR="54864" marT="18288" marB="18288" anchor="ctr">
                    <a:solidFill>
                      <a:srgbClr val="F7F9FC"/>
                    </a:solidFill>
                  </a:tcPr>
                </a:tc>
                <a:tc>
                  <a:txBody>
                    <a:bodyPr wrap="square"/>
                    <a:lstStyle/>
                    <a:p>
                      <a:pPr algn="r"/>
                      <a:r>
                        <a:rPr sz="1000" b="0">
                          <a:solidFill>
                            <a:srgbClr val="1E2F5C"/>
                          </a:solidFill>
                          <a:latin typeface="Kanit"/>
                        </a:rPr>
                        <a:t>5.61%</a:t>
                      </a:r>
                    </a:p>
                  </a:txBody>
                  <a:tcPr marL="54864" marR="54864" marT="18288" marB="18288" anchor="ctr">
                    <a:solidFill>
                      <a:srgbClr val="F7F9FC"/>
                    </a:solidFill>
                  </a:tcPr>
                </a:tc>
                <a:tc>
                  <a:txBody>
                    <a:bodyPr wrap="square"/>
                    <a:lstStyle/>
                    <a:p>
                      <a:pPr algn="r"/>
                      <a:r>
                        <a:rPr sz="1000" b="0">
                          <a:solidFill>
                            <a:srgbClr val="1E2F5C"/>
                          </a:solidFill>
                          <a:latin typeface="Kanit"/>
                        </a:rPr>
                        <a:t>6.69%</a:t>
                      </a:r>
                    </a:p>
                  </a:txBody>
                  <a:tcPr marL="54864" marR="54864" marT="18288" marB="18288" anchor="ctr">
                    <a:solidFill>
                      <a:srgbClr val="F7F9FC"/>
                    </a:solidFill>
                  </a:tcPr>
                </a:tc>
              </a:tr>
              <a:tr h="274320">
                <a:tc>
                  <a:txBody>
                    <a:bodyPr wrap="square"/>
                    <a:lstStyle/>
                    <a:p>
                      <a:pPr algn="l"/>
                      <a:r>
                        <a:rPr sz="1000" b="1">
                          <a:solidFill>
                            <a:srgbClr val="1E2F5C"/>
                          </a:solidFill>
                          <a:latin typeface="Kanit"/>
                        </a:rPr>
                        <a:t>Isan</a:t>
                      </a:r>
                    </a:p>
                  </a:txBody>
                  <a:tcPr marL="54864" marR="54864" marT="18288" marB="18288" anchor="ctr">
                    <a:solidFill>
                      <a:srgbClr val="FFFFFF"/>
                    </a:solidFill>
                  </a:tcPr>
                </a:tc>
                <a:tc>
                  <a:txBody>
                    <a:bodyPr wrap="square"/>
                    <a:lstStyle/>
                    <a:p>
                      <a:pPr algn="r"/>
                      <a:r>
                        <a:rPr sz="1000" b="1">
                          <a:solidFill>
                            <a:srgbClr val="1E2F5C"/>
                          </a:solidFill>
                          <a:latin typeface="Kanit"/>
                        </a:rPr>
                        <a:t>15.01</a:t>
                      </a:r>
                    </a:p>
                  </a:txBody>
                  <a:tcPr marL="54864" marR="54864" marT="18288" marB="18288" anchor="ctr">
                    <a:solidFill>
                      <a:srgbClr val="FFFFFF"/>
                    </a:solidFill>
                  </a:tcPr>
                </a:tc>
                <a:tc>
                  <a:txBody>
                    <a:bodyPr wrap="square"/>
                    <a:lstStyle/>
                    <a:p>
                      <a:pPr algn="r"/>
                      <a:r>
                        <a:rPr sz="1000" b="1">
                          <a:solidFill>
                            <a:srgbClr val="1E2F5C"/>
                          </a:solidFill>
                          <a:latin typeface="Kanit"/>
                        </a:rPr>
                        <a:t>37.7%</a:t>
                      </a:r>
                    </a:p>
                  </a:txBody>
                  <a:tcPr marL="54864" marR="54864" marT="18288" marB="18288" anchor="ctr">
                    <a:solidFill>
                      <a:srgbClr val="FFFFFF"/>
                    </a:solidFill>
                  </a:tcPr>
                </a:tc>
                <a:tc>
                  <a:txBody>
                    <a:bodyPr wrap="square"/>
                    <a:lstStyle/>
                    <a:p>
                      <a:pPr algn="r"/>
                      <a:r>
                        <a:rPr sz="1000" b="0">
                          <a:solidFill>
                            <a:srgbClr val="CC0000"/>
                          </a:solidFill>
                          <a:latin typeface="Kanit"/>
                        </a:rPr>
                        <a:t>15.54%</a:t>
                      </a:r>
                    </a:p>
                  </a:txBody>
                  <a:tcPr marL="54864" marR="54864" marT="18288" marB="18288" anchor="ctr">
                    <a:solidFill>
                      <a:srgbClr val="FFFFFF"/>
                    </a:solidFill>
                  </a:tcPr>
                </a:tc>
                <a:tc>
                  <a:txBody>
                    <a:bodyPr wrap="square"/>
                    <a:lstStyle/>
                    <a:p>
                      <a:pPr algn="r"/>
                      <a:r>
                        <a:rPr sz="1000" b="1">
                          <a:solidFill>
                            <a:srgbClr val="CC0000"/>
                          </a:solidFill>
                          <a:latin typeface="Kanit"/>
                        </a:rPr>
                        <a:t>5.61%</a:t>
                      </a:r>
                    </a:p>
                  </a:txBody>
                  <a:tcPr marL="54864" marR="54864" marT="18288" marB="18288" anchor="ctr">
                    <a:solidFill>
                      <a:srgbClr val="FFFFFF"/>
                    </a:solidFill>
                  </a:tcPr>
                </a:tc>
                <a:tc>
                  <a:txBody>
                    <a:bodyPr wrap="square"/>
                    <a:lstStyle/>
                    <a:p>
                      <a:pPr algn="r"/>
                      <a:r>
                        <a:rPr sz="1000" b="0">
                          <a:solidFill>
                            <a:srgbClr val="1E2F5C"/>
                          </a:solidFill>
                          <a:latin typeface="Kanit"/>
                        </a:rPr>
                        <a:t>6.41%</a:t>
                      </a:r>
                    </a:p>
                  </a:txBody>
                  <a:tcPr marL="54864" marR="54864" marT="18288" marB="18288" anchor="ctr">
                    <a:solidFill>
                      <a:srgbClr val="FFFFFF"/>
                    </a:solidFill>
                  </a:tcPr>
                </a:tc>
                <a:tc>
                  <a:txBody>
                    <a:bodyPr wrap="square"/>
                    <a:lstStyle/>
                    <a:p>
                      <a:pPr algn="r"/>
                      <a:r>
                        <a:rPr sz="1000" b="0">
                          <a:solidFill>
                            <a:srgbClr val="1E2F5C"/>
                          </a:solidFill>
                          <a:latin typeface="Kanit"/>
                        </a:rPr>
                        <a:t>7.30%</a:t>
                      </a:r>
                    </a:p>
                  </a:txBody>
                  <a:tcPr marL="54864" marR="54864" marT="18288" marB="18288" anchor="ctr">
                    <a:solidFill>
                      <a:srgbClr val="FFFFFF"/>
                    </a:solidFill>
                  </a:tcPr>
                </a:tc>
              </a:tr>
              <a:tr h="274320">
                <a:tc>
                  <a:txBody>
                    <a:bodyPr wrap="square"/>
                    <a:lstStyle/>
                    <a:p>
                      <a:pPr algn="l"/>
                      <a:r>
                        <a:rPr sz="1000" b="1">
                          <a:solidFill>
                            <a:srgbClr val="1E2F5C"/>
                          </a:solidFill>
                          <a:latin typeface="Kanit"/>
                        </a:rPr>
                        <a:t>North</a:t>
                      </a:r>
                    </a:p>
                  </a:txBody>
                  <a:tcPr marL="54864" marR="54864" marT="18288" marB="18288" anchor="ctr">
                    <a:solidFill>
                      <a:srgbClr val="F7F9FC"/>
                    </a:solidFill>
                  </a:tcPr>
                </a:tc>
                <a:tc>
                  <a:txBody>
                    <a:bodyPr wrap="square"/>
                    <a:lstStyle/>
                    <a:p>
                      <a:pPr algn="r"/>
                      <a:r>
                        <a:rPr sz="1000" b="1">
                          <a:solidFill>
                            <a:srgbClr val="1E2F5C"/>
                          </a:solidFill>
                          <a:latin typeface="Kanit"/>
                        </a:rPr>
                        <a:t>5.69</a:t>
                      </a:r>
                    </a:p>
                  </a:txBody>
                  <a:tcPr marL="54864" marR="54864" marT="18288" marB="18288" anchor="ctr">
                    <a:solidFill>
                      <a:srgbClr val="F7F9FC"/>
                    </a:solidFill>
                  </a:tcPr>
                </a:tc>
                <a:tc>
                  <a:txBody>
                    <a:bodyPr wrap="square"/>
                    <a:lstStyle/>
                    <a:p>
                      <a:pPr algn="r"/>
                      <a:r>
                        <a:rPr sz="1000" b="1">
                          <a:solidFill>
                            <a:srgbClr val="1E2F5C"/>
                          </a:solidFill>
                          <a:latin typeface="Kanit"/>
                        </a:rPr>
                        <a:t>33.0%</a:t>
                      </a:r>
                    </a:p>
                  </a:txBody>
                  <a:tcPr marL="54864" marR="54864" marT="18288" marB="18288" anchor="ctr">
                    <a:solidFill>
                      <a:srgbClr val="F7F9FC"/>
                    </a:solidFill>
                  </a:tcPr>
                </a:tc>
                <a:tc>
                  <a:txBody>
                    <a:bodyPr wrap="square"/>
                    <a:lstStyle/>
                    <a:p>
                      <a:pPr algn="r"/>
                      <a:r>
                        <a:rPr sz="1000" b="0">
                          <a:solidFill>
                            <a:srgbClr val="CC0000"/>
                          </a:solidFill>
                          <a:latin typeface="Kanit"/>
                        </a:rPr>
                        <a:t>15.00%</a:t>
                      </a:r>
                    </a:p>
                  </a:txBody>
                  <a:tcPr marL="54864" marR="54864" marT="18288" marB="18288" anchor="ctr">
                    <a:solidFill>
                      <a:srgbClr val="F7F9FC"/>
                    </a:solidFill>
                  </a:tcPr>
                </a:tc>
                <a:tc>
                  <a:txBody>
                    <a:bodyPr wrap="square"/>
                    <a:lstStyle/>
                    <a:p>
                      <a:pPr algn="r"/>
                      <a:r>
                        <a:rPr sz="1000" b="1">
                          <a:solidFill>
                            <a:srgbClr val="CC0000"/>
                          </a:solidFill>
                          <a:latin typeface="Kanit"/>
                        </a:rPr>
                        <a:t>5.95%</a:t>
                      </a:r>
                    </a:p>
                  </a:txBody>
                  <a:tcPr marL="54864" marR="54864" marT="18288" marB="18288" anchor="ctr">
                    <a:solidFill>
                      <a:srgbClr val="F7F9FC"/>
                    </a:solidFill>
                  </a:tcPr>
                </a:tc>
                <a:tc>
                  <a:txBody>
                    <a:bodyPr wrap="square"/>
                    <a:lstStyle/>
                    <a:p>
                      <a:pPr algn="r"/>
                      <a:r>
                        <a:rPr sz="1000" b="0">
                          <a:solidFill>
                            <a:srgbClr val="1E2F5C"/>
                          </a:solidFill>
                          <a:latin typeface="Kanit"/>
                        </a:rPr>
                        <a:t>7.27%</a:t>
                      </a:r>
                    </a:p>
                  </a:txBody>
                  <a:tcPr marL="54864" marR="54864" marT="18288" marB="18288" anchor="ctr">
                    <a:solidFill>
                      <a:srgbClr val="F7F9FC"/>
                    </a:solidFill>
                  </a:tcPr>
                </a:tc>
                <a:tc>
                  <a:txBody>
                    <a:bodyPr wrap="square"/>
                    <a:lstStyle/>
                    <a:p>
                      <a:pPr algn="r"/>
                      <a:r>
                        <a:rPr sz="1000" b="0">
                          <a:solidFill>
                            <a:srgbClr val="1E2F5C"/>
                          </a:solidFill>
                          <a:latin typeface="Kanit"/>
                        </a:rPr>
                        <a:t>5.22%</a:t>
                      </a:r>
                    </a:p>
                  </a:txBody>
                  <a:tcPr marL="54864" marR="54864" marT="18288" marB="18288" anchor="ctr">
                    <a:solidFill>
                      <a:srgbClr val="F7F9FC"/>
                    </a:solidFill>
                  </a:tcPr>
                </a:tc>
              </a:tr>
              <a:tr h="274320">
                <a:tc>
                  <a:txBody>
                    <a:bodyPr wrap="square"/>
                    <a:lstStyle/>
                    <a:p>
                      <a:pPr algn="l"/>
                      <a:r>
                        <a:rPr sz="1000" b="1">
                          <a:solidFill>
                            <a:srgbClr val="1E2F5C"/>
                          </a:solidFill>
                          <a:latin typeface="Kanit"/>
                        </a:rPr>
                        <a:t>South</a:t>
                      </a:r>
                    </a:p>
                  </a:txBody>
                  <a:tcPr marL="54864" marR="54864" marT="18288" marB="18288" anchor="ctr">
                    <a:solidFill>
                      <a:srgbClr val="FFFFFF"/>
                    </a:solidFill>
                  </a:tcPr>
                </a:tc>
                <a:tc>
                  <a:txBody>
                    <a:bodyPr wrap="square"/>
                    <a:lstStyle/>
                    <a:p>
                      <a:pPr algn="r"/>
                      <a:r>
                        <a:rPr sz="1000" b="1">
                          <a:solidFill>
                            <a:srgbClr val="1E2F5C"/>
                          </a:solidFill>
                          <a:latin typeface="Kanit"/>
                        </a:rPr>
                        <a:t>5.53</a:t>
                      </a:r>
                    </a:p>
                  </a:txBody>
                  <a:tcPr marL="54864" marR="54864" marT="18288" marB="18288" anchor="ctr">
                    <a:solidFill>
                      <a:srgbClr val="FFFFFF"/>
                    </a:solidFill>
                  </a:tcPr>
                </a:tc>
                <a:tc>
                  <a:txBody>
                    <a:bodyPr wrap="square"/>
                    <a:lstStyle/>
                    <a:p>
                      <a:pPr algn="r"/>
                      <a:r>
                        <a:rPr sz="1000" b="1">
                          <a:solidFill>
                            <a:srgbClr val="1E2F5C"/>
                          </a:solidFill>
                          <a:latin typeface="Kanit"/>
                        </a:rPr>
                        <a:t>35.7%</a:t>
                      </a:r>
                    </a:p>
                  </a:txBody>
                  <a:tcPr marL="54864" marR="54864" marT="18288" marB="18288" anchor="ctr">
                    <a:solidFill>
                      <a:srgbClr val="FFFFFF"/>
                    </a:solidFill>
                  </a:tcPr>
                </a:tc>
                <a:tc>
                  <a:txBody>
                    <a:bodyPr wrap="square"/>
                    <a:lstStyle/>
                    <a:p>
                      <a:pPr algn="r"/>
                      <a:r>
                        <a:rPr sz="1000" b="0">
                          <a:solidFill>
                            <a:srgbClr val="1E2F5C"/>
                          </a:solidFill>
                          <a:latin typeface="Kanit"/>
                        </a:rPr>
                        <a:t>12.01%</a:t>
                      </a:r>
                    </a:p>
                  </a:txBody>
                  <a:tcPr marL="54864" marR="54864" marT="18288" marB="18288" anchor="ctr">
                    <a:solidFill>
                      <a:srgbClr val="FFFFFF"/>
                    </a:solidFill>
                  </a:tcPr>
                </a:tc>
                <a:tc>
                  <a:txBody>
                    <a:bodyPr wrap="square"/>
                    <a:lstStyle/>
                    <a:p>
                      <a:pPr algn="r"/>
                      <a:r>
                        <a:rPr sz="1000" b="1">
                          <a:solidFill>
                            <a:srgbClr val="CC0000"/>
                          </a:solidFill>
                          <a:latin typeface="Kanit"/>
                        </a:rPr>
                        <a:t>5.53%</a:t>
                      </a:r>
                    </a:p>
                  </a:txBody>
                  <a:tcPr marL="54864" marR="54864" marT="18288" marB="18288" anchor="ctr">
                    <a:solidFill>
                      <a:srgbClr val="FFFFFF"/>
                    </a:solidFill>
                  </a:tcPr>
                </a:tc>
                <a:tc>
                  <a:txBody>
                    <a:bodyPr wrap="square"/>
                    <a:lstStyle/>
                    <a:p>
                      <a:pPr algn="r"/>
                      <a:r>
                        <a:rPr sz="1000" b="0">
                          <a:solidFill>
                            <a:srgbClr val="1E2F5C"/>
                          </a:solidFill>
                          <a:latin typeface="Kanit"/>
                        </a:rPr>
                        <a:t>6.54%</a:t>
                      </a:r>
                    </a:p>
                  </a:txBody>
                  <a:tcPr marL="54864" marR="54864" marT="18288" marB="18288" anchor="ctr">
                    <a:solidFill>
                      <a:srgbClr val="FFFFFF"/>
                    </a:solidFill>
                  </a:tcPr>
                </a:tc>
                <a:tc>
                  <a:txBody>
                    <a:bodyPr wrap="square"/>
                    <a:lstStyle/>
                    <a:p>
                      <a:pPr algn="r"/>
                      <a:r>
                        <a:rPr sz="1000" b="0">
                          <a:solidFill>
                            <a:srgbClr val="1E2F5C"/>
                          </a:solidFill>
                          <a:latin typeface="Kanit"/>
                        </a:rPr>
                        <a:t>6.98%</a:t>
                      </a:r>
                    </a:p>
                  </a:txBody>
                  <a:tcPr marL="54864" marR="54864" marT="18288" marB="18288" anchor="ctr">
                    <a:solidFill>
                      <a:srgbClr val="FFFFFF"/>
                    </a:solidFill>
                  </a:tcPr>
                </a:tc>
              </a:tr>
            </a:tbl>
          </a:graphicData>
        </a:graphic>
      </p:graphicFrame>
      <p:sp>
        <p:nvSpPr>
          <p:cNvPr id="26" name="Rounded Rectangle 25"/>
          <p:cNvSpPr/>
          <p:nvPr/>
        </p:nvSpPr>
        <p:spPr>
          <a:xfrm>
            <a:off x="411480" y="4206240"/>
            <a:ext cx="754177" cy="192024"/>
          </a:xfrm>
          <a:prstGeom prst="roundRect">
            <a:avLst>
              <a:gd name="adj" fmla="val 50000"/>
            </a:avLst>
          </a:prstGeom>
          <a:noFill/>
          <a:ln w="9525">
            <a:solidFill>
              <a:srgbClr val="15795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411480" y="4235500"/>
            <a:ext cx="754177" cy="134112"/>
          </a:xfrm>
          <a:prstGeom prst="rect">
            <a:avLst/>
          </a:prstGeom>
          <a:noFill/>
        </p:spPr>
        <p:txBody>
          <a:bodyPr wrap="square" lIns="0" rIns="0" tIns="0" bIns="0" anchor="t">
            <a:noAutofit/>
          </a:bodyPr>
          <a:lstStyle/>
          <a:p>
            <a:pPr algn="ctr">
              <a:lnSpc>
                <a:spcPts val="1056"/>
              </a:lnSpc>
            </a:pPr>
            <a:r>
              <a:rPr sz="800" b="1">
                <a:solidFill>
                  <a:srgbClr val="15795F"/>
                </a:solidFill>
                <a:latin typeface="Kanit"/>
              </a:rPr>
              <a:t>MEASURED</a:t>
            </a:r>
          </a:p>
        </p:txBody>
      </p:sp>
      <p:sp>
        <p:nvSpPr>
          <p:cNvPr id="28" name="TextBox 27"/>
          <p:cNvSpPr txBox="1"/>
          <p:nvPr/>
        </p:nvSpPr>
        <p:spPr>
          <a:xfrm>
            <a:off x="1275385" y="4219955"/>
            <a:ext cx="10502086" cy="308610"/>
          </a:xfrm>
          <a:prstGeom prst="rect">
            <a:avLst/>
          </a:prstGeom>
          <a:noFill/>
        </p:spPr>
        <p:txBody>
          <a:bodyPr wrap="square" lIns="0" rIns="0" tIns="0" bIns="0" anchor="t">
            <a:noAutofit/>
          </a:bodyPr>
          <a:lstStyle/>
          <a:p>
            <a:pPr algn="l">
              <a:lnSpc>
                <a:spcPts val="1215"/>
              </a:lnSpc>
            </a:pPr>
            <a:r>
              <a:rPr sz="900" b="0">
                <a:solidFill>
                  <a:srgbClr val="606060"/>
                </a:solidFill>
                <a:latin typeface="Kanit"/>
              </a:rPr>
              <a:t>Left half from the real loan tape; right half from DLT registered stock and ownership-transfer counts by region and vehicle class, plus MOT fleet totals. Turnover is transfers divided by registered stock — how much of the parc changes hands in a year, which is the depth a repossession has to be sold into.</a:t>
            </a:r>
          </a:p>
        </p:txBody>
      </p:sp>
      <p:sp>
        <p:nvSpPr>
          <p:cNvPr id="29" name="Rectangle 28"/>
          <p:cNvSpPr/>
          <p:nvPr/>
        </p:nvSpPr>
        <p:spPr>
          <a:xfrm>
            <a:off x="411480" y="4697729"/>
            <a:ext cx="5568696" cy="1518158"/>
          </a:xfrm>
          <a:prstGeom prst="rect">
            <a:avLst/>
          </a:prstGeom>
          <a:solidFill>
            <a:srgbClr val="FCEFE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Rectangle 29"/>
          <p:cNvSpPr/>
          <p:nvPr/>
        </p:nvSpPr>
        <p:spPr>
          <a:xfrm>
            <a:off x="411480" y="4697729"/>
            <a:ext cx="50292" cy="151815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1" name="TextBox 30"/>
          <p:cNvSpPr txBox="1"/>
          <p:nvPr/>
        </p:nvSpPr>
        <p:spPr>
          <a:xfrm>
            <a:off x="630936" y="4844033"/>
            <a:ext cx="5239512" cy="158750"/>
          </a:xfrm>
          <a:prstGeom prst="rect">
            <a:avLst/>
          </a:prstGeom>
          <a:noFill/>
        </p:spPr>
        <p:txBody>
          <a:bodyPr wrap="square" lIns="0" rIns="0" tIns="0" bIns="0" anchor="t">
            <a:noAutofit/>
          </a:bodyPr>
          <a:lstStyle/>
          <a:p>
            <a:pPr algn="l">
              <a:lnSpc>
                <a:spcPts val="1250"/>
              </a:lnSpc>
            </a:pPr>
            <a:r>
              <a:rPr sz="950" b="1">
                <a:solidFill>
                  <a:srgbClr val="CC0000"/>
                </a:solidFill>
                <a:latin typeface="Kanit"/>
              </a:rPr>
              <a:t>Depth is thinnest exactly where our money is</a:t>
            </a:r>
          </a:p>
        </p:txBody>
      </p:sp>
      <p:sp>
        <p:nvSpPr>
          <p:cNvPr id="32" name="TextBox 31"/>
          <p:cNvSpPr txBox="1"/>
          <p:nvPr/>
        </p:nvSpPr>
        <p:spPr>
          <a:xfrm>
            <a:off x="630936" y="5048503"/>
            <a:ext cx="5239512" cy="102108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Transfers run 5.2–7.6% of registered pickups a year against 5.6–10.2% for cars. Pickup — 38.3% of outstanding — turns over more slowly than the class we hold less of, in every region. A thinner secondary market means a longer disposal and a wider discount on the way out.
The East is the sharpest version: 44.6% of its book is pickup and it has the slowest pickup turnover in the country at 5.21%.</a:t>
            </a:r>
          </a:p>
        </p:txBody>
      </p:sp>
      <p:sp>
        <p:nvSpPr>
          <p:cNvPr id="33" name="Rectangle 32"/>
          <p:cNvSpPr/>
          <p:nvPr/>
        </p:nvSpPr>
        <p:spPr>
          <a:xfrm>
            <a:off x="6208776" y="4697729"/>
            <a:ext cx="5568696" cy="1688338"/>
          </a:xfrm>
          <a:prstGeom prst="rect">
            <a:avLst/>
          </a:prstGeom>
          <a:solidFill>
            <a:srgbClr val="FDF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4" name="Rectangle 33"/>
          <p:cNvSpPr/>
          <p:nvPr/>
        </p:nvSpPr>
        <p:spPr>
          <a:xfrm>
            <a:off x="6208776" y="4697729"/>
            <a:ext cx="50292" cy="1688338"/>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5" name="TextBox 34"/>
          <p:cNvSpPr txBox="1"/>
          <p:nvPr/>
        </p:nvSpPr>
        <p:spPr>
          <a:xfrm>
            <a:off x="6428232" y="4844033"/>
            <a:ext cx="5239512" cy="158750"/>
          </a:xfrm>
          <a:prstGeom prst="rect">
            <a:avLst/>
          </a:prstGeom>
          <a:noFill/>
        </p:spPr>
        <p:txBody>
          <a:bodyPr wrap="square" lIns="0" rIns="0" tIns="0" bIns="0" anchor="t">
            <a:noAutofit/>
          </a:bodyPr>
          <a:lstStyle/>
          <a:p>
            <a:pPr algn="l">
              <a:lnSpc>
                <a:spcPts val="1250"/>
              </a:lnSpc>
            </a:pPr>
            <a:r>
              <a:rPr sz="950" b="1">
                <a:solidFill>
                  <a:srgbClr val="9A7411"/>
                </a:solidFill>
                <a:latin typeface="Kanit"/>
              </a:rPr>
              <a:t>Electrification is a clock, not a problem</a:t>
            </a:r>
          </a:p>
        </p:txBody>
      </p:sp>
      <p:sp>
        <p:nvSpPr>
          <p:cNvPr id="36" name="TextBox 35"/>
          <p:cNvSpPr txBox="1"/>
          <p:nvPr/>
        </p:nvSpPr>
        <p:spPr>
          <a:xfrm>
            <a:off x="6428232" y="5048503"/>
            <a:ext cx="5239512" cy="119126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BEVs are 0.95% of the fleet and electrified vehicles 2.57%. Nothing we hold today is priced by that.
But our collateral has a five-to-ten-year resale tail, and the fleet mix that decides recoveries in 2032 is being registered now — a fifth of new cars are already brands with no Thai residual history. The decision this asks for is about how we price those titles, not about this quarter's book.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10 · CONDITIONS AT OUR GRAIN</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Five lenses, from the country down to a branch.</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Rounded Rectangle 8"/>
          <p:cNvSpPr/>
          <p:nvPr/>
        </p:nvSpPr>
        <p:spPr>
          <a:xfrm>
            <a:off x="411480" y="1152144"/>
            <a:ext cx="3697223" cy="1060704"/>
          </a:xfrm>
          <a:prstGeom prst="roundRect">
            <a:avLst>
              <a:gd name="adj" fmla="val 7758"/>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548640" y="1252728"/>
            <a:ext cx="3422904"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Labour force</a:t>
            </a:r>
          </a:p>
        </p:txBody>
      </p:sp>
      <p:sp>
        <p:nvSpPr>
          <p:cNvPr id="11" name="TextBox 10"/>
          <p:cNvSpPr txBox="1"/>
          <p:nvPr/>
        </p:nvSpPr>
        <p:spPr>
          <a:xfrm>
            <a:off x="548640" y="1426464"/>
            <a:ext cx="3422904" cy="330200"/>
          </a:xfrm>
          <a:prstGeom prst="rect">
            <a:avLst/>
          </a:prstGeom>
          <a:noFill/>
        </p:spPr>
        <p:txBody>
          <a:bodyPr wrap="square" lIns="0" rIns="0" tIns="0" bIns="0" anchor="t">
            <a:noAutofit/>
          </a:bodyPr>
          <a:lstStyle/>
          <a:p>
            <a:pPr algn="l">
              <a:lnSpc>
                <a:spcPts val="2600"/>
              </a:lnSpc>
            </a:pPr>
            <a:r>
              <a:rPr sz="2100" b="1">
                <a:solidFill>
                  <a:srgbClr val="1E2F5C"/>
                </a:solidFill>
                <a:latin typeface="Kanit"/>
              </a:rPr>
              <a:t>41.9M</a:t>
            </a:r>
          </a:p>
        </p:txBody>
      </p:sp>
      <p:sp>
        <p:nvSpPr>
          <p:cNvPr id="12" name="TextBox 11"/>
          <p:cNvSpPr txBox="1"/>
          <p:nvPr/>
        </p:nvSpPr>
        <p:spPr>
          <a:xfrm>
            <a:off x="548640" y="1792224"/>
            <a:ext cx="3422904" cy="347471"/>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unemployment 0.94% · seasonal idle 0.77% (325k waiting)</a:t>
            </a:r>
          </a:p>
        </p:txBody>
      </p:sp>
      <p:sp>
        <p:nvSpPr>
          <p:cNvPr id="13" name="Rounded Rectangle 12"/>
          <p:cNvSpPr/>
          <p:nvPr/>
        </p:nvSpPr>
        <p:spPr>
          <a:xfrm>
            <a:off x="4245864" y="1152144"/>
            <a:ext cx="3697223" cy="1060704"/>
          </a:xfrm>
          <a:prstGeom prst="roundRect">
            <a:avLst>
              <a:gd name="adj" fmla="val 7758"/>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4383024" y="1252728"/>
            <a:ext cx="3422904"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Informality</a:t>
            </a:r>
          </a:p>
        </p:txBody>
      </p:sp>
      <p:sp>
        <p:nvSpPr>
          <p:cNvPr id="15" name="TextBox 14"/>
          <p:cNvSpPr txBox="1"/>
          <p:nvPr/>
        </p:nvSpPr>
        <p:spPr>
          <a:xfrm>
            <a:off x="4383024" y="1426464"/>
            <a:ext cx="3422904" cy="330200"/>
          </a:xfrm>
          <a:prstGeom prst="rect">
            <a:avLst/>
          </a:prstGeom>
          <a:noFill/>
        </p:spPr>
        <p:txBody>
          <a:bodyPr wrap="square" lIns="0" rIns="0" tIns="0" bIns="0" anchor="t">
            <a:noAutofit/>
          </a:bodyPr>
          <a:lstStyle/>
          <a:p>
            <a:pPr algn="l">
              <a:lnSpc>
                <a:spcPts val="2600"/>
              </a:lnSpc>
            </a:pPr>
            <a:r>
              <a:rPr sz="2100" b="1">
                <a:solidFill>
                  <a:srgbClr val="F5C242"/>
                </a:solidFill>
                <a:latin typeface="Kanit"/>
              </a:rPr>
              <a:t>63.2%</a:t>
            </a:r>
          </a:p>
        </p:txBody>
      </p:sp>
      <p:sp>
        <p:nvSpPr>
          <p:cNvPr id="16" name="TextBox 15"/>
          <p:cNvSpPr txBox="1"/>
          <p:nvPr/>
        </p:nvSpPr>
        <p:spPr>
          <a:xfrm>
            <a:off x="4383024" y="1792224"/>
            <a:ext cx="3422904" cy="347471"/>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of employment has no payslip or social cover — our core demographic (2024)</a:t>
            </a:r>
          </a:p>
        </p:txBody>
      </p:sp>
      <p:sp>
        <p:nvSpPr>
          <p:cNvPr id="17" name="Rounded Rectangle 16"/>
          <p:cNvSpPr/>
          <p:nvPr/>
        </p:nvSpPr>
        <p:spPr>
          <a:xfrm>
            <a:off x="8080247" y="1152144"/>
            <a:ext cx="3697223" cy="1060704"/>
          </a:xfrm>
          <a:prstGeom prst="roundRect">
            <a:avLst>
              <a:gd name="adj" fmla="val 7758"/>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8217408" y="1252728"/>
            <a:ext cx="3422904"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Vehicle fleet</a:t>
            </a:r>
          </a:p>
        </p:txBody>
      </p:sp>
      <p:sp>
        <p:nvSpPr>
          <p:cNvPr id="19" name="TextBox 18"/>
          <p:cNvSpPr txBox="1"/>
          <p:nvPr/>
        </p:nvSpPr>
        <p:spPr>
          <a:xfrm>
            <a:off x="8217408" y="1426464"/>
            <a:ext cx="3422904" cy="330200"/>
          </a:xfrm>
          <a:prstGeom prst="rect">
            <a:avLst/>
          </a:prstGeom>
          <a:noFill/>
        </p:spPr>
        <p:txBody>
          <a:bodyPr wrap="square" lIns="0" rIns="0" tIns="0" bIns="0" anchor="t">
            <a:noAutofit/>
          </a:bodyPr>
          <a:lstStyle/>
          <a:p>
            <a:pPr algn="l">
              <a:lnSpc>
                <a:spcPts val="2600"/>
              </a:lnSpc>
            </a:pPr>
            <a:r>
              <a:rPr sz="2100" b="1">
                <a:solidFill>
                  <a:srgbClr val="1E2F5C"/>
                </a:solidFill>
                <a:latin typeface="Kanit"/>
              </a:rPr>
              <a:t>44.3M</a:t>
            </a:r>
          </a:p>
        </p:txBody>
      </p:sp>
      <p:sp>
        <p:nvSpPr>
          <p:cNvPr id="20" name="TextBox 19"/>
          <p:cNvSpPr txBox="1"/>
          <p:nvPr/>
        </p:nvSpPr>
        <p:spPr>
          <a:xfrm>
            <a:off x="8217408" y="1792224"/>
            <a:ext cx="3422904" cy="347471"/>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diesel 56.3% · electrified 2.57% · BEV 0.95%</a:t>
            </a:r>
          </a:p>
        </p:txBody>
      </p:sp>
      <p:sp>
        <p:nvSpPr>
          <p:cNvPr id="21" name="Rounded Rectangle 20"/>
          <p:cNvSpPr/>
          <p:nvPr/>
        </p:nvSpPr>
        <p:spPr>
          <a:xfrm>
            <a:off x="411480" y="2350008"/>
            <a:ext cx="3697223" cy="1060704"/>
          </a:xfrm>
          <a:prstGeom prst="roundRect">
            <a:avLst>
              <a:gd name="adj" fmla="val 7758"/>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548640" y="2450591"/>
            <a:ext cx="3422904"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Districts dry</a:t>
            </a:r>
          </a:p>
        </p:txBody>
      </p:sp>
      <p:sp>
        <p:nvSpPr>
          <p:cNvPr id="23" name="TextBox 22"/>
          <p:cNvSpPr txBox="1"/>
          <p:nvPr/>
        </p:nvSpPr>
        <p:spPr>
          <a:xfrm>
            <a:off x="548640" y="2624327"/>
            <a:ext cx="3422904" cy="330200"/>
          </a:xfrm>
          <a:prstGeom prst="rect">
            <a:avLst/>
          </a:prstGeom>
          <a:noFill/>
        </p:spPr>
        <p:txBody>
          <a:bodyPr wrap="square" lIns="0" rIns="0" tIns="0" bIns="0" anchor="t">
            <a:noAutofit/>
          </a:bodyPr>
          <a:lstStyle/>
          <a:p>
            <a:pPr algn="l">
              <a:lnSpc>
                <a:spcPts val="2600"/>
              </a:lnSpc>
            </a:pPr>
            <a:r>
              <a:rPr sz="2100" b="1">
                <a:solidFill>
                  <a:srgbClr val="CC0000"/>
                </a:solidFill>
                <a:latin typeface="Kanit"/>
              </a:rPr>
              <a:t>36.4%</a:t>
            </a:r>
          </a:p>
        </p:txBody>
      </p:sp>
      <p:sp>
        <p:nvSpPr>
          <p:cNvPr id="24" name="TextBox 23"/>
          <p:cNvSpPr txBox="1"/>
          <p:nvPr/>
        </p:nvSpPr>
        <p:spPr>
          <a:xfrm>
            <a:off x="548640" y="2990087"/>
            <a:ext cx="3422904" cy="347471"/>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338 of 928 · 134 of 794 river stations above high mark</a:t>
            </a:r>
          </a:p>
        </p:txBody>
      </p:sp>
      <p:sp>
        <p:nvSpPr>
          <p:cNvPr id="25" name="Rounded Rectangle 24"/>
          <p:cNvSpPr/>
          <p:nvPr/>
        </p:nvSpPr>
        <p:spPr>
          <a:xfrm>
            <a:off x="4245864" y="2350008"/>
            <a:ext cx="3697223" cy="1060704"/>
          </a:xfrm>
          <a:prstGeom prst="roundRect">
            <a:avLst>
              <a:gd name="adj" fmla="val 7758"/>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4383024" y="2450591"/>
            <a:ext cx="3422904"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Household debt</a:t>
            </a:r>
          </a:p>
        </p:txBody>
      </p:sp>
      <p:sp>
        <p:nvSpPr>
          <p:cNvPr id="27" name="TextBox 26"/>
          <p:cNvSpPr txBox="1"/>
          <p:nvPr/>
        </p:nvSpPr>
        <p:spPr>
          <a:xfrm>
            <a:off x="4383024" y="2624327"/>
            <a:ext cx="3422904" cy="330200"/>
          </a:xfrm>
          <a:prstGeom prst="rect">
            <a:avLst/>
          </a:prstGeom>
          <a:noFill/>
        </p:spPr>
        <p:txBody>
          <a:bodyPr wrap="square" lIns="0" rIns="0" tIns="0" bIns="0" anchor="t">
            <a:noAutofit/>
          </a:bodyPr>
          <a:lstStyle/>
          <a:p>
            <a:pPr algn="l">
              <a:lnSpc>
                <a:spcPts val="2600"/>
              </a:lnSpc>
            </a:pPr>
            <a:r>
              <a:rPr sz="2100" b="1">
                <a:solidFill>
                  <a:srgbClr val="F5C242"/>
                </a:solidFill>
                <a:latin typeface="Kanit"/>
              </a:rPr>
              <a:t>฿163,930</a:t>
            </a:r>
          </a:p>
        </p:txBody>
      </p:sp>
      <p:sp>
        <p:nvSpPr>
          <p:cNvPr id="28" name="TextBox 27"/>
          <p:cNvSpPr txBox="1"/>
          <p:nvPr/>
        </p:nvSpPr>
        <p:spPr>
          <a:xfrm>
            <a:off x="4383024" y="2990087"/>
            <a:ext cx="3422904" cy="347471"/>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per indebted household · 45.0% carry debt · income ฿26,069/month</a:t>
            </a:r>
          </a:p>
        </p:txBody>
      </p:sp>
      <p:sp>
        <p:nvSpPr>
          <p:cNvPr id="29" name="Rounded Rectangle 28"/>
          <p:cNvSpPr/>
          <p:nvPr/>
        </p:nvSpPr>
        <p:spPr>
          <a:xfrm>
            <a:off x="8080247" y="2350008"/>
            <a:ext cx="3697223" cy="1060704"/>
          </a:xfrm>
          <a:prstGeom prst="roundRect">
            <a:avLst>
              <a:gd name="adj" fmla="val 7758"/>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8217408" y="2450591"/>
            <a:ext cx="3422904"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No cushion</a:t>
            </a:r>
          </a:p>
        </p:txBody>
      </p:sp>
      <p:sp>
        <p:nvSpPr>
          <p:cNvPr id="31" name="TextBox 30"/>
          <p:cNvSpPr txBox="1"/>
          <p:nvPr/>
        </p:nvSpPr>
        <p:spPr>
          <a:xfrm>
            <a:off x="8217408" y="2624327"/>
            <a:ext cx="3422904" cy="330200"/>
          </a:xfrm>
          <a:prstGeom prst="rect">
            <a:avLst/>
          </a:prstGeom>
          <a:noFill/>
        </p:spPr>
        <p:txBody>
          <a:bodyPr wrap="square" lIns="0" rIns="0" tIns="0" bIns="0" anchor="t">
            <a:noAutofit/>
          </a:bodyPr>
          <a:lstStyle/>
          <a:p>
            <a:pPr algn="l">
              <a:lnSpc>
                <a:spcPts val="2600"/>
              </a:lnSpc>
            </a:pPr>
            <a:r>
              <a:rPr sz="2100" b="1">
                <a:solidFill>
                  <a:srgbClr val="CC0000"/>
                </a:solidFill>
                <a:latin typeface="Kanit"/>
              </a:rPr>
              <a:t>60%</a:t>
            </a:r>
          </a:p>
        </p:txBody>
      </p:sp>
      <p:sp>
        <p:nvSpPr>
          <p:cNvPr id="32" name="TextBox 31"/>
          <p:cNvSpPr txBox="1"/>
          <p:nvPr/>
        </p:nvSpPr>
        <p:spPr>
          <a:xfrm>
            <a:off x="8217408" y="2990087"/>
            <a:ext cx="3422904" cy="347471"/>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could not cover three months without income · 10.0% classed vulnerable</a:t>
            </a:r>
          </a:p>
        </p:txBody>
      </p:sp>
      <p:sp>
        <p:nvSpPr>
          <p:cNvPr id="33" name="Rounded Rectangle 32"/>
          <p:cNvSpPr/>
          <p:nvPr/>
        </p:nvSpPr>
        <p:spPr>
          <a:xfrm>
            <a:off x="411480" y="3575304"/>
            <a:ext cx="754177" cy="192024"/>
          </a:xfrm>
          <a:prstGeom prst="roundRect">
            <a:avLst>
              <a:gd name="adj" fmla="val 50000"/>
            </a:avLst>
          </a:prstGeom>
          <a:noFill/>
          <a:ln w="9525">
            <a:solidFill>
              <a:srgbClr val="15795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4" name="TextBox 33"/>
          <p:cNvSpPr txBox="1"/>
          <p:nvPr/>
        </p:nvSpPr>
        <p:spPr>
          <a:xfrm>
            <a:off x="411480" y="3604564"/>
            <a:ext cx="754177" cy="134112"/>
          </a:xfrm>
          <a:prstGeom prst="rect">
            <a:avLst/>
          </a:prstGeom>
          <a:noFill/>
        </p:spPr>
        <p:txBody>
          <a:bodyPr wrap="square" lIns="0" rIns="0" tIns="0" bIns="0" anchor="t">
            <a:noAutofit/>
          </a:bodyPr>
          <a:lstStyle/>
          <a:p>
            <a:pPr algn="ctr">
              <a:lnSpc>
                <a:spcPts val="1056"/>
              </a:lnSpc>
            </a:pPr>
            <a:r>
              <a:rPr sz="800" b="1">
                <a:solidFill>
                  <a:srgbClr val="15795F"/>
                </a:solidFill>
                <a:latin typeface="Kanit"/>
              </a:rPr>
              <a:t>MEASURED</a:t>
            </a:r>
          </a:p>
        </p:txBody>
      </p:sp>
      <p:sp>
        <p:nvSpPr>
          <p:cNvPr id="35" name="TextBox 34"/>
          <p:cNvSpPr txBox="1"/>
          <p:nvPr/>
        </p:nvSpPr>
        <p:spPr>
          <a:xfrm>
            <a:off x="1275385" y="3589020"/>
            <a:ext cx="10502086" cy="308610"/>
          </a:xfrm>
          <a:prstGeom prst="rect">
            <a:avLst/>
          </a:prstGeom>
          <a:noFill/>
        </p:spPr>
        <p:txBody>
          <a:bodyPr wrap="square" lIns="0" rIns="0" tIns="0" bIns="0" anchor="t">
            <a:noAutofit/>
          </a:bodyPr>
          <a:lstStyle/>
          <a:p>
            <a:pPr algn="l">
              <a:lnSpc>
                <a:spcPts val="1215"/>
              </a:lnSpc>
            </a:pPr>
            <a:r>
              <a:rPr sz="900" b="0">
                <a:solidFill>
                  <a:srgbClr val="606060"/>
                </a:solidFill>
                <a:latin typeface="Kanit"/>
              </a:rPr>
              <a:t>NSO Labour Force Survey · ILOSTAT mirror of Thailand’s official submissions · DLT registry · MOT · DBD business registrations · ThaiWater telemetry · BoT. Every lens rolls national → region → province → branch on its own correct weight — labour force, fleet stock, account count, district count — with our outstanding beside it at each level. Never a plain average of provinces.</a:t>
            </a:r>
          </a:p>
        </p:txBody>
      </p:sp>
      <p:sp>
        <p:nvSpPr>
          <p:cNvPr id="36" name="Rectangle 35"/>
          <p:cNvSpPr/>
          <p:nvPr/>
        </p:nvSpPr>
        <p:spPr>
          <a:xfrm>
            <a:off x="411480" y="4048506"/>
            <a:ext cx="11365992" cy="1033144"/>
          </a:xfrm>
          <a:prstGeom prst="rect">
            <a:avLst/>
          </a:prstGeom>
          <a:solidFill>
            <a:srgbClr val="FDF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Rectangle 36"/>
          <p:cNvSpPr/>
          <p:nvPr/>
        </p:nvSpPr>
        <p:spPr>
          <a:xfrm>
            <a:off x="411480" y="4048506"/>
            <a:ext cx="50292" cy="1033144"/>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8" name="TextBox 37"/>
          <p:cNvSpPr txBox="1"/>
          <p:nvPr/>
        </p:nvSpPr>
        <p:spPr>
          <a:xfrm>
            <a:off x="630936" y="4194810"/>
            <a:ext cx="11036808" cy="158750"/>
          </a:xfrm>
          <a:prstGeom prst="rect">
            <a:avLst/>
          </a:prstGeom>
          <a:noFill/>
        </p:spPr>
        <p:txBody>
          <a:bodyPr wrap="square" lIns="0" rIns="0" tIns="0" bIns="0" anchor="t">
            <a:noAutofit/>
          </a:bodyPr>
          <a:lstStyle/>
          <a:p>
            <a:pPr algn="l">
              <a:lnSpc>
                <a:spcPts val="1250"/>
              </a:lnSpc>
            </a:pPr>
            <a:r>
              <a:rPr sz="950" b="1">
                <a:solidFill>
                  <a:srgbClr val="9A7411"/>
                </a:solidFill>
                <a:latin typeface="Kanit"/>
              </a:rPr>
              <a:t>Read 0.94% unemployment together with 63.2% informality, never instead of it</a:t>
            </a:r>
          </a:p>
        </p:txBody>
      </p:sp>
      <p:sp>
        <p:nvSpPr>
          <p:cNvPr id="39" name="TextBox 38"/>
          <p:cNvSpPr txBox="1"/>
          <p:nvPr/>
        </p:nvSpPr>
        <p:spPr>
          <a:xfrm>
            <a:off x="630936" y="4399280"/>
            <a:ext cx="11036808" cy="536067"/>
          </a:xfrm>
          <a:prstGeom prst="rect">
            <a:avLst/>
          </a:prstGeom>
          <a:noFill/>
        </p:spPr>
        <p:txBody>
          <a:bodyPr wrap="square" lIns="0" rIns="0" tIns="0" bIns="0" anchor="t">
            <a:noAutofit/>
          </a:bodyPr>
          <a:lstStyle/>
          <a:p>
            <a:pPr algn="l">
              <a:lnSpc>
                <a:spcPts val="1407"/>
              </a:lnSpc>
            </a:pPr>
            <a:r>
              <a:rPr sz="1050" b="0">
                <a:solidFill>
                  <a:srgbClr val="1E2F5C"/>
                </a:solidFill>
                <a:latin typeface="Kanit"/>
              </a:rPr>
              <a:t>Headline unemployment is structurally near zero in Thailand because informal work absorbs the slack. A borrower who loses formal work does not appear in the unemployment number — they appear in the informal count, on a lower and less predictable income. The unemployment rate is not a stress signal for this book. Informality, the seasonal-idle share and the cushion figure are.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11 · LIVE</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The one feed that changes daily.</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TextBox 8"/>
          <p:cNvSpPr txBox="1"/>
          <p:nvPr/>
        </p:nvSpPr>
        <p:spPr>
          <a:xfrm>
            <a:off x="411480" y="1152144"/>
            <a:ext cx="11365992" cy="190500"/>
          </a:xfrm>
          <a:prstGeom prst="rect">
            <a:avLst/>
          </a:prstGeom>
          <a:noFill/>
        </p:spPr>
        <p:txBody>
          <a:bodyPr wrap="square" lIns="0" rIns="0" tIns="0" bIns="0" anchor="t">
            <a:noAutofit/>
          </a:bodyPr>
          <a:lstStyle/>
          <a:p>
            <a:pPr algn="l">
              <a:lnSpc>
                <a:spcPts val="1500"/>
              </a:lnSpc>
            </a:pPr>
            <a:r>
              <a:rPr sz="1100" b="0">
                <a:solidFill>
                  <a:srgbClr val="606060"/>
                </a:solidFill>
                <a:latin typeface="Kanit"/>
              </a:rPr>
              <a:t>Everything else on this tab is monthly or quarterly. River levels and rainfall are pulled every day from ThaiWater — the early-warning layer under the drought and flood picture.</a:t>
            </a:r>
          </a:p>
        </p:txBody>
      </p:sp>
      <p:sp>
        <p:nvSpPr>
          <p:cNvPr id="10" name="Rounded Rectangle 9"/>
          <p:cNvSpPr/>
          <p:nvPr/>
        </p:nvSpPr>
        <p:spPr>
          <a:xfrm>
            <a:off x="411480" y="1488948"/>
            <a:ext cx="2738628" cy="1024128"/>
          </a:xfrm>
          <a:prstGeom prst="roundRect">
            <a:avLst>
              <a:gd name="adj" fmla="val 8035"/>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548640" y="1589532"/>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Stations above high mark</a:t>
            </a:r>
          </a:p>
        </p:txBody>
      </p:sp>
      <p:sp>
        <p:nvSpPr>
          <p:cNvPr id="12" name="TextBox 11"/>
          <p:cNvSpPr txBox="1"/>
          <p:nvPr/>
        </p:nvSpPr>
        <p:spPr>
          <a:xfrm>
            <a:off x="548640" y="1763268"/>
            <a:ext cx="2464308" cy="330200"/>
          </a:xfrm>
          <a:prstGeom prst="rect">
            <a:avLst/>
          </a:prstGeom>
          <a:noFill/>
        </p:spPr>
        <p:txBody>
          <a:bodyPr wrap="square" lIns="0" rIns="0" tIns="0" bIns="0" anchor="t">
            <a:noAutofit/>
          </a:bodyPr>
          <a:lstStyle/>
          <a:p>
            <a:pPr algn="l">
              <a:lnSpc>
                <a:spcPts val="2600"/>
              </a:lnSpc>
            </a:pPr>
            <a:r>
              <a:rPr sz="2100" b="1">
                <a:solidFill>
                  <a:srgbClr val="CC0000"/>
                </a:solidFill>
                <a:latin typeface="Kanit"/>
              </a:rPr>
              <a:t>134</a:t>
            </a:r>
          </a:p>
        </p:txBody>
      </p:sp>
      <p:sp>
        <p:nvSpPr>
          <p:cNvPr id="13" name="TextBox 12"/>
          <p:cNvSpPr txBox="1"/>
          <p:nvPr/>
        </p:nvSpPr>
        <p:spPr>
          <a:xfrm>
            <a:off x="548640" y="2129028"/>
            <a:ext cx="2464308" cy="310896"/>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of 794 (16.9%) · up from 84 on 11 July</a:t>
            </a:r>
          </a:p>
        </p:txBody>
      </p:sp>
      <p:sp>
        <p:nvSpPr>
          <p:cNvPr id="14" name="Rounded Rectangle 13"/>
          <p:cNvSpPr/>
          <p:nvPr/>
        </p:nvSpPr>
        <p:spPr>
          <a:xfrm>
            <a:off x="3287268" y="1488948"/>
            <a:ext cx="2738628" cy="1024128"/>
          </a:xfrm>
          <a:prstGeom prst="roundRect">
            <a:avLst>
              <a:gd name="adj" fmla="val 8035"/>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3424428" y="1589532"/>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Provinces with heavy rain</a:t>
            </a:r>
          </a:p>
        </p:txBody>
      </p:sp>
      <p:sp>
        <p:nvSpPr>
          <p:cNvPr id="16" name="TextBox 15"/>
          <p:cNvSpPr txBox="1"/>
          <p:nvPr/>
        </p:nvSpPr>
        <p:spPr>
          <a:xfrm>
            <a:off x="3424428" y="1763268"/>
            <a:ext cx="2464308" cy="330200"/>
          </a:xfrm>
          <a:prstGeom prst="rect">
            <a:avLst/>
          </a:prstGeom>
          <a:noFill/>
        </p:spPr>
        <p:txBody>
          <a:bodyPr wrap="square" lIns="0" rIns="0" tIns="0" bIns="0" anchor="t">
            <a:noAutofit/>
          </a:bodyPr>
          <a:lstStyle/>
          <a:p>
            <a:pPr algn="l">
              <a:lnSpc>
                <a:spcPts val="2600"/>
              </a:lnSpc>
            </a:pPr>
            <a:r>
              <a:rPr sz="2100" b="1">
                <a:solidFill>
                  <a:srgbClr val="F5C242"/>
                </a:solidFill>
                <a:latin typeface="Kanit"/>
              </a:rPr>
              <a:t>31</a:t>
            </a:r>
          </a:p>
        </p:txBody>
      </p:sp>
      <p:sp>
        <p:nvSpPr>
          <p:cNvPr id="17" name="TextBox 16"/>
          <p:cNvSpPr txBox="1"/>
          <p:nvPr/>
        </p:nvSpPr>
        <p:spPr>
          <a:xfrm>
            <a:off x="3424428" y="2129028"/>
            <a:ext cx="2464308" cy="310896"/>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latest reading · 2026-08-03</a:t>
            </a:r>
          </a:p>
        </p:txBody>
      </p:sp>
      <p:sp>
        <p:nvSpPr>
          <p:cNvPr id="18" name="Rounded Rectangle 17"/>
          <p:cNvSpPr/>
          <p:nvPr/>
        </p:nvSpPr>
        <p:spPr>
          <a:xfrm>
            <a:off x="6163056" y="1488948"/>
            <a:ext cx="2738628" cy="1024128"/>
          </a:xfrm>
          <a:prstGeom prst="roundRect">
            <a:avLst>
              <a:gd name="adj" fmla="val 8035"/>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6300216" y="1589532"/>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Heaviest 24h gauge</a:t>
            </a:r>
          </a:p>
        </p:txBody>
      </p:sp>
      <p:sp>
        <p:nvSpPr>
          <p:cNvPr id="20" name="TextBox 19"/>
          <p:cNvSpPr txBox="1"/>
          <p:nvPr/>
        </p:nvSpPr>
        <p:spPr>
          <a:xfrm>
            <a:off x="6300216" y="1763268"/>
            <a:ext cx="2464308" cy="330200"/>
          </a:xfrm>
          <a:prstGeom prst="rect">
            <a:avLst/>
          </a:prstGeom>
          <a:noFill/>
        </p:spPr>
        <p:txBody>
          <a:bodyPr wrap="square" lIns="0" rIns="0" tIns="0" bIns="0" anchor="t">
            <a:noAutofit/>
          </a:bodyPr>
          <a:lstStyle/>
          <a:p>
            <a:pPr algn="l">
              <a:lnSpc>
                <a:spcPts val="2600"/>
              </a:lnSpc>
            </a:pPr>
            <a:r>
              <a:rPr sz="2100" b="1">
                <a:solidFill>
                  <a:srgbClr val="1E2F5C"/>
                </a:solidFill>
                <a:latin typeface="Kanit"/>
              </a:rPr>
              <a:t>180mm</a:t>
            </a:r>
          </a:p>
        </p:txBody>
      </p:sp>
      <p:sp>
        <p:nvSpPr>
          <p:cNvPr id="21" name="TextBox 20"/>
          <p:cNvSpPr txBox="1"/>
          <p:nvPr/>
        </p:nvSpPr>
        <p:spPr>
          <a:xfrm>
            <a:off x="6300216" y="2129028"/>
            <a:ext cx="2464308" cy="310896"/>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2026-08-03 · the 08-02 reading hit 608mm</a:t>
            </a:r>
          </a:p>
        </p:txBody>
      </p:sp>
      <p:sp>
        <p:nvSpPr>
          <p:cNvPr id="22" name="Rounded Rectangle 21"/>
          <p:cNvSpPr/>
          <p:nvPr/>
        </p:nvSpPr>
        <p:spPr>
          <a:xfrm>
            <a:off x="9038844" y="1488948"/>
            <a:ext cx="2738628" cy="1024128"/>
          </a:xfrm>
          <a:prstGeom prst="roundRect">
            <a:avLst>
              <a:gd name="adj" fmla="val 8035"/>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9176004" y="1589532"/>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Structural flood exposure</a:t>
            </a:r>
          </a:p>
        </p:txBody>
      </p:sp>
      <p:sp>
        <p:nvSpPr>
          <p:cNvPr id="24" name="TextBox 23"/>
          <p:cNvSpPr txBox="1"/>
          <p:nvPr/>
        </p:nvSpPr>
        <p:spPr>
          <a:xfrm>
            <a:off x="9176004" y="1763268"/>
            <a:ext cx="2464308" cy="330200"/>
          </a:xfrm>
          <a:prstGeom prst="rect">
            <a:avLst/>
          </a:prstGeom>
          <a:noFill/>
        </p:spPr>
        <p:txBody>
          <a:bodyPr wrap="square" lIns="0" rIns="0" tIns="0" bIns="0" anchor="t">
            <a:noAutofit/>
          </a:bodyPr>
          <a:lstStyle/>
          <a:p>
            <a:pPr algn="l">
              <a:lnSpc>
                <a:spcPts val="2600"/>
              </a:lnSpc>
            </a:pPr>
            <a:r>
              <a:rPr sz="2100" b="1">
                <a:solidFill>
                  <a:srgbClr val="F5C242"/>
                </a:solidFill>
                <a:latin typeface="Kanit"/>
              </a:rPr>
              <a:t>34%</a:t>
            </a:r>
          </a:p>
        </p:txBody>
      </p:sp>
      <p:sp>
        <p:nvSpPr>
          <p:cNvPr id="25" name="TextBox 24"/>
          <p:cNvSpPr txBox="1"/>
          <p:nvPr/>
        </p:nvSpPr>
        <p:spPr>
          <a:xfrm>
            <a:off x="9176004" y="2129028"/>
            <a:ext cx="2464308" cy="310896"/>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685 of 2,015 branches on ground that flooded ≥7 of 12 yrs</a:t>
            </a:r>
          </a:p>
        </p:txBody>
      </p:sp>
      <p:sp>
        <p:nvSpPr>
          <p:cNvPr id="26" name="Rounded Rectangle 25"/>
          <p:cNvSpPr/>
          <p:nvPr/>
        </p:nvSpPr>
        <p:spPr>
          <a:xfrm>
            <a:off x="411480" y="2695956"/>
            <a:ext cx="754177" cy="192024"/>
          </a:xfrm>
          <a:prstGeom prst="roundRect">
            <a:avLst>
              <a:gd name="adj" fmla="val 50000"/>
            </a:avLst>
          </a:prstGeom>
          <a:noFill/>
          <a:ln w="9525">
            <a:solidFill>
              <a:srgbClr val="15795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411480" y="2725216"/>
            <a:ext cx="754177" cy="134112"/>
          </a:xfrm>
          <a:prstGeom prst="rect">
            <a:avLst/>
          </a:prstGeom>
          <a:noFill/>
        </p:spPr>
        <p:txBody>
          <a:bodyPr wrap="square" lIns="0" rIns="0" tIns="0" bIns="0" anchor="t">
            <a:noAutofit/>
          </a:bodyPr>
          <a:lstStyle/>
          <a:p>
            <a:pPr algn="ctr">
              <a:lnSpc>
                <a:spcPts val="1056"/>
              </a:lnSpc>
            </a:pPr>
            <a:r>
              <a:rPr sz="800" b="1">
                <a:solidFill>
                  <a:srgbClr val="15795F"/>
                </a:solidFill>
                <a:latin typeface="Kanit"/>
              </a:rPr>
              <a:t>MEASURED</a:t>
            </a:r>
          </a:p>
        </p:txBody>
      </p:sp>
      <p:sp>
        <p:nvSpPr>
          <p:cNvPr id="28" name="TextBox 27"/>
          <p:cNvSpPr txBox="1"/>
          <p:nvPr/>
        </p:nvSpPr>
        <p:spPr>
          <a:xfrm>
            <a:off x="1275385" y="2709672"/>
            <a:ext cx="10502086" cy="308610"/>
          </a:xfrm>
          <a:prstGeom prst="rect">
            <a:avLst/>
          </a:prstGeom>
          <a:noFill/>
        </p:spPr>
        <p:txBody>
          <a:bodyPr wrap="square" lIns="0" rIns="0" tIns="0" bIns="0" anchor="t">
            <a:noAutofit/>
          </a:bodyPr>
          <a:lstStyle/>
          <a:p>
            <a:pPr algn="l">
              <a:lnSpc>
                <a:spcPts val="1215"/>
              </a:lnSpc>
            </a:pPr>
            <a:r>
              <a:rPr sz="900" b="0">
                <a:solidFill>
                  <a:srgbClr val="606060"/>
                </a:solidFill>
                <a:latin typeface="Kanit"/>
              </a:rPr>
              <a:t>ThaiWater live telemetry, pulled daily and accumulated — nothing interpolated, a missed pull leaves a gap rather than an invented point. Structural flood exposure is the GISTDA 1:50,000 repeated-flooding census, 2005–2016.</a:t>
            </a:r>
          </a:p>
        </p:txBody>
      </p:sp>
      <p:sp>
        <p:nvSpPr>
          <p:cNvPr id="29" name="Rectangle 28"/>
          <p:cNvSpPr/>
          <p:nvPr/>
        </p:nvSpPr>
        <p:spPr>
          <a:xfrm>
            <a:off x="411480" y="3187446"/>
            <a:ext cx="11365992" cy="854456"/>
          </a:xfrm>
          <a:prstGeom prst="rect">
            <a:avLst/>
          </a:prstGeom>
          <a:solidFill>
            <a:srgbClr val="EE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Rectangle 29"/>
          <p:cNvSpPr/>
          <p:nvPr/>
        </p:nvSpPr>
        <p:spPr>
          <a:xfrm>
            <a:off x="411480" y="3187446"/>
            <a:ext cx="50292" cy="85445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1" name="TextBox 30"/>
          <p:cNvSpPr txBox="1"/>
          <p:nvPr/>
        </p:nvSpPr>
        <p:spPr>
          <a:xfrm>
            <a:off x="630936" y="3333750"/>
            <a:ext cx="11036808" cy="158750"/>
          </a:xfrm>
          <a:prstGeom prst="rect">
            <a:avLst/>
          </a:prstGeom>
          <a:noFill/>
        </p:spPr>
        <p:txBody>
          <a:bodyPr wrap="square" lIns="0" rIns="0" tIns="0" bIns="0" anchor="t">
            <a:noAutofit/>
          </a:bodyPr>
          <a:lstStyle/>
          <a:p>
            <a:pPr algn="l">
              <a:lnSpc>
                <a:spcPts val="1250"/>
              </a:lnSpc>
            </a:pPr>
            <a:r>
              <a:rPr sz="950" b="1">
                <a:solidFill>
                  <a:srgbClr val="1E2F5C"/>
                </a:solidFill>
                <a:latin typeface="Kanit"/>
              </a:rPr>
              <a:t>Two different things, deliberately kept apart</a:t>
            </a:r>
          </a:p>
        </p:txBody>
      </p:sp>
      <p:sp>
        <p:nvSpPr>
          <p:cNvPr id="32" name="TextBox 31"/>
          <p:cNvSpPr txBox="1"/>
          <p:nvPr/>
        </p:nvSpPr>
        <p:spPr>
          <a:xfrm>
            <a:off x="630936" y="3538220"/>
            <a:ext cx="11036808" cy="357378"/>
          </a:xfrm>
          <a:prstGeom prst="rect">
            <a:avLst/>
          </a:prstGeom>
          <a:noFill/>
        </p:spPr>
        <p:txBody>
          <a:bodyPr wrap="square" lIns="0" rIns="0" tIns="0" bIns="0" anchor="t">
            <a:noAutofit/>
          </a:bodyPr>
          <a:lstStyle/>
          <a:p>
            <a:pPr algn="l">
              <a:lnSpc>
                <a:spcPts val="1407"/>
              </a:lnSpc>
            </a:pPr>
            <a:r>
              <a:rPr sz="1050" b="0">
                <a:solidFill>
                  <a:srgbClr val="1E2F5C"/>
                </a:solidFill>
                <a:latin typeface="Kanit"/>
              </a:rPr>
              <a:t>The live pulse says what is happening this week. The structural census says which ground floods repeatedly whatever the weather is doing today. The second is a hazard flag — did the ground flood, how often — and explicitly not a flooded-area or loss estimate, because the source’s per-event polygons overlap and any area total drawn from them would be wrong.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12 · SO WHAT</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Four things the macro picture asks of us.</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TextBox 8"/>
          <p:cNvSpPr txBox="1"/>
          <p:nvPr/>
        </p:nvSpPr>
        <p:spPr>
          <a:xfrm>
            <a:off x="411480" y="1152144"/>
            <a:ext cx="2834640" cy="195707"/>
          </a:xfrm>
          <a:prstGeom prst="rect">
            <a:avLst/>
          </a:prstGeom>
          <a:noFill/>
        </p:spPr>
        <p:txBody>
          <a:bodyPr wrap="square" lIns="0" rIns="0" tIns="0" bIns="0" anchor="t">
            <a:noAutofit/>
          </a:bodyPr>
          <a:lstStyle/>
          <a:p>
            <a:pPr algn="l">
              <a:lnSpc>
                <a:spcPts val="1541"/>
              </a:lnSpc>
            </a:pPr>
            <a:r>
              <a:rPr sz="1150" b="1">
                <a:solidFill>
                  <a:srgbClr val="1E2F5C"/>
                </a:solidFill>
                <a:latin typeface="Kanit"/>
              </a:rPr>
              <a:t>Collateral valuation</a:t>
            </a:r>
          </a:p>
        </p:txBody>
      </p:sp>
      <p:sp>
        <p:nvSpPr>
          <p:cNvPr id="10" name="TextBox 9"/>
          <p:cNvSpPr txBox="1"/>
          <p:nvPr/>
        </p:nvSpPr>
        <p:spPr>
          <a:xfrm>
            <a:off x="3520440" y="1152144"/>
            <a:ext cx="8257031" cy="391414"/>
          </a:xfrm>
          <a:prstGeom prst="rect">
            <a:avLst/>
          </a:prstGeom>
          <a:noFill/>
        </p:spPr>
        <p:txBody>
          <a:bodyPr wrap="square" lIns="0" rIns="0" tIns="0" bIns="0" anchor="t">
            <a:noAutofit/>
          </a:bodyPr>
          <a:lstStyle/>
          <a:p>
            <a:pPr algn="l">
              <a:lnSpc>
                <a:spcPts val="1541"/>
              </a:lnSpc>
            </a:pPr>
            <a:r>
              <a:rPr sz="1150" b="0">
                <a:solidFill>
                  <a:srgbClr val="2A3346"/>
                </a:solidFill>
                <a:latin typeface="Kanit"/>
              </a:rPr>
              <a:t>Pickup resale is 33 points below its own 2015 base, the gap to cars opened only in 2022, and pickup turns over more slowly than any class we hold. Advance rates set against pre-2022 behaviour are set against a market that no longer exists.</a:t>
            </a:r>
          </a:p>
        </p:txBody>
      </p:sp>
      <p:sp>
        <p:nvSpPr>
          <p:cNvPr id="11" name="Rectangle 10"/>
          <p:cNvSpPr/>
          <p:nvPr/>
        </p:nvSpPr>
        <p:spPr>
          <a:xfrm>
            <a:off x="411480" y="1662430"/>
            <a:ext cx="11365992" cy="10972"/>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411480" y="1781302"/>
            <a:ext cx="2834640" cy="195707"/>
          </a:xfrm>
          <a:prstGeom prst="rect">
            <a:avLst/>
          </a:prstGeom>
          <a:noFill/>
        </p:spPr>
        <p:txBody>
          <a:bodyPr wrap="square" lIns="0" rIns="0" tIns="0" bIns="0" anchor="t">
            <a:noAutofit/>
          </a:bodyPr>
          <a:lstStyle/>
          <a:p>
            <a:pPr algn="l">
              <a:lnSpc>
                <a:spcPts val="1541"/>
              </a:lnSpc>
            </a:pPr>
            <a:r>
              <a:rPr sz="1150" b="1">
                <a:solidFill>
                  <a:srgbClr val="1E2F5C"/>
                </a:solidFill>
                <a:latin typeface="Kanit"/>
              </a:rPr>
              <a:t>Residual history we do not have</a:t>
            </a:r>
          </a:p>
        </p:txBody>
      </p:sp>
      <p:sp>
        <p:nvSpPr>
          <p:cNvPr id="13" name="TextBox 12"/>
          <p:cNvSpPr txBox="1"/>
          <p:nvPr/>
        </p:nvSpPr>
        <p:spPr>
          <a:xfrm>
            <a:off x="3520440" y="1781302"/>
            <a:ext cx="8257031" cy="391414"/>
          </a:xfrm>
          <a:prstGeom prst="rect">
            <a:avLst/>
          </a:prstGeom>
          <a:noFill/>
        </p:spPr>
        <p:txBody>
          <a:bodyPr wrap="square" lIns="0" rIns="0" tIns="0" bIns="0" anchor="t">
            <a:noAutofit/>
          </a:bodyPr>
          <a:lstStyle/>
          <a:p>
            <a:pPr algn="l">
              <a:lnSpc>
                <a:spcPts val="1541"/>
              </a:lnSpc>
            </a:pPr>
            <a:r>
              <a:rPr sz="1150" b="0">
                <a:solidFill>
                  <a:srgbClr val="2A3346"/>
                </a:solidFill>
                <a:latin typeface="Kanit"/>
              </a:rPr>
              <a:t>A fifth of new cars are brands with little Thai residual record, and Toyota and Honda have given up 9.4 points of share in a year. Those vehicles age into the pool we recover into. We should decide how to price a title we cannot yet benchmark.</a:t>
            </a:r>
          </a:p>
        </p:txBody>
      </p:sp>
      <p:sp>
        <p:nvSpPr>
          <p:cNvPr id="14" name="Rectangle 13"/>
          <p:cNvSpPr/>
          <p:nvPr/>
        </p:nvSpPr>
        <p:spPr>
          <a:xfrm>
            <a:off x="411480" y="2291588"/>
            <a:ext cx="11365992" cy="10972"/>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411480" y="2410460"/>
            <a:ext cx="2834640" cy="195707"/>
          </a:xfrm>
          <a:prstGeom prst="rect">
            <a:avLst/>
          </a:prstGeom>
          <a:noFill/>
        </p:spPr>
        <p:txBody>
          <a:bodyPr wrap="square" lIns="0" rIns="0" tIns="0" bIns="0" anchor="t">
            <a:noAutofit/>
          </a:bodyPr>
          <a:lstStyle/>
          <a:p>
            <a:pPr algn="l">
              <a:lnSpc>
                <a:spcPts val="1541"/>
              </a:lnSpc>
            </a:pPr>
            <a:r>
              <a:rPr sz="1150" b="1">
                <a:solidFill>
                  <a:srgbClr val="1E2F5C"/>
                </a:solidFill>
                <a:latin typeface="Kanit"/>
              </a:rPr>
              <a:t>Farm margin, not farm price</a:t>
            </a:r>
          </a:p>
        </p:txBody>
      </p:sp>
      <p:sp>
        <p:nvSpPr>
          <p:cNvPr id="16" name="TextBox 15"/>
          <p:cNvSpPr txBox="1"/>
          <p:nvPr/>
        </p:nvSpPr>
        <p:spPr>
          <a:xfrm>
            <a:off x="3520440" y="2410460"/>
            <a:ext cx="8257031" cy="391414"/>
          </a:xfrm>
          <a:prstGeom prst="rect">
            <a:avLst/>
          </a:prstGeom>
          <a:noFill/>
        </p:spPr>
        <p:txBody>
          <a:bodyPr wrap="square" lIns="0" rIns="0" tIns="0" bIns="0" anchor="t">
            <a:noAutofit/>
          </a:bodyPr>
          <a:lstStyle/>
          <a:p>
            <a:pPr algn="l">
              <a:lnSpc>
                <a:spcPts val="1541"/>
              </a:lnSpc>
            </a:pPr>
            <a:r>
              <a:rPr sz="1150" b="0">
                <a:solidFill>
                  <a:srgbClr val="2A3346"/>
                </a:solidFill>
                <a:latin typeface="Kanit"/>
              </a:rPr>
              <a:t>Netted of cost, a 24% price move becomes a 73% income swing — and the three crops whose prices are falling are precisely the three with no cost series, on 12.2% of the farm book.</a:t>
            </a:r>
          </a:p>
        </p:txBody>
      </p:sp>
      <p:sp>
        <p:nvSpPr>
          <p:cNvPr id="17" name="Rectangle 16"/>
          <p:cNvSpPr/>
          <p:nvPr/>
        </p:nvSpPr>
        <p:spPr>
          <a:xfrm>
            <a:off x="411480" y="2920746"/>
            <a:ext cx="11365992" cy="10972"/>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411480" y="3039618"/>
            <a:ext cx="2834640" cy="195707"/>
          </a:xfrm>
          <a:prstGeom prst="rect">
            <a:avLst/>
          </a:prstGeom>
          <a:noFill/>
        </p:spPr>
        <p:txBody>
          <a:bodyPr wrap="square" lIns="0" rIns="0" tIns="0" bIns="0" anchor="t">
            <a:noAutofit/>
          </a:bodyPr>
          <a:lstStyle/>
          <a:p>
            <a:pPr algn="l">
              <a:lnSpc>
                <a:spcPts val="1541"/>
              </a:lnSpc>
            </a:pPr>
            <a:r>
              <a:rPr sz="1150" b="1">
                <a:solidFill>
                  <a:srgbClr val="1E2F5C"/>
                </a:solidFill>
                <a:latin typeface="Kanit"/>
              </a:rPr>
              <a:t>Borrower stress</a:t>
            </a:r>
          </a:p>
        </p:txBody>
      </p:sp>
      <p:sp>
        <p:nvSpPr>
          <p:cNvPr id="19" name="TextBox 18"/>
          <p:cNvSpPr txBox="1"/>
          <p:nvPr/>
        </p:nvSpPr>
        <p:spPr>
          <a:xfrm>
            <a:off x="3520440" y="3039618"/>
            <a:ext cx="8257031" cy="587121"/>
          </a:xfrm>
          <a:prstGeom prst="rect">
            <a:avLst/>
          </a:prstGeom>
          <a:noFill/>
        </p:spPr>
        <p:txBody>
          <a:bodyPr wrap="square" lIns="0" rIns="0" tIns="0" bIns="0" anchor="t">
            <a:noAutofit/>
          </a:bodyPr>
          <a:lstStyle/>
          <a:p>
            <a:pPr algn="l">
              <a:lnSpc>
                <a:spcPts val="1541"/>
              </a:lnSpc>
            </a:pPr>
            <a:r>
              <a:rPr sz="1150" b="0">
                <a:solidFill>
                  <a:srgbClr val="2A3346"/>
                </a:solidFill>
                <a:latin typeface="Kanit"/>
              </a:rPr>
              <a:t>A farm household nets ฿9,337 a month after four straight years of decline, 60% of households cannot cover three months, and system arrears have risen in three of the last four quarters. Watch drought, the farm gate and informality — not the unemployment rate.</a:t>
            </a:r>
          </a:p>
        </p:txBody>
      </p:sp>
      <p:sp>
        <p:nvSpPr>
          <p:cNvPr id="20" name="Rectangle 19"/>
          <p:cNvSpPr/>
          <p:nvPr/>
        </p:nvSpPr>
        <p:spPr>
          <a:xfrm>
            <a:off x="411480" y="3946779"/>
            <a:ext cx="11365992" cy="675767"/>
          </a:xfrm>
          <a:prstGeom prst="rect">
            <a:avLst/>
          </a:prstGeom>
          <a:solidFill>
            <a:srgbClr val="EE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Rectangle 20"/>
          <p:cNvSpPr/>
          <p:nvPr/>
        </p:nvSpPr>
        <p:spPr>
          <a:xfrm>
            <a:off x="411480" y="3946779"/>
            <a:ext cx="50292" cy="675767"/>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630936" y="4093083"/>
            <a:ext cx="11036808" cy="158750"/>
          </a:xfrm>
          <a:prstGeom prst="rect">
            <a:avLst/>
          </a:prstGeom>
          <a:noFill/>
        </p:spPr>
        <p:txBody>
          <a:bodyPr wrap="square" lIns="0" rIns="0" tIns="0" bIns="0" anchor="t">
            <a:noAutofit/>
          </a:bodyPr>
          <a:lstStyle/>
          <a:p>
            <a:pPr algn="l">
              <a:lnSpc>
                <a:spcPts val="1250"/>
              </a:lnSpc>
            </a:pPr>
            <a:r>
              <a:rPr sz="950" b="1">
                <a:solidFill>
                  <a:srgbClr val="1E2F5C"/>
                </a:solidFill>
                <a:latin typeface="Kanit"/>
              </a:rPr>
              <a:t>Scope, stated</a:t>
            </a:r>
          </a:p>
        </p:txBody>
      </p:sp>
      <p:sp>
        <p:nvSpPr>
          <p:cNvPr id="23" name="TextBox 22"/>
          <p:cNvSpPr txBox="1"/>
          <p:nvPr/>
        </p:nvSpPr>
        <p:spPr>
          <a:xfrm>
            <a:off x="630936" y="4297553"/>
            <a:ext cx="11036808" cy="178689"/>
          </a:xfrm>
          <a:prstGeom prst="rect">
            <a:avLst/>
          </a:prstGeom>
          <a:noFill/>
        </p:spPr>
        <p:txBody>
          <a:bodyPr wrap="square" lIns="0" rIns="0" tIns="0" bIns="0" anchor="t">
            <a:noAutofit/>
          </a:bodyPr>
          <a:lstStyle/>
          <a:p>
            <a:pPr algn="l">
              <a:lnSpc>
                <a:spcPts val="1407"/>
              </a:lnSpc>
            </a:pPr>
            <a:r>
              <a:rPr sz="1050" b="0">
                <a:solidFill>
                  <a:srgbClr val="1E2F5C"/>
                </a:solidFill>
                <a:latin typeface="Kanit"/>
              </a:rPr>
              <a:t>All four are readings of the network and book we already run. Nothing on this tab is an argument to open, close or expand anything.</a:t>
            </a:r>
          </a:p>
        </p:txBody>
      </p:sp>
      <p:sp>
        <p:nvSpPr>
          <p:cNvPr id="24" name="TextBox 23"/>
          <p:cNvSpPr txBox="1"/>
          <p:nvPr/>
        </p:nvSpPr>
        <p:spPr>
          <a:xfrm>
            <a:off x="411480" y="4787138"/>
            <a:ext cx="11365992" cy="158750"/>
          </a:xfrm>
          <a:prstGeom prst="rect">
            <a:avLst/>
          </a:prstGeom>
          <a:noFill/>
        </p:spPr>
        <p:txBody>
          <a:bodyPr wrap="square" lIns="0" rIns="0" tIns="0" bIns="0" anchor="t">
            <a:noAutofit/>
          </a:bodyPr>
          <a:lstStyle/>
          <a:p>
            <a:pPr algn="l">
              <a:lnSpc>
                <a:spcPts val="1250"/>
              </a:lnSpc>
            </a:pPr>
            <a:r>
              <a:rPr sz="900" b="0">
                <a:solidFill>
                  <a:srgbClr val="606060"/>
                </a:solidFill>
                <a:latin typeface="Kanit"/>
              </a:rPr>
              <a:t>Vintages — world prices 2026M06 · Thai farm gate 2026-08-02 · drought 2026-06-21 · CPI 2026-05 · GDP 2026-Q1 · resale index 2026-05 · registrations to 2026-01 · loan tape 382,735 accounts · telemetry 2026-08-03.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