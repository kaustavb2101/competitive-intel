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Scope: the Macro tab — external conditions only. The economy, crop prices and the used-vehicle market, all published by someone else. What any of it costs us is the Exposure and Risk conversation; competition and the branch views are separate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they take one thing: the macro is stable, the crops are mixed, the collateral is deteriorating — and the borrower was already thin before any of it. Scope is external conditions; the book readouts live on Exposure and Risk, not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Economy is fine — the region and the arrears line are the story. Slow growth, thin fiscal cushion, arrears up in most of the last year. Less relief room than 2020–21.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drill goes from a national number to a district without changing instrument. Household debt is now months of income, not baht — that's the underwriting frame. If someone reaches for near-zero unemployment as evidence the borrower is fine, this is the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points. First, the world index and the Thai farm gate can face opposite ways, and only one of them is what a Thai grower is paid — beef is the clean example. Second, the last column is farmers, not all accounts: the app's 'book exposed' number counts every borrower in the belt and about four in five of them are not farming.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YoY hides a slow move: sugar is down most months since its 2023 peak, not a one-off dip; rubber only just cleared its own 2021 level. We convert only the latest price to baht — the five-year peak stays in US$ so we don’t mix an old price with today’s FX.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earns agriculture a section is that its hazards are external and forecastable — price, cost, rainfall — which is rare. The crop-mix column is now the full published mix for each province, every crop, summing to 100 — not just the lead crop.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profitability argument is gone on purpose — it covered five crops and invited a fight about which published price is right. This shows the price the grower is actually paid, for every commodity we can measure, with its own six-month line. The point to land: year-on-year and six-month disagree on direction for several of them, so a single annual number is not enough to act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things: farming is up everywhere and still under half the local wage — size the programme off the floor province, not the mean. Be upfront that the transport number is one national assumption, not five measurements.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clocks, kept apart: SPEI is the season (modelled, monthly), ThaiWater is today (measured, live). GISTDA is a third, separate thing — which ground floods anyway — its own card, never blended into either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Ranked on how many of four signals tripped, not on two of them — that is why สิงห์บุรี appears despite low debt. The crop test trips almost everywhere and does not discriminate; debt, jobs and rain do. Geographies, not people.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Slow down here. Everything before was conditions on the borrower; this is conditions on the security, which is the part with an underwriting consequence.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windows: pickup +12.5% over six months but −0.4% over twelve — the fall has stopped, not reversed. Level still well below 2015.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Pickup's six-month slope is not a recovery — ex-flag it is -986/mo. The same month inflates car growth from +11.0% to +34.3%. Quote the 12-month windows.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Pickup pool shrinks without changing shape — residual values stay predictable. Cars are the opposite: a growing share carries no Thai residual record to price against.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Advance rates are set per model, not brand. PU is five rows we can price from history. PA is a long tail of models registered for the first time this year — the trim-split caveat makes PA shares a floor, but it does not change the conclusion.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the caveat first: this is what ENTERED the road each year, not what is on it — DLT publishes no stock by model, so the parc by nameplate cannot be built. What it shows is a four-year collapse in pickup supply with the same nameplates on top throughout, which is a volume problem rather than a mix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point of the table: pickup is both the smallest class of the three and the slowest to turn over. Turnover is the depth a repossession actually sells into.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short asks, easiest slide in the deck to read. The farm-income ask now stands on the price shock, not the OAE cost table — that argument left with 06. Close on scope: external conditions only, no book, no open/close/expand call.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1E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811512" y="0"/>
            <a:ext cx="2377440" cy="6858000"/>
          </a:xfrm>
          <a:prstGeom prst="rect">
            <a:avLst/>
          </a:prstGeom>
          <a:solidFill>
            <a:srgbClr val="F5C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811512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pic>
        <p:nvPicPr>
          <p:cNvPr id="5" name="Picture 4" descr="chaiy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0080"/>
            <a:ext cx="2926080" cy="1828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2743200"/>
            <a:ext cx="8503920" cy="965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800"/>
              </a:lnSpc>
            </a:pPr>
            <a:r>
              <a:rPr sz="3000" b="1">
                <a:solidFill>
                  <a:srgbClr val="FFFFFF"/>
                </a:solidFill>
                <a:latin typeface="Kanit"/>
              </a:rPr>
              <a:t>Macro: the conditions
we are lending into.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224528"/>
            <a:ext cx="8503920" cy="241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00"/>
              </a:lnSpc>
            </a:pPr>
            <a:r>
              <a:rPr sz="1300" b="0">
                <a:solidFill>
                  <a:srgbClr val="F5C242"/>
                </a:solidFill>
                <a:latin typeface="Kanit"/>
              </a:rPr>
              <a:t>MCOM · Wednesday 5 August 2026 · AutoX / บริษัท ออโต้ เอกซ์ จำกัด (เงินไชโย)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760720"/>
            <a:ext cx="5486400" cy="2682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12"/>
              </a:lnSpc>
            </a:pPr>
            <a:r>
              <a:rPr sz="1600" b="1">
                <a:solidFill>
                  <a:srgbClr val="FFFFFF"/>
                </a:solidFill>
                <a:latin typeface="Kanit"/>
              </a:rPr>
              <a:t>Aug ’26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547104"/>
            <a:ext cx="6400800" cy="134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6"/>
              </a:lnSpc>
            </a:pPr>
            <a:r>
              <a:rPr sz="800" b="0">
                <a:solidFill>
                  <a:srgbClr val="FFFFFF"/>
                </a:solidFill>
                <a:latin typeface="Kanit"/>
              </a:rPr>
              <a:t>Restricted Data – Reproduction is prohibited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19456"/>
            <a:ext cx="8686800" cy="1508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88"/>
              </a:lnSpc>
            </a:pPr>
            <a:r>
              <a:rPr sz="900" b="1">
                <a:solidFill>
                  <a:srgbClr val="CC0000"/>
                </a:solidFill>
                <a:latin typeface="Kanit"/>
              </a:rPr>
              <a:t>THE ANSWER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57200"/>
            <a:ext cx="996696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E2F5C"/>
                </a:solidFill>
                <a:latin typeface="Kanit"/>
              </a:rPr>
              <a:t>Four questions about the world outside the company.</a:t>
            </a:r>
          </a:p>
        </p:txBody>
      </p:sp>
      <p:pic>
        <p:nvPicPr>
          <p:cNvPr id="5" name="Picture 4" descr="aut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4472" y="256032"/>
            <a:ext cx="941832" cy="29260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11480" y="969264"/>
            <a:ext cx="11365992" cy="20116"/>
          </a:xfrm>
          <a:prstGeom prst="rect">
            <a:avLst/>
          </a:prstGeom>
          <a:solidFill>
            <a:srgbClr val="1E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91969" cy="109728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92824"/>
            <a:ext cx="6400800" cy="134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6"/>
              </a:lnSpc>
            </a:pPr>
            <a:r>
              <a:rPr sz="800" b="0">
                <a:solidFill>
                  <a:srgbClr val="606060"/>
                </a:solidFill>
                <a:latin typeface="Kanit"/>
              </a:rPr>
              <a:t>Restricted Data – Reproduction is prohibited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152144"/>
            <a:ext cx="1965960" cy="3743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74"/>
              </a:lnSpc>
            </a:pPr>
            <a:r>
              <a:rPr sz="1100" b="1">
                <a:solidFill>
                  <a:srgbClr val="1E2F5C"/>
                </a:solidFill>
                <a:latin typeface="Kanit"/>
              </a:rPr>
              <a:t>Is the economy
the problem?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1152144"/>
            <a:ext cx="9125711" cy="7487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74"/>
              </a:lnSpc>
            </a:pPr>
            <a:r>
              <a:rPr sz="1100" b="0">
                <a:solidFill>
                  <a:srgbClr val="2A3346"/>
                </a:solidFill>
                <a:latin typeface="Kanit"/>
              </a:rPr>
              <a:t>No — stable, not strong.
• GDP +2.8%, CPI +2.79% — both above the IMF's 2026 forecast. Policy rate 1.00%.
• Slowest growth in ASEAN-5: Thailand 1.5% vs Vietnam 7.1%.
• Government debt 66.8% of GDP vs Vietnam's 29.8% — thinnest cushion in the group.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019807"/>
            <a:ext cx="11365992" cy="10972"/>
          </a:xfrm>
          <a:prstGeom prst="rect">
            <a:avLst/>
          </a:prstGeom>
          <a:solidFill>
            <a:srgbClr val="D9D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2138679"/>
            <a:ext cx="1965960" cy="3743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74"/>
              </a:lnSpc>
            </a:pPr>
            <a:r>
              <a:rPr sz="1100" b="1">
                <a:solidFill>
                  <a:srgbClr val="1E2F5C"/>
                </a:solidFill>
                <a:latin typeface="Kanit"/>
              </a:rPr>
              <a:t>Are crop prices
the problem?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2138679"/>
            <a:ext cx="9125711" cy="7487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74"/>
              </a:lnSpc>
            </a:pPr>
            <a:r>
              <a:rPr sz="1100" b="0">
                <a:solidFill>
                  <a:srgbClr val="2A3346"/>
                </a:solidFill>
                <a:latin typeface="Kanit"/>
              </a:rPr>
              <a:t>Not on the world index — the farm gate (ราคาที่เกษตรกรขายได้) says otherwise.
• Five of seventeen Thai farm-gate prices are falling year on year.
• Beef: farm gate −6.1% vs world index +8.8%.
• Margin over price: a 25% price move becomes an 86% swing in crop income.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3006343"/>
            <a:ext cx="11365992" cy="10972"/>
          </a:xfrm>
          <a:prstGeom prst="rect">
            <a:avLst/>
          </a:prstGeom>
          <a:solidFill>
            <a:srgbClr val="D9D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3125215"/>
            <a:ext cx="1965960" cy="3743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74"/>
              </a:lnSpc>
            </a:pPr>
            <a:r>
              <a:rPr sz="1100" b="1">
                <a:solidFill>
                  <a:srgbClr val="1E2F5C"/>
                </a:solidFill>
                <a:latin typeface="Kanit"/>
              </a:rPr>
              <a:t>What is
deteriorating?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3125215"/>
            <a:ext cx="9125711" cy="7487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74"/>
              </a:lnSpc>
            </a:pPr>
            <a:r>
              <a:rPr sz="1100" b="0">
                <a:solidFill>
                  <a:srgbClr val="2A3346"/>
                </a:solidFill>
                <a:latin typeface="Kanit"/>
              </a:rPr>
              <a:t>The collateral — the used-pickup (รถกระบะ) market.
• Resale value −50% off peak, -33 pts below its 2015 base.
• New pickup registrations −15.3% year on year.
• Hilux Revo −21.5%, worst nameplate Ranger −30.0%.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3992879"/>
            <a:ext cx="11365992" cy="10972"/>
          </a:xfrm>
          <a:prstGeom prst="rect">
            <a:avLst/>
          </a:prstGeom>
          <a:solidFill>
            <a:srgbClr val="D9D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4111751"/>
            <a:ext cx="1965960" cy="3743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74"/>
              </a:lnSpc>
            </a:pPr>
            <a:r>
              <a:rPr sz="1100" b="1">
                <a:solidFill>
                  <a:srgbClr val="1E2F5C"/>
                </a:solidFill>
                <a:latin typeface="Kanit"/>
              </a:rPr>
              <a:t>And the
borrower?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4111751"/>
            <a:ext cx="9125711" cy="7487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74"/>
              </a:lnSpc>
            </a:pPr>
            <a:r>
              <a:rPr sz="1100" b="0">
                <a:solidFill>
                  <a:srgbClr val="2A3346"/>
                </a:solidFill>
                <a:latin typeface="Kanit"/>
              </a:rPr>
              <a:t>Thin before any of this.
• Farming pays ฿7,157–14,213/month vs an employee wage of ฿13,676–17,723.
• Three of five full-cost crops pay below cost of production.
• 60% of households have no 3-month cushion; arrears rose in three of the last four quarters.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5162296"/>
            <a:ext cx="754177" cy="19202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1579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5191556"/>
            <a:ext cx="754177" cy="134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056"/>
              </a:lnSpc>
            </a:pPr>
            <a:r>
              <a:rPr sz="800" b="1">
                <a:solidFill>
                  <a:srgbClr val="15795F"/>
                </a:solidFill>
                <a:latin typeface="Kanit"/>
              </a:rPr>
              <a:t>MEASURED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75385" y="5176011"/>
            <a:ext cx="10502086" cy="3257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82"/>
              </a:lnSpc>
            </a:pPr>
            <a:r>
              <a:rPr sz="950" b="0">
                <a:solidFill>
                  <a:srgbClr val="606060"/>
                </a:solidFill>
                <a:latin typeface="Kanit"/>
              </a:rPr>
              <a:t>NESDC · TPSO · Bank of Thailand · BIS · ECB · IMF · World Bank · NABC · OAE · DLT · MOT · NSO · ThaiWater. Each page carries its own chip and vintage; where a figure is modelled rather than published it is labelled ESTIMATED.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5670931"/>
            <a:ext cx="11365992" cy="167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20"/>
              </a:lnSpc>
            </a:pPr>
            <a:r>
              <a:rPr sz="1000" b="1">
                <a:solidFill>
                  <a:srgbClr val="1E2F5C"/>
                </a:solidFill>
                <a:latin typeface="Kanit"/>
              </a:rPr>
              <a:t>What follows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5872099"/>
            <a:ext cx="11365992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0"/>
              </a:lnSpc>
            </a:pPr>
            <a:r>
              <a:rPr sz="1000" b="0">
                <a:solidFill>
                  <a:srgbClr val="606060"/>
                </a:solidFill>
                <a:latin typeface="Kanit"/>
              </a:rPr>
              <a:t>01–02  macro backdrop        03–08  agriculture: prices, belts, cost, income, water        09  where to reach out first        10  collateral        11  what it asks of us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19456"/>
            <a:ext cx="8686800" cy="1508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88"/>
              </a:lnSpc>
            </a:pPr>
            <a:r>
              <a:rPr sz="900" b="1">
                <a:solidFill>
                  <a:srgbClr val="CC0000"/>
                </a:solidFill>
                <a:latin typeface="Kanit"/>
              </a:rPr>
              <a:t>01 · MACRO OVERLAY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57200"/>
            <a:ext cx="996696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E2F5C"/>
                </a:solidFill>
                <a:latin typeface="Kanit"/>
              </a:rPr>
              <a:t>Benign at home, slowest in the region, and system arrears are turning.</a:t>
            </a:r>
          </a:p>
        </p:txBody>
      </p:sp>
      <p:pic>
        <p:nvPicPr>
          <p:cNvPr id="5" name="Picture 4" descr="aut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4472" y="256032"/>
            <a:ext cx="941832" cy="29260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11480" y="969264"/>
            <a:ext cx="11365992" cy="20116"/>
          </a:xfrm>
          <a:prstGeom prst="rect">
            <a:avLst/>
          </a:prstGeom>
          <a:solidFill>
            <a:srgbClr val="1E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91969" cy="109728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92824"/>
            <a:ext cx="6400800" cy="134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6"/>
              </a:lnSpc>
            </a:pPr>
            <a:r>
              <a:rPr sz="800" b="0">
                <a:solidFill>
                  <a:srgbClr val="606060"/>
                </a:solidFill>
                <a:latin typeface="Kanit"/>
              </a:rPr>
              <a:t>Restricted Data – Reproduction is prohibited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152144"/>
            <a:ext cx="1780032" cy="1115568"/>
          </a:xfrm>
          <a:prstGeom prst="roundRect">
            <a:avLst>
              <a:gd name="adj" fmla="val 7377"/>
            </a:avLst>
          </a:prstGeom>
          <a:solidFill>
            <a:srgbClr val="F4F6FA"/>
          </a:solidFill>
          <a:ln w="9525">
            <a:solidFill>
              <a:srgbClr val="D9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252728"/>
            <a:ext cx="1505711" cy="1592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4"/>
              </a:lnSpc>
            </a:pPr>
            <a:r>
              <a:rPr sz="950" b="0">
                <a:solidFill>
                  <a:srgbClr val="606060"/>
                </a:solidFill>
                <a:latin typeface="Kanit"/>
              </a:rPr>
              <a:t>GDP growth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426464"/>
            <a:ext cx="1505711" cy="33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00"/>
              </a:lnSpc>
            </a:pPr>
            <a:r>
              <a:rPr sz="2100" b="1">
                <a:solidFill>
                  <a:srgbClr val="15795F"/>
                </a:solidFill>
                <a:latin typeface="Kanit"/>
              </a:rPr>
              <a:t>+2.8%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792224"/>
            <a:ext cx="1505711" cy="40233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60"/>
              </a:lnSpc>
            </a:pPr>
            <a:r>
              <a:rPr sz="800" b="0">
                <a:solidFill>
                  <a:srgbClr val="606060"/>
                </a:solidFill>
                <a:latin typeface="Kanit"/>
              </a:rPr>
              <a:t>YoY · measured quarter, not a projection · NESDC 2026-Q1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28672" y="1152144"/>
            <a:ext cx="1780032" cy="1115568"/>
          </a:xfrm>
          <a:prstGeom prst="roundRect">
            <a:avLst>
              <a:gd name="adj" fmla="val 7377"/>
            </a:avLst>
          </a:prstGeom>
          <a:solidFill>
            <a:srgbClr val="F4F6FA"/>
          </a:solidFill>
          <a:ln w="9525">
            <a:solidFill>
              <a:srgbClr val="D9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65832" y="1252728"/>
            <a:ext cx="1505711" cy="1592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4"/>
              </a:lnSpc>
            </a:pPr>
            <a:r>
              <a:rPr sz="950" b="0">
                <a:solidFill>
                  <a:srgbClr val="606060"/>
                </a:solidFill>
                <a:latin typeface="Kanit"/>
              </a:rPr>
              <a:t>Inflation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5832" y="1426464"/>
            <a:ext cx="1505711" cy="33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00"/>
              </a:lnSpc>
            </a:pPr>
            <a:r>
              <a:rPr sz="2100" b="1">
                <a:solidFill>
                  <a:srgbClr val="F5C242"/>
                </a:solidFill>
                <a:latin typeface="Kanit"/>
              </a:rPr>
              <a:t>+2.79%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5832" y="1792224"/>
            <a:ext cx="1505711" cy="40233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60"/>
              </a:lnSpc>
            </a:pPr>
            <a:r>
              <a:rPr sz="800" b="0">
                <a:solidFill>
                  <a:srgbClr val="606060"/>
                </a:solidFill>
                <a:latin typeface="Kanit"/>
              </a:rPr>
              <a:t>headline CPI YoY · TPSO · 2026-05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45864" y="1152144"/>
            <a:ext cx="1780032" cy="1115568"/>
          </a:xfrm>
          <a:prstGeom prst="roundRect">
            <a:avLst>
              <a:gd name="adj" fmla="val 7377"/>
            </a:avLst>
          </a:prstGeom>
          <a:solidFill>
            <a:srgbClr val="F4F6FA"/>
          </a:solidFill>
          <a:ln w="9525">
            <a:solidFill>
              <a:srgbClr val="D9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3024" y="1252728"/>
            <a:ext cx="1505711" cy="1592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4"/>
              </a:lnSpc>
            </a:pPr>
            <a:r>
              <a:rPr sz="950" b="0">
                <a:solidFill>
                  <a:srgbClr val="606060"/>
                </a:solidFill>
                <a:latin typeface="Kanit"/>
              </a:rPr>
              <a:t>Policy rate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3024" y="1426464"/>
            <a:ext cx="1505711" cy="33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00"/>
              </a:lnSpc>
            </a:pPr>
            <a:r>
              <a:rPr sz="2100" b="1">
                <a:solidFill>
                  <a:srgbClr val="1E2F5C"/>
                </a:solidFill>
                <a:latin typeface="Kanit"/>
              </a:rPr>
              <a:t>1.00%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3024" y="1792224"/>
            <a:ext cx="1505711" cy="40233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60"/>
              </a:lnSpc>
            </a:pPr>
            <a:r>
              <a:rPr sz="800" b="0">
                <a:solidFill>
                  <a:srgbClr val="606060"/>
                </a:solidFill>
                <a:latin typeface="Kanit"/>
              </a:rPr>
              <a:t>Bank of Thailand · 2026-08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63056" y="1152144"/>
            <a:ext cx="1780032" cy="1115568"/>
          </a:xfrm>
          <a:prstGeom prst="roundRect">
            <a:avLst>
              <a:gd name="adj" fmla="val 7377"/>
            </a:avLst>
          </a:prstGeom>
          <a:solidFill>
            <a:srgbClr val="F4F6FA"/>
          </a:solidFill>
          <a:ln w="9525">
            <a:solidFill>
              <a:srgbClr val="D9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0216" y="1252728"/>
            <a:ext cx="1505711" cy="1592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4"/>
              </a:lnSpc>
            </a:pPr>
            <a:r>
              <a:rPr sz="950" b="0">
                <a:solidFill>
                  <a:srgbClr val="606060"/>
                </a:solidFill>
                <a:latin typeface="Kanit"/>
              </a:rPr>
              <a:t>USD / THB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0216" y="1426464"/>
            <a:ext cx="1505711" cy="33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00"/>
              </a:lnSpc>
            </a:pPr>
            <a:r>
              <a:rPr sz="2100" b="1">
                <a:solidFill>
                  <a:srgbClr val="1E2F5C"/>
                </a:solidFill>
                <a:latin typeface="Kanit"/>
              </a:rPr>
              <a:t>32.99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216" y="1792224"/>
            <a:ext cx="1505711" cy="40233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60"/>
              </a:lnSpc>
            </a:pPr>
            <a:r>
              <a:rPr sz="800" b="0">
                <a:solidFill>
                  <a:srgbClr val="606060"/>
                </a:solidFill>
                <a:latin typeface="Kanit"/>
              </a:rPr>
              <a:t>ECB reference · 2026-09-10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80247" y="1152144"/>
            <a:ext cx="1780032" cy="1115568"/>
          </a:xfrm>
          <a:prstGeom prst="roundRect">
            <a:avLst>
              <a:gd name="adj" fmla="val 7377"/>
            </a:avLst>
          </a:prstGeom>
          <a:solidFill>
            <a:srgbClr val="F4F6FA"/>
          </a:solidFill>
          <a:ln w="9525">
            <a:solidFill>
              <a:srgbClr val="D9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17408" y="1252728"/>
            <a:ext cx="1505711" cy="1592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4"/>
              </a:lnSpc>
            </a:pPr>
            <a:r>
              <a:rPr sz="950" b="0">
                <a:solidFill>
                  <a:srgbClr val="606060"/>
                </a:solidFill>
                <a:latin typeface="Kanit"/>
              </a:rPr>
              <a:t>Household debt หนี้ครัวเรือน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17408" y="1426464"/>
            <a:ext cx="1505711" cy="33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00"/>
              </a:lnSpc>
            </a:pPr>
            <a:r>
              <a:rPr sz="2100" b="1">
                <a:solidFill>
                  <a:srgbClr val="F5C242"/>
                </a:solidFill>
                <a:latin typeface="Kanit"/>
              </a:rPr>
              <a:t>87.5%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17408" y="1792224"/>
            <a:ext cx="1505711" cy="40233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60"/>
              </a:lnSpc>
            </a:pPr>
            <a:r>
              <a:rPr sz="800" b="0">
                <a:solidFill>
                  <a:srgbClr val="606060"/>
                </a:solidFill>
                <a:latin typeface="Kanit"/>
              </a:rPr>
              <a:t>of GDP · BIS · 2025-Q4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997440" y="1152144"/>
            <a:ext cx="1780032" cy="1115568"/>
          </a:xfrm>
          <a:prstGeom prst="roundRect">
            <a:avLst>
              <a:gd name="adj" fmla="val 7377"/>
            </a:avLst>
          </a:prstGeom>
          <a:solidFill>
            <a:srgbClr val="F4F6FA"/>
          </a:solidFill>
          <a:ln w="9525">
            <a:solidFill>
              <a:srgbClr val="D9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34600" y="1252728"/>
            <a:ext cx="1505711" cy="1592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4"/>
              </a:lnSpc>
            </a:pPr>
            <a:r>
              <a:rPr sz="950" b="0">
                <a:solidFill>
                  <a:srgbClr val="606060"/>
                </a:solidFill>
                <a:latin typeface="Kanit"/>
              </a:rPr>
              <a:t>Tourist arrivals นักท่องเที่ยว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34600" y="1426464"/>
            <a:ext cx="1505711" cy="33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00"/>
              </a:lnSpc>
            </a:pPr>
            <a:r>
              <a:rPr sz="2100" b="1">
                <a:solidFill>
                  <a:srgbClr val="CC0000"/>
                </a:solidFill>
                <a:latin typeface="Kanit"/>
              </a:rPr>
              <a:t>32.1M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34600" y="1792224"/>
            <a:ext cx="1505711" cy="40233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60"/>
              </a:lnSpc>
            </a:pPr>
            <a:r>
              <a:rPr sz="800" b="0">
                <a:solidFill>
                  <a:srgbClr val="606060"/>
                </a:solidFill>
                <a:latin typeface="Kanit"/>
              </a:rPr>
              <a:t>trailing 12m · −5.5% YoY · BoT 2026-07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411480" y="2450591"/>
          <a:ext cx="5897880" cy="162305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19026"/>
                <a:gridCol w="1002254"/>
                <a:gridCol w="886609"/>
                <a:gridCol w="1156447"/>
                <a:gridCol w="1233544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IMF 2026 projection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GDP growth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Inflation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Unemployment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Govt debt/GDP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</a:tr>
              <a:tr h="258775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E2F5C"/>
                          </a:solidFill>
                          <a:latin typeface="Kanit"/>
                        </a:rPr>
                        <a:t>Thailand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CC0000"/>
                          </a:solidFill>
                          <a:latin typeface="Kanit"/>
                        </a:rPr>
                        <a:t>1.5%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E2F5C"/>
                          </a:solidFill>
                          <a:latin typeface="Kanit"/>
                        </a:rPr>
                        <a:t>0.9%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E2F5C"/>
                          </a:solidFill>
                          <a:latin typeface="Kanit"/>
                        </a:rPr>
                        <a:t>1.0%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E2F5C"/>
                          </a:solidFill>
                          <a:latin typeface="Kanit"/>
                        </a:rPr>
                        <a:t>66.8%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58775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E2F5C"/>
                          </a:solidFill>
                          <a:latin typeface="Kanit"/>
                        </a:rPr>
                        <a:t>Vietnam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1E2F5C"/>
                          </a:solidFill>
                          <a:latin typeface="Kanit"/>
                        </a:rPr>
                        <a:t>7.1%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E2F5C"/>
                          </a:solidFill>
                          <a:latin typeface="Kanit"/>
                        </a:rPr>
                        <a:t>4.9%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E2F5C"/>
                          </a:solidFill>
                          <a:latin typeface="Kanit"/>
                        </a:rPr>
                        <a:t>2.1%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E2F5C"/>
                          </a:solidFill>
                          <a:latin typeface="Kanit"/>
                        </a:rPr>
                        <a:t>29.8%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</a:tr>
              <a:tr h="258775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E2F5C"/>
                          </a:solidFill>
                          <a:latin typeface="Kanit"/>
                        </a:rPr>
                        <a:t>Indonesia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1E2F5C"/>
                          </a:solidFill>
                          <a:latin typeface="Kanit"/>
                        </a:rPr>
                        <a:t>5.0%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E2F5C"/>
                          </a:solidFill>
                          <a:latin typeface="Kanit"/>
                        </a:rPr>
                        <a:t>3.0%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E2F5C"/>
                          </a:solidFill>
                          <a:latin typeface="Kanit"/>
                        </a:rPr>
                        <a:t>4.9%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E2F5C"/>
                          </a:solidFill>
                          <a:latin typeface="Kanit"/>
                        </a:rPr>
                        <a:t>41.5%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58775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E2F5C"/>
                          </a:solidFill>
                          <a:latin typeface="Kanit"/>
                        </a:rPr>
                        <a:t>Malaysia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1E2F5C"/>
                          </a:solidFill>
                          <a:latin typeface="Kanit"/>
                        </a:rPr>
                        <a:t>4.7%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E2F5C"/>
                          </a:solidFill>
                          <a:latin typeface="Kanit"/>
                        </a:rPr>
                        <a:t>1.9%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E2F5C"/>
                          </a:solidFill>
                          <a:latin typeface="Kanit"/>
                        </a:rPr>
                        <a:t>3.0%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E2F5C"/>
                          </a:solidFill>
                          <a:latin typeface="Kanit"/>
                        </a:rPr>
                        <a:t>69.5%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</a:tr>
              <a:tr h="258775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E2F5C"/>
                          </a:solidFill>
                          <a:latin typeface="Kanit"/>
                        </a:rPr>
                        <a:t>Philippines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1E2F5C"/>
                          </a:solidFill>
                          <a:latin typeface="Kanit"/>
                        </a:rPr>
                        <a:t>4.1%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E2F5C"/>
                          </a:solidFill>
                          <a:latin typeface="Kanit"/>
                        </a:rPr>
                        <a:t>4.3%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E2F5C"/>
                          </a:solidFill>
                          <a:latin typeface="Kanit"/>
                        </a:rPr>
                        <a:t>4.7%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E2F5C"/>
                          </a:solidFill>
                          <a:latin typeface="Kanit"/>
                        </a:rPr>
                        <a:t>60.2%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" name="Rectangle 33"/>
          <p:cNvSpPr/>
          <p:nvPr/>
        </p:nvSpPr>
        <p:spPr>
          <a:xfrm>
            <a:off x="6583680" y="2450591"/>
            <a:ext cx="5193792" cy="1554480"/>
          </a:xfrm>
          <a:prstGeom prst="rect">
            <a:avLst/>
          </a:prstGeom>
          <a:solidFill>
            <a:srgbClr val="FBFCFE"/>
          </a:solidFill>
          <a:ln w="9525">
            <a:solidFill>
              <a:srgbClr val="D9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967728" y="3730752"/>
            <a:ext cx="4718304" cy="6400"/>
          </a:xfrm>
          <a:prstGeom prst="rect">
            <a:avLst/>
          </a:prstGeom>
          <a:solidFill>
            <a:srgbClr val="D9D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01968" y="3662172"/>
            <a:ext cx="329184" cy="1257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990"/>
              </a:lnSpc>
            </a:pPr>
            <a:r>
              <a:rPr sz="750" b="0">
                <a:solidFill>
                  <a:srgbClr val="9AA3B2"/>
                </a:solidFill>
                <a:latin typeface="Kanit"/>
              </a:rPr>
              <a:t>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967728" y="2596896"/>
            <a:ext cx="4718304" cy="6400"/>
          </a:xfrm>
          <a:prstGeom prst="rect">
            <a:avLst/>
          </a:prstGeom>
          <a:solidFill>
            <a:srgbClr val="D9D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01968" y="2528315"/>
            <a:ext cx="329184" cy="1257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990"/>
              </a:lnSpc>
            </a:pPr>
            <a:r>
              <a:rPr sz="750" b="0">
                <a:solidFill>
                  <a:srgbClr val="9AA3B2"/>
                </a:solidFill>
                <a:latin typeface="Kanit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50079" y="2578608"/>
            <a:ext cx="544512" cy="134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6"/>
              </a:lnSpc>
            </a:pPr>
            <a:r>
              <a:rPr sz="800" b="1">
                <a:solidFill>
                  <a:srgbClr val="CC0000"/>
                </a:solidFill>
                <a:latin typeface="Kanit"/>
              </a:rPr>
              <a:t>System NPL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812335" y="2638044"/>
            <a:ext cx="164592" cy="25603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6967728" y="2667762"/>
            <a:ext cx="4718304" cy="756848"/>
          </a:xfrm>
          <a:custGeom>
            <a:avLst/>
            <a:gdLst/>
            <a:ahLst/>
            <a:cxnLst/>
            <a:rect l="l" t="t" r="r" b="b"/>
            <a:pathLst>
              <a:path w="4718304" h="756848">
                <a:moveTo>
                  <a:pt x="0" y="328818"/>
                </a:moveTo>
                <a:lnTo>
                  <a:pt x="120982" y="260786"/>
                </a:lnTo>
                <a:lnTo>
                  <a:pt x="241964" y="351495"/>
                </a:lnTo>
                <a:lnTo>
                  <a:pt x="362946" y="374172"/>
                </a:lnTo>
                <a:lnTo>
                  <a:pt x="483928" y="609447"/>
                </a:lnTo>
                <a:lnTo>
                  <a:pt x="604910" y="507400"/>
                </a:lnTo>
                <a:lnTo>
                  <a:pt x="725892" y="606612"/>
                </a:lnTo>
                <a:lnTo>
                  <a:pt x="846875" y="657636"/>
                </a:lnTo>
                <a:lnTo>
                  <a:pt x="967857" y="632124"/>
                </a:lnTo>
                <a:lnTo>
                  <a:pt x="1088839" y="572597"/>
                </a:lnTo>
                <a:lnTo>
                  <a:pt x="1209821" y="606612"/>
                </a:lnTo>
                <a:lnTo>
                  <a:pt x="1330803" y="615116"/>
                </a:lnTo>
                <a:lnTo>
                  <a:pt x="1451785" y="555589"/>
                </a:lnTo>
                <a:lnTo>
                  <a:pt x="1572768" y="515904"/>
                </a:lnTo>
                <a:lnTo>
                  <a:pt x="1693750" y="589605"/>
                </a:lnTo>
                <a:lnTo>
                  <a:pt x="1814732" y="527243"/>
                </a:lnTo>
                <a:lnTo>
                  <a:pt x="1935714" y="598109"/>
                </a:lnTo>
                <a:lnTo>
                  <a:pt x="2056696" y="620786"/>
                </a:lnTo>
                <a:lnTo>
                  <a:pt x="2177678" y="719998"/>
                </a:lnTo>
                <a:lnTo>
                  <a:pt x="2298660" y="756848"/>
                </a:lnTo>
                <a:lnTo>
                  <a:pt x="2419643" y="714329"/>
                </a:lnTo>
                <a:lnTo>
                  <a:pt x="2540625" y="640628"/>
                </a:lnTo>
                <a:lnTo>
                  <a:pt x="2661607" y="479054"/>
                </a:lnTo>
                <a:lnTo>
                  <a:pt x="2782589" y="476219"/>
                </a:lnTo>
                <a:lnTo>
                  <a:pt x="2903571" y="150235"/>
                </a:lnTo>
                <a:lnTo>
                  <a:pt x="3024553" y="0"/>
                </a:lnTo>
                <a:lnTo>
                  <a:pt x="3145536" y="323148"/>
                </a:lnTo>
                <a:lnTo>
                  <a:pt x="3266518" y="433699"/>
                </a:lnTo>
                <a:lnTo>
                  <a:pt x="3387500" y="371337"/>
                </a:lnTo>
                <a:lnTo>
                  <a:pt x="3508482" y="362833"/>
                </a:lnTo>
                <a:lnTo>
                  <a:pt x="3629464" y="583935"/>
                </a:lnTo>
                <a:lnTo>
                  <a:pt x="3750446" y="456377"/>
                </a:lnTo>
                <a:lnTo>
                  <a:pt x="3871428" y="286298"/>
                </a:lnTo>
                <a:lnTo>
                  <a:pt x="3992411" y="201259"/>
                </a:lnTo>
                <a:lnTo>
                  <a:pt x="4113393" y="328818"/>
                </a:lnTo>
                <a:lnTo>
                  <a:pt x="4234375" y="428030"/>
                </a:lnTo>
                <a:lnTo>
                  <a:pt x="4355357" y="379841"/>
                </a:lnTo>
                <a:lnTo>
                  <a:pt x="4476339" y="348660"/>
                </a:lnTo>
                <a:lnTo>
                  <a:pt x="4597321" y="402518"/>
                </a:lnTo>
                <a:lnTo>
                  <a:pt x="4718304" y="359999"/>
                </a:lnTo>
              </a:path>
            </a:pathLst>
          </a:custGeom>
          <a:noFill/>
          <a:ln w="20320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147794" y="3803904"/>
            <a:ext cx="365760" cy="1257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990"/>
              </a:lnSpc>
            </a:pPr>
            <a:r>
              <a:rPr sz="750" b="0">
                <a:solidFill>
                  <a:srgbClr val="606060"/>
                </a:solidFill>
                <a:latin typeface="Kanit"/>
              </a:rPr>
              <a:t>2017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99580" y="3803904"/>
            <a:ext cx="365760" cy="1257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990"/>
              </a:lnSpc>
            </a:pPr>
            <a:r>
              <a:rPr sz="750" b="0">
                <a:solidFill>
                  <a:srgbClr val="606060"/>
                </a:solidFill>
                <a:latin typeface="Kanit"/>
              </a:rPr>
              <a:t>2020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51366" y="3803904"/>
            <a:ext cx="365760" cy="1257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990"/>
              </a:lnSpc>
            </a:pPr>
            <a:r>
              <a:rPr sz="750" b="0">
                <a:solidFill>
                  <a:srgbClr val="606060"/>
                </a:solidFill>
                <a:latin typeface="Kanit"/>
              </a:rPr>
              <a:t>2023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503152" y="3803904"/>
            <a:ext cx="365760" cy="1257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990"/>
              </a:lnSpc>
            </a:pPr>
            <a:r>
              <a:rPr sz="750" b="0">
                <a:solidFill>
                  <a:srgbClr val="606060"/>
                </a:solidFill>
                <a:latin typeface="Kanit"/>
              </a:rPr>
              <a:t>2026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01968" y="2459735"/>
            <a:ext cx="5102352" cy="134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6"/>
              </a:lnSpc>
            </a:pPr>
            <a:r>
              <a:rPr sz="800" b="0">
                <a:solidFill>
                  <a:srgbClr val="606060"/>
                </a:solidFill>
                <a:latin typeface="Kanit"/>
              </a:rPr>
              <a:t>Thai banking-system NPL หนี้เสีย, % of loans · 40 quarters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11480" y="4169663"/>
            <a:ext cx="754177" cy="19202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1579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11480" y="4198924"/>
            <a:ext cx="754177" cy="134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056"/>
              </a:lnSpc>
            </a:pPr>
            <a:r>
              <a:rPr sz="800" b="1">
                <a:solidFill>
                  <a:srgbClr val="15795F"/>
                </a:solidFill>
                <a:latin typeface="Kanit"/>
              </a:rPr>
              <a:t>MEASURED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75385" y="4183379"/>
            <a:ext cx="10502086" cy="30861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15"/>
              </a:lnSpc>
            </a:pPr>
            <a:r>
              <a:rPr sz="900" b="0">
                <a:solidFill>
                  <a:srgbClr val="606060"/>
                </a:solidFill>
                <a:latin typeface="Kanit"/>
              </a:rPr>
              <a:t>NESDC 2026-Q1 · TPSO 2026-05 · Bank of Thailand 2026-08 · BIS 2025-Q4 · ECB 2026-09-10, each pulled from the publishing agency. IMF World Economic Outlook 2026 (pulled 2026-07-25) for the peer table. BoT published NPL ratio — 4.48% at 2026-Q1, 4.33% the quarter before, +0.24pp on the year, 3.08% low in 2021-Q1.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11480" y="4661154"/>
            <a:ext cx="5568696" cy="1347978"/>
          </a:xfrm>
          <a:prstGeom prst="rect">
            <a:avLst/>
          </a:prstGeom>
          <a:solidFill>
            <a:srgbClr val="FDF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11480" y="4661154"/>
            <a:ext cx="50292" cy="1347978"/>
          </a:xfrm>
          <a:prstGeom prst="rect">
            <a:avLst/>
          </a:prstGeom>
          <a:solidFill>
            <a:srgbClr val="F5C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0936" y="4807458"/>
            <a:ext cx="5239512" cy="158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</a:pPr>
            <a:r>
              <a:rPr sz="950" b="1">
                <a:solidFill>
                  <a:srgbClr val="9A7411"/>
                </a:solidFill>
                <a:latin typeface="Kanit"/>
              </a:rPr>
              <a:t>Growth beat the IMF's own 2026 forecast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0936" y="5011928"/>
            <a:ext cx="5239512" cy="850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40"/>
              </a:lnSpc>
            </a:pPr>
            <a:r>
              <a:rPr sz="1000" b="0">
                <a:solidFill>
                  <a:srgbClr val="1E2F5C"/>
                </a:solidFill>
                <a:latin typeface="Kanit"/>
              </a:rPr>
              <a:t>• Growth: IMF forecast 1.5%, actual +2.8%.
• Inflation: IMF forecast 0.9%, actual +2.79%.
• We use the Thai number over the projection, wherever one exists.
• Exception: tourism, −5.5% YoY (trailing 12 months) — feeds informal income in the South and East, missing from crop and fleet data.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208776" y="4661154"/>
            <a:ext cx="5568696" cy="1347978"/>
          </a:xfrm>
          <a:prstGeom prst="rect">
            <a:avLst/>
          </a:prstGeom>
          <a:solidFill>
            <a:srgbClr val="FC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208776" y="4661154"/>
            <a:ext cx="50292" cy="1347978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28232" y="4807458"/>
            <a:ext cx="5239512" cy="158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</a:pPr>
            <a:r>
              <a:rPr sz="950" b="1">
                <a:solidFill>
                  <a:srgbClr val="CC0000"/>
                </a:solidFill>
                <a:latin typeface="Kanit"/>
              </a:rPr>
              <a:t>Slowest growth in the region, least room to cushion it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28232" y="5011928"/>
            <a:ext cx="5239512" cy="850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40"/>
              </a:lnSpc>
            </a:pPr>
            <a:r>
              <a:rPr sz="1000" b="0">
                <a:solidFill>
                  <a:srgbClr val="1E2F5C"/>
                </a:solidFill>
                <a:latin typeface="Kanit"/>
              </a:rPr>
              <a:t>• Thailand grows 1.5%. The rest of the region runs 4.1–7.1%.
• Govt debt 66.8% of GDP vs Vietnam's 29.8%.
• Less fiscal room for relief than in 2020–21.
• System arrears rose in three of the last four quarters — bank loans, a direction not a benchmark.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19456"/>
            <a:ext cx="8686800" cy="1508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88"/>
              </a:lnSpc>
            </a:pPr>
            <a:r>
              <a:rPr sz="900" b="1">
                <a:solidFill>
                  <a:srgbClr val="CC0000"/>
                </a:solidFill>
                <a:latin typeface="Kanit"/>
              </a:rPr>
              <a:t>02 · CONDITIONS ON THE 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57200"/>
            <a:ext cx="996696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E2F5C"/>
                </a:solidFill>
                <a:latin typeface="Kanit"/>
              </a:rPr>
              <a:t>Five lenses, from the country down to a district.</a:t>
            </a:r>
          </a:p>
        </p:txBody>
      </p:sp>
      <p:pic>
        <p:nvPicPr>
          <p:cNvPr id="5" name="Picture 4" descr="aut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4472" y="256032"/>
            <a:ext cx="941832" cy="29260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11480" y="969264"/>
            <a:ext cx="11365992" cy="20116"/>
          </a:xfrm>
          <a:prstGeom prst="rect">
            <a:avLst/>
          </a:prstGeom>
          <a:solidFill>
            <a:srgbClr val="1E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91969" cy="109728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92824"/>
            <a:ext cx="6400800" cy="134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6"/>
              </a:lnSpc>
            </a:pPr>
            <a:r>
              <a:rPr sz="800" b="0">
                <a:solidFill>
                  <a:srgbClr val="606060"/>
                </a:solidFill>
                <a:latin typeface="Kanit"/>
              </a:rPr>
              <a:t>Restricted Data – Reproduction is prohibited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152144"/>
            <a:ext cx="3697223" cy="1060704"/>
          </a:xfrm>
          <a:prstGeom prst="roundRect">
            <a:avLst>
              <a:gd name="adj" fmla="val 7758"/>
            </a:avLst>
          </a:prstGeom>
          <a:solidFill>
            <a:srgbClr val="F4F6FA"/>
          </a:solidFill>
          <a:ln w="9525">
            <a:solidFill>
              <a:srgbClr val="D9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252728"/>
            <a:ext cx="3422904" cy="1592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4"/>
              </a:lnSpc>
            </a:pPr>
            <a:r>
              <a:rPr sz="950" b="0">
                <a:solidFill>
                  <a:srgbClr val="606060"/>
                </a:solidFill>
                <a:latin typeface="Kanit"/>
              </a:rPr>
              <a:t>Labour force กำลังแรงงาน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426464"/>
            <a:ext cx="3422904" cy="33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00"/>
              </a:lnSpc>
            </a:pPr>
            <a:r>
              <a:rPr sz="2100" b="1">
                <a:solidFill>
                  <a:srgbClr val="1E2F5C"/>
                </a:solidFill>
                <a:latin typeface="Kanit"/>
              </a:rPr>
              <a:t>41.9M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792224"/>
            <a:ext cx="3422904" cy="3474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60"/>
              </a:lnSpc>
            </a:pPr>
            <a:r>
              <a:rPr sz="800" b="0">
                <a:solidFill>
                  <a:srgbClr val="606060"/>
                </a:solidFill>
                <a:latin typeface="Kanit"/>
              </a:rPr>
              <a:t>unemployment 0.94% · seasonal idle 0.77%, 325k waiting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45864" y="1152144"/>
            <a:ext cx="3697223" cy="1060704"/>
          </a:xfrm>
          <a:prstGeom prst="roundRect">
            <a:avLst>
              <a:gd name="adj" fmla="val 7758"/>
            </a:avLst>
          </a:prstGeom>
          <a:solidFill>
            <a:srgbClr val="F4F6FA"/>
          </a:solidFill>
          <a:ln w="9525">
            <a:solidFill>
              <a:srgbClr val="D9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3024" y="1252728"/>
            <a:ext cx="3422904" cy="1592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4"/>
              </a:lnSpc>
            </a:pPr>
            <a:r>
              <a:rPr sz="950" b="0">
                <a:solidFill>
                  <a:srgbClr val="606060"/>
                </a:solidFill>
                <a:latin typeface="Kanit"/>
              </a:rPr>
              <a:t>Informal work นอกระบบ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3024" y="1426464"/>
            <a:ext cx="3422904" cy="33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00"/>
              </a:lnSpc>
            </a:pPr>
            <a:r>
              <a:rPr sz="2100" b="1">
                <a:solidFill>
                  <a:srgbClr val="F5C242"/>
                </a:solidFill>
                <a:latin typeface="Kanit"/>
              </a:rPr>
              <a:t>63.2%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3024" y="1792224"/>
            <a:ext cx="3422904" cy="3474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60"/>
              </a:lnSpc>
            </a:pPr>
            <a:r>
              <a:rPr sz="800" b="0">
                <a:solidFill>
                  <a:srgbClr val="606060"/>
                </a:solidFill>
                <a:latin typeface="Kanit"/>
              </a:rPr>
              <a:t>no payslip or social cover · core borrower base (2024)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80247" y="1152144"/>
            <a:ext cx="3697223" cy="1060704"/>
          </a:xfrm>
          <a:prstGeom prst="roundRect">
            <a:avLst>
              <a:gd name="adj" fmla="val 7758"/>
            </a:avLst>
          </a:prstGeom>
          <a:solidFill>
            <a:srgbClr val="F4F6FA"/>
          </a:solidFill>
          <a:ln w="9525">
            <a:solidFill>
              <a:srgbClr val="D9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17408" y="1252728"/>
            <a:ext cx="3422904" cy="1592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4"/>
              </a:lnSpc>
            </a:pPr>
            <a:r>
              <a:rPr sz="950" b="0">
                <a:solidFill>
                  <a:srgbClr val="606060"/>
                </a:solidFill>
                <a:latin typeface="Kanit"/>
              </a:rPr>
              <a:t>Vehicle fleet รถจดทะเบียน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17408" y="1426464"/>
            <a:ext cx="3422904" cy="33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00"/>
              </a:lnSpc>
            </a:pPr>
            <a:r>
              <a:rPr sz="2100" b="1">
                <a:solidFill>
                  <a:srgbClr val="1E2F5C"/>
                </a:solidFill>
                <a:latin typeface="Kanit"/>
              </a:rPr>
              <a:t>44.3M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17408" y="1792224"/>
            <a:ext cx="3422904" cy="3474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60"/>
              </a:lnSpc>
            </a:pPr>
            <a:r>
              <a:rPr sz="800" b="0">
                <a:solidFill>
                  <a:srgbClr val="606060"/>
                </a:solidFill>
                <a:latin typeface="Kanit"/>
              </a:rPr>
              <a:t>diesel 56.3% · EV 2.57%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2350008"/>
            <a:ext cx="3697223" cy="1060704"/>
          </a:xfrm>
          <a:prstGeom prst="roundRect">
            <a:avLst>
              <a:gd name="adj" fmla="val 7758"/>
            </a:avLst>
          </a:prstGeom>
          <a:solidFill>
            <a:srgbClr val="F4F6FA"/>
          </a:solidFill>
          <a:ln w="9525">
            <a:solidFill>
              <a:srgbClr val="D9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2450591"/>
            <a:ext cx="3422904" cy="1592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4"/>
              </a:lnSpc>
            </a:pPr>
            <a:r>
              <a:rPr sz="950" b="0">
                <a:solidFill>
                  <a:srgbClr val="606060"/>
                </a:solidFill>
                <a:latin typeface="Kanit"/>
              </a:rPr>
              <a:t>Districts dry ภัยแล้ง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2624327"/>
            <a:ext cx="3422904" cy="33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00"/>
              </a:lnSpc>
            </a:pPr>
            <a:r>
              <a:rPr sz="2100" b="1">
                <a:solidFill>
                  <a:srgbClr val="CC0000"/>
                </a:solidFill>
                <a:latin typeface="Kanit"/>
              </a:rPr>
              <a:t>36.4%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2990087"/>
            <a:ext cx="3422904" cy="3474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60"/>
              </a:lnSpc>
            </a:pPr>
            <a:r>
              <a:rPr sz="800" b="0">
                <a:solidFill>
                  <a:srgbClr val="606060"/>
                </a:solidFill>
                <a:latin typeface="Kanit"/>
              </a:rPr>
              <a:t>338 of 928 districts · 152 of 788 rivers high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45864" y="2350008"/>
            <a:ext cx="3697223" cy="1060704"/>
          </a:xfrm>
          <a:prstGeom prst="roundRect">
            <a:avLst>
              <a:gd name="adj" fmla="val 7758"/>
            </a:avLst>
          </a:prstGeom>
          <a:solidFill>
            <a:srgbClr val="F4F6FA"/>
          </a:solidFill>
          <a:ln w="9525">
            <a:solidFill>
              <a:srgbClr val="D9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3024" y="2450591"/>
            <a:ext cx="3422904" cy="1592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4"/>
              </a:lnSpc>
            </a:pPr>
            <a:r>
              <a:rPr sz="950" b="0">
                <a:solidFill>
                  <a:srgbClr val="606060"/>
                </a:solidFill>
                <a:latin typeface="Kanit"/>
              </a:rPr>
              <a:t>Household debt หนี้ครัวเรือน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3024" y="2624327"/>
            <a:ext cx="3422904" cy="33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00"/>
              </a:lnSpc>
            </a:pPr>
            <a:r>
              <a:rPr sz="2100" b="1">
                <a:solidFill>
                  <a:srgbClr val="F5C242"/>
                </a:solidFill>
                <a:latin typeface="Kanit"/>
              </a:rPr>
              <a:t>6.3 months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3024" y="2990087"/>
            <a:ext cx="3422904" cy="3474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60"/>
              </a:lnSpc>
            </a:pPr>
            <a:r>
              <a:rPr sz="800" b="0">
                <a:solidFill>
                  <a:srgbClr val="606060"/>
                </a:solidFill>
                <a:latin typeface="Kanit"/>
              </a:rPr>
              <a:t>debt ÷ monthly income, all households · 45% carry debt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80247" y="2350008"/>
            <a:ext cx="3697223" cy="1060704"/>
          </a:xfrm>
          <a:prstGeom prst="roundRect">
            <a:avLst>
              <a:gd name="adj" fmla="val 7758"/>
            </a:avLst>
          </a:prstGeom>
          <a:solidFill>
            <a:srgbClr val="F4F6FA"/>
          </a:solidFill>
          <a:ln w="9525">
            <a:solidFill>
              <a:srgbClr val="D9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17408" y="2450591"/>
            <a:ext cx="3422904" cy="1592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4"/>
              </a:lnSpc>
            </a:pPr>
            <a:r>
              <a:rPr sz="950" b="0">
                <a:solidFill>
                  <a:srgbClr val="606060"/>
                </a:solidFill>
                <a:latin typeface="Kanit"/>
              </a:rPr>
              <a:t>No cushion กันชนทางการเงิน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17408" y="2624327"/>
            <a:ext cx="3422904" cy="33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00"/>
              </a:lnSpc>
            </a:pPr>
            <a:r>
              <a:rPr sz="2100" b="1">
                <a:solidFill>
                  <a:srgbClr val="CC0000"/>
                </a:solidFill>
                <a:latin typeface="Kanit"/>
              </a:rPr>
              <a:t>60%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17408" y="2990087"/>
            <a:ext cx="3422904" cy="3474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60"/>
              </a:lnSpc>
            </a:pPr>
            <a:r>
              <a:rPr sz="800" b="0">
                <a:solidFill>
                  <a:srgbClr val="606060"/>
                </a:solidFill>
                <a:latin typeface="Kanit"/>
              </a:rPr>
              <a:t>savings buffer, not debt — would last under 3 months without income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411480" y="3593591"/>
          <a:ext cx="11365992" cy="155447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80160"/>
                <a:gridCol w="1188720"/>
                <a:gridCol w="1280160"/>
                <a:gridCol w="1188720"/>
                <a:gridCol w="1097280"/>
                <a:gridCol w="822960"/>
                <a:gridCol w="1234440"/>
                <a:gridCol w="1051560"/>
                <a:gridCol w="1371600"/>
                <a:gridCol w="850392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Region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labour force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unemployment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seasonal idle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vehicle fleet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diesel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districts dry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rivers high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household debt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new firms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</a:tr>
              <a:tr h="245059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Isan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9.7M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0.80%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CC0000"/>
                          </a:solidFill>
                          <a:latin typeface="Kanit"/>
                        </a:rPr>
                        <a:t>256k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9.2M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66.9%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CC0000"/>
                          </a:solidFill>
                          <a:latin typeface="Kanit"/>
                        </a:rPr>
                        <a:t>42%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41/155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CC0000"/>
                          </a:solidFill>
                          <a:latin typeface="Kanit"/>
                        </a:rPr>
                        <a:t>฿200,540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0.11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45059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North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6.4M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0.89%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53k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7.5M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62.0%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4%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21/272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CC0000"/>
                          </a:solidFill>
                          <a:latin typeface="Kanit"/>
                        </a:rPr>
                        <a:t>฿182,968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0.15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</a:tr>
              <a:tr h="245059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South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5.7M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1.18%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3k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5.5M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59.1%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16%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32/167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CC0000"/>
                          </a:solidFill>
                          <a:latin typeface="Kanit"/>
                        </a:rPr>
                        <a:t>฿217,176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0.13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45059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East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4.1M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0.86%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3k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4.3M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62.4%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CC0000"/>
                          </a:solidFill>
                          <a:latin typeface="Kanit"/>
                        </a:rPr>
                        <a:t>97%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13/51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CC0000"/>
                          </a:solidFill>
                          <a:latin typeface="Kanit"/>
                        </a:rPr>
                        <a:t>฿194,835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0.22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</a:tr>
              <a:tr h="245059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Central&amp;BKK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16.0M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0.97%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9k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17.9M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46.1%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CC0000"/>
                          </a:solidFill>
                          <a:latin typeface="Kanit"/>
                        </a:rPr>
                        <a:t>56%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45/143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CC0000"/>
                          </a:solidFill>
                          <a:latin typeface="Kanit"/>
                        </a:rPr>
                        <a:t>฿194,835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0.27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" name="Rounded Rectangle 33"/>
          <p:cNvSpPr/>
          <p:nvPr/>
        </p:nvSpPr>
        <p:spPr>
          <a:xfrm>
            <a:off x="411480" y="5276088"/>
            <a:ext cx="754177" cy="19202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1579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80" y="5305348"/>
            <a:ext cx="754177" cy="134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056"/>
              </a:lnSpc>
            </a:pPr>
            <a:r>
              <a:rPr sz="800" b="1">
                <a:solidFill>
                  <a:srgbClr val="15795F"/>
                </a:solidFill>
                <a:latin typeface="Kanit"/>
              </a:rPr>
              <a:t>MEASURED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75385" y="5289803"/>
            <a:ext cx="10502086" cy="46291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15"/>
              </a:lnSpc>
            </a:pPr>
            <a:r>
              <a:rPr sz="900" b="0">
                <a:solidFill>
                  <a:srgbClr val="606060"/>
                </a:solidFill>
                <a:latin typeface="Kanit"/>
              </a:rPr>
              <a:t>NSO LFS · ILOSTAT · DLT · MOT · DBD · ThaiWater · BoT/NSO household debt. Labour, fleet and water roll province → region → national on their own weight, never a plain average. The debt card is BoT/NSO 2562 (2019), ALL households — not only the 45% carrying debt. The table's region column is a newer cut, 2566 (2023), in baht: income is not published at region grain for enough regions to convert it. East shares Central's figure.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" y="5885306"/>
            <a:ext cx="11365992" cy="667258"/>
          </a:xfrm>
          <a:prstGeom prst="rect">
            <a:avLst/>
          </a:prstGeom>
          <a:solidFill>
            <a:srgbClr val="FDF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11480" y="5885306"/>
            <a:ext cx="50292" cy="667258"/>
          </a:xfrm>
          <a:prstGeom prst="rect">
            <a:avLst/>
          </a:prstGeom>
          <a:solidFill>
            <a:srgbClr val="F5C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0936" y="6031611"/>
            <a:ext cx="11036808" cy="158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</a:pPr>
            <a:r>
              <a:rPr sz="950" b="1">
                <a:solidFill>
                  <a:srgbClr val="9A7411"/>
                </a:solidFill>
                <a:latin typeface="Kanit"/>
              </a:rPr>
              <a:t>0.94% unemployment hides informal work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936" y="6236080"/>
            <a:ext cx="11036808" cy="1701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40"/>
              </a:lnSpc>
            </a:pPr>
            <a:r>
              <a:rPr sz="1000" b="0">
                <a:solidFill>
                  <a:srgbClr val="1E2F5C"/>
                </a:solidFill>
                <a:latin typeface="Kanit"/>
              </a:rPr>
              <a:t>A lost formal job reappears as informal work, not as unemployment — on lower, less predictable pay. Read informality, seasonal idle and the cushion instead. Isan's seasonal idle is 4.8× the North's.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19456"/>
            <a:ext cx="8686800" cy="1508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88"/>
              </a:lnSpc>
            </a:pPr>
            <a:r>
              <a:rPr sz="900" b="1">
                <a:solidFill>
                  <a:srgbClr val="CC0000"/>
                </a:solidFill>
                <a:latin typeface="Kanit"/>
              </a:rPr>
              <a:t>03 · COMMODITY 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57200"/>
            <a:ext cx="996696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E2F5C"/>
                </a:solidFill>
                <a:latin typeface="Kanit"/>
              </a:rPr>
              <a:t>The world index says tailwind. The Thai farm gate does not.</a:t>
            </a:r>
          </a:p>
        </p:txBody>
      </p:sp>
      <p:pic>
        <p:nvPicPr>
          <p:cNvPr id="5" name="Picture 4" descr="aut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4472" y="256032"/>
            <a:ext cx="941832" cy="29260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11480" y="969264"/>
            <a:ext cx="11365992" cy="20116"/>
          </a:xfrm>
          <a:prstGeom prst="rect">
            <a:avLst/>
          </a:prstGeom>
          <a:solidFill>
            <a:srgbClr val="1E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91969" cy="109728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92824"/>
            <a:ext cx="6400800" cy="134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6"/>
              </a:lnSpc>
            </a:pPr>
            <a:r>
              <a:rPr sz="800" b="0">
                <a:solidFill>
                  <a:srgbClr val="606060"/>
                </a:solidFill>
                <a:latin typeface="Kanit"/>
              </a:rPr>
              <a:t>Restricted Data – Reproduction is prohibited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165860"/>
            <a:ext cx="164592" cy="1844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52"/>
              </a:lnSpc>
            </a:pPr>
            <a:r>
              <a:rPr sz="1100" b="1">
                <a:solidFill>
                  <a:srgbClr val="CC0000"/>
                </a:solidFill>
                <a:latin typeface="Kanit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152144"/>
            <a:ext cx="11183112" cy="1899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96"/>
              </a:lnSpc>
            </a:pPr>
            <a:r>
              <a:rPr sz="1100" b="0">
                <a:solidFill>
                  <a:srgbClr val="1E2F5C"/>
                </a:solidFill>
                <a:latin typeface="Kanit"/>
              </a:rPr>
              <a:t>Seventeen of the 21 commodities we track have a measured Thai farm-gate price (ราคาที่เกษตรกรขายได้). Five are falling year on year.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1438148"/>
            <a:ext cx="164592" cy="1844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52"/>
              </a:lnSpc>
            </a:pPr>
            <a:r>
              <a:rPr sz="1100" b="1">
                <a:solidFill>
                  <a:srgbClr val="CC0000"/>
                </a:solidFill>
                <a:latin typeface="Kanit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424432"/>
            <a:ext cx="11183112" cy="1899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96"/>
              </a:lnSpc>
            </a:pPr>
            <a:r>
              <a:rPr sz="1100" b="0">
                <a:solidFill>
                  <a:srgbClr val="1E2F5C"/>
                </a:solidFill>
                <a:latin typeface="Kanit"/>
              </a:rPr>
              <a:t>Six months beside the year: they disagree on direction more often than they agree on size.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1710436"/>
            <a:ext cx="164592" cy="1844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52"/>
              </a:lnSpc>
            </a:pPr>
            <a:r>
              <a:rPr sz="1100" b="1">
                <a:solidFill>
                  <a:srgbClr val="CC0000"/>
                </a:solidFill>
                <a:latin typeface="Kanit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1696720"/>
            <a:ext cx="11183112" cy="1899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96"/>
              </a:lnSpc>
            </a:pPr>
            <a:r>
              <a:rPr sz="1100" b="0">
                <a:solidFill>
                  <a:srgbClr val="1E2F5C"/>
                </a:solidFill>
                <a:latin typeface="Kanit"/>
              </a:rPr>
              <a:t>The last column is OUR farming customers living in that belt — the only loan-book number in this deck.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411480" y="2033016"/>
          <a:ext cx="11365992" cy="160019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57400"/>
                <a:gridCol w="1097280"/>
                <a:gridCol w="1645920"/>
                <a:gridCol w="1371600"/>
                <a:gridCol w="1371600"/>
                <a:gridCol w="2011680"/>
                <a:gridCol w="1810512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Falling at the farm gate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Segment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Belt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Farm-gate YoY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Farm-gate 6m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Farming accounts in belt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share of our accounts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</a:tr>
              <a:tr h="254203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E2F5C"/>
                          </a:solidFill>
                          <a:latin typeface="Kanit"/>
                        </a:rPr>
                        <a:t>Coconut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E2F5C"/>
                          </a:solidFill>
                          <a:latin typeface="Kanit"/>
                        </a:rPr>
                        <a:t>Crops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E2F5C"/>
                          </a:solidFill>
                          <a:latin typeface="Kanit"/>
                        </a:rPr>
                        <a:t>S · 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CC0000"/>
                          </a:solidFill>
                          <a:latin typeface="Kanit"/>
                        </a:rPr>
                        <a:t>−69.0%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CC0000"/>
                          </a:solidFill>
                          <a:latin typeface="Kanit"/>
                        </a:rPr>
                        <a:t>−41.3%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7A4FE0"/>
                          </a:solidFill>
                          <a:latin typeface="Kanit"/>
                        </a:rPr>
                        <a:t>9,100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606060"/>
                          </a:solidFill>
                          <a:latin typeface="Kanit"/>
                        </a:rPr>
                        <a:t>23%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54203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E2F5C"/>
                          </a:solidFill>
                          <a:latin typeface="Kanit"/>
                        </a:rPr>
                        <a:t>Pineapple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E2F5C"/>
                          </a:solidFill>
                          <a:latin typeface="Kanit"/>
                        </a:rPr>
                        <a:t>Crops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E2F5C"/>
                          </a:solidFill>
                          <a:latin typeface="Kanit"/>
                        </a:rPr>
                        <a:t>E · W · N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CC0000"/>
                          </a:solidFill>
                          <a:latin typeface="Kanit"/>
                        </a:rPr>
                        <a:t>−18.4%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15795F"/>
                          </a:solidFill>
                          <a:latin typeface="Kanit"/>
                        </a:rPr>
                        <a:t>+48.0%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7A4FE0"/>
                          </a:solidFill>
                          <a:latin typeface="Kanit"/>
                        </a:rPr>
                        <a:t>5,108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606060"/>
                          </a:solidFill>
                          <a:latin typeface="Kanit"/>
                        </a:rPr>
                        <a:t>19%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</a:tr>
              <a:tr h="254203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E2F5C"/>
                          </a:solidFill>
                          <a:latin typeface="Kanit"/>
                        </a:rPr>
                        <a:t>Sugar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E2F5C"/>
                          </a:solidFill>
                          <a:latin typeface="Kanit"/>
                        </a:rPr>
                        <a:t>Crops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E2F5C"/>
                          </a:solidFill>
                          <a:latin typeface="Kanit"/>
                        </a:rPr>
                        <a:t>Isan · C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CC0000"/>
                          </a:solidFill>
                          <a:latin typeface="Kanit"/>
                        </a:rPr>
                        <a:t>−17.9%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606060"/>
                          </a:solidFill>
                          <a:latin typeface="Kanit"/>
                        </a:rPr>
                        <a:t>no series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7A4FE0"/>
                          </a:solidFill>
                          <a:latin typeface="Kanit"/>
                        </a:rPr>
                        <a:t>19,771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606060"/>
                          </a:solidFill>
                          <a:latin typeface="Kanit"/>
                        </a:rPr>
                        <a:t>22%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54203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E2F5C"/>
                          </a:solidFill>
                          <a:latin typeface="Kanit"/>
                        </a:rPr>
                        <a:t>Rambutan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E2F5C"/>
                          </a:solidFill>
                          <a:latin typeface="Kanit"/>
                        </a:rPr>
                        <a:t>Crops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E2F5C"/>
                          </a:solidFill>
                          <a:latin typeface="Kanit"/>
                        </a:rPr>
                        <a:t>S · E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CC0000"/>
                          </a:solidFill>
                          <a:latin typeface="Kanit"/>
                        </a:rPr>
                        <a:t>−13.5%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606060"/>
                          </a:solidFill>
                          <a:latin typeface="Kanit"/>
                        </a:rPr>
                        <a:t>no series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7A4FE0"/>
                          </a:solidFill>
                          <a:latin typeface="Kanit"/>
                        </a:rPr>
                        <a:t>8,270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606060"/>
                          </a:solidFill>
                          <a:latin typeface="Kanit"/>
                        </a:rPr>
                        <a:t>19%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</a:tr>
              <a:tr h="254203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E2F5C"/>
                          </a:solidFill>
                          <a:latin typeface="Kanit"/>
                        </a:rPr>
                        <a:t>Beef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E2F5C"/>
                          </a:solidFill>
                          <a:latin typeface="Kanit"/>
                        </a:rPr>
                        <a:t>Livestock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E2F5C"/>
                          </a:solidFill>
                          <a:latin typeface="Kanit"/>
                        </a:rPr>
                        <a:t>Isan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CC0000"/>
                          </a:solidFill>
                          <a:latin typeface="Kanit"/>
                        </a:rPr>
                        <a:t>−6.1%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606060"/>
                          </a:solidFill>
                          <a:latin typeface="Kanit"/>
                        </a:rPr>
                        <a:t>no series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7A4FE0"/>
                          </a:solidFill>
                          <a:latin typeface="Kanit"/>
                        </a:rPr>
                        <a:t>31,240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606060"/>
                          </a:solidFill>
                          <a:latin typeface="Kanit"/>
                        </a:rPr>
                        <a:t>23%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411480" y="3761232"/>
            <a:ext cx="535747" cy="19202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1E2F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3790492"/>
            <a:ext cx="535747" cy="134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056"/>
              </a:lnSpc>
            </a:pPr>
            <a:r>
              <a:rPr sz="800" b="1">
                <a:solidFill>
                  <a:srgbClr val="1E2F5C"/>
                </a:solidFill>
                <a:latin typeface="Kanit"/>
              </a:rPr>
              <a:t>MIXED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6955" y="3774947"/>
            <a:ext cx="10720516" cy="6172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15"/>
              </a:lnSpc>
            </a:pPr>
            <a:r>
              <a:rPr sz="900" b="0">
                <a:solidFill>
                  <a:srgbClr val="606060"/>
                </a:solidFill>
                <a:latin typeface="Kanit"/>
              </a:rPr>
              <a:t>Prices MEASURED — NABC daily quotes for the Thai farm gate, OCSB announced cane price; newest quote 2026-09-11. The six-month move is computed from NABC's own monthly series (thai_price_history, vintage 2026-09-11); a crop with no monthly series is marked, never estimated. Belt is an ESTIMATED read of where each commodity is produced, and belts overlap. Farming accounts are OURS and MEASURED — accounts whose recorded occupation is เกษตร in the belt provinces, from the 382,735-account tape at 2026-07; no cell below 30 accounts is published. They live where the crop grows; they are not confirmed to grow it.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4524756"/>
            <a:ext cx="11365992" cy="675767"/>
          </a:xfrm>
          <a:prstGeom prst="rect">
            <a:avLst/>
          </a:prstGeom>
          <a:solidFill>
            <a:srgbClr val="FC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1480" y="4524756"/>
            <a:ext cx="50292" cy="675767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" y="4671060"/>
            <a:ext cx="11036808" cy="158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</a:pPr>
            <a:r>
              <a:rPr sz="950" b="1">
                <a:solidFill>
                  <a:srgbClr val="CC0000"/>
                </a:solidFill>
                <a:latin typeface="Kanit"/>
              </a:rPr>
              <a:t>Beef: the world index is the wrong instrument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" y="4875529"/>
            <a:ext cx="11036808" cy="17868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7"/>
              </a:lnSpc>
            </a:pPr>
            <a:r>
              <a:rPr sz="1050" b="0">
                <a:solidFill>
                  <a:srgbClr val="1E2F5C"/>
                </a:solidFill>
                <a:latin typeface="Kanit"/>
              </a:rPr>
              <a:t>World beef +8.8%, Thai farm gate −6.1% — a 14.9-point gap, opposite directions. 31,240 of our farming customers live in the beef belt, Isan.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19456"/>
            <a:ext cx="8686800" cy="1508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88"/>
              </a:lnSpc>
            </a:pPr>
            <a:r>
              <a:rPr sz="900" b="1">
                <a:solidFill>
                  <a:srgbClr val="CC0000"/>
                </a:solidFill>
                <a:latin typeface="Kanit"/>
              </a:rPr>
              <a:t>04 · FIVE YEARS OF PRICE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57200"/>
            <a:ext cx="996696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E2F5C"/>
                </a:solidFill>
                <a:latin typeface="Kanit"/>
              </a:rPr>
              <a:t>Sugar has not fallen for a year. It has fallen for four.</a:t>
            </a:r>
          </a:p>
        </p:txBody>
      </p:sp>
      <p:pic>
        <p:nvPicPr>
          <p:cNvPr id="5" name="Picture 4" descr="aut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4472" y="256032"/>
            <a:ext cx="941832" cy="29260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11480" y="969264"/>
            <a:ext cx="11365992" cy="20116"/>
          </a:xfrm>
          <a:prstGeom prst="rect">
            <a:avLst/>
          </a:prstGeom>
          <a:solidFill>
            <a:srgbClr val="1E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91969" cy="109728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92824"/>
            <a:ext cx="6400800" cy="134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6"/>
              </a:lnSpc>
            </a:pPr>
            <a:r>
              <a:rPr sz="800" b="0">
                <a:solidFill>
                  <a:srgbClr val="606060"/>
                </a:solidFill>
                <a:latin typeface="Kanit"/>
              </a:rPr>
              <a:t>Restricted Data – Reproduction is prohibited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152144"/>
            <a:ext cx="6903720" cy="2788920"/>
          </a:xfrm>
          <a:prstGeom prst="rect">
            <a:avLst/>
          </a:prstGeom>
          <a:solidFill>
            <a:srgbClr val="FBFCFE"/>
          </a:solidFill>
          <a:ln w="9525">
            <a:solidFill>
              <a:srgbClr val="D9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5528" y="3666744"/>
            <a:ext cx="6428232" cy="6400"/>
          </a:xfrm>
          <a:prstGeom prst="rect">
            <a:avLst/>
          </a:prstGeom>
          <a:solidFill>
            <a:srgbClr val="D9D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598163"/>
            <a:ext cx="329184" cy="1257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990"/>
              </a:lnSpc>
            </a:pPr>
            <a:r>
              <a:rPr sz="750" b="0">
                <a:solidFill>
                  <a:srgbClr val="9AA3B2"/>
                </a:solidFill>
                <a:latin typeface="Kanit"/>
              </a:rPr>
              <a:t>40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5528" y="2778633"/>
            <a:ext cx="6428232" cy="10972"/>
          </a:xfrm>
          <a:prstGeom prst="rect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" y="2710052"/>
            <a:ext cx="329184" cy="1257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990"/>
              </a:lnSpc>
            </a:pPr>
            <a:r>
              <a:rPr sz="750" b="0">
                <a:solidFill>
                  <a:srgbClr val="606060"/>
                </a:solidFill>
                <a:latin typeface="Kanit"/>
              </a:rPr>
              <a:t>100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528" y="1298448"/>
            <a:ext cx="6428232" cy="6400"/>
          </a:xfrm>
          <a:prstGeom prst="rect">
            <a:avLst/>
          </a:prstGeom>
          <a:solidFill>
            <a:srgbClr val="D9D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8" y="1229868"/>
            <a:ext cx="329184" cy="1257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990"/>
              </a:lnSpc>
            </a:pPr>
            <a:r>
              <a:rPr sz="750" b="0">
                <a:solidFill>
                  <a:srgbClr val="9AA3B2"/>
                </a:solidFill>
                <a:latin typeface="Kanit"/>
              </a:rPr>
              <a:t>200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63052" y="1280160"/>
            <a:ext cx="569267" cy="134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6"/>
              </a:lnSpc>
            </a:pPr>
            <a:r>
              <a:rPr sz="800" b="1">
                <a:solidFill>
                  <a:srgbClr val="CC0000"/>
                </a:solidFill>
                <a:latin typeface="Kanit"/>
              </a:rPr>
              <a:t>Sugar น้ำตาล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25308" y="1339596"/>
            <a:ext cx="164592" cy="25603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8012" y="1280160"/>
            <a:ext cx="870991" cy="134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6"/>
              </a:lnSpc>
            </a:pPr>
            <a:r>
              <a:rPr sz="800" b="1">
                <a:solidFill>
                  <a:srgbClr val="F5C242"/>
                </a:solidFill>
                <a:latin typeface="Kanit"/>
              </a:rPr>
              <a:t>Palm oil ปาล์มน้ำมัน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70268" y="1339596"/>
            <a:ext cx="164592" cy="25603"/>
          </a:xfrm>
          <a:prstGeom prst="rect">
            <a:avLst/>
          </a:prstGeom>
          <a:solidFill>
            <a:srgbClr val="F5C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43113" y="1280160"/>
            <a:ext cx="380851" cy="134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6"/>
              </a:lnSpc>
            </a:pPr>
            <a:r>
              <a:rPr sz="800" b="1">
                <a:solidFill>
                  <a:srgbClr val="1E2F5C"/>
                </a:solidFill>
                <a:latin typeface="Kanit"/>
              </a:rPr>
              <a:t>Rice ข้าว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05369" y="1339596"/>
            <a:ext cx="164592" cy="25603"/>
          </a:xfrm>
          <a:prstGeom prst="rect">
            <a:avLst/>
          </a:prstGeom>
          <a:solidFill>
            <a:srgbClr val="1E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14825" y="1280160"/>
            <a:ext cx="744239" cy="134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6"/>
              </a:lnSpc>
            </a:pPr>
            <a:r>
              <a:rPr sz="800" b="1">
                <a:solidFill>
                  <a:srgbClr val="15795F"/>
                </a:solidFill>
                <a:latin typeface="Kanit"/>
              </a:rPr>
              <a:t>Rubber ยางพารา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77081" y="1339596"/>
            <a:ext cx="164592" cy="25603"/>
          </a:xfrm>
          <a:prstGeom prst="rect">
            <a:avLst/>
          </a:prstGeom>
          <a:solidFill>
            <a:srgbClr val="157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795528" y="2030750"/>
            <a:ext cx="6428232" cy="1114034"/>
          </a:xfrm>
          <a:custGeom>
            <a:avLst/>
            <a:gdLst/>
            <a:ahLst/>
            <a:cxnLst/>
            <a:rect l="l" t="t" r="r" b="b"/>
            <a:pathLst>
              <a:path w="6428232" h="1114034">
                <a:moveTo>
                  <a:pt x="0" y="747883"/>
                </a:moveTo>
                <a:lnTo>
                  <a:pt x="108953" y="833577"/>
                </a:lnTo>
                <a:lnTo>
                  <a:pt x="217906" y="771254"/>
                </a:lnTo>
                <a:lnTo>
                  <a:pt x="326859" y="724511"/>
                </a:lnTo>
                <a:lnTo>
                  <a:pt x="435812" y="732302"/>
                </a:lnTo>
                <a:lnTo>
                  <a:pt x="544765" y="693349"/>
                </a:lnTo>
                <a:lnTo>
                  <a:pt x="653718" y="584283"/>
                </a:lnTo>
                <a:lnTo>
                  <a:pt x="762671" y="576493"/>
                </a:lnTo>
                <a:lnTo>
                  <a:pt x="871624" y="599864"/>
                </a:lnTo>
                <a:lnTo>
                  <a:pt x="980577" y="623235"/>
                </a:lnTo>
                <a:lnTo>
                  <a:pt x="1089530" y="646607"/>
                </a:lnTo>
                <a:lnTo>
                  <a:pt x="1198483" y="841368"/>
                </a:lnTo>
                <a:lnTo>
                  <a:pt x="1307437" y="973805"/>
                </a:lnTo>
                <a:lnTo>
                  <a:pt x="1416390" y="1075081"/>
                </a:lnTo>
                <a:lnTo>
                  <a:pt x="1525343" y="1059500"/>
                </a:lnTo>
                <a:lnTo>
                  <a:pt x="1634296" y="1114034"/>
                </a:lnTo>
                <a:lnTo>
                  <a:pt x="1743249" y="1028339"/>
                </a:lnTo>
                <a:lnTo>
                  <a:pt x="1852202" y="958225"/>
                </a:lnTo>
                <a:lnTo>
                  <a:pt x="1961155" y="966015"/>
                </a:lnTo>
                <a:lnTo>
                  <a:pt x="2070108" y="997177"/>
                </a:lnTo>
                <a:lnTo>
                  <a:pt x="2179061" y="1028339"/>
                </a:lnTo>
                <a:lnTo>
                  <a:pt x="2288014" y="1012758"/>
                </a:lnTo>
                <a:lnTo>
                  <a:pt x="2396967" y="1036129"/>
                </a:lnTo>
                <a:lnTo>
                  <a:pt x="2505920" y="1067291"/>
                </a:lnTo>
                <a:lnTo>
                  <a:pt x="2614874" y="1082872"/>
                </a:lnTo>
                <a:lnTo>
                  <a:pt x="2723827" y="1020548"/>
                </a:lnTo>
                <a:lnTo>
                  <a:pt x="2832780" y="973805"/>
                </a:lnTo>
                <a:lnTo>
                  <a:pt x="2941733" y="927063"/>
                </a:lnTo>
                <a:lnTo>
                  <a:pt x="3050686" y="934853"/>
                </a:lnTo>
                <a:lnTo>
                  <a:pt x="3159639" y="825787"/>
                </a:lnTo>
                <a:lnTo>
                  <a:pt x="3268592" y="654397"/>
                </a:lnTo>
                <a:lnTo>
                  <a:pt x="3377545" y="366151"/>
                </a:lnTo>
                <a:lnTo>
                  <a:pt x="3486498" y="451846"/>
                </a:lnTo>
                <a:lnTo>
                  <a:pt x="3595451" y="553121"/>
                </a:lnTo>
                <a:lnTo>
                  <a:pt x="3704404" y="467426"/>
                </a:lnTo>
                <a:lnTo>
                  <a:pt x="3813357" y="623235"/>
                </a:lnTo>
                <a:lnTo>
                  <a:pt x="3922311" y="366151"/>
                </a:lnTo>
                <a:lnTo>
                  <a:pt x="4031264" y="163599"/>
                </a:lnTo>
                <a:lnTo>
                  <a:pt x="4140217" y="179180"/>
                </a:lnTo>
                <a:lnTo>
                  <a:pt x="4249170" y="444055"/>
                </a:lnTo>
                <a:lnTo>
                  <a:pt x="4358123" y="373941"/>
                </a:lnTo>
                <a:lnTo>
                  <a:pt x="4467076" y="381731"/>
                </a:lnTo>
                <a:lnTo>
                  <a:pt x="4576029" y="350570"/>
                </a:lnTo>
                <a:lnTo>
                  <a:pt x="4684982" y="389522"/>
                </a:lnTo>
                <a:lnTo>
                  <a:pt x="4793935" y="568702"/>
                </a:lnTo>
                <a:lnTo>
                  <a:pt x="4902888" y="521960"/>
                </a:lnTo>
                <a:lnTo>
                  <a:pt x="5011841" y="545331"/>
                </a:lnTo>
                <a:lnTo>
                  <a:pt x="5120794" y="490798"/>
                </a:lnTo>
                <a:lnTo>
                  <a:pt x="5229748" y="553121"/>
                </a:lnTo>
                <a:lnTo>
                  <a:pt x="5338701" y="584283"/>
                </a:lnTo>
                <a:lnTo>
                  <a:pt x="5447654" y="669978"/>
                </a:lnTo>
                <a:lnTo>
                  <a:pt x="5556607" y="646607"/>
                </a:lnTo>
                <a:lnTo>
                  <a:pt x="5665560" y="623235"/>
                </a:lnTo>
                <a:lnTo>
                  <a:pt x="5774513" y="560912"/>
                </a:lnTo>
                <a:lnTo>
                  <a:pt x="5883466" y="467426"/>
                </a:lnTo>
                <a:lnTo>
                  <a:pt x="5992419" y="366151"/>
                </a:lnTo>
                <a:lnTo>
                  <a:pt x="6101372" y="272665"/>
                </a:lnTo>
                <a:lnTo>
                  <a:pt x="6210325" y="132437"/>
                </a:lnTo>
                <a:lnTo>
                  <a:pt x="6319278" y="0"/>
                </a:lnTo>
                <a:lnTo>
                  <a:pt x="6428232" y="62323"/>
                </a:lnTo>
              </a:path>
            </a:pathLst>
          </a:custGeom>
          <a:noFill/>
          <a:ln w="20320">
            <a:solidFill>
              <a:srgbClr val="1579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795528" y="1834693"/>
            <a:ext cx="6428232" cy="1116567"/>
          </a:xfrm>
          <a:custGeom>
            <a:avLst/>
            <a:gdLst/>
            <a:ahLst/>
            <a:cxnLst/>
            <a:rect l="l" t="t" r="r" b="b"/>
            <a:pathLst>
              <a:path w="6428232" h="1116567">
                <a:moveTo>
                  <a:pt x="0" y="943940"/>
                </a:moveTo>
                <a:lnTo>
                  <a:pt x="108953" y="954958"/>
                </a:lnTo>
                <a:lnTo>
                  <a:pt x="217906" y="951285"/>
                </a:lnTo>
                <a:lnTo>
                  <a:pt x="326859" y="954958"/>
                </a:lnTo>
                <a:lnTo>
                  <a:pt x="435812" y="954958"/>
                </a:lnTo>
                <a:lnTo>
                  <a:pt x="544765" y="855790"/>
                </a:lnTo>
                <a:lnTo>
                  <a:pt x="653718" y="855790"/>
                </a:lnTo>
                <a:lnTo>
                  <a:pt x="762671" y="874154"/>
                </a:lnTo>
                <a:lnTo>
                  <a:pt x="871624" y="841098"/>
                </a:lnTo>
                <a:lnTo>
                  <a:pt x="980577" y="719892"/>
                </a:lnTo>
                <a:lnTo>
                  <a:pt x="1089530" y="793350"/>
                </a:lnTo>
                <a:lnTo>
                  <a:pt x="1198483" y="888846"/>
                </a:lnTo>
                <a:lnTo>
                  <a:pt x="1307437" y="841098"/>
                </a:lnTo>
                <a:lnTo>
                  <a:pt x="1416390" y="811715"/>
                </a:lnTo>
                <a:lnTo>
                  <a:pt x="1525343" y="841098"/>
                </a:lnTo>
                <a:lnTo>
                  <a:pt x="1634296" y="808042"/>
                </a:lnTo>
                <a:lnTo>
                  <a:pt x="1743249" y="708873"/>
                </a:lnTo>
                <a:lnTo>
                  <a:pt x="1852202" y="525227"/>
                </a:lnTo>
                <a:lnTo>
                  <a:pt x="1961155" y="617050"/>
                </a:lnTo>
                <a:lnTo>
                  <a:pt x="2070108" y="675817"/>
                </a:lnTo>
                <a:lnTo>
                  <a:pt x="2179061" y="583994"/>
                </a:lnTo>
                <a:lnTo>
                  <a:pt x="2288014" y="550938"/>
                </a:lnTo>
                <a:lnTo>
                  <a:pt x="2396967" y="536246"/>
                </a:lnTo>
                <a:lnTo>
                  <a:pt x="2505920" y="415040"/>
                </a:lnTo>
                <a:lnTo>
                  <a:pt x="2614874" y="91823"/>
                </a:lnTo>
                <a:lnTo>
                  <a:pt x="2723827" y="146917"/>
                </a:lnTo>
                <a:lnTo>
                  <a:pt x="2832780" y="257104"/>
                </a:lnTo>
                <a:lnTo>
                  <a:pt x="2941733" y="227721"/>
                </a:lnTo>
                <a:lnTo>
                  <a:pt x="3050686" y="58767"/>
                </a:lnTo>
                <a:lnTo>
                  <a:pt x="3159639" y="0"/>
                </a:lnTo>
                <a:lnTo>
                  <a:pt x="3268592" y="132225"/>
                </a:lnTo>
                <a:lnTo>
                  <a:pt x="3377545" y="172627"/>
                </a:lnTo>
                <a:lnTo>
                  <a:pt x="3486498" y="249758"/>
                </a:lnTo>
                <a:lnTo>
                  <a:pt x="3595451" y="117533"/>
                </a:lnTo>
                <a:lnTo>
                  <a:pt x="3704404" y="102842"/>
                </a:lnTo>
                <a:lnTo>
                  <a:pt x="3813357" y="257104"/>
                </a:lnTo>
                <a:lnTo>
                  <a:pt x="3922311" y="260777"/>
                </a:lnTo>
                <a:lnTo>
                  <a:pt x="4031264" y="293833"/>
                </a:lnTo>
                <a:lnTo>
                  <a:pt x="4140217" y="532573"/>
                </a:lnTo>
                <a:lnTo>
                  <a:pt x="4249170" y="547265"/>
                </a:lnTo>
                <a:lnTo>
                  <a:pt x="4358123" y="488498"/>
                </a:lnTo>
                <a:lnTo>
                  <a:pt x="4467076" y="668471"/>
                </a:lnTo>
                <a:lnTo>
                  <a:pt x="4576029" y="819060"/>
                </a:lnTo>
                <a:lnTo>
                  <a:pt x="4684982" y="863135"/>
                </a:lnTo>
                <a:lnTo>
                  <a:pt x="4793935" y="899865"/>
                </a:lnTo>
                <a:lnTo>
                  <a:pt x="4902888" y="841098"/>
                </a:lnTo>
                <a:lnTo>
                  <a:pt x="5011841" y="885173"/>
                </a:lnTo>
                <a:lnTo>
                  <a:pt x="5120794" y="984342"/>
                </a:lnTo>
                <a:lnTo>
                  <a:pt x="5229748" y="1046781"/>
                </a:lnTo>
                <a:lnTo>
                  <a:pt x="5338701" y="1050454"/>
                </a:lnTo>
                <a:lnTo>
                  <a:pt x="5447654" y="1116567"/>
                </a:lnTo>
                <a:lnTo>
                  <a:pt x="5556607" y="1072492"/>
                </a:lnTo>
                <a:lnTo>
                  <a:pt x="5665560" y="866808"/>
                </a:lnTo>
                <a:lnTo>
                  <a:pt x="5774513" y="925575"/>
                </a:lnTo>
                <a:lnTo>
                  <a:pt x="5883466" y="921902"/>
                </a:lnTo>
                <a:lnTo>
                  <a:pt x="5992419" y="1024744"/>
                </a:lnTo>
                <a:lnTo>
                  <a:pt x="6101372" y="943940"/>
                </a:lnTo>
                <a:lnTo>
                  <a:pt x="6210325" y="808042"/>
                </a:lnTo>
                <a:lnTo>
                  <a:pt x="6319278" y="609704"/>
                </a:lnTo>
                <a:lnTo>
                  <a:pt x="6428232" y="708873"/>
                </a:lnTo>
              </a:path>
            </a:pathLst>
          </a:custGeom>
          <a:noFill/>
          <a:ln w="20320">
            <a:solidFill>
              <a:srgbClr val="1E2F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795528" y="1955587"/>
            <a:ext cx="6428232" cy="1261139"/>
          </a:xfrm>
          <a:custGeom>
            <a:avLst/>
            <a:gdLst/>
            <a:ahLst/>
            <a:cxnLst/>
            <a:rect l="l" t="t" r="r" b="b"/>
            <a:pathLst>
              <a:path w="6428232" h="1261139">
                <a:moveTo>
                  <a:pt x="0" y="823046"/>
                </a:moveTo>
                <a:lnTo>
                  <a:pt x="108953" y="772496"/>
                </a:lnTo>
                <a:lnTo>
                  <a:pt x="217906" y="605295"/>
                </a:lnTo>
                <a:lnTo>
                  <a:pt x="326859" y="565115"/>
                </a:lnTo>
                <a:lnTo>
                  <a:pt x="435812" y="657140"/>
                </a:lnTo>
                <a:lnTo>
                  <a:pt x="544765" y="559930"/>
                </a:lnTo>
                <a:lnTo>
                  <a:pt x="653718" y="330515"/>
                </a:lnTo>
                <a:lnTo>
                  <a:pt x="762671" y="0"/>
                </a:lnTo>
                <a:lnTo>
                  <a:pt x="871624" y="121837"/>
                </a:lnTo>
                <a:lnTo>
                  <a:pt x="980577" y="77768"/>
                </a:lnTo>
                <a:lnTo>
                  <a:pt x="1089530" y="357733"/>
                </a:lnTo>
                <a:lnTo>
                  <a:pt x="1198483" y="933217"/>
                </a:lnTo>
                <a:lnTo>
                  <a:pt x="1307437" y="973397"/>
                </a:lnTo>
                <a:lnTo>
                  <a:pt x="1416390" y="1125045"/>
                </a:lnTo>
                <a:lnTo>
                  <a:pt x="1525343" y="1150967"/>
                </a:lnTo>
                <a:lnTo>
                  <a:pt x="1634296" y="1077088"/>
                </a:lnTo>
                <a:lnTo>
                  <a:pt x="1743249" y="1084865"/>
                </a:lnTo>
                <a:lnTo>
                  <a:pt x="1852202" y="1082272"/>
                </a:lnTo>
                <a:lnTo>
                  <a:pt x="1961155" y="1071903"/>
                </a:lnTo>
                <a:lnTo>
                  <a:pt x="2070108" y="1043388"/>
                </a:lnTo>
                <a:lnTo>
                  <a:pt x="2179061" y="1000616"/>
                </a:lnTo>
                <a:lnTo>
                  <a:pt x="2288014" y="1092641"/>
                </a:lnTo>
                <a:lnTo>
                  <a:pt x="2396967" y="1244289"/>
                </a:lnTo>
                <a:lnTo>
                  <a:pt x="2505920" y="1163929"/>
                </a:lnTo>
                <a:lnTo>
                  <a:pt x="2614874" y="1187259"/>
                </a:lnTo>
                <a:lnTo>
                  <a:pt x="2723827" y="1227439"/>
                </a:lnTo>
                <a:lnTo>
                  <a:pt x="2832780" y="1261139"/>
                </a:lnTo>
                <a:lnTo>
                  <a:pt x="2941733" y="1227439"/>
                </a:lnTo>
                <a:lnTo>
                  <a:pt x="3050686" y="1248177"/>
                </a:lnTo>
                <a:lnTo>
                  <a:pt x="3159639" y="1207997"/>
                </a:lnTo>
                <a:lnTo>
                  <a:pt x="3268592" y="1192444"/>
                </a:lnTo>
                <a:lnTo>
                  <a:pt x="3377545" y="1080976"/>
                </a:lnTo>
                <a:lnTo>
                  <a:pt x="3486498" y="1090049"/>
                </a:lnTo>
                <a:lnTo>
                  <a:pt x="3595451" y="1189851"/>
                </a:lnTo>
                <a:lnTo>
                  <a:pt x="3704404" y="1170409"/>
                </a:lnTo>
                <a:lnTo>
                  <a:pt x="3813357" y="1141894"/>
                </a:lnTo>
                <a:lnTo>
                  <a:pt x="3922311" y="1093938"/>
                </a:lnTo>
                <a:lnTo>
                  <a:pt x="4031264" y="1029131"/>
                </a:lnTo>
                <a:lnTo>
                  <a:pt x="4140217" y="907294"/>
                </a:lnTo>
                <a:lnTo>
                  <a:pt x="4249170" y="788050"/>
                </a:lnTo>
                <a:lnTo>
                  <a:pt x="4358123" y="760831"/>
                </a:lnTo>
                <a:lnTo>
                  <a:pt x="4467076" y="916367"/>
                </a:lnTo>
                <a:lnTo>
                  <a:pt x="4576029" y="920256"/>
                </a:lnTo>
                <a:lnTo>
                  <a:pt x="4684982" y="918959"/>
                </a:lnTo>
                <a:lnTo>
                  <a:pt x="4793935" y="1014873"/>
                </a:lnTo>
                <a:lnTo>
                  <a:pt x="4902888" y="1126341"/>
                </a:lnTo>
                <a:lnTo>
                  <a:pt x="5011841" y="1091345"/>
                </a:lnTo>
                <a:lnTo>
                  <a:pt x="5120794" y="1038204"/>
                </a:lnTo>
                <a:lnTo>
                  <a:pt x="5229748" y="973397"/>
                </a:lnTo>
                <a:lnTo>
                  <a:pt x="5338701" y="959140"/>
                </a:lnTo>
                <a:lnTo>
                  <a:pt x="5447654" y="957843"/>
                </a:lnTo>
                <a:lnTo>
                  <a:pt x="5556607" y="1029131"/>
                </a:lnTo>
                <a:lnTo>
                  <a:pt x="5665560" y="1033019"/>
                </a:lnTo>
                <a:lnTo>
                  <a:pt x="5774513" y="1000616"/>
                </a:lnTo>
                <a:lnTo>
                  <a:pt x="5883466" y="956547"/>
                </a:lnTo>
                <a:lnTo>
                  <a:pt x="5992419" y="865818"/>
                </a:lnTo>
                <a:lnTo>
                  <a:pt x="6101372" y="817861"/>
                </a:lnTo>
                <a:lnTo>
                  <a:pt x="6210325" y="830822"/>
                </a:lnTo>
                <a:lnTo>
                  <a:pt x="6319278" y="872299"/>
                </a:lnTo>
                <a:lnTo>
                  <a:pt x="6428232" y="876187"/>
                </a:lnTo>
              </a:path>
            </a:pathLst>
          </a:custGeom>
          <a:noFill/>
          <a:ln w="20320">
            <a:solidFill>
              <a:srgbClr val="F5C2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795528" y="2262289"/>
            <a:ext cx="6428232" cy="929418"/>
          </a:xfrm>
          <a:custGeom>
            <a:avLst/>
            <a:gdLst/>
            <a:ahLst/>
            <a:cxnLst/>
            <a:rect l="l" t="t" r="r" b="b"/>
            <a:pathLst>
              <a:path w="6428232" h="929418">
                <a:moveTo>
                  <a:pt x="0" y="516344"/>
                </a:moveTo>
                <a:lnTo>
                  <a:pt x="108953" y="516344"/>
                </a:lnTo>
                <a:lnTo>
                  <a:pt x="217906" y="550766"/>
                </a:lnTo>
                <a:lnTo>
                  <a:pt x="326859" y="516344"/>
                </a:lnTo>
                <a:lnTo>
                  <a:pt x="435812" y="550766"/>
                </a:lnTo>
                <a:lnTo>
                  <a:pt x="544765" y="619612"/>
                </a:lnTo>
                <a:lnTo>
                  <a:pt x="653718" y="654035"/>
                </a:lnTo>
                <a:lnTo>
                  <a:pt x="762671" y="550766"/>
                </a:lnTo>
                <a:lnTo>
                  <a:pt x="871624" y="516344"/>
                </a:lnTo>
                <a:lnTo>
                  <a:pt x="980577" y="516344"/>
                </a:lnTo>
                <a:lnTo>
                  <a:pt x="1089530" y="550766"/>
                </a:lnTo>
                <a:lnTo>
                  <a:pt x="1198483" y="619612"/>
                </a:lnTo>
                <a:lnTo>
                  <a:pt x="1307437" y="654035"/>
                </a:lnTo>
                <a:lnTo>
                  <a:pt x="1416390" y="654035"/>
                </a:lnTo>
                <a:lnTo>
                  <a:pt x="1525343" y="654035"/>
                </a:lnTo>
                <a:lnTo>
                  <a:pt x="1634296" y="585189"/>
                </a:lnTo>
                <a:lnTo>
                  <a:pt x="1743249" y="550766"/>
                </a:lnTo>
                <a:lnTo>
                  <a:pt x="1852202" y="550766"/>
                </a:lnTo>
                <a:lnTo>
                  <a:pt x="1961155" y="447498"/>
                </a:lnTo>
                <a:lnTo>
                  <a:pt x="2070108" y="447498"/>
                </a:lnTo>
                <a:lnTo>
                  <a:pt x="2179061" y="172114"/>
                </a:lnTo>
                <a:lnTo>
                  <a:pt x="2288014" y="68846"/>
                </a:lnTo>
                <a:lnTo>
                  <a:pt x="2396967" y="137692"/>
                </a:lnTo>
                <a:lnTo>
                  <a:pt x="2505920" y="206537"/>
                </a:lnTo>
                <a:lnTo>
                  <a:pt x="2614874" y="172114"/>
                </a:lnTo>
                <a:lnTo>
                  <a:pt x="2723827" y="0"/>
                </a:lnTo>
                <a:lnTo>
                  <a:pt x="2832780" y="34423"/>
                </a:lnTo>
                <a:lnTo>
                  <a:pt x="2941733" y="34423"/>
                </a:lnTo>
                <a:lnTo>
                  <a:pt x="3050686" y="344229"/>
                </a:lnTo>
                <a:lnTo>
                  <a:pt x="3159639" y="344229"/>
                </a:lnTo>
                <a:lnTo>
                  <a:pt x="3268592" y="275383"/>
                </a:lnTo>
                <a:lnTo>
                  <a:pt x="3377545" y="344229"/>
                </a:lnTo>
                <a:lnTo>
                  <a:pt x="3486498" y="447498"/>
                </a:lnTo>
                <a:lnTo>
                  <a:pt x="3595451" y="550766"/>
                </a:lnTo>
                <a:lnTo>
                  <a:pt x="3704404" y="516344"/>
                </a:lnTo>
                <a:lnTo>
                  <a:pt x="3813357" y="516344"/>
                </a:lnTo>
                <a:lnTo>
                  <a:pt x="3922311" y="585189"/>
                </a:lnTo>
                <a:lnTo>
                  <a:pt x="4031264" y="447498"/>
                </a:lnTo>
                <a:lnTo>
                  <a:pt x="4140217" y="413075"/>
                </a:lnTo>
                <a:lnTo>
                  <a:pt x="4249170" y="447498"/>
                </a:lnTo>
                <a:lnTo>
                  <a:pt x="4358123" y="481921"/>
                </a:lnTo>
                <a:lnTo>
                  <a:pt x="4467076" y="619612"/>
                </a:lnTo>
                <a:lnTo>
                  <a:pt x="4576029" y="550766"/>
                </a:lnTo>
                <a:lnTo>
                  <a:pt x="4684982" y="550766"/>
                </a:lnTo>
                <a:lnTo>
                  <a:pt x="4793935" y="619612"/>
                </a:lnTo>
                <a:lnTo>
                  <a:pt x="4902888" y="654035"/>
                </a:lnTo>
                <a:lnTo>
                  <a:pt x="5011841" y="722881"/>
                </a:lnTo>
                <a:lnTo>
                  <a:pt x="5120794" y="722881"/>
                </a:lnTo>
                <a:lnTo>
                  <a:pt x="5229748" y="722881"/>
                </a:lnTo>
                <a:lnTo>
                  <a:pt x="5338701" y="791727"/>
                </a:lnTo>
                <a:lnTo>
                  <a:pt x="5447654" y="826150"/>
                </a:lnTo>
                <a:lnTo>
                  <a:pt x="5556607" y="894995"/>
                </a:lnTo>
                <a:lnTo>
                  <a:pt x="5665560" y="894995"/>
                </a:lnTo>
                <a:lnTo>
                  <a:pt x="5774513" y="894995"/>
                </a:lnTo>
                <a:lnTo>
                  <a:pt x="5883466" y="929418"/>
                </a:lnTo>
                <a:lnTo>
                  <a:pt x="5992419" y="860573"/>
                </a:lnTo>
                <a:lnTo>
                  <a:pt x="6101372" y="894995"/>
                </a:lnTo>
                <a:lnTo>
                  <a:pt x="6210325" y="826150"/>
                </a:lnTo>
                <a:lnTo>
                  <a:pt x="6319278" y="894995"/>
                </a:lnTo>
                <a:lnTo>
                  <a:pt x="6428232" y="826150"/>
                </a:lnTo>
              </a:path>
            </a:pathLst>
          </a:custGeom>
          <a:noFill/>
          <a:ln w="20320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3694" y="3739896"/>
            <a:ext cx="365760" cy="1257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990"/>
              </a:lnSpc>
            </a:pPr>
            <a:r>
              <a:rPr sz="750" b="0">
                <a:solidFill>
                  <a:srgbClr val="606060"/>
                </a:solidFill>
                <a:latin typeface="Kanit"/>
              </a:rPr>
              <a:t>2021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64850" y="3739896"/>
            <a:ext cx="365760" cy="1257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990"/>
              </a:lnSpc>
            </a:pPr>
            <a:r>
              <a:rPr sz="750" b="0">
                <a:solidFill>
                  <a:srgbClr val="606060"/>
                </a:solidFill>
                <a:latin typeface="Kanit"/>
              </a:rPr>
              <a:t>2023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26005" y="3739896"/>
            <a:ext cx="365760" cy="1257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990"/>
              </a:lnSpc>
            </a:pPr>
            <a:r>
              <a:rPr sz="750" b="0">
                <a:solidFill>
                  <a:srgbClr val="606060"/>
                </a:solidFill>
                <a:latin typeface="Kanit"/>
              </a:rPr>
              <a:t>2024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87161" y="3739896"/>
            <a:ext cx="365760" cy="1257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990"/>
              </a:lnSpc>
            </a:pPr>
            <a:r>
              <a:rPr sz="750" b="0">
                <a:solidFill>
                  <a:srgbClr val="606060"/>
                </a:solidFill>
                <a:latin typeface="Kanit"/>
              </a:rPr>
              <a:t>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9768" y="1161288"/>
            <a:ext cx="6812280" cy="134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6"/>
              </a:lnSpc>
            </a:pPr>
            <a:r>
              <a:rPr sz="800" b="0">
                <a:solidFill>
                  <a:srgbClr val="606060"/>
                </a:solidFill>
                <a:latin typeface="Kanit"/>
              </a:rPr>
              <a:t>World price rebased to 100 at 2021-07 · 60 monthly observations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98079" y="1152144"/>
            <a:ext cx="4279392" cy="1177798"/>
          </a:xfrm>
          <a:prstGeom prst="rect">
            <a:avLst/>
          </a:prstGeom>
          <a:solidFill>
            <a:srgbClr val="FDF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498079" y="1152144"/>
            <a:ext cx="50292" cy="1177798"/>
          </a:xfrm>
          <a:prstGeom prst="rect">
            <a:avLst/>
          </a:prstGeom>
          <a:solidFill>
            <a:srgbClr val="F5C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17536" y="1298448"/>
            <a:ext cx="3950207" cy="158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</a:pPr>
            <a:r>
              <a:rPr sz="950" b="1">
                <a:solidFill>
                  <a:srgbClr val="9A7411"/>
                </a:solidFill>
                <a:latin typeface="Kanit"/>
              </a:rPr>
              <a:t>A year-on-year number hides the shape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17536" y="1502918"/>
            <a:ext cx="3950207" cy="680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40"/>
              </a:lnSpc>
            </a:pPr>
            <a:r>
              <a:rPr sz="1000" b="0">
                <a:solidFill>
                  <a:srgbClr val="1E2F5C"/>
                </a:solidFill>
                <a:latin typeface="Kanit"/>
              </a:rPr>
              <a:t>• Sugar (น้ำตาล): world price −41% against its 2023-09 peak — down in 26 of the last 34 months, not a one-year dip.
• Rubber (ยางพารา): spent 21 of the last 60 months below its own 2021 level — only just cleared it, after 30 months running above.</a:t>
            </a:r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411480" y="4123944"/>
          <a:ext cx="7863840" cy="13459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/>
                <a:gridCol w="1188720"/>
                <a:gridCol w="1097280"/>
                <a:gridCol w="1005840"/>
                <a:gridCol w="1097280"/>
                <a:gridCol w="1097280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World price, five years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of planted area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5-yr peak, US$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latest, ฿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off peak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vs 5 yrs ago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</a:tr>
              <a:tr h="254203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E2F5C"/>
                          </a:solidFill>
                          <a:latin typeface="Kanit"/>
                        </a:rPr>
                        <a:t>Rubber ยางพารา ($/kg)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E2F5C"/>
                          </a:solidFill>
                          <a:latin typeface="Kanit"/>
                        </a:rPr>
                        <a:t>20.4%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E2F5C"/>
                          </a:solidFill>
                          <a:latin typeface="Kanit"/>
                        </a:rPr>
                        <a:t>2.86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1E2F5C"/>
                          </a:solidFill>
                          <a:latin typeface="Kanit"/>
                        </a:rPr>
                        <a:t>91.73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1E2F5C"/>
                          </a:solidFill>
                          <a:latin typeface="Kanit"/>
                        </a:rPr>
                        <a:t>-2.8%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15795F"/>
                          </a:solidFill>
                          <a:latin typeface="Kanit"/>
                        </a:rPr>
                        <a:t>+46.3%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54203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E2F5C"/>
                          </a:solidFill>
                          <a:latin typeface="Kanit"/>
                        </a:rPr>
                        <a:t>Rice ข้าว ($/mt)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E2F5C"/>
                          </a:solidFill>
                          <a:latin typeface="Kanit"/>
                        </a:rPr>
                        <a:t>54.9%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E2F5C"/>
                          </a:solidFill>
                          <a:latin typeface="Kanit"/>
                        </a:rPr>
                        <a:t>660.00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1E2F5C"/>
                          </a:solidFill>
                          <a:latin typeface="Kanit"/>
                        </a:rPr>
                        <a:t>15,409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CC0000"/>
                          </a:solidFill>
                          <a:latin typeface="Kanit"/>
                        </a:rPr>
                        <a:t>-29.2%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15795F"/>
                          </a:solidFill>
                          <a:latin typeface="Kanit"/>
                        </a:rPr>
                        <a:t>+15.9%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</a:tr>
              <a:tr h="254203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E2F5C"/>
                          </a:solidFill>
                          <a:latin typeface="Kanit"/>
                        </a:rPr>
                        <a:t>Palm oil ปาล์มน้ำมัน ($/mt)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E2F5C"/>
                          </a:solidFill>
                          <a:latin typeface="Kanit"/>
                        </a:rPr>
                        <a:t>5.7%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E2F5C"/>
                          </a:solidFill>
                          <a:latin typeface="Kanit"/>
                        </a:rPr>
                        <a:t>1,777.00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1E2F5C"/>
                          </a:solidFill>
                          <a:latin typeface="Kanit"/>
                        </a:rPr>
                        <a:t>36,327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CC0000"/>
                          </a:solidFill>
                          <a:latin typeface="Kanit"/>
                        </a:rPr>
                        <a:t>-38.0%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CC0000"/>
                          </a:solidFill>
                          <a:latin typeface="Kanit"/>
                        </a:rPr>
                        <a:t>-3.6%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54203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E2F5C"/>
                          </a:solidFill>
                          <a:latin typeface="Kanit"/>
                        </a:rPr>
                        <a:t>Sugar น้ำตาล ($/kg)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E2F5C"/>
                          </a:solidFill>
                          <a:latin typeface="Kanit"/>
                        </a:rPr>
                        <a:t>10.0%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E2F5C"/>
                          </a:solidFill>
                          <a:latin typeface="Kanit"/>
                        </a:rPr>
                        <a:t>0.58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1E2F5C"/>
                          </a:solidFill>
                          <a:latin typeface="Kanit"/>
                        </a:rPr>
                        <a:t>11.22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CC0000"/>
                          </a:solidFill>
                          <a:latin typeface="Kanit"/>
                        </a:rPr>
                        <a:t>-41.4%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CC0000"/>
                          </a:solidFill>
                          <a:latin typeface="Kanit"/>
                        </a:rPr>
                        <a:t>-20.9%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38" name="TextBox 37"/>
          <p:cNvSpPr txBox="1"/>
          <p:nvPr/>
        </p:nvSpPr>
        <p:spPr>
          <a:xfrm>
            <a:off x="411480" y="5561380"/>
            <a:ext cx="11365992" cy="1592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4"/>
              </a:lnSpc>
            </a:pPr>
            <a:r>
              <a:rPr sz="950" b="0">
                <a:solidFill>
                  <a:srgbClr val="606060"/>
                </a:solidFill>
                <a:latin typeface="Kanit"/>
              </a:rPr>
              <a:t>Only ‘latest’ is converted to baht — today’s FX is right for today’s price, not a 2021–23 one, so ‘5-yr peak’ stays in US$.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11480" y="5848654"/>
            <a:ext cx="754177" cy="19202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1579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5877915"/>
            <a:ext cx="754177" cy="134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056"/>
              </a:lnSpc>
            </a:pPr>
            <a:r>
              <a:rPr sz="800" b="1">
                <a:solidFill>
                  <a:srgbClr val="15795F"/>
                </a:solidFill>
                <a:latin typeface="Kanit"/>
              </a:rPr>
              <a:t>MEASURED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75385" y="5862370"/>
            <a:ext cx="10502086" cy="30861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15"/>
              </a:lnSpc>
            </a:pPr>
            <a:r>
              <a:rPr sz="900" b="0">
                <a:solidFill>
                  <a:srgbClr val="606060"/>
                </a:solidFill>
                <a:latin typeface="Kanit"/>
              </a:rPr>
              <a:t>World Bank Pink Sheet nominal-USD monthly prices, vintage 2026M07 (60 observations per series, rebased to 100 at 2021-07 for the chart — units differ, so raw levels can’t share an axis). Baht conversion at the ECB reference rate USD/THB 32.995, 2026-09-10. Planted-area share MEASURED, OAE/DOAE crop mix (crop_mix.json). Nominal, not deflated: five years of Thai CPI sit under every ‘vs 5 yrs ago’ figure.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19456"/>
            <a:ext cx="8686800" cy="1508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88"/>
              </a:lnSpc>
            </a:pPr>
            <a:r>
              <a:rPr sz="900" b="1">
                <a:solidFill>
                  <a:srgbClr val="CC0000"/>
                </a:solidFill>
                <a:latin typeface="Kanit"/>
              </a:rPr>
              <a:t>05 · THE CROP BELTS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57200"/>
            <a:ext cx="996696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E2F5C"/>
                </a:solidFill>
                <a:latin typeface="Kanit"/>
              </a:rPr>
              <a:t>Which crop each region grows, and what the price round did to its income.</a:t>
            </a:r>
          </a:p>
        </p:txBody>
      </p:sp>
      <p:pic>
        <p:nvPicPr>
          <p:cNvPr id="5" name="Picture 4" descr="aut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4472" y="256032"/>
            <a:ext cx="941832" cy="29260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11480" y="969264"/>
            <a:ext cx="11365992" cy="20116"/>
          </a:xfrm>
          <a:prstGeom prst="rect">
            <a:avLst/>
          </a:prstGeom>
          <a:solidFill>
            <a:srgbClr val="1E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91969" cy="109728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92824"/>
            <a:ext cx="6400800" cy="134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6"/>
              </a:lnSpc>
            </a:pPr>
            <a:r>
              <a:rPr sz="800" b="0">
                <a:solidFill>
                  <a:srgbClr val="606060"/>
                </a:solidFill>
                <a:latin typeface="Kanit"/>
              </a:rPr>
              <a:t>Restricted Data – Reproduction is prohibited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152144"/>
            <a:ext cx="2738628" cy="1024128"/>
          </a:xfrm>
          <a:prstGeom prst="roundRect">
            <a:avLst>
              <a:gd name="adj" fmla="val 8035"/>
            </a:avLst>
          </a:prstGeom>
          <a:solidFill>
            <a:srgbClr val="F4F6FA"/>
          </a:solidFill>
          <a:ln w="9525">
            <a:solidFill>
              <a:srgbClr val="D9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252728"/>
            <a:ext cx="2464308" cy="1592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4"/>
              </a:lnSpc>
            </a:pPr>
            <a:r>
              <a:rPr sz="950" b="0">
                <a:solidFill>
                  <a:srgbClr val="606060"/>
                </a:solidFill>
                <a:latin typeface="Kanit"/>
              </a:rPr>
              <a:t>Crops with a Thai farm-gate price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426464"/>
            <a:ext cx="2464308" cy="33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00"/>
              </a:lnSpc>
            </a:pPr>
            <a:r>
              <a:rPr sz="2100" b="1">
                <a:solidFill>
                  <a:srgbClr val="1E2F5C"/>
                </a:solidFill>
                <a:latin typeface="Kanit"/>
              </a:rPr>
              <a:t>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792224"/>
            <a:ext cx="2464308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60"/>
              </a:lnSpc>
            </a:pPr>
            <a:r>
              <a:rPr sz="800" b="0">
                <a:solidFill>
                  <a:srgbClr val="606060"/>
                </a:solidFill>
                <a:latin typeface="Kanit"/>
              </a:rPr>
              <a:t>rice, rubber, sugarcane, oil palm, cassava, maize, coconut, pineapple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87268" y="1152144"/>
            <a:ext cx="2738628" cy="1024128"/>
          </a:xfrm>
          <a:prstGeom prst="roundRect">
            <a:avLst>
              <a:gd name="adj" fmla="val 8035"/>
            </a:avLst>
          </a:prstGeom>
          <a:solidFill>
            <a:srgbClr val="F4F6FA"/>
          </a:solidFill>
          <a:ln w="9525">
            <a:solidFill>
              <a:srgbClr val="D9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4428" y="1252728"/>
            <a:ext cx="2464308" cy="1592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4"/>
              </a:lnSpc>
            </a:pPr>
            <a:r>
              <a:rPr sz="950" b="0">
                <a:solidFill>
                  <a:srgbClr val="606060"/>
                </a:solidFill>
                <a:latin typeface="Kanit"/>
              </a:rPr>
              <a:t>Falling at the farm gate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4428" y="1426464"/>
            <a:ext cx="2464308" cy="33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00"/>
              </a:lnSpc>
            </a:pPr>
            <a:r>
              <a:rPr sz="2100" b="1">
                <a:solidFill>
                  <a:srgbClr val="CC0000"/>
                </a:solidFill>
                <a:latin typeface="Kanit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4428" y="1792224"/>
            <a:ext cx="2464308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60"/>
              </a:lnSpc>
            </a:pPr>
            <a:r>
              <a:rPr sz="800" b="0">
                <a:solidFill>
                  <a:srgbClr val="606060"/>
                </a:solidFill>
                <a:latin typeface="Kanit"/>
              </a:rPr>
              <a:t>coconut −69.0%, pineapple −18.4%, sugarcane −17.9% year on year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63056" y="1152144"/>
            <a:ext cx="2738628" cy="1024128"/>
          </a:xfrm>
          <a:prstGeom prst="roundRect">
            <a:avLst>
              <a:gd name="adj" fmla="val 8035"/>
            </a:avLst>
          </a:prstGeom>
          <a:solidFill>
            <a:srgbClr val="F4F6FA"/>
          </a:solidFill>
          <a:ln w="9525">
            <a:solidFill>
              <a:srgbClr val="D9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0216" y="1252728"/>
            <a:ext cx="2464308" cy="1592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4"/>
              </a:lnSpc>
            </a:pPr>
            <a:r>
              <a:rPr sz="950" b="0">
                <a:solidFill>
                  <a:srgbClr val="606060"/>
                </a:solidFill>
                <a:latin typeface="Kanit"/>
              </a:rPr>
              <a:t>Median province crop-income shock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216" y="1426464"/>
            <a:ext cx="2464308" cy="33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00"/>
              </a:lnSpc>
            </a:pPr>
            <a:r>
              <a:rPr sz="2100" b="1">
                <a:solidFill>
                  <a:srgbClr val="15795F"/>
                </a:solidFill>
                <a:latin typeface="Kanit"/>
              </a:rPr>
              <a:t>+15.3%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0216" y="1792224"/>
            <a:ext cx="2464308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60"/>
              </a:lnSpc>
            </a:pPr>
            <a:r>
              <a:rPr sz="800" b="0">
                <a:solidFill>
                  <a:srgbClr val="606060"/>
                </a:solidFill>
                <a:latin typeface="Kanit"/>
              </a:rPr>
              <a:t>most of the country gained from this price round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38844" y="1152144"/>
            <a:ext cx="2738628" cy="1024128"/>
          </a:xfrm>
          <a:prstGeom prst="roundRect">
            <a:avLst>
              <a:gd name="adj" fmla="val 8035"/>
            </a:avLst>
          </a:prstGeom>
          <a:solidFill>
            <a:srgbClr val="F4F6FA"/>
          </a:solidFill>
          <a:ln w="9525">
            <a:solidFill>
              <a:srgbClr val="D9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76004" y="1252728"/>
            <a:ext cx="2464308" cy="1592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4"/>
              </a:lnSpc>
            </a:pPr>
            <a:r>
              <a:rPr sz="950" b="0">
                <a:solidFill>
                  <a:srgbClr val="606060"/>
                </a:solidFill>
                <a:latin typeface="Kanit"/>
              </a:rPr>
              <a:t>Provinces where it went backwards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76004" y="1426464"/>
            <a:ext cx="2464308" cy="33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00"/>
              </a:lnSpc>
            </a:pPr>
            <a:r>
              <a:rPr sz="2100" b="1">
                <a:solidFill>
                  <a:srgbClr val="CC0000"/>
                </a:solidFill>
                <a:latin typeface="Kanit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76004" y="1792224"/>
            <a:ext cx="2464308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60"/>
              </a:lnSpc>
            </a:pPr>
            <a:r>
              <a:rPr sz="800" b="0">
                <a:solidFill>
                  <a:srgbClr val="606060"/>
                </a:solidFill>
                <a:latin typeface="Kanit"/>
              </a:rPr>
              <a:t>all four are coconut belts on the western gulf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2340864"/>
            <a:ext cx="11365992" cy="171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50"/>
              </a:lnSpc>
            </a:pPr>
            <a:r>
              <a:rPr sz="1000" b="0">
                <a:solidFill>
                  <a:srgbClr val="606060"/>
                </a:solidFill>
                <a:latin typeface="Kanit"/>
              </a:rPr>
              <a:t>Farm gate (ราคาที่เกษตรกรขายได้) = what the farmer is paid at first sale — before trading, milling or transport take a cut.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411480" y="2640330"/>
          <a:ext cx="5532120" cy="15727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43000"/>
                <a:gridCol w="685800"/>
                <a:gridCol w="1143000"/>
                <a:gridCol w="960120"/>
                <a:gridCol w="960120"/>
                <a:gridCol w="640080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Region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provs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income shock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backwards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weakest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</a:tr>
              <a:tr h="24871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E2F5C"/>
                          </a:solidFill>
                          <a:latin typeface="Kanit"/>
                        </a:rPr>
                        <a:t>Central&amp;BKK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E2F5C"/>
                          </a:solidFill>
                          <a:latin typeface="Kanit"/>
                        </a:rPr>
                        <a:t>19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15795F"/>
                          </a:solidFill>
                          <a:latin typeface="Kanit"/>
                        </a:rPr>
                        <a:t>+5.4%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CC0000"/>
                          </a:solidFill>
                          <a:latin typeface="Kanit"/>
                        </a:rPr>
                        <a:t>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E2F5C"/>
                          </a:solidFill>
                          <a:latin typeface="Kanit"/>
                        </a:rPr>
                        <a:t>สมุทรสงคราม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CC0000"/>
                          </a:solidFill>
                          <a:latin typeface="Kanit"/>
                        </a:rPr>
                        <a:t>-64.6%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4871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E2F5C"/>
                          </a:solidFill>
                          <a:latin typeface="Kanit"/>
                        </a:rPr>
                        <a:t>North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E2F5C"/>
                          </a:solidFill>
                          <a:latin typeface="Kanit"/>
                        </a:rPr>
                        <a:t>17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15795F"/>
                          </a:solidFill>
                          <a:latin typeface="Kanit"/>
                        </a:rPr>
                        <a:t>+14.4%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1E2F5C"/>
                          </a:solidFill>
                          <a:latin typeface="Kanit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E2F5C"/>
                          </a:solidFill>
                          <a:latin typeface="Kanit"/>
                        </a:rPr>
                        <a:t>สุโขทัย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15795F"/>
                          </a:solidFill>
                          <a:latin typeface="Kanit"/>
                        </a:rPr>
                        <a:t>+8.8%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</a:tr>
              <a:tr h="24871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E2F5C"/>
                          </a:solidFill>
                          <a:latin typeface="Kanit"/>
                        </a:rPr>
                        <a:t>Isan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E2F5C"/>
                          </a:solidFill>
                          <a:latin typeface="Kanit"/>
                        </a:rPr>
                        <a:t>20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15795F"/>
                          </a:solidFill>
                          <a:latin typeface="Kanit"/>
                        </a:rPr>
                        <a:t>+16.4%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1E2F5C"/>
                          </a:solidFill>
                          <a:latin typeface="Kanit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E2F5C"/>
                          </a:solidFill>
                          <a:latin typeface="Kanit"/>
                        </a:rPr>
                        <a:t>หนองบัวลำภู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15795F"/>
                          </a:solidFill>
                          <a:latin typeface="Kanit"/>
                        </a:rPr>
                        <a:t>+7.7%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4871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E2F5C"/>
                          </a:solidFill>
                          <a:latin typeface="Kanit"/>
                        </a:rPr>
                        <a:t>East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E2F5C"/>
                          </a:solidFill>
                          <a:latin typeface="Kanit"/>
                        </a:rPr>
                        <a:t>7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15795F"/>
                          </a:solidFill>
                          <a:latin typeface="Kanit"/>
                        </a:rPr>
                        <a:t>+25.0%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1E2F5C"/>
                          </a:solidFill>
                          <a:latin typeface="Kanit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E2F5C"/>
                          </a:solidFill>
                          <a:latin typeface="Kanit"/>
                        </a:rPr>
                        <a:t>สระแก้ว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15795F"/>
                          </a:solidFill>
                          <a:latin typeface="Kanit"/>
                        </a:rPr>
                        <a:t>+10.9%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</a:tr>
              <a:tr h="24871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E2F5C"/>
                          </a:solidFill>
                          <a:latin typeface="Kanit"/>
                        </a:rPr>
                        <a:t>South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E2F5C"/>
                          </a:solidFill>
                          <a:latin typeface="Kanit"/>
                        </a:rPr>
                        <a:t>14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15795F"/>
                          </a:solidFill>
                          <a:latin typeface="Kanit"/>
                        </a:rPr>
                        <a:t>+34.8%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1E2F5C"/>
                          </a:solidFill>
                          <a:latin typeface="Kanit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E2F5C"/>
                          </a:solidFill>
                          <a:latin typeface="Kanit"/>
                        </a:rPr>
                        <a:t>ชุมพร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15795F"/>
                          </a:solidFill>
                          <a:latin typeface="Kanit"/>
                        </a:rPr>
                        <a:t>+27.3%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Rectangle 26"/>
          <p:cNvSpPr/>
          <p:nvPr/>
        </p:nvSpPr>
        <p:spPr>
          <a:xfrm>
            <a:off x="6172200" y="2594610"/>
            <a:ext cx="5605272" cy="1177798"/>
          </a:xfrm>
          <a:prstGeom prst="rect">
            <a:avLst/>
          </a:prstGeom>
          <a:solidFill>
            <a:srgbClr val="FDF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72200" y="2594610"/>
            <a:ext cx="50292" cy="1177798"/>
          </a:xfrm>
          <a:prstGeom prst="rect">
            <a:avLst/>
          </a:prstGeom>
          <a:solidFill>
            <a:srgbClr val="F5C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91656" y="2740914"/>
            <a:ext cx="5276088" cy="158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</a:pPr>
            <a:r>
              <a:rPr sz="950" b="1">
                <a:solidFill>
                  <a:srgbClr val="9A7411"/>
                </a:solidFill>
                <a:latin typeface="Kanit"/>
              </a:rPr>
              <a:t>Good for farming, almost everywhere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91656" y="2945384"/>
            <a:ext cx="5276088" cy="680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40"/>
              </a:lnSpc>
            </a:pPr>
            <a:r>
              <a:rPr sz="1000" b="0">
                <a:solidFill>
                  <a:srgbClr val="1E2F5C"/>
                </a:solidFill>
                <a:latin typeface="Kanit"/>
              </a:rPr>
              <a:t>•  +40% rubber, +77% cassava, +24% palm, +12% rice at the farm gate. Crop income rose in every region.
•  Four provinces fell — all coconut, all on the western gulf. Coconut price is down 69%.
•  A gain on paper is not cash yet — the next table nets prices against cost.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411480" y="4359402"/>
          <a:ext cx="11365992" cy="15819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25880"/>
                <a:gridCol w="777240"/>
                <a:gridCol w="731520"/>
                <a:gridCol w="6080760"/>
                <a:gridCol w="731520"/>
                <a:gridCol w="1143000"/>
                <a:gridCol w="576072"/>
              </a:tblGrid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Kanit"/>
                        </a:rPr>
                        <a:t>Largest planted areas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Kanit"/>
                        </a:rPr>
                        <a:t>region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Kanit"/>
                        </a:rPr>
                        <a:t>planted rai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Kanit"/>
                        </a:rPr>
                        <a:t>crop mix, % of planted area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Kanit"/>
                        </a:rPr>
                        <a:t>shock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Kanit"/>
                        </a:rPr>
                        <a:t>farm ฿/mo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Kanit"/>
                        </a:rPr>
                        <a:t>rain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1E2F5C"/>
                          </a:solidFill>
                          <a:latin typeface="Kanit"/>
                        </a:rPr>
                        <a:t>นครราชสีมา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606060"/>
                          </a:solidFill>
                          <a:latin typeface="Kanit"/>
                        </a:rPr>
                        <a:t>Isan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1E2F5C"/>
                          </a:solidFill>
                          <a:latin typeface="Kanit"/>
                        </a:rPr>
                        <a:t>5.25M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E2F5C"/>
                          </a:solidFill>
                          <a:latin typeface="Kanit"/>
                        </a:rPr>
                        <a:t>Rice 67%, Cassava 12%, Sugarcane 12%, Maize 7%, Rubber 1%, Oil palm &lt;1%, Coconut &lt;1%, Pineapple &lt;1%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15795F"/>
                          </a:solidFill>
                          <a:latin typeface="Kanit"/>
                        </a:rPr>
                        <a:t>+17.0%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1E2F5C"/>
                          </a:solidFill>
                          <a:latin typeface="Kanit"/>
                        </a:rPr>
                        <a:t>8,982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1E2F5C"/>
                          </a:solidFill>
                          <a:latin typeface="Kanit"/>
                        </a:rPr>
                        <a:t>96%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1E2F5C"/>
                          </a:solidFill>
                          <a:latin typeface="Kanit"/>
                        </a:rPr>
                        <a:t>อุบลราชธานี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606060"/>
                          </a:solidFill>
                          <a:latin typeface="Kanit"/>
                        </a:rPr>
                        <a:t>Isan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1E2F5C"/>
                          </a:solidFill>
                          <a:latin typeface="Kanit"/>
                        </a:rPr>
                        <a:t>5.21M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E2F5C"/>
                          </a:solidFill>
                          <a:latin typeface="Kanit"/>
                        </a:rPr>
                        <a:t>Rice 79%, Rubber 12%, Cassava 8%, Maize 1%, Oil palm &lt;1%, Sugarcane &lt;1%, Coconut &lt;1%, Pineapple &lt;1%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15795F"/>
                          </a:solidFill>
                          <a:latin typeface="Kanit"/>
                        </a:rPr>
                        <a:t>+20.7%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1E2F5C"/>
                          </a:solidFill>
                          <a:latin typeface="Kanit"/>
                        </a:rPr>
                        <a:t>7,763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CC0000"/>
                          </a:solidFill>
                          <a:latin typeface="Kanit"/>
                        </a:rPr>
                        <a:t>79%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1E2F5C"/>
                          </a:solidFill>
                          <a:latin typeface="Kanit"/>
                        </a:rPr>
                        <a:t>นครสวรรค์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606060"/>
                          </a:solidFill>
                          <a:latin typeface="Kanit"/>
                        </a:rPr>
                        <a:t>North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1E2F5C"/>
                          </a:solidFill>
                          <a:latin typeface="Kanit"/>
                        </a:rPr>
                        <a:t>3.97M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E2F5C"/>
                          </a:solidFill>
                          <a:latin typeface="Kanit"/>
                        </a:rPr>
                        <a:t>Rice 65%, Sugarcane 20%, Maize 9%, Cassava 6%, Rubber &lt;1%, Oil palm &lt;1%, Coconut &lt;1%, Pineapple &lt;1%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15795F"/>
                          </a:solidFill>
                          <a:latin typeface="Kanit"/>
                        </a:rPr>
                        <a:t>+10.6%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1E2F5C"/>
                          </a:solidFill>
                          <a:latin typeface="Kanit"/>
                        </a:rPr>
                        <a:t>10,777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CC0000"/>
                          </a:solidFill>
                          <a:latin typeface="Kanit"/>
                        </a:rPr>
                        <a:t>81%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1E2F5C"/>
                          </a:solidFill>
                          <a:latin typeface="Kanit"/>
                        </a:rPr>
                        <a:t>สุราษฎร์ธานี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606060"/>
                          </a:solidFill>
                          <a:latin typeface="Kanit"/>
                        </a:rPr>
                        <a:t>South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1E2F5C"/>
                          </a:solidFill>
                          <a:latin typeface="Kanit"/>
                        </a:rPr>
                        <a:t>3.80M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E2F5C"/>
                          </a:solidFill>
                          <a:latin typeface="Kanit"/>
                        </a:rPr>
                        <a:t>Rubber 60%, Oil palm 39%, Coconut 1%, Rice &lt;1%, Maize &lt;1%, Pineapple &lt;1%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15795F"/>
                          </a:solidFill>
                          <a:latin typeface="Kanit"/>
                        </a:rPr>
                        <a:t>+32.8%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1E2F5C"/>
                          </a:solidFill>
                          <a:latin typeface="Kanit"/>
                        </a:rPr>
                        <a:t>11,426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1E2F5C"/>
                          </a:solidFill>
                          <a:latin typeface="Kanit"/>
                        </a:rPr>
                        <a:t>99%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1E2F5C"/>
                          </a:solidFill>
                          <a:latin typeface="Kanit"/>
                        </a:rPr>
                        <a:t>บุรีรัมย์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606060"/>
                          </a:solidFill>
                          <a:latin typeface="Kanit"/>
                        </a:rPr>
                        <a:t>Isan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1E2F5C"/>
                          </a:solidFill>
                          <a:latin typeface="Kanit"/>
                        </a:rPr>
                        <a:t>3.65M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E2F5C"/>
                          </a:solidFill>
                          <a:latin typeface="Kanit"/>
                        </a:rPr>
                        <a:t>Rice 82%, Rubber 8%, Sugarcane 5%, Cassava 4%, Oil palm &lt;1%, Maize &lt;1%, Coconut &lt;1%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15795F"/>
                          </a:solidFill>
                          <a:latin typeface="Kanit"/>
                        </a:rPr>
                        <a:t>+16.0%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1E2F5C"/>
                          </a:solidFill>
                          <a:latin typeface="Kanit"/>
                        </a:rPr>
                        <a:t>7,557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CC0000"/>
                          </a:solidFill>
                          <a:latin typeface="Kanit"/>
                        </a:rPr>
                        <a:t>84%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1E2F5C"/>
                          </a:solidFill>
                          <a:latin typeface="Kanit"/>
                        </a:rPr>
                        <a:t>สุรินทร์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606060"/>
                          </a:solidFill>
                          <a:latin typeface="Kanit"/>
                        </a:rPr>
                        <a:t>Isan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1E2F5C"/>
                          </a:solidFill>
                          <a:latin typeface="Kanit"/>
                        </a:rPr>
                        <a:t>3.57M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E2F5C"/>
                          </a:solidFill>
                          <a:latin typeface="Kanit"/>
                        </a:rPr>
                        <a:t>Rice 88%, Rubber 7%, Sugarcane 4%, Cassava 2%, Oil palm &lt;1%, Coconut &lt;1%, Maize &lt;1%, Pineapple &lt;1%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15795F"/>
                          </a:solidFill>
                          <a:latin typeface="Kanit"/>
                        </a:rPr>
                        <a:t>+14.3%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1E2F5C"/>
                          </a:solidFill>
                          <a:latin typeface="Kanit"/>
                        </a:rPr>
                        <a:t>6,510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CC0000"/>
                          </a:solidFill>
                          <a:latin typeface="Kanit"/>
                        </a:rPr>
                        <a:t>76%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32" name="Rounded Rectangle 31"/>
          <p:cNvSpPr/>
          <p:nvPr/>
        </p:nvSpPr>
        <p:spPr>
          <a:xfrm>
            <a:off x="411480" y="6051042"/>
            <a:ext cx="535747" cy="19202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1E2F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" y="6080302"/>
            <a:ext cx="535747" cy="134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056"/>
              </a:lnSpc>
            </a:pPr>
            <a:r>
              <a:rPr sz="800" b="1">
                <a:solidFill>
                  <a:srgbClr val="1E2F5C"/>
                </a:solidFill>
                <a:latin typeface="Kanit"/>
              </a:rPr>
              <a:t>MIXED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6955" y="6064757"/>
            <a:ext cx="10720516" cy="46291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15"/>
              </a:lnSpc>
            </a:pPr>
            <a:r>
              <a:rPr sz="900" b="0">
                <a:solidFill>
                  <a:srgbClr val="606060"/>
                </a:solidFill>
                <a:latin typeface="Kanit"/>
              </a:rPr>
              <a:t>Planted area MEASURED (OAE, by province). Crop mix MEASURED — every crop OAE tracks for that province, share of planted area, rounded to the nearest point and shown for all of them, not just the lead crop; a share that rounds to zero reads “&lt;1%”, and any rounding gap is shown honestly as “other”. Farm-gate price moves MEASURED (NABC/OCSB); farm income level MEASURED (NSO/OAE, baht per month). The income shock is ESTIMATED — each province's crop mix weighted by the measured price move, as a percentage of its measured farm income. Six of 77 provinces shown, ordered by planted area.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19456"/>
            <a:ext cx="8686800" cy="1508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88"/>
              </a:lnSpc>
            </a:pPr>
            <a:r>
              <a:rPr sz="900" b="1">
                <a:solidFill>
                  <a:srgbClr val="CC0000"/>
                </a:solidFill>
                <a:latin typeface="Kanit"/>
              </a:rPr>
              <a:t>06 · EVERY CROP AT THE FARM GATE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57200"/>
            <a:ext cx="996696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E2F5C"/>
                </a:solidFill>
                <a:latin typeface="Kanit"/>
              </a:rPr>
              <a:t>What the grower is paid, and which way it has moved.</a:t>
            </a:r>
          </a:p>
        </p:txBody>
      </p:sp>
      <p:pic>
        <p:nvPicPr>
          <p:cNvPr id="5" name="Picture 4" descr="aut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4472" y="256032"/>
            <a:ext cx="941832" cy="29260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11480" y="969264"/>
            <a:ext cx="11365992" cy="20116"/>
          </a:xfrm>
          <a:prstGeom prst="rect">
            <a:avLst/>
          </a:prstGeom>
          <a:solidFill>
            <a:srgbClr val="1E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91969" cy="109728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92824"/>
            <a:ext cx="6400800" cy="134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6"/>
              </a:lnSpc>
            </a:pPr>
            <a:r>
              <a:rPr sz="800" b="0">
                <a:solidFill>
                  <a:srgbClr val="606060"/>
                </a:solidFill>
                <a:latin typeface="Kanit"/>
              </a:rPr>
              <a:t>Restricted Data – Reproduction is prohibited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165860"/>
            <a:ext cx="164592" cy="17602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86"/>
              </a:lnSpc>
            </a:pPr>
            <a:r>
              <a:rPr sz="1050" b="1">
                <a:solidFill>
                  <a:srgbClr val="CC0000"/>
                </a:solidFill>
                <a:latin typeface="Kanit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152144"/>
            <a:ext cx="11183112" cy="1813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28"/>
              </a:lnSpc>
            </a:pPr>
            <a:r>
              <a:rPr sz="1050" b="0">
                <a:solidFill>
                  <a:srgbClr val="1E2F5C"/>
                </a:solidFill>
                <a:latin typeface="Kanit"/>
              </a:rPr>
              <a:t>Seventeen commodities have a measured Thai farm-gate price (ราคาที่เกษตรกรขายได้). Twelve also have a real monthly price series — those are the lines below.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1411224"/>
            <a:ext cx="164592" cy="17602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86"/>
              </a:lnSpc>
            </a:pPr>
            <a:r>
              <a:rPr sz="1050" b="1">
                <a:solidFill>
                  <a:srgbClr val="CC0000"/>
                </a:solidFill>
                <a:latin typeface="Kanit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397508"/>
            <a:ext cx="11183112" cy="1813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28"/>
              </a:lnSpc>
            </a:pPr>
            <a:r>
              <a:rPr sz="1050" b="0">
                <a:solidFill>
                  <a:srgbClr val="1E2F5C"/>
                </a:solidFill>
                <a:latin typeface="Kanit"/>
              </a:rPr>
              <a:t>Year on year and six months disagree on direction for three of them. A single annual number can point the wrong way.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1656587"/>
            <a:ext cx="164592" cy="17602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86"/>
              </a:lnSpc>
            </a:pPr>
            <a:r>
              <a:rPr sz="1050" b="1">
                <a:solidFill>
                  <a:srgbClr val="CC0000"/>
                </a:solidFill>
                <a:latin typeface="Kanit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1642872"/>
            <a:ext cx="11183112" cy="1813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28"/>
              </a:lnSpc>
            </a:pPr>
            <a:r>
              <a:rPr sz="1050" b="0">
                <a:solidFill>
                  <a:srgbClr val="1E2F5C"/>
                </a:solidFill>
                <a:latin typeface="Kanit"/>
              </a:rPr>
              <a:t>Every line is scaled to its own range: read the shape, not the height.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1970531"/>
            <a:ext cx="2156155" cy="1508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88"/>
              </a:lnSpc>
            </a:pPr>
            <a:r>
              <a:rPr sz="900" b="1">
                <a:solidFill>
                  <a:srgbClr val="1E2F5C"/>
                </a:solidFill>
                <a:latin typeface="Kanit"/>
              </a:rPr>
              <a:t>Coconut  มะพร้าว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2112263"/>
            <a:ext cx="2156155" cy="1257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90"/>
              </a:lnSpc>
            </a:pPr>
            <a:r>
              <a:rPr sz="750" b="0">
                <a:solidFill>
                  <a:srgbClr val="606060"/>
                </a:solidFill>
                <a:latin typeface="Kanit"/>
              </a:rPr>
              <a:t>฿580.00 /ร้อยผล · S·E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2244851"/>
            <a:ext cx="1078077" cy="134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6"/>
              </a:lnSpc>
            </a:pPr>
            <a:r>
              <a:rPr sz="800" b="1">
                <a:solidFill>
                  <a:srgbClr val="CC0000"/>
                </a:solidFill>
                <a:latin typeface="Kanit"/>
              </a:rPr>
              <a:t>YoY −69.0%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9557" y="2244851"/>
            <a:ext cx="1078077" cy="134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6"/>
              </a:lnSpc>
            </a:pPr>
            <a:r>
              <a:rPr sz="800" b="1">
                <a:solidFill>
                  <a:srgbClr val="CC0000"/>
                </a:solidFill>
                <a:latin typeface="Kanit"/>
              </a:rPr>
              <a:t>6m −41.3%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2400300"/>
            <a:ext cx="2156155" cy="548640"/>
          </a:xfrm>
          <a:prstGeom prst="rect">
            <a:avLst/>
          </a:prstGeom>
          <a:solidFill>
            <a:srgbClr val="FBFCFE"/>
          </a:solidFill>
          <a:ln w="9525">
            <a:solidFill>
              <a:srgbClr val="D9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457200" y="2446020"/>
            <a:ext cx="2064715" cy="457200"/>
          </a:xfrm>
          <a:custGeom>
            <a:avLst/>
            <a:gdLst/>
            <a:ahLst/>
            <a:cxnLst/>
            <a:rect l="l" t="t" r="r" b="b"/>
            <a:pathLst>
              <a:path w="2064715" h="457200">
                <a:moveTo>
                  <a:pt x="0" y="38804"/>
                </a:moveTo>
                <a:lnTo>
                  <a:pt x="412943" y="0"/>
                </a:lnTo>
                <a:lnTo>
                  <a:pt x="825886" y="380210"/>
                </a:lnTo>
                <a:lnTo>
                  <a:pt x="1238829" y="457200"/>
                </a:lnTo>
                <a:lnTo>
                  <a:pt x="1651772" y="398914"/>
                </a:lnTo>
                <a:lnTo>
                  <a:pt x="2064715" y="419093"/>
                </a:lnTo>
              </a:path>
            </a:pathLst>
          </a:custGeom>
          <a:noFill/>
          <a:ln w="20320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480767" y="2823965"/>
            <a:ext cx="82296" cy="82296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13939" y="1970531"/>
            <a:ext cx="2156155" cy="1508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88"/>
              </a:lnSpc>
            </a:pPr>
            <a:r>
              <a:rPr sz="900" b="1">
                <a:solidFill>
                  <a:srgbClr val="1E2F5C"/>
                </a:solidFill>
                <a:latin typeface="Kanit"/>
              </a:rPr>
              <a:t>Pineapple  สับปะรดโรงงาน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13939" y="2112263"/>
            <a:ext cx="2156155" cy="1257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90"/>
              </a:lnSpc>
            </a:pPr>
            <a:r>
              <a:rPr sz="750" b="0">
                <a:solidFill>
                  <a:srgbClr val="606060"/>
                </a:solidFill>
                <a:latin typeface="Kanit"/>
              </a:rPr>
              <a:t>฿9.77 /กก. · E·W·N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13939" y="2244851"/>
            <a:ext cx="1078077" cy="134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6"/>
              </a:lnSpc>
            </a:pPr>
            <a:r>
              <a:rPr sz="800" b="1">
                <a:solidFill>
                  <a:srgbClr val="CC0000"/>
                </a:solidFill>
                <a:latin typeface="Kanit"/>
              </a:rPr>
              <a:t>YoY −18.4%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92016" y="2244851"/>
            <a:ext cx="1078077" cy="134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6"/>
              </a:lnSpc>
            </a:pPr>
            <a:r>
              <a:rPr sz="800" b="1">
                <a:solidFill>
                  <a:srgbClr val="15795F"/>
                </a:solidFill>
                <a:latin typeface="Kanit"/>
              </a:rPr>
              <a:t>6m +48.0%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13939" y="2400300"/>
            <a:ext cx="2156155" cy="548640"/>
          </a:xfrm>
          <a:prstGeom prst="rect">
            <a:avLst/>
          </a:prstGeom>
          <a:solidFill>
            <a:srgbClr val="FBFCFE"/>
          </a:solidFill>
          <a:ln w="9525">
            <a:solidFill>
              <a:srgbClr val="D9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2759659" y="2446020"/>
            <a:ext cx="2064715" cy="457200"/>
          </a:xfrm>
          <a:custGeom>
            <a:avLst/>
            <a:gdLst/>
            <a:ahLst/>
            <a:cxnLst/>
            <a:rect l="l" t="t" r="r" b="b"/>
            <a:pathLst>
              <a:path w="2064715" h="457200">
                <a:moveTo>
                  <a:pt x="0" y="346494"/>
                </a:moveTo>
                <a:lnTo>
                  <a:pt x="412943" y="401128"/>
                </a:lnTo>
                <a:lnTo>
                  <a:pt x="825886" y="457200"/>
                </a:lnTo>
                <a:lnTo>
                  <a:pt x="1238829" y="380999"/>
                </a:lnTo>
                <a:lnTo>
                  <a:pt x="1651772" y="212784"/>
                </a:lnTo>
                <a:lnTo>
                  <a:pt x="2064715" y="0"/>
                </a:lnTo>
              </a:path>
            </a:pathLst>
          </a:custGeom>
          <a:noFill/>
          <a:ln w="20320">
            <a:solidFill>
              <a:srgbClr val="1579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783226" y="2404872"/>
            <a:ext cx="82296" cy="82296"/>
          </a:xfrm>
          <a:prstGeom prst="roundRect">
            <a:avLst>
              <a:gd name="adj" fmla="val 50000"/>
            </a:avLst>
          </a:prstGeom>
          <a:solidFill>
            <a:srgbClr val="157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16398" y="1970531"/>
            <a:ext cx="2156155" cy="1508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88"/>
              </a:lnSpc>
            </a:pPr>
            <a:r>
              <a:rPr sz="900" b="1">
                <a:solidFill>
                  <a:srgbClr val="1E2F5C"/>
                </a:solidFill>
                <a:latin typeface="Kanit"/>
              </a:rPr>
              <a:t>White shrimp  กุ้งขาว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16398" y="2112263"/>
            <a:ext cx="2156155" cy="1257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90"/>
              </a:lnSpc>
            </a:pPr>
            <a:r>
              <a:rPr sz="750" b="0">
                <a:solidFill>
                  <a:srgbClr val="606060"/>
                </a:solidFill>
                <a:latin typeface="Kanit"/>
              </a:rPr>
              <a:t>฿141.25 /กก. · S·E coast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16398" y="2244851"/>
            <a:ext cx="1078077" cy="134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6"/>
              </a:lnSpc>
            </a:pPr>
            <a:r>
              <a:rPr sz="800" b="1">
                <a:solidFill>
                  <a:srgbClr val="15795F"/>
                </a:solidFill>
                <a:latin typeface="Kanit"/>
              </a:rPr>
              <a:t>YoY +0.3%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94475" y="2244851"/>
            <a:ext cx="1078077" cy="134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6"/>
              </a:lnSpc>
            </a:pPr>
            <a:r>
              <a:rPr sz="800" b="1">
                <a:solidFill>
                  <a:srgbClr val="15795F"/>
                </a:solidFill>
                <a:latin typeface="Kanit"/>
              </a:rPr>
              <a:t>6m +6.7%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16398" y="2400300"/>
            <a:ext cx="2156155" cy="548640"/>
          </a:xfrm>
          <a:prstGeom prst="rect">
            <a:avLst/>
          </a:prstGeom>
          <a:solidFill>
            <a:srgbClr val="FBFCFE"/>
          </a:solidFill>
          <a:ln w="9525">
            <a:solidFill>
              <a:srgbClr val="D9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5062118" y="2446020"/>
            <a:ext cx="2064715" cy="457200"/>
          </a:xfrm>
          <a:custGeom>
            <a:avLst/>
            <a:gdLst/>
            <a:ahLst/>
            <a:cxnLst/>
            <a:rect l="l" t="t" r="r" b="b"/>
            <a:pathLst>
              <a:path w="2064715" h="457200">
                <a:moveTo>
                  <a:pt x="0" y="415899"/>
                </a:moveTo>
                <a:lnTo>
                  <a:pt x="412943" y="457200"/>
                </a:lnTo>
                <a:lnTo>
                  <a:pt x="825886" y="425604"/>
                </a:lnTo>
                <a:lnTo>
                  <a:pt x="1238829" y="169952"/>
                </a:lnTo>
                <a:lnTo>
                  <a:pt x="1651772" y="0"/>
                </a:lnTo>
                <a:lnTo>
                  <a:pt x="2064715" y="38409"/>
                </a:lnTo>
              </a:path>
            </a:pathLst>
          </a:custGeom>
          <a:noFill/>
          <a:ln w="20320">
            <a:solidFill>
              <a:srgbClr val="1579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085685" y="2443281"/>
            <a:ext cx="82296" cy="82296"/>
          </a:xfrm>
          <a:prstGeom prst="roundRect">
            <a:avLst>
              <a:gd name="adj" fmla="val 50000"/>
            </a:avLst>
          </a:prstGeom>
          <a:solidFill>
            <a:srgbClr val="157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8857" y="1970531"/>
            <a:ext cx="2156155" cy="1508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88"/>
              </a:lnSpc>
            </a:pPr>
            <a:r>
              <a:rPr sz="900" b="1">
                <a:solidFill>
                  <a:srgbClr val="1E2F5C"/>
                </a:solidFill>
                <a:latin typeface="Kanit"/>
              </a:rPr>
              <a:t>Chicken  ไก่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8857" y="2112263"/>
            <a:ext cx="2156155" cy="1257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90"/>
              </a:lnSpc>
            </a:pPr>
            <a:r>
              <a:rPr sz="750" b="0">
                <a:solidFill>
                  <a:srgbClr val="606060"/>
                </a:solidFill>
                <a:latin typeface="Kanit"/>
              </a:rPr>
              <a:t>฿44.00 /กก. · C·E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8857" y="2244851"/>
            <a:ext cx="1078077" cy="134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6"/>
              </a:lnSpc>
            </a:pPr>
            <a:r>
              <a:rPr sz="800" b="1">
                <a:solidFill>
                  <a:srgbClr val="15795F"/>
                </a:solidFill>
                <a:latin typeface="Kanit"/>
              </a:rPr>
              <a:t>YoY +5.4%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96935" y="2244851"/>
            <a:ext cx="1078077" cy="134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6"/>
              </a:lnSpc>
            </a:pPr>
            <a:r>
              <a:rPr sz="800" b="1">
                <a:solidFill>
                  <a:srgbClr val="15795F"/>
                </a:solidFill>
                <a:latin typeface="Kanit"/>
              </a:rPr>
              <a:t>6m +0.2%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18857" y="2400300"/>
            <a:ext cx="2156155" cy="548640"/>
          </a:xfrm>
          <a:prstGeom prst="rect">
            <a:avLst/>
          </a:prstGeom>
          <a:solidFill>
            <a:srgbClr val="FBFCFE"/>
          </a:solidFill>
          <a:ln w="9525">
            <a:solidFill>
              <a:srgbClr val="D9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7364577" y="2446020"/>
            <a:ext cx="2064715" cy="457200"/>
          </a:xfrm>
          <a:custGeom>
            <a:avLst/>
            <a:gdLst/>
            <a:ahLst/>
            <a:cxnLst/>
            <a:rect l="l" t="t" r="r" b="b"/>
            <a:pathLst>
              <a:path w="2064715" h="457200">
                <a:moveTo>
                  <a:pt x="0" y="119269"/>
                </a:moveTo>
                <a:lnTo>
                  <a:pt x="412943" y="309106"/>
                </a:lnTo>
                <a:lnTo>
                  <a:pt x="825886" y="457200"/>
                </a:lnTo>
                <a:lnTo>
                  <a:pt x="1238829" y="249472"/>
                </a:lnTo>
                <a:lnTo>
                  <a:pt x="1651772" y="89452"/>
                </a:lnTo>
                <a:lnTo>
                  <a:pt x="2064715" y="0"/>
                </a:lnTo>
              </a:path>
            </a:pathLst>
          </a:custGeom>
          <a:noFill/>
          <a:ln w="20320">
            <a:solidFill>
              <a:srgbClr val="1579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9388144" y="2404872"/>
            <a:ext cx="82296" cy="82296"/>
          </a:xfrm>
          <a:prstGeom prst="roundRect">
            <a:avLst>
              <a:gd name="adj" fmla="val 50000"/>
            </a:avLst>
          </a:prstGeom>
          <a:solidFill>
            <a:srgbClr val="157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21316" y="1970531"/>
            <a:ext cx="2156155" cy="1508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88"/>
              </a:lnSpc>
            </a:pPr>
            <a:r>
              <a:rPr sz="900" b="1">
                <a:solidFill>
                  <a:srgbClr val="1E2F5C"/>
                </a:solidFill>
                <a:latin typeface="Kanit"/>
              </a:rPr>
              <a:t>Eggs  ไข่ไก่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21316" y="2112263"/>
            <a:ext cx="2156155" cy="1257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90"/>
              </a:lnSpc>
            </a:pPr>
            <a:r>
              <a:rPr sz="750" b="0">
                <a:solidFill>
                  <a:srgbClr val="606060"/>
                </a:solidFill>
                <a:latin typeface="Kanit"/>
              </a:rPr>
              <a:t>฿360.00 /ร้อยฟอง · C·E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21316" y="2244851"/>
            <a:ext cx="1078077" cy="134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6"/>
              </a:lnSpc>
            </a:pPr>
            <a:r>
              <a:rPr sz="800" b="1">
                <a:solidFill>
                  <a:srgbClr val="15795F"/>
                </a:solidFill>
                <a:latin typeface="Kanit"/>
              </a:rPr>
              <a:t>YoY +7.6%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699394" y="2244851"/>
            <a:ext cx="1078077" cy="134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6"/>
              </a:lnSpc>
            </a:pPr>
            <a:r>
              <a:rPr sz="800" b="1">
                <a:solidFill>
                  <a:srgbClr val="15795F"/>
                </a:solidFill>
                <a:latin typeface="Kanit"/>
              </a:rPr>
              <a:t>6m +17.0%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621316" y="2400300"/>
            <a:ext cx="2156155" cy="548640"/>
          </a:xfrm>
          <a:prstGeom prst="rect">
            <a:avLst/>
          </a:prstGeom>
          <a:solidFill>
            <a:srgbClr val="FBFCFE"/>
          </a:solidFill>
          <a:ln w="9525">
            <a:solidFill>
              <a:srgbClr val="D9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9667036" y="2446020"/>
            <a:ext cx="2064715" cy="457200"/>
          </a:xfrm>
          <a:custGeom>
            <a:avLst/>
            <a:gdLst/>
            <a:ahLst/>
            <a:cxnLst/>
            <a:rect l="l" t="t" r="r" b="b"/>
            <a:pathLst>
              <a:path w="2064715" h="457200">
                <a:moveTo>
                  <a:pt x="0" y="356259"/>
                </a:moveTo>
                <a:lnTo>
                  <a:pt x="412943" y="356259"/>
                </a:lnTo>
                <a:lnTo>
                  <a:pt x="825886" y="457200"/>
                </a:lnTo>
                <a:lnTo>
                  <a:pt x="1238829" y="255319"/>
                </a:lnTo>
                <a:lnTo>
                  <a:pt x="1651772" y="106877"/>
                </a:lnTo>
                <a:lnTo>
                  <a:pt x="2064715" y="0"/>
                </a:lnTo>
              </a:path>
            </a:pathLst>
          </a:custGeom>
          <a:noFill/>
          <a:ln w="20320">
            <a:solidFill>
              <a:srgbClr val="1579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11690603" y="2404872"/>
            <a:ext cx="82296" cy="82296"/>
          </a:xfrm>
          <a:prstGeom prst="roundRect">
            <a:avLst>
              <a:gd name="adj" fmla="val 50000"/>
            </a:avLst>
          </a:prstGeom>
          <a:solidFill>
            <a:srgbClr val="157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11480" y="3076956"/>
            <a:ext cx="2156155" cy="1508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88"/>
              </a:lnSpc>
            </a:pPr>
            <a:r>
              <a:rPr sz="900" b="1">
                <a:solidFill>
                  <a:srgbClr val="1E2F5C"/>
                </a:solidFill>
                <a:latin typeface="Kanit"/>
              </a:rPr>
              <a:t>Maize  ข้าวโพดเลี้ยงสัตว์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11480" y="3218687"/>
            <a:ext cx="2156155" cy="1257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90"/>
              </a:lnSpc>
            </a:pPr>
            <a:r>
              <a:rPr sz="750" b="0">
                <a:solidFill>
                  <a:srgbClr val="606060"/>
                </a:solidFill>
                <a:latin typeface="Kanit"/>
              </a:rPr>
              <a:t>฿8.92 /กก. · North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11480" y="3351275"/>
            <a:ext cx="1078077" cy="134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6"/>
              </a:lnSpc>
            </a:pPr>
            <a:r>
              <a:rPr sz="800" b="1">
                <a:solidFill>
                  <a:srgbClr val="15795F"/>
                </a:solidFill>
                <a:latin typeface="Kanit"/>
              </a:rPr>
              <a:t>YoY +12.1%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489557" y="3351275"/>
            <a:ext cx="1078077" cy="134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6"/>
              </a:lnSpc>
            </a:pPr>
            <a:r>
              <a:rPr sz="800" b="1">
                <a:solidFill>
                  <a:srgbClr val="CC0000"/>
                </a:solidFill>
                <a:latin typeface="Kanit"/>
              </a:rPr>
              <a:t>6m −2.0%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11480" y="3506724"/>
            <a:ext cx="2156155" cy="548640"/>
          </a:xfrm>
          <a:prstGeom prst="rect">
            <a:avLst/>
          </a:prstGeom>
          <a:solidFill>
            <a:srgbClr val="FBFCFE"/>
          </a:solidFill>
          <a:ln w="9525">
            <a:solidFill>
              <a:srgbClr val="D9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5" name="Freeform 54"/>
          <p:cNvSpPr/>
          <p:nvPr/>
        </p:nvSpPr>
        <p:spPr>
          <a:xfrm>
            <a:off x="457200" y="3552444"/>
            <a:ext cx="2064715" cy="457200"/>
          </a:xfrm>
          <a:custGeom>
            <a:avLst/>
            <a:gdLst/>
            <a:ahLst/>
            <a:cxnLst/>
            <a:rect l="l" t="t" r="r" b="b"/>
            <a:pathLst>
              <a:path w="2064715" h="457200">
                <a:moveTo>
                  <a:pt x="0" y="321155"/>
                </a:moveTo>
                <a:lnTo>
                  <a:pt x="412943" y="80288"/>
                </a:lnTo>
                <a:lnTo>
                  <a:pt x="825886" y="0"/>
                </a:lnTo>
                <a:lnTo>
                  <a:pt x="1238829" y="53525"/>
                </a:lnTo>
                <a:lnTo>
                  <a:pt x="1651772" y="274319"/>
                </a:lnTo>
                <a:lnTo>
                  <a:pt x="2064715" y="457200"/>
                </a:lnTo>
              </a:path>
            </a:pathLst>
          </a:custGeom>
          <a:noFill/>
          <a:ln w="20320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2480767" y="3968496"/>
            <a:ext cx="82296" cy="82296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713939" y="3076956"/>
            <a:ext cx="2156155" cy="1508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88"/>
              </a:lnSpc>
            </a:pPr>
            <a:r>
              <a:rPr sz="900" b="1">
                <a:solidFill>
                  <a:srgbClr val="1E2F5C"/>
                </a:solidFill>
                <a:latin typeface="Kanit"/>
              </a:rPr>
              <a:t>Rice  ข้าวหอมมะลิ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713939" y="3218687"/>
            <a:ext cx="2156155" cy="1257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90"/>
              </a:lnSpc>
            </a:pPr>
            <a:r>
              <a:rPr sz="750" b="0">
                <a:solidFill>
                  <a:srgbClr val="606060"/>
                </a:solidFill>
                <a:latin typeface="Kanit"/>
              </a:rPr>
              <a:t>฿17,443 /ตัน · Isan·N·C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713939" y="3351275"/>
            <a:ext cx="1078077" cy="134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6"/>
              </a:lnSpc>
            </a:pPr>
            <a:r>
              <a:rPr sz="800" b="1">
                <a:solidFill>
                  <a:srgbClr val="15795F"/>
                </a:solidFill>
                <a:latin typeface="Kanit"/>
              </a:rPr>
              <a:t>YoY +12.4%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792016" y="3351275"/>
            <a:ext cx="1078077" cy="134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6"/>
              </a:lnSpc>
            </a:pPr>
            <a:r>
              <a:rPr sz="800" b="1">
                <a:solidFill>
                  <a:srgbClr val="15795F"/>
                </a:solidFill>
                <a:latin typeface="Kanit"/>
              </a:rPr>
              <a:t>6m +4.0%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713939" y="3506724"/>
            <a:ext cx="2156155" cy="548640"/>
          </a:xfrm>
          <a:prstGeom prst="rect">
            <a:avLst/>
          </a:prstGeom>
          <a:solidFill>
            <a:srgbClr val="FBFCFE"/>
          </a:solidFill>
          <a:ln w="9525">
            <a:solidFill>
              <a:srgbClr val="D9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2" name="Freeform 61"/>
          <p:cNvSpPr/>
          <p:nvPr/>
        </p:nvSpPr>
        <p:spPr>
          <a:xfrm>
            <a:off x="2759659" y="3552444"/>
            <a:ext cx="2064715" cy="457200"/>
          </a:xfrm>
          <a:custGeom>
            <a:avLst/>
            <a:gdLst/>
            <a:ahLst/>
            <a:cxnLst/>
            <a:rect l="l" t="t" r="r" b="b"/>
            <a:pathLst>
              <a:path w="2064715" h="457200">
                <a:moveTo>
                  <a:pt x="0" y="457200"/>
                </a:moveTo>
                <a:lnTo>
                  <a:pt x="412943" y="237319"/>
                </a:lnTo>
                <a:lnTo>
                  <a:pt x="825886" y="75982"/>
                </a:lnTo>
                <a:lnTo>
                  <a:pt x="1238829" y="44763"/>
                </a:lnTo>
                <a:lnTo>
                  <a:pt x="1651772" y="0"/>
                </a:lnTo>
                <a:lnTo>
                  <a:pt x="2064715" y="211262"/>
                </a:lnTo>
              </a:path>
            </a:pathLst>
          </a:custGeom>
          <a:noFill/>
          <a:ln w="20320">
            <a:solidFill>
              <a:srgbClr val="1579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4783226" y="3722558"/>
            <a:ext cx="82296" cy="82296"/>
          </a:xfrm>
          <a:prstGeom prst="roundRect">
            <a:avLst>
              <a:gd name="adj" fmla="val 50000"/>
            </a:avLst>
          </a:prstGeom>
          <a:solidFill>
            <a:srgbClr val="157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016398" y="3076956"/>
            <a:ext cx="2156155" cy="1508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88"/>
              </a:lnSpc>
            </a:pPr>
            <a:r>
              <a:rPr sz="900" b="1">
                <a:solidFill>
                  <a:srgbClr val="1E2F5C"/>
                </a:solidFill>
                <a:latin typeface="Kanit"/>
              </a:rPr>
              <a:t>Palm oil  ปาล์มน้ำมัน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016398" y="3218687"/>
            <a:ext cx="2156155" cy="1257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90"/>
              </a:lnSpc>
            </a:pPr>
            <a:r>
              <a:rPr sz="750" b="0">
                <a:solidFill>
                  <a:srgbClr val="606060"/>
                </a:solidFill>
                <a:latin typeface="Kanit"/>
              </a:rPr>
              <a:t>฿8.41 /กก. · South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016398" y="3351275"/>
            <a:ext cx="1078077" cy="134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6"/>
              </a:lnSpc>
            </a:pPr>
            <a:r>
              <a:rPr sz="800" b="1">
                <a:solidFill>
                  <a:srgbClr val="15795F"/>
                </a:solidFill>
                <a:latin typeface="Kanit"/>
              </a:rPr>
              <a:t>YoY +23.6%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094475" y="3351275"/>
            <a:ext cx="1078077" cy="134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6"/>
              </a:lnSpc>
            </a:pPr>
            <a:r>
              <a:rPr sz="800" b="1">
                <a:solidFill>
                  <a:srgbClr val="15795F"/>
                </a:solidFill>
                <a:latin typeface="Kanit"/>
              </a:rPr>
              <a:t>6m +16.6%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016398" y="3506724"/>
            <a:ext cx="2156155" cy="548640"/>
          </a:xfrm>
          <a:prstGeom prst="rect">
            <a:avLst/>
          </a:prstGeom>
          <a:solidFill>
            <a:srgbClr val="FBFCFE"/>
          </a:solidFill>
          <a:ln w="9525">
            <a:solidFill>
              <a:srgbClr val="D9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9" name="Freeform 68"/>
          <p:cNvSpPr/>
          <p:nvPr/>
        </p:nvSpPr>
        <p:spPr>
          <a:xfrm>
            <a:off x="5062118" y="3552444"/>
            <a:ext cx="2064715" cy="457200"/>
          </a:xfrm>
          <a:custGeom>
            <a:avLst/>
            <a:gdLst/>
            <a:ahLst/>
            <a:cxnLst/>
            <a:rect l="l" t="t" r="r" b="b"/>
            <a:pathLst>
              <a:path w="2064715" h="457200">
                <a:moveTo>
                  <a:pt x="0" y="439749"/>
                </a:moveTo>
                <a:lnTo>
                  <a:pt x="412943" y="457200"/>
                </a:lnTo>
                <a:lnTo>
                  <a:pt x="825886" y="296656"/>
                </a:lnTo>
                <a:lnTo>
                  <a:pt x="1238829" y="76781"/>
                </a:lnTo>
                <a:lnTo>
                  <a:pt x="1651772" y="0"/>
                </a:lnTo>
                <a:lnTo>
                  <a:pt x="2064715" y="34900"/>
                </a:lnTo>
              </a:path>
            </a:pathLst>
          </a:custGeom>
          <a:noFill/>
          <a:ln w="20320">
            <a:solidFill>
              <a:srgbClr val="1579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7085685" y="3546196"/>
            <a:ext cx="82296" cy="82296"/>
          </a:xfrm>
          <a:prstGeom prst="roundRect">
            <a:avLst>
              <a:gd name="adj" fmla="val 50000"/>
            </a:avLst>
          </a:prstGeom>
          <a:solidFill>
            <a:srgbClr val="157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318857" y="3076956"/>
            <a:ext cx="2156155" cy="1508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88"/>
              </a:lnSpc>
            </a:pPr>
            <a:r>
              <a:rPr sz="900" b="1">
                <a:solidFill>
                  <a:srgbClr val="1E2F5C"/>
                </a:solidFill>
                <a:latin typeface="Kanit"/>
              </a:rPr>
              <a:t>Pork  สุกร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318857" y="3218687"/>
            <a:ext cx="2156155" cy="1257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90"/>
              </a:lnSpc>
            </a:pPr>
            <a:r>
              <a:rPr sz="750" b="0">
                <a:solidFill>
                  <a:srgbClr val="606060"/>
                </a:solidFill>
                <a:latin typeface="Kanit"/>
              </a:rPr>
              <a:t>฿74.74 /กก. · C·W·E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318857" y="3351275"/>
            <a:ext cx="1078077" cy="134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6"/>
              </a:lnSpc>
            </a:pPr>
            <a:r>
              <a:rPr sz="800" b="1">
                <a:solidFill>
                  <a:srgbClr val="15795F"/>
                </a:solidFill>
                <a:latin typeface="Kanit"/>
              </a:rPr>
              <a:t>YoY +26.9%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396935" y="3351275"/>
            <a:ext cx="1078077" cy="134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6"/>
              </a:lnSpc>
            </a:pPr>
            <a:r>
              <a:rPr sz="800" b="1">
                <a:solidFill>
                  <a:srgbClr val="15795F"/>
                </a:solidFill>
                <a:latin typeface="Kanit"/>
              </a:rPr>
              <a:t>6m +18.5%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318857" y="3506724"/>
            <a:ext cx="2156155" cy="548640"/>
          </a:xfrm>
          <a:prstGeom prst="rect">
            <a:avLst/>
          </a:prstGeom>
          <a:solidFill>
            <a:srgbClr val="FBFCFE"/>
          </a:solidFill>
          <a:ln w="9525">
            <a:solidFill>
              <a:srgbClr val="D9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6" name="Freeform 75"/>
          <p:cNvSpPr/>
          <p:nvPr/>
        </p:nvSpPr>
        <p:spPr>
          <a:xfrm>
            <a:off x="7364577" y="3552444"/>
            <a:ext cx="2064715" cy="457200"/>
          </a:xfrm>
          <a:custGeom>
            <a:avLst/>
            <a:gdLst/>
            <a:ahLst/>
            <a:cxnLst/>
            <a:rect l="l" t="t" r="r" b="b"/>
            <a:pathLst>
              <a:path w="2064715" h="457200">
                <a:moveTo>
                  <a:pt x="0" y="223049"/>
                </a:moveTo>
                <a:lnTo>
                  <a:pt x="412943" y="457200"/>
                </a:lnTo>
                <a:lnTo>
                  <a:pt x="825886" y="346852"/>
                </a:lnTo>
                <a:lnTo>
                  <a:pt x="1238829" y="262074"/>
                </a:lnTo>
                <a:lnTo>
                  <a:pt x="1651772" y="114047"/>
                </a:lnTo>
                <a:lnTo>
                  <a:pt x="2064715" y="0"/>
                </a:lnTo>
              </a:path>
            </a:pathLst>
          </a:custGeom>
          <a:noFill/>
          <a:ln w="20320">
            <a:solidFill>
              <a:srgbClr val="1579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9388144" y="3511296"/>
            <a:ext cx="82296" cy="82296"/>
          </a:xfrm>
          <a:prstGeom prst="roundRect">
            <a:avLst>
              <a:gd name="adj" fmla="val 50000"/>
            </a:avLst>
          </a:prstGeom>
          <a:solidFill>
            <a:srgbClr val="157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621316" y="3076956"/>
            <a:ext cx="2156155" cy="1508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88"/>
              </a:lnSpc>
            </a:pPr>
            <a:r>
              <a:rPr sz="900" b="1">
                <a:solidFill>
                  <a:srgbClr val="1E2F5C"/>
                </a:solidFill>
                <a:latin typeface="Kanit"/>
              </a:rPr>
              <a:t>Rubber  ยางพารา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621316" y="3218687"/>
            <a:ext cx="2156155" cy="1257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90"/>
              </a:lnSpc>
            </a:pPr>
            <a:r>
              <a:rPr sz="750" b="0">
                <a:solidFill>
                  <a:srgbClr val="606060"/>
                </a:solidFill>
                <a:latin typeface="Kanit"/>
              </a:rPr>
              <a:t>฿81.03 /กก. · S·E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621316" y="3351275"/>
            <a:ext cx="1078077" cy="134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6"/>
              </a:lnSpc>
            </a:pPr>
            <a:r>
              <a:rPr sz="800" b="1">
                <a:solidFill>
                  <a:srgbClr val="15795F"/>
                </a:solidFill>
                <a:latin typeface="Kanit"/>
              </a:rPr>
              <a:t>YoY +40.3%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699394" y="3351275"/>
            <a:ext cx="1078077" cy="134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6"/>
              </a:lnSpc>
            </a:pPr>
            <a:r>
              <a:rPr sz="800" b="1">
                <a:solidFill>
                  <a:srgbClr val="15795F"/>
                </a:solidFill>
                <a:latin typeface="Kanit"/>
              </a:rPr>
              <a:t>6m +18.9%</a:t>
            </a:r>
          </a:p>
        </p:txBody>
      </p:sp>
      <p:sp>
        <p:nvSpPr>
          <p:cNvPr id="82" name="Rectangle 81"/>
          <p:cNvSpPr/>
          <p:nvPr/>
        </p:nvSpPr>
        <p:spPr>
          <a:xfrm>
            <a:off x="9621316" y="3506724"/>
            <a:ext cx="2156155" cy="548640"/>
          </a:xfrm>
          <a:prstGeom prst="rect">
            <a:avLst/>
          </a:prstGeom>
          <a:solidFill>
            <a:srgbClr val="FBFCFE"/>
          </a:solidFill>
          <a:ln w="9525">
            <a:solidFill>
              <a:srgbClr val="D9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3" name="Freeform 82"/>
          <p:cNvSpPr/>
          <p:nvPr/>
        </p:nvSpPr>
        <p:spPr>
          <a:xfrm>
            <a:off x="9667036" y="3552444"/>
            <a:ext cx="2064715" cy="457200"/>
          </a:xfrm>
          <a:custGeom>
            <a:avLst/>
            <a:gdLst/>
            <a:ahLst/>
            <a:cxnLst/>
            <a:rect l="l" t="t" r="r" b="b"/>
            <a:pathLst>
              <a:path w="2064715" h="457200">
                <a:moveTo>
                  <a:pt x="0" y="457200"/>
                </a:moveTo>
                <a:lnTo>
                  <a:pt x="412943" y="252867"/>
                </a:lnTo>
                <a:lnTo>
                  <a:pt x="825886" y="0"/>
                </a:lnTo>
                <a:lnTo>
                  <a:pt x="1238829" y="62808"/>
                </a:lnTo>
                <a:lnTo>
                  <a:pt x="1651772" y="195360"/>
                </a:lnTo>
                <a:lnTo>
                  <a:pt x="2064715" y="203109"/>
                </a:lnTo>
              </a:path>
            </a:pathLst>
          </a:custGeom>
          <a:noFill/>
          <a:ln w="20320">
            <a:solidFill>
              <a:srgbClr val="1579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11690603" y="3714405"/>
            <a:ext cx="82296" cy="82296"/>
          </a:xfrm>
          <a:prstGeom prst="roundRect">
            <a:avLst>
              <a:gd name="adj" fmla="val 50000"/>
            </a:avLst>
          </a:prstGeom>
          <a:solidFill>
            <a:srgbClr val="157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11480" y="4183379"/>
            <a:ext cx="2156155" cy="1508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88"/>
              </a:lnSpc>
            </a:pPr>
            <a:r>
              <a:rPr sz="900" b="1">
                <a:solidFill>
                  <a:srgbClr val="1E2F5C"/>
                </a:solidFill>
                <a:latin typeface="Kanit"/>
              </a:rPr>
              <a:t>Cassava  มันสำปะหลัง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11480" y="4325112"/>
            <a:ext cx="2156155" cy="1257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90"/>
              </a:lnSpc>
            </a:pPr>
            <a:r>
              <a:rPr sz="750" b="0">
                <a:solidFill>
                  <a:srgbClr val="606060"/>
                </a:solidFill>
                <a:latin typeface="Kanit"/>
              </a:rPr>
              <a:t>฿3.93 /กก. · Isan·N·E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11480" y="4457699"/>
            <a:ext cx="1078077" cy="134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6"/>
              </a:lnSpc>
            </a:pPr>
            <a:r>
              <a:rPr sz="800" b="1">
                <a:solidFill>
                  <a:srgbClr val="15795F"/>
                </a:solidFill>
                <a:latin typeface="Kanit"/>
              </a:rPr>
              <a:t>YoY +77.2%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489557" y="4457699"/>
            <a:ext cx="1078077" cy="134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6"/>
              </a:lnSpc>
            </a:pPr>
            <a:r>
              <a:rPr sz="800" b="1">
                <a:solidFill>
                  <a:srgbClr val="15795F"/>
                </a:solidFill>
                <a:latin typeface="Kanit"/>
              </a:rPr>
              <a:t>6m +48.3%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11480" y="4613147"/>
            <a:ext cx="2156155" cy="548640"/>
          </a:xfrm>
          <a:prstGeom prst="rect">
            <a:avLst/>
          </a:prstGeom>
          <a:solidFill>
            <a:srgbClr val="FBFCFE"/>
          </a:solidFill>
          <a:ln w="9525">
            <a:solidFill>
              <a:srgbClr val="D9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0" name="Freeform 89"/>
          <p:cNvSpPr/>
          <p:nvPr/>
        </p:nvSpPr>
        <p:spPr>
          <a:xfrm>
            <a:off x="457200" y="4658867"/>
            <a:ext cx="2064715" cy="457200"/>
          </a:xfrm>
          <a:custGeom>
            <a:avLst/>
            <a:gdLst/>
            <a:ahLst/>
            <a:cxnLst/>
            <a:rect l="l" t="t" r="r" b="b"/>
            <a:pathLst>
              <a:path w="2064715" h="457200">
                <a:moveTo>
                  <a:pt x="0" y="457200"/>
                </a:moveTo>
                <a:lnTo>
                  <a:pt x="412943" y="367553"/>
                </a:lnTo>
                <a:lnTo>
                  <a:pt x="825886" y="255495"/>
                </a:lnTo>
                <a:lnTo>
                  <a:pt x="1238829" y="210671"/>
                </a:lnTo>
                <a:lnTo>
                  <a:pt x="1651772" y="49306"/>
                </a:lnTo>
                <a:lnTo>
                  <a:pt x="2064715" y="0"/>
                </a:lnTo>
              </a:path>
            </a:pathLst>
          </a:custGeom>
          <a:noFill/>
          <a:ln w="20320">
            <a:solidFill>
              <a:srgbClr val="1579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ounded Rectangle 90"/>
          <p:cNvSpPr/>
          <p:nvPr/>
        </p:nvSpPr>
        <p:spPr>
          <a:xfrm>
            <a:off x="2480767" y="4617719"/>
            <a:ext cx="82296" cy="82296"/>
          </a:xfrm>
          <a:prstGeom prst="roundRect">
            <a:avLst>
              <a:gd name="adj" fmla="val 50000"/>
            </a:avLst>
          </a:prstGeom>
          <a:solidFill>
            <a:srgbClr val="157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2713939" y="4183379"/>
            <a:ext cx="2156155" cy="1508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88"/>
              </a:lnSpc>
            </a:pPr>
            <a:r>
              <a:rPr sz="900" b="1">
                <a:solidFill>
                  <a:srgbClr val="1E2F5C"/>
                </a:solidFill>
                <a:latin typeface="Kanit"/>
              </a:rPr>
              <a:t>Lime  มะนาว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713939" y="4325112"/>
            <a:ext cx="2156155" cy="1257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90"/>
              </a:lnSpc>
            </a:pPr>
            <a:r>
              <a:rPr sz="750" b="0">
                <a:solidFill>
                  <a:srgbClr val="606060"/>
                </a:solidFill>
                <a:latin typeface="Kanit"/>
              </a:rPr>
              <a:t>฿277.78 /ร้อยผล · C·W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713939" y="4457699"/>
            <a:ext cx="1078077" cy="134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6"/>
              </a:lnSpc>
            </a:pPr>
            <a:r>
              <a:rPr sz="800" b="1">
                <a:solidFill>
                  <a:srgbClr val="15795F"/>
                </a:solidFill>
                <a:latin typeface="Kanit"/>
              </a:rPr>
              <a:t>YoY +198.1%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792016" y="4457699"/>
            <a:ext cx="1078077" cy="134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6"/>
              </a:lnSpc>
            </a:pPr>
            <a:r>
              <a:rPr sz="800" b="1">
                <a:solidFill>
                  <a:srgbClr val="CC0000"/>
                </a:solidFill>
                <a:latin typeface="Kanit"/>
              </a:rPr>
              <a:t>6m −38.9%</a:t>
            </a:r>
          </a:p>
        </p:txBody>
      </p:sp>
      <p:sp>
        <p:nvSpPr>
          <p:cNvPr id="96" name="Rectangle 95"/>
          <p:cNvSpPr/>
          <p:nvPr/>
        </p:nvSpPr>
        <p:spPr>
          <a:xfrm>
            <a:off x="2713939" y="4613147"/>
            <a:ext cx="2156155" cy="548640"/>
          </a:xfrm>
          <a:prstGeom prst="rect">
            <a:avLst/>
          </a:prstGeom>
          <a:solidFill>
            <a:srgbClr val="FBFCFE"/>
          </a:solidFill>
          <a:ln w="9525">
            <a:solidFill>
              <a:srgbClr val="D9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7" name="Freeform 96"/>
          <p:cNvSpPr/>
          <p:nvPr/>
        </p:nvSpPr>
        <p:spPr>
          <a:xfrm>
            <a:off x="2759659" y="4658867"/>
            <a:ext cx="2064715" cy="457200"/>
          </a:xfrm>
          <a:custGeom>
            <a:avLst/>
            <a:gdLst/>
            <a:ahLst/>
            <a:cxnLst/>
            <a:rect l="l" t="t" r="r" b="b"/>
            <a:pathLst>
              <a:path w="2064715" h="457200">
                <a:moveTo>
                  <a:pt x="0" y="0"/>
                </a:moveTo>
                <a:lnTo>
                  <a:pt x="412943" y="259737"/>
                </a:lnTo>
                <a:lnTo>
                  <a:pt x="825886" y="443342"/>
                </a:lnTo>
                <a:lnTo>
                  <a:pt x="1238829" y="457200"/>
                </a:lnTo>
                <a:lnTo>
                  <a:pt x="1651772" y="413314"/>
                </a:lnTo>
                <a:lnTo>
                  <a:pt x="2064715" y="329975"/>
                </a:lnTo>
              </a:path>
            </a:pathLst>
          </a:custGeom>
          <a:noFill/>
          <a:ln w="20320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ounded Rectangle 97"/>
          <p:cNvSpPr/>
          <p:nvPr/>
        </p:nvSpPr>
        <p:spPr>
          <a:xfrm>
            <a:off x="4783226" y="4947694"/>
            <a:ext cx="82296" cy="82296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11480" y="5326379"/>
            <a:ext cx="11365992" cy="158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</a:pPr>
            <a:r>
              <a:rPr sz="900" b="0">
                <a:solidFill>
                  <a:srgbClr val="606060"/>
                </a:solidFill>
                <a:latin typeface="Kanit"/>
              </a:rPr>
              <a:t>Priced but not plotted — no monthly series: Sugar −17.9% (annual, administered) · Rambutan −13.5% · Beef −6.1% · Durian +7.0% · Longan +60.2%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411480" y="5613145"/>
            <a:ext cx="754177" cy="19202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1579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11480" y="5642406"/>
            <a:ext cx="754177" cy="134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056"/>
              </a:lnSpc>
            </a:pPr>
            <a:r>
              <a:rPr sz="800" b="1">
                <a:solidFill>
                  <a:srgbClr val="15795F"/>
                </a:solidFill>
                <a:latin typeface="Kanit"/>
              </a:rPr>
              <a:t>MEASURED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275385" y="5626861"/>
            <a:ext cx="10502086" cy="46291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15"/>
              </a:lnSpc>
            </a:pPr>
            <a:r>
              <a:rPr sz="900" b="0">
                <a:solidFill>
                  <a:srgbClr val="606060"/>
                </a:solidFill>
                <a:latin typeface="Kanit"/>
              </a:rPr>
              <a:t>Farm-gate prices MEASURED — NABC daily quotes, monthly means, in baht as published (no currency conversion); newest quote 2026-09-11, history vintage 2026-09-11. Farm gate (ราคาที่เกษตรกรขายได้) is what the grower is paid at first sale, before trading, milling or transport take a cut — not the world index and not a supermarket price. Belts are an ESTIMATED read of where each commodity is produced, and they overlap. Sugar is OCSB's announced season price, one point a year, so it has no six-month move to show.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19456"/>
            <a:ext cx="8686800" cy="1508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88"/>
              </a:lnSpc>
            </a:pPr>
            <a:r>
              <a:rPr sz="900" b="1">
                <a:solidFill>
                  <a:srgbClr val="CC0000"/>
                </a:solidFill>
                <a:latin typeface="Kanit"/>
              </a:rPr>
              <a:t>07 · INCOME RIGHT NOW, BY REGION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57200"/>
            <a:ext cx="996696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E2F5C"/>
                </a:solidFill>
                <a:latin typeface="Kanit"/>
              </a:rPr>
              <a:t>What each occupation earns, where the floor is, and which way it moved.</a:t>
            </a:r>
          </a:p>
        </p:txBody>
      </p:sp>
      <p:pic>
        <p:nvPicPr>
          <p:cNvPr id="5" name="Picture 4" descr="aut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4472" y="256032"/>
            <a:ext cx="941832" cy="29260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11480" y="969264"/>
            <a:ext cx="11365992" cy="20116"/>
          </a:xfrm>
          <a:prstGeom prst="rect">
            <a:avLst/>
          </a:prstGeom>
          <a:solidFill>
            <a:srgbClr val="1E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91969" cy="109728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92824"/>
            <a:ext cx="6400800" cy="134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6"/>
              </a:lnSpc>
            </a:pPr>
            <a:r>
              <a:rPr sz="800" b="0">
                <a:solidFill>
                  <a:srgbClr val="606060"/>
                </a:solidFill>
                <a:latin typeface="Kanit"/>
              </a:rPr>
              <a:t>Restricted Data – Reproduction is prohibited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152144"/>
            <a:ext cx="11365992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00"/>
              </a:lnSpc>
            </a:pPr>
            <a:r>
              <a:rPr sz="1100" b="0">
                <a:solidFill>
                  <a:srgbClr val="606060"/>
                </a:solidFill>
                <a:latin typeface="Kanit"/>
              </a:rPr>
              <a:t>Monthly income now, by region and job — each region set against its own wage.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11480" y="1488948"/>
          <a:ext cx="11365992" cy="17007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88720"/>
                <a:gridCol w="1143000"/>
                <a:gridCol w="822960"/>
                <a:gridCol w="2148840"/>
                <a:gridCol w="914400"/>
                <a:gridCol w="1051560"/>
                <a:gridCol w="868680"/>
                <a:gridCol w="868680"/>
                <a:gridCol w="1280160"/>
                <a:gridCol w="1078992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Region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Farming ฿/mo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move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weakest farming province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Factory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Transport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SME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Office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employee wage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farm vs wage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Central&amp;BKK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9,559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15795F"/>
                          </a:solidFill>
                          <a:latin typeface="Kanit"/>
                        </a:rPr>
                        <a:t>+8.5%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CC0000"/>
                          </a:solidFill>
                          <a:latin typeface="Kanit"/>
                        </a:rPr>
                        <a:t>นครนายก 5,763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17,309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16,040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16,168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18,380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17,723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CC0000"/>
                          </a:solidFill>
                          <a:latin typeface="Kanit"/>
                        </a:rPr>
                        <a:t>54%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East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14,213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15795F"/>
                          </a:solidFill>
                          <a:latin typeface="Kanit"/>
                        </a:rPr>
                        <a:t>+9.6%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CC0000"/>
                          </a:solidFill>
                          <a:latin typeface="Kanit"/>
                        </a:rPr>
                        <a:t>ปราจีนบุรี 6,926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17,883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16,595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12,393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15,958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15,210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93%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North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7,157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15795F"/>
                          </a:solidFill>
                          <a:latin typeface="Kanit"/>
                        </a:rPr>
                        <a:t>+8.7%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CC0000"/>
                          </a:solidFill>
                          <a:latin typeface="Kanit"/>
                        </a:rPr>
                        <a:t>แม่ฮ่องสอน 4,641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13,147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13,772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11,285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16,169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15,407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CC0000"/>
                          </a:solidFill>
                          <a:latin typeface="Kanit"/>
                        </a:rPr>
                        <a:t>46%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Isan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8,030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15795F"/>
                          </a:solidFill>
                          <a:latin typeface="Kanit"/>
                        </a:rPr>
                        <a:t>+8.3%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CC0000"/>
                          </a:solidFill>
                          <a:latin typeface="Kanit"/>
                        </a:rPr>
                        <a:t>ขอนแก่น 4,762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12,406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13,670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11,137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17,141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14,805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CC0000"/>
                          </a:solidFill>
                          <a:latin typeface="Kanit"/>
                        </a:rPr>
                        <a:t>54%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South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7,972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15795F"/>
                          </a:solidFill>
                          <a:latin typeface="Kanit"/>
                        </a:rPr>
                        <a:t>+9.8%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CC0000"/>
                          </a:solidFill>
                          <a:latin typeface="Kanit"/>
                        </a:rPr>
                        <a:t>นราธิวาส 2,742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14,133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13,933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10,711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16,841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13,676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CC0000"/>
                          </a:solidFill>
                          <a:latin typeface="Kanit"/>
                        </a:rPr>
                        <a:t>58%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411480" y="3299460"/>
            <a:ext cx="535747" cy="19202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1E2F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3328720"/>
            <a:ext cx="535747" cy="134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056"/>
              </a:lnSpc>
            </a:pPr>
            <a:r>
              <a:rPr sz="800" b="1">
                <a:solidFill>
                  <a:srgbClr val="1E2F5C"/>
                </a:solidFill>
                <a:latin typeface="Kanit"/>
              </a:rPr>
              <a:t>MIXED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6955" y="3313176"/>
            <a:ext cx="10720516" cy="30861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15"/>
              </a:lnSpc>
            </a:pPr>
            <a:r>
              <a:rPr sz="900" b="0">
                <a:solidFill>
                  <a:srgbClr val="606060"/>
                </a:solidFill>
                <a:latin typeface="Kanit"/>
              </a:rPr>
              <a:t>Income MEASURED — NSO SES province income (NSO SES 2566), NSO LFS regional wages (2568 (4-quarter average)), ฿/month; region = unweighted mean of its provinces. Move is ESTIMATED — one first-order model of the price and fuel round (fuel driver 2026M08), at documented coefficients, not fitted. No monthly SES/LFS series exists, so no 6-month figure sits beside it.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3790950"/>
            <a:ext cx="5568696" cy="1007618"/>
          </a:xfrm>
          <a:prstGeom prst="rect">
            <a:avLst/>
          </a:prstGeom>
          <a:solidFill>
            <a:srgbClr val="FDF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" y="3790950"/>
            <a:ext cx="50292" cy="1007618"/>
          </a:xfrm>
          <a:prstGeom prst="rect">
            <a:avLst/>
          </a:prstGeom>
          <a:solidFill>
            <a:srgbClr val="F5C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" y="3937254"/>
            <a:ext cx="5239512" cy="158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</a:pPr>
            <a:r>
              <a:rPr sz="950" b="1">
                <a:solidFill>
                  <a:srgbClr val="9A7411"/>
                </a:solidFill>
                <a:latin typeface="Kanit"/>
              </a:rPr>
              <a:t>Farming (เกษตรกร) — up everywhere, still the floor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" y="4141724"/>
            <a:ext cx="5239512" cy="5105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40"/>
              </a:lnSpc>
            </a:pPr>
            <a:r>
              <a:rPr sz="1000" b="0">
                <a:solidFill>
                  <a:srgbClr val="1E2F5C"/>
                </a:solidFill>
                <a:latin typeface="Kanit"/>
              </a:rPr>
              <a:t>• Best-moving job in every region — and still the lowest-paid.
• North ฿7,157 against a ฿15,407 wage (46%); Isan ฿8,030 against ฿14,805 (54%).
• Floor: นราธิวาส farms on ฿2,742/mo — size a programme against this, not the mean.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08776" y="3790950"/>
            <a:ext cx="5568696" cy="1347978"/>
          </a:xfrm>
          <a:prstGeom prst="rect">
            <a:avLst/>
          </a:prstGeom>
          <a:solidFill>
            <a:srgbClr val="FC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08776" y="3790950"/>
            <a:ext cx="50292" cy="1347978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8232" y="3937254"/>
            <a:ext cx="5239512" cy="158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</a:pPr>
            <a:r>
              <a:rPr sz="950" b="1">
                <a:solidFill>
                  <a:srgbClr val="CC0000"/>
                </a:solidFill>
                <a:latin typeface="Kanit"/>
              </a:rPr>
              <a:t>Transport (ขนส่ง) — one number, not five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8232" y="4141724"/>
            <a:ext cx="5239512" cy="850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40"/>
              </a:lnSpc>
            </a:pPr>
            <a:r>
              <a:rPr sz="1000" b="0">
                <a:solidFill>
                  <a:srgbClr val="1E2F5C"/>
                </a:solidFill>
                <a:latin typeface="Kanit"/>
              </a:rPr>
              <a:t>• Down −4.77% in every region. Factory moves the same way; office is flat — no channel modelled for it, which is not the same as no change.
• One measured crude-oil move through one chosen coefficient. No Thai diesel or freight series behind it.
• Still matters: here the vehicle IS the income. An early call beats a late one.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19456"/>
            <a:ext cx="8686800" cy="1508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88"/>
              </a:lnSpc>
            </a:pPr>
            <a:r>
              <a:rPr sz="900" b="1">
                <a:solidFill>
                  <a:srgbClr val="CC0000"/>
                </a:solidFill>
                <a:latin typeface="Kanit"/>
              </a:rPr>
              <a:t>08 · WATER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57200"/>
            <a:ext cx="996696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E2F5C"/>
                </a:solidFill>
                <a:latin typeface="Kanit"/>
              </a:rPr>
              <a:t>Where it is driest, and where it is wettest — right now.</a:t>
            </a:r>
          </a:p>
        </p:txBody>
      </p:sp>
      <p:pic>
        <p:nvPicPr>
          <p:cNvPr id="5" name="Picture 4" descr="aut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4472" y="256032"/>
            <a:ext cx="941832" cy="29260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11480" y="969264"/>
            <a:ext cx="11365992" cy="20116"/>
          </a:xfrm>
          <a:prstGeom prst="rect">
            <a:avLst/>
          </a:prstGeom>
          <a:solidFill>
            <a:srgbClr val="1E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91969" cy="109728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92824"/>
            <a:ext cx="6400800" cy="134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6"/>
              </a:lnSpc>
            </a:pPr>
            <a:r>
              <a:rPr sz="800" b="0">
                <a:solidFill>
                  <a:srgbClr val="606060"/>
                </a:solidFill>
                <a:latin typeface="Kanit"/>
              </a:rPr>
              <a:t>Restricted Data – Reproduction is prohibited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165860"/>
            <a:ext cx="164592" cy="17602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86"/>
              </a:lnSpc>
            </a:pPr>
            <a:r>
              <a:rPr sz="1050" b="1">
                <a:solidFill>
                  <a:srgbClr val="CC0000"/>
                </a:solidFill>
                <a:latin typeface="Kanit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152144"/>
            <a:ext cx="11183112" cy="1813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28"/>
              </a:lnSpc>
            </a:pPr>
            <a:r>
              <a:rPr sz="1050" b="0">
                <a:solidFill>
                  <a:srgbClr val="1E2F5C"/>
                </a:solidFill>
                <a:latin typeface="Kanit"/>
              </a:rPr>
              <a:t>SPEI (ภัยแล้ง, drought) is modelled once a month — how the season has gone, not today’s weather.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1438656"/>
            <a:ext cx="164592" cy="17602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86"/>
              </a:lnSpc>
            </a:pPr>
            <a:r>
              <a:rPr sz="1050" b="1">
                <a:solidFill>
                  <a:srgbClr val="CC0000"/>
                </a:solidFill>
                <a:latin typeface="Kanit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424940"/>
            <a:ext cx="11183112" cy="1813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28"/>
              </a:lnSpc>
            </a:pPr>
            <a:r>
              <a:rPr sz="1050" b="0">
                <a:solidFill>
                  <a:srgbClr val="1E2F5C"/>
                </a:solidFill>
                <a:latin typeface="Kanit"/>
              </a:rPr>
              <a:t>ThaiWater is measured every day — rain gauges and river levels (น้ำท่วม, flood), live.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1711452"/>
            <a:ext cx="164592" cy="17602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86"/>
              </a:lnSpc>
            </a:pPr>
            <a:r>
              <a:rPr sz="1050" b="1">
                <a:solidFill>
                  <a:srgbClr val="CC0000"/>
                </a:solidFill>
                <a:latin typeface="Kanit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1697736"/>
            <a:ext cx="11183112" cy="1813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28"/>
              </a:lnSpc>
            </a:pPr>
            <a:r>
              <a:rPr sz="1050" b="0">
                <a:solidFill>
                  <a:srgbClr val="1E2F5C"/>
                </a:solidFill>
                <a:latin typeface="Kanit"/>
              </a:rPr>
              <a:t>GISTDA is a separate 12-year census — ground that has flooded before, not what is happening now.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2043684"/>
            <a:ext cx="1780032" cy="1060704"/>
          </a:xfrm>
          <a:prstGeom prst="roundRect">
            <a:avLst>
              <a:gd name="adj" fmla="val 7758"/>
            </a:avLst>
          </a:prstGeom>
          <a:solidFill>
            <a:srgbClr val="F4F6FA"/>
          </a:solidFill>
          <a:ln w="9525">
            <a:solidFill>
              <a:srgbClr val="D9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144268"/>
            <a:ext cx="1505711" cy="1592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4"/>
              </a:lnSpc>
            </a:pPr>
            <a:r>
              <a:rPr sz="950" b="0">
                <a:solidFill>
                  <a:srgbClr val="606060"/>
                </a:solidFill>
                <a:latin typeface="Kanit"/>
              </a:rPr>
              <a:t>Districts in drought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2318004"/>
            <a:ext cx="1505711" cy="33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00"/>
              </a:lnSpc>
            </a:pPr>
            <a:r>
              <a:rPr sz="2100" b="1">
                <a:solidFill>
                  <a:srgbClr val="CC0000"/>
                </a:solidFill>
                <a:latin typeface="Kanit"/>
              </a:rPr>
              <a:t>338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2683764"/>
            <a:ext cx="1505711" cy="3474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60"/>
              </a:lnSpc>
            </a:pPr>
            <a:r>
              <a:rPr sz="800" b="0">
                <a:solidFill>
                  <a:srgbClr val="606060"/>
                </a:solidFill>
                <a:latin typeface="Kanit"/>
              </a:rPr>
              <a:t>of 928 (36.4%) · SPEI mean -0.84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328672" y="2043684"/>
            <a:ext cx="1780032" cy="1060704"/>
          </a:xfrm>
          <a:prstGeom prst="roundRect">
            <a:avLst>
              <a:gd name="adj" fmla="val 7758"/>
            </a:avLst>
          </a:prstGeom>
          <a:solidFill>
            <a:srgbClr val="F4F6FA"/>
          </a:solidFill>
          <a:ln w="9525">
            <a:solidFill>
              <a:srgbClr val="D9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65832" y="2144268"/>
            <a:ext cx="1505711" cy="1592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4"/>
              </a:lnSpc>
            </a:pPr>
            <a:r>
              <a:rPr sz="950" b="0">
                <a:solidFill>
                  <a:srgbClr val="606060"/>
                </a:solidFill>
                <a:latin typeface="Kanit"/>
              </a:rPr>
              <a:t>Extreme band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65832" y="2318004"/>
            <a:ext cx="1505711" cy="33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00"/>
              </a:lnSpc>
            </a:pPr>
            <a:r>
              <a:rPr sz="2100" b="1">
                <a:solidFill>
                  <a:srgbClr val="CC0000"/>
                </a:solidFill>
                <a:latin typeface="Kanit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5832" y="2683764"/>
            <a:ext cx="1505711" cy="3474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60"/>
              </a:lnSpc>
            </a:pPr>
            <a:r>
              <a:rPr sz="800" b="0">
                <a:solidFill>
                  <a:srgbClr val="606060"/>
                </a:solidFill>
                <a:latin typeface="Kanit"/>
              </a:rPr>
              <a:t>districts at the extreme drought band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45864" y="2043684"/>
            <a:ext cx="1780032" cy="1060704"/>
          </a:xfrm>
          <a:prstGeom prst="roundRect">
            <a:avLst>
              <a:gd name="adj" fmla="val 7758"/>
            </a:avLst>
          </a:prstGeom>
          <a:solidFill>
            <a:srgbClr val="F4F6FA"/>
          </a:solidFill>
          <a:ln w="9525">
            <a:solidFill>
              <a:srgbClr val="D9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83024" y="2144268"/>
            <a:ext cx="1505711" cy="1592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4"/>
              </a:lnSpc>
            </a:pPr>
            <a:r>
              <a:rPr sz="950" b="0">
                <a:solidFill>
                  <a:srgbClr val="606060"/>
                </a:solidFill>
                <a:latin typeface="Kanit"/>
              </a:rPr>
              <a:t>District-crop cells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3024" y="2318004"/>
            <a:ext cx="1505711" cy="33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00"/>
              </a:lnSpc>
            </a:pPr>
            <a:r>
              <a:rPr sz="2100" b="1">
                <a:solidFill>
                  <a:srgbClr val="F5C242"/>
                </a:solidFill>
                <a:latin typeface="Kanit"/>
              </a:rPr>
              <a:t>318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3024" y="2683764"/>
            <a:ext cx="1505711" cy="3474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60"/>
              </a:lnSpc>
            </a:pPr>
            <a:r>
              <a:rPr sz="800" b="0">
                <a:solidFill>
                  <a:srgbClr val="606060"/>
                </a:solidFill>
                <a:latin typeface="Kanit"/>
              </a:rPr>
              <a:t>of 3,295 measured cells at severe drought or worse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63056" y="2043684"/>
            <a:ext cx="1780032" cy="1060704"/>
          </a:xfrm>
          <a:prstGeom prst="roundRect">
            <a:avLst>
              <a:gd name="adj" fmla="val 7758"/>
            </a:avLst>
          </a:prstGeom>
          <a:solidFill>
            <a:srgbClr val="F4F6FA"/>
          </a:solidFill>
          <a:ln w="9525">
            <a:solidFill>
              <a:srgbClr val="D9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0216" y="2144268"/>
            <a:ext cx="1505711" cy="1592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4"/>
              </a:lnSpc>
            </a:pPr>
            <a:r>
              <a:rPr sz="950" b="0">
                <a:solidFill>
                  <a:srgbClr val="606060"/>
                </a:solidFill>
                <a:latin typeface="Kanit"/>
              </a:rPr>
              <a:t>Stations above high mark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0216" y="2318004"/>
            <a:ext cx="1505711" cy="33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00"/>
              </a:lnSpc>
            </a:pPr>
            <a:r>
              <a:rPr sz="2100" b="1">
                <a:solidFill>
                  <a:srgbClr val="CC0000"/>
                </a:solidFill>
                <a:latin typeface="Kanit"/>
              </a:rPr>
              <a:t>152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0216" y="2683764"/>
            <a:ext cx="1505711" cy="3474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60"/>
              </a:lnSpc>
            </a:pPr>
            <a:r>
              <a:rPr sz="800" b="0">
                <a:solidFill>
                  <a:srgbClr val="606060"/>
                </a:solidFill>
                <a:latin typeface="Kanit"/>
              </a:rPr>
              <a:t>of 788 (19.3%) · live · 2026-09-11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80247" y="2043684"/>
            <a:ext cx="1780032" cy="1060704"/>
          </a:xfrm>
          <a:prstGeom prst="roundRect">
            <a:avLst>
              <a:gd name="adj" fmla="val 7758"/>
            </a:avLst>
          </a:prstGeom>
          <a:solidFill>
            <a:srgbClr val="F4F6FA"/>
          </a:solidFill>
          <a:ln w="9525">
            <a:solidFill>
              <a:srgbClr val="D9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17408" y="2144268"/>
            <a:ext cx="1505711" cy="1592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4"/>
              </a:lnSpc>
            </a:pPr>
            <a:r>
              <a:rPr sz="950" b="0">
                <a:solidFill>
                  <a:srgbClr val="606060"/>
                </a:solidFill>
                <a:latin typeface="Kanit"/>
              </a:rPr>
              <a:t>Provinces with heavy rain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17408" y="2318004"/>
            <a:ext cx="1505711" cy="33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00"/>
              </a:lnSpc>
            </a:pPr>
            <a:r>
              <a:rPr sz="2100" b="1">
                <a:solidFill>
                  <a:srgbClr val="F5C242"/>
                </a:solidFill>
                <a:latin typeface="Kanit"/>
              </a:rPr>
              <a:t>50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17408" y="2683764"/>
            <a:ext cx="1505711" cy="3474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60"/>
              </a:lnSpc>
            </a:pPr>
            <a:r>
              <a:rPr sz="800" b="0">
                <a:solidFill>
                  <a:srgbClr val="606060"/>
                </a:solidFill>
                <a:latin typeface="Kanit"/>
              </a:rPr>
              <a:t>latest daily reading · 2026-09-11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997440" y="2043684"/>
            <a:ext cx="1780032" cy="1060704"/>
          </a:xfrm>
          <a:prstGeom prst="roundRect">
            <a:avLst>
              <a:gd name="adj" fmla="val 7758"/>
            </a:avLst>
          </a:prstGeom>
          <a:solidFill>
            <a:srgbClr val="F4F6FA"/>
          </a:solidFill>
          <a:ln w="9525">
            <a:solidFill>
              <a:srgbClr val="D9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134600" y="2144268"/>
            <a:ext cx="1505711" cy="1592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4"/>
              </a:lnSpc>
            </a:pPr>
            <a:r>
              <a:rPr sz="950" b="0">
                <a:solidFill>
                  <a:srgbClr val="606060"/>
                </a:solidFill>
                <a:latin typeface="Kanit"/>
              </a:rPr>
              <a:t>Ground that floods anyway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34600" y="2318004"/>
            <a:ext cx="1505711" cy="33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00"/>
              </a:lnSpc>
            </a:pPr>
            <a:r>
              <a:rPr sz="2100" b="1">
                <a:solidFill>
                  <a:srgbClr val="F5C242"/>
                </a:solidFill>
                <a:latin typeface="Kanit"/>
              </a:rPr>
              <a:t>34%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34600" y="2683764"/>
            <a:ext cx="1505711" cy="3474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60"/>
              </a:lnSpc>
            </a:pPr>
            <a:r>
              <a:rPr sz="800" b="0">
                <a:solidFill>
                  <a:srgbClr val="606060"/>
                </a:solidFill>
                <a:latin typeface="Kanit"/>
              </a:rPr>
              <a:t>685 of 2,015 branch locations flooded in 7+ of 12 years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80" y="3287268"/>
            <a:ext cx="5568696" cy="167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20"/>
              </a:lnSpc>
            </a:pPr>
            <a:r>
              <a:rPr sz="1000" b="1">
                <a:solidFill>
                  <a:srgbClr val="1E2F5C"/>
                </a:solidFill>
                <a:latin typeface="Kanit"/>
              </a:rPr>
              <a:t>Drought (ภัยแล้ง) — worst planted-area cells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08776" y="3287268"/>
            <a:ext cx="5568696" cy="167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20"/>
              </a:lnSpc>
            </a:pPr>
            <a:r>
              <a:rPr sz="1000" b="1">
                <a:solidFill>
                  <a:srgbClr val="1E2F5C"/>
                </a:solidFill>
                <a:latin typeface="Kanit"/>
              </a:rPr>
              <a:t>Rain &amp; rivers (น้ำท่วม) — worst today, live</a:t>
            </a:r>
          </a:p>
        </p:txBody>
      </p:sp>
      <p:graphicFrame>
        <p:nvGraphicFramePr>
          <p:cNvPr id="41" name="Table 40"/>
          <p:cNvGraphicFramePr>
            <a:graphicFrameLocks noGrp="1"/>
          </p:cNvGraphicFramePr>
          <p:nvPr/>
        </p:nvGraphicFramePr>
        <p:xfrm>
          <a:off x="411480" y="3525012"/>
          <a:ext cx="5568696" cy="18105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14400"/>
                <a:gridCol w="1234440"/>
                <a:gridCol w="1234440"/>
                <a:gridCol w="777240"/>
                <a:gridCol w="640080"/>
                <a:gridCol w="768096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Driest cells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District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Crop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Rai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SPEI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Band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สระแก้ว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ตาพระยา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Rice, wet (นาปี)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213,392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CC0000"/>
                          </a:solidFill>
                          <a:latin typeface="Kanit"/>
                        </a:rPr>
                        <a:t>-1.70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CC0000"/>
                          </a:solidFill>
                          <a:latin typeface="Kanit"/>
                        </a:rPr>
                        <a:t>severe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สระแก้ว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อรัญประเทศ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Rice, wet (นาปี)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158,047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CC0000"/>
                          </a:solidFill>
                          <a:latin typeface="Kanit"/>
                        </a:rPr>
                        <a:t>-1.51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CC0000"/>
                          </a:solidFill>
                          <a:latin typeface="Kanit"/>
                        </a:rPr>
                        <a:t>severe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นครราชสีมา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หนองบุญมาก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Cassava (มัน)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150,409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CC0000"/>
                          </a:solidFill>
                          <a:latin typeface="Kanit"/>
                        </a:rPr>
                        <a:t>-1.62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CC0000"/>
                          </a:solidFill>
                          <a:latin typeface="Kanit"/>
                        </a:rPr>
                        <a:t>severe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ชัยภูมิ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คอนสวรรค์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Rice, wet (นาปี)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143,322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CC0000"/>
                          </a:solidFill>
                          <a:latin typeface="Kanit"/>
                        </a:rPr>
                        <a:t>-1.51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CC0000"/>
                          </a:solidFill>
                          <a:latin typeface="Kanit"/>
                        </a:rPr>
                        <a:t>severe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ระยอง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แกลง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Rubber (ยาง)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121,783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CC0000"/>
                          </a:solidFill>
                          <a:latin typeface="Kanit"/>
                        </a:rPr>
                        <a:t>-1.75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CC0000"/>
                          </a:solidFill>
                          <a:latin typeface="Kanit"/>
                        </a:rPr>
                        <a:t>severe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นครราชสีมา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เสิงสาง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Cassava (มัน)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120,512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CC0000"/>
                          </a:solidFill>
                          <a:latin typeface="Kanit"/>
                        </a:rPr>
                        <a:t>-1.66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CC0000"/>
                          </a:solidFill>
                          <a:latin typeface="Kanit"/>
                        </a:rPr>
                        <a:t>severe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2" name="Table 41"/>
          <p:cNvGraphicFramePr>
            <a:graphicFrameLocks noGrp="1"/>
          </p:cNvGraphicFramePr>
          <p:nvPr/>
        </p:nvGraphicFramePr>
        <p:xfrm>
          <a:off x="6208776" y="3525012"/>
          <a:ext cx="5568696" cy="18105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43000"/>
                <a:gridCol w="914400"/>
                <a:gridCol w="960120"/>
                <a:gridCol w="868680"/>
                <a:gridCol w="914400"/>
                <a:gridCol w="768096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Wettest today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Rain gauges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Max mm/24h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% heavy+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River ≥high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Level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สกลนคร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37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12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606060"/>
                          </a:solidFill>
                          <a:latin typeface="Kanit"/>
                        </a:rPr>
                        <a:t>0.0%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CC0000"/>
                          </a:solidFill>
                          <a:latin typeface="Kanit"/>
                        </a:rPr>
                        <a:t>7/12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CC0000"/>
                          </a:solidFill>
                          <a:latin typeface="Kanit"/>
                        </a:rPr>
                        <a:t>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ปราจีนบุรี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35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98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5C242"/>
                          </a:solidFill>
                          <a:latin typeface="Kanit"/>
                        </a:rPr>
                        <a:t>54.3%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CC0000"/>
                          </a:solidFill>
                          <a:latin typeface="Kanit"/>
                        </a:rPr>
                        <a:t>6/15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5C242"/>
                          </a:solidFill>
                          <a:latin typeface="Kanit"/>
                        </a:rPr>
                        <a:t>4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สตูล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37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83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5C242"/>
                          </a:solidFill>
                          <a:latin typeface="Kanit"/>
                        </a:rPr>
                        <a:t>43.2%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CC0000"/>
                          </a:solidFill>
                          <a:latin typeface="Kanit"/>
                        </a:rPr>
                        <a:t>1/8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5C242"/>
                          </a:solidFill>
                          <a:latin typeface="Kanit"/>
                        </a:rPr>
                        <a:t>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นครนายก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27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54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5C242"/>
                          </a:solidFill>
                          <a:latin typeface="Kanit"/>
                        </a:rPr>
                        <a:t>37.0%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CC0000"/>
                          </a:solidFill>
                          <a:latin typeface="Kanit"/>
                        </a:rPr>
                        <a:t>2/6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5C242"/>
                          </a:solidFill>
                          <a:latin typeface="Kanit"/>
                        </a:rPr>
                        <a:t>4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ฉะเชิงเทรา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18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55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5C242"/>
                          </a:solidFill>
                          <a:latin typeface="Kanit"/>
                        </a:rPr>
                        <a:t>33.3%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CC0000"/>
                          </a:solidFill>
                          <a:latin typeface="Kanit"/>
                        </a:rPr>
                        <a:t>2/4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5C242"/>
                          </a:solidFill>
                          <a:latin typeface="Kanit"/>
                        </a:rPr>
                        <a:t>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ชัยนาท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29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67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5C242"/>
                          </a:solidFill>
                          <a:latin typeface="Kanit"/>
                        </a:rPr>
                        <a:t>31.0%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CC0000"/>
                          </a:solidFill>
                          <a:latin typeface="Kanit"/>
                        </a:rPr>
                        <a:t>1/5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5C242"/>
                          </a:solidFill>
                          <a:latin typeface="Kanit"/>
                        </a:rPr>
                        <a:t>4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43" name="TextBox 42"/>
          <p:cNvSpPr txBox="1"/>
          <p:nvPr/>
        </p:nvSpPr>
        <p:spPr>
          <a:xfrm>
            <a:off x="411480" y="5445252"/>
            <a:ext cx="5568696" cy="165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00"/>
              </a:lnSpc>
            </a:pPr>
            <a:r>
              <a:rPr sz="950" b="0">
                <a:solidFill>
                  <a:srgbClr val="606060"/>
                </a:solidFill>
                <a:latin typeface="Kanit"/>
              </a:rPr>
              <a:t>Severe drought at planting means a lighter harvest and less cash this season.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08776" y="5445252"/>
            <a:ext cx="5568696" cy="33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00"/>
              </a:lnSpc>
            </a:pPr>
            <a:r>
              <a:rPr sz="950" b="0">
                <a:solidFill>
                  <a:srgbClr val="606060"/>
                </a:solidFill>
                <a:latin typeface="Kanit"/>
              </a:rPr>
              <a:t>High rivers and heavy rain threaten roads, fields and branches right now — today’s reading, not a forecast.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11480" y="5903468"/>
            <a:ext cx="535747" cy="19202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1E2F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11480" y="5932728"/>
            <a:ext cx="535747" cy="134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056"/>
              </a:lnSpc>
            </a:pPr>
            <a:r>
              <a:rPr sz="800" b="1">
                <a:solidFill>
                  <a:srgbClr val="1E2F5C"/>
                </a:solidFill>
                <a:latin typeface="Kanit"/>
              </a:rPr>
              <a:t>MIXED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6955" y="5917184"/>
            <a:ext cx="10720516" cy="46291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15"/>
              </a:lnSpc>
            </a:pPr>
            <a:r>
              <a:rPr sz="900" b="0">
                <a:solidFill>
                  <a:srgbClr val="606060"/>
                </a:solidFill>
                <a:latin typeface="Kanit"/>
              </a:rPr>
              <a:t>Planted area MEASURED (OAE — 3,295 amphoe crop rows). Drought is a MODELLED SPEI index from rainfall and evapotranspiration, refreshed monthly, retrieved 2026-07-20 — the best national-coverage signal available, but nobody has walked those districts. Rain and river telemetry MEASURED (ThaiWater, live, pulled daily and accumulated — a missed pull leaves a gap rather than an invented point) · rain to 2026-09-11, river to 2026-09-11. Structural flood exposure MEASURED (GISTDA 1:50,000 repeated-flooding census, 2005-2016 — a 12-year ground record, not a forecast).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19456"/>
            <a:ext cx="8686800" cy="1508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88"/>
              </a:lnSpc>
            </a:pPr>
            <a:r>
              <a:rPr sz="900" b="1">
                <a:solidFill>
                  <a:srgbClr val="CC0000"/>
                </a:solidFill>
                <a:latin typeface="Kanit"/>
              </a:rPr>
              <a:t>09 · WHERE TO REACH OUT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57200"/>
            <a:ext cx="996696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E2F5C"/>
                </a:solidFill>
                <a:latin typeface="Kanit"/>
              </a:rPr>
              <a:t>Provinces ranked by how many stress signals tripped.</a:t>
            </a:r>
          </a:p>
        </p:txBody>
      </p:sp>
      <p:pic>
        <p:nvPicPr>
          <p:cNvPr id="5" name="Picture 4" descr="aut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4472" y="256032"/>
            <a:ext cx="941832" cy="29260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11480" y="969264"/>
            <a:ext cx="11365992" cy="20116"/>
          </a:xfrm>
          <a:prstGeom prst="rect">
            <a:avLst/>
          </a:prstGeom>
          <a:solidFill>
            <a:srgbClr val="1E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91969" cy="109728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92824"/>
            <a:ext cx="6400800" cy="134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6"/>
              </a:lnSpc>
            </a:pPr>
            <a:r>
              <a:rPr sz="800" b="0">
                <a:solidFill>
                  <a:srgbClr val="606060"/>
                </a:solidFill>
                <a:latin typeface="Kanit"/>
              </a:rPr>
              <a:t>Restricted Data – Reproduction is prohibited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152144"/>
            <a:ext cx="5545836" cy="17602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86"/>
              </a:lnSpc>
            </a:pPr>
            <a:r>
              <a:rPr sz="1050" b="0">
                <a:solidFill>
                  <a:srgbClr val="1E2F5C"/>
                </a:solidFill>
                <a:latin typeface="Kanit"/>
              </a:rPr>
              <a:t>1  Debt (หนี้)  —  debt-to-income ≥ 100% of a year's income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31636" y="1152144"/>
            <a:ext cx="5545836" cy="17602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86"/>
              </a:lnSpc>
            </a:pPr>
            <a:r>
              <a:rPr sz="1050" b="0">
                <a:solidFill>
                  <a:srgbClr val="1E2F5C"/>
                </a:solidFill>
                <a:latin typeface="Kanit"/>
              </a:rPr>
              <a:t>2  Unemployment (การว่างงาน)  —  unemployment ≥ 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1399032"/>
            <a:ext cx="5545836" cy="17602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86"/>
              </a:lnSpc>
            </a:pPr>
            <a:r>
              <a:rPr sz="1050" b="0">
                <a:solidFill>
                  <a:srgbClr val="1E2F5C"/>
                </a:solidFill>
                <a:latin typeface="Kanit"/>
              </a:rPr>
              <a:t>3  Crop (พืชหลัก)  —  lead crop pays below cost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1636" y="1399032"/>
            <a:ext cx="5545836" cy="17602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86"/>
              </a:lnSpc>
            </a:pPr>
            <a:r>
              <a:rPr sz="1050" b="0">
                <a:solidFill>
                  <a:srgbClr val="1E2F5C"/>
                </a:solidFill>
                <a:latin typeface="Kanit"/>
              </a:rPr>
              <a:t>4  Rain (ฝน)  —  rainfall &lt; 90% of normal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1719072"/>
            <a:ext cx="11365992" cy="1592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4"/>
              </a:lnSpc>
            </a:pPr>
            <a:r>
              <a:rPr sz="950" b="0">
                <a:solidFill>
                  <a:srgbClr val="606060"/>
                </a:solidFill>
                <a:latin typeface="Kanit"/>
              </a:rPr>
              <a:t>Ordered by signals tripped; ties broken on debt + unemployment.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11480" y="2006346"/>
          <a:ext cx="11365992" cy="23628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73204"/>
                <a:gridCol w="937493"/>
                <a:gridCol w="1205349"/>
                <a:gridCol w="1205349"/>
                <a:gridCol w="1651774"/>
                <a:gridCol w="1205349"/>
                <a:gridCol w="1160706"/>
                <a:gridCol w="892851"/>
                <a:gridCol w="937493"/>
                <a:gridCol w="696424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Province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region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household debt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unemployment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lead crop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crop economics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rain vs normal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farm ฿/mo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planted rai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tripped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</a:tr>
              <a:tr h="254203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อำนาจเจริญ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606060"/>
                          </a:solidFill>
                          <a:latin typeface="Kanit"/>
                        </a:rPr>
                        <a:t>Isan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CC0000"/>
                          </a:solidFill>
                          <a:latin typeface="Kanit"/>
                        </a:rPr>
                        <a:t>114%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CC0000"/>
                          </a:solidFill>
                          <a:latin typeface="Kanit"/>
                        </a:rPr>
                        <a:t>2.84%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Rice 76%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CC0000"/>
                          </a:solidFill>
                          <a:latin typeface="Kanit"/>
                        </a:rPr>
                        <a:t>below cost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CC0000"/>
                          </a:solidFill>
                          <a:latin typeface="Kanit"/>
                        </a:rPr>
                        <a:t>86%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6,896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1.42M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CC0000"/>
                          </a:solidFill>
                          <a:latin typeface="Kanit"/>
                        </a:rPr>
                        <a:t>4 of 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54203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สุโขทัย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606060"/>
                          </a:solidFill>
                          <a:latin typeface="Kanit"/>
                        </a:rPr>
                        <a:t>North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77%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CC0000"/>
                          </a:solidFill>
                          <a:latin typeface="Kanit"/>
                        </a:rPr>
                        <a:t>2.12%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Rice 72%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CC0000"/>
                          </a:solidFill>
                          <a:latin typeface="Kanit"/>
                        </a:rPr>
                        <a:t>below cost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CC0000"/>
                          </a:solidFill>
                          <a:latin typeface="Kanit"/>
                        </a:rPr>
                        <a:t>72%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8,815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1.65M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CC0000"/>
                          </a:solidFill>
                          <a:latin typeface="Kanit"/>
                        </a:rPr>
                        <a:t>3 of 4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</a:tr>
              <a:tr h="254203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สิงห์บุรี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606060"/>
                          </a:solidFill>
                          <a:latin typeface="Kanit"/>
                        </a:rPr>
                        <a:t>Central&amp;BKK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47%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CC0000"/>
                          </a:solidFill>
                          <a:latin typeface="Kanit"/>
                        </a:rPr>
                        <a:t>2.29%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Rice 93%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CC0000"/>
                          </a:solidFill>
                          <a:latin typeface="Kanit"/>
                        </a:rPr>
                        <a:t>below cost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CC0000"/>
                          </a:solidFill>
                          <a:latin typeface="Kanit"/>
                        </a:rPr>
                        <a:t>74%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9,802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0.33M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CC0000"/>
                          </a:solidFill>
                          <a:latin typeface="Kanit"/>
                        </a:rPr>
                        <a:t>3 of 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54203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อุบลราชธานี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606060"/>
                          </a:solidFill>
                          <a:latin typeface="Kanit"/>
                        </a:rPr>
                        <a:t>Isan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CC0000"/>
                          </a:solidFill>
                          <a:latin typeface="Kanit"/>
                        </a:rPr>
                        <a:t>100%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0.16%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Rice 79%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CC0000"/>
                          </a:solidFill>
                          <a:latin typeface="Kanit"/>
                        </a:rPr>
                        <a:t>below cost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CC0000"/>
                          </a:solidFill>
                          <a:latin typeface="Kanit"/>
                        </a:rPr>
                        <a:t>79%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7,763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5.21M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CC0000"/>
                          </a:solidFill>
                          <a:latin typeface="Kanit"/>
                        </a:rPr>
                        <a:t>3 of 4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</a:tr>
              <a:tr h="254203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นครพนม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606060"/>
                          </a:solidFill>
                          <a:latin typeface="Kanit"/>
                        </a:rPr>
                        <a:t>Isan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91%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CC0000"/>
                          </a:solidFill>
                          <a:latin typeface="Kanit"/>
                        </a:rPr>
                        <a:t>2.32%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Rice 78%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CC0000"/>
                          </a:solidFill>
                          <a:latin typeface="Kanit"/>
                        </a:rPr>
                        <a:t>below cost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94%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6,061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1.90M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5C242"/>
                          </a:solidFill>
                          <a:latin typeface="Kanit"/>
                        </a:rPr>
                        <a:t>2 of 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54203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กำแพงเพชร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606060"/>
                          </a:solidFill>
                          <a:latin typeface="Kanit"/>
                        </a:rPr>
                        <a:t>North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83%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CC0000"/>
                          </a:solidFill>
                          <a:latin typeface="Kanit"/>
                        </a:rPr>
                        <a:t>2.11%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Rice 47%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CC0000"/>
                          </a:solidFill>
                          <a:latin typeface="Kanit"/>
                        </a:rPr>
                        <a:t>below cost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94%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7,919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2.67M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5C242"/>
                          </a:solidFill>
                          <a:latin typeface="Kanit"/>
                        </a:rPr>
                        <a:t>2 of 4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</a:tr>
              <a:tr h="254203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นราธิวาส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606060"/>
                          </a:solidFill>
                          <a:latin typeface="Kanit"/>
                        </a:rPr>
                        <a:t>South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74%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CC0000"/>
                          </a:solidFill>
                          <a:latin typeface="Kanit"/>
                        </a:rPr>
                        <a:t>2.43%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Rubber 90%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CC0000"/>
                          </a:solidFill>
                          <a:latin typeface="Kanit"/>
                        </a:rPr>
                        <a:t>below cost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131%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2,742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1.03M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5C242"/>
                          </a:solidFill>
                          <a:latin typeface="Kanit"/>
                        </a:rPr>
                        <a:t>2 of 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54203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บุรีรัมย์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606060"/>
                          </a:solidFill>
                          <a:latin typeface="Kanit"/>
                        </a:rPr>
                        <a:t>Isan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76%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1.87%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Rice 82%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CC0000"/>
                          </a:solidFill>
                          <a:latin typeface="Kanit"/>
                        </a:rPr>
                        <a:t>below cost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CC0000"/>
                          </a:solidFill>
                          <a:latin typeface="Kanit"/>
                        </a:rPr>
                        <a:t>84%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7,557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3.65M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5C242"/>
                          </a:solidFill>
                          <a:latin typeface="Kanit"/>
                        </a:rPr>
                        <a:t>2 of 4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411480" y="4515459"/>
            <a:ext cx="535747" cy="19202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1E2F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4544720"/>
            <a:ext cx="535747" cy="134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056"/>
              </a:lnSpc>
            </a:pPr>
            <a:r>
              <a:rPr sz="800" b="1">
                <a:solidFill>
                  <a:srgbClr val="1E2F5C"/>
                </a:solidFill>
                <a:latin typeface="Kanit"/>
              </a:rPr>
              <a:t>MIXED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6955" y="4529175"/>
            <a:ext cx="10720516" cy="46291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15"/>
              </a:lnSpc>
            </a:pPr>
            <a:r>
              <a:rPr sz="900" b="0">
                <a:solidFill>
                  <a:srgbClr val="606060"/>
                </a:solidFill>
                <a:latin typeface="Kanit"/>
              </a:rPr>
              <a:t>Household debt-to-income MEASURED (NSO SES 2566 — debt as a share of ANNUAL income, so above 100% is more debt than a year of earnings). Unemployment MEASURED (NSO LFS, by province). Lead crop MEASURED (OAE planted area, all eight crops); its economics ESTIMATED from OAE cost of production (2568 (crop year 2568/69, OAE forecast Mar 2569)). Rainfall MEASURED as precipitation against the long-run normal, a different instrument from the SPEI index two slides back; two provinces carry no gauge and cannot trip this signal.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5142966"/>
            <a:ext cx="11365992" cy="675767"/>
          </a:xfrm>
          <a:prstGeom prst="rect">
            <a:avLst/>
          </a:prstGeom>
          <a:solidFill>
            <a:srgbClr val="FDF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1480" y="5142966"/>
            <a:ext cx="50292" cy="675767"/>
          </a:xfrm>
          <a:prstGeom prst="rect">
            <a:avLst/>
          </a:prstGeom>
          <a:solidFill>
            <a:srgbClr val="F5C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" y="5289270"/>
            <a:ext cx="11036808" cy="158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</a:pPr>
            <a:r>
              <a:rPr sz="950" b="1">
                <a:solidFill>
                  <a:srgbClr val="9A7411"/>
                </a:solidFill>
                <a:latin typeface="Kanit"/>
              </a:rPr>
              <a:t>Crop is a poor discriminator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" y="5493740"/>
            <a:ext cx="11036808" cy="17868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7"/>
              </a:lnSpc>
            </a:pPr>
            <a:r>
              <a:rPr sz="1050" b="0">
                <a:solidFill>
                  <a:srgbClr val="1E2F5C"/>
                </a:solidFill>
                <a:latin typeface="Kanit"/>
              </a:rPr>
              <a:t>It trips 70 of 77 provinces — national exposure, not who to call. Debt, jobs and rain are what separate this list.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1E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731752" y="0"/>
            <a:ext cx="164592" cy="68580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96344" y="0"/>
            <a:ext cx="164592" cy="6858000"/>
          </a:xfrm>
          <a:prstGeom prst="rect">
            <a:avLst/>
          </a:prstGeom>
          <a:solidFill>
            <a:srgbClr val="F5C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pic>
        <p:nvPicPr>
          <p:cNvPr id="5" name="Picture 4" descr="chaiy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0080"/>
            <a:ext cx="2487168" cy="1554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2788920"/>
            <a:ext cx="10058400" cy="1844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52"/>
              </a:lnSpc>
            </a:pPr>
            <a:r>
              <a:rPr sz="1100" b="1">
                <a:solidFill>
                  <a:srgbClr val="F5C242"/>
                </a:solidFill>
                <a:latin typeface="Kanit"/>
              </a:rPr>
              <a:t>10 · Collateral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154680"/>
            <a:ext cx="10058400" cy="50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000"/>
              </a:lnSpc>
            </a:pPr>
            <a:r>
              <a:rPr sz="3200" b="1">
                <a:solidFill>
                  <a:srgbClr val="FFFFFF"/>
                </a:solidFill>
                <a:latin typeface="Kanit"/>
              </a:rPr>
              <a:t>This is the half with a decision attached.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434840"/>
            <a:ext cx="9692640" cy="1066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0"/>
              </a:lnSpc>
            </a:pPr>
            <a:r>
              <a:rPr sz="1350" b="0">
                <a:solidFill>
                  <a:srgbClr val="C7D0E4"/>
                </a:solidFill>
                <a:latin typeface="Kanit"/>
              </a:rPr>
              <a:t>We lend against titles, so the used-vehicle market is an external condition that prices our security directly. Five things are moving at once: what a used vehicle is worth, how many are entering the pool, which brands they are, which nameplates underneath those brands, and how easily any of them can be sold on. A model with no Thai residual history is a recovery assumption nobody can make yet.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547104"/>
            <a:ext cx="6400800" cy="134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6"/>
              </a:lnSpc>
            </a:pPr>
            <a:r>
              <a:rPr sz="800" b="0">
                <a:solidFill>
                  <a:srgbClr val="FFFFFF"/>
                </a:solidFill>
                <a:latin typeface="Kanit"/>
              </a:rPr>
              <a:t>Restricted Data – Reproduction is prohibited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19456"/>
            <a:ext cx="8686800" cy="1508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88"/>
              </a:lnSpc>
            </a:pPr>
            <a:r>
              <a:rPr sz="900" b="1">
                <a:solidFill>
                  <a:srgbClr val="CC0000"/>
                </a:solidFill>
                <a:latin typeface="Kanit"/>
              </a:rPr>
              <a:t>10A · RESALE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57200"/>
            <a:ext cx="996696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E2F5C"/>
                </a:solidFill>
                <a:latin typeface="Kanit"/>
              </a:rPr>
              <a:t>The fall has stopped. The level has not recovered.</a:t>
            </a:r>
          </a:p>
        </p:txBody>
      </p:sp>
      <p:pic>
        <p:nvPicPr>
          <p:cNvPr id="5" name="Picture 4" descr="aut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4472" y="256032"/>
            <a:ext cx="941832" cy="29260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11480" y="969264"/>
            <a:ext cx="11365992" cy="20116"/>
          </a:xfrm>
          <a:prstGeom prst="rect">
            <a:avLst/>
          </a:prstGeom>
          <a:solidFill>
            <a:srgbClr val="1E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91969" cy="109728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92824"/>
            <a:ext cx="6400800" cy="134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6"/>
              </a:lnSpc>
            </a:pPr>
            <a:r>
              <a:rPr sz="800" b="0">
                <a:solidFill>
                  <a:srgbClr val="606060"/>
                </a:solidFill>
                <a:latin typeface="Kanit"/>
              </a:rPr>
              <a:t>Restricted Data – Reproduction is prohibited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11480" y="1152144"/>
          <a:ext cx="11365992" cy="11932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86000"/>
                <a:gridCol w="1463040"/>
                <a:gridCol w="1280160"/>
                <a:gridCol w="1371600"/>
                <a:gridCol w="1005840"/>
                <a:gridCol w="1005840"/>
                <a:gridCol w="1371600"/>
                <a:gridCol w="1581912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BoT used-vehicle price index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latest (2026-05)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6-month move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12-month move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12m low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12m high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vs 2015 base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off all-time peak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E2F5C"/>
                          </a:solidFill>
                          <a:latin typeface="Kanit"/>
                        </a:rPr>
                        <a:t>Pickup (รถกระบะ)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1E2F5C"/>
                          </a:solidFill>
                          <a:latin typeface="Kanit"/>
                        </a:rPr>
                        <a:t>66.8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15795F"/>
                          </a:solidFill>
                          <a:latin typeface="Kanit"/>
                        </a:rPr>
                        <a:t>+12.5%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CC0000"/>
                          </a:solidFill>
                          <a:latin typeface="Kanit"/>
                        </a:rPr>
                        <a:t>−0.4%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E2F5C"/>
                          </a:solidFill>
                          <a:latin typeface="Kanit"/>
                        </a:rPr>
                        <a:t>58.0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E2F5C"/>
                          </a:solidFill>
                          <a:latin typeface="Kanit"/>
                        </a:rPr>
                        <a:t>68.5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CC0000"/>
                          </a:solidFill>
                          <a:latin typeface="Kanit"/>
                        </a:rPr>
                        <a:t>-33.2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CC0000"/>
                          </a:solidFill>
                          <a:latin typeface="Kanit"/>
                        </a:rPr>
                        <a:t>−50.0%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E2F5C"/>
                          </a:solidFill>
                          <a:latin typeface="Kanit"/>
                        </a:rPr>
                        <a:t>Passenger car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1E2F5C"/>
                          </a:solidFill>
                          <a:latin typeface="Kanit"/>
                        </a:rPr>
                        <a:t>87.8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15795F"/>
                          </a:solidFill>
                          <a:latin typeface="Kanit"/>
                        </a:rPr>
                        <a:t>+6.0%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CC0000"/>
                          </a:solidFill>
                          <a:latin typeface="Kanit"/>
                        </a:rPr>
                        <a:t>−8.3%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E2F5C"/>
                          </a:solidFill>
                          <a:latin typeface="Kanit"/>
                        </a:rPr>
                        <a:t>82.8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E2F5C"/>
                          </a:solidFill>
                          <a:latin typeface="Kanit"/>
                        </a:rPr>
                        <a:t>99.6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CC0000"/>
                          </a:solidFill>
                          <a:latin typeface="Kanit"/>
                        </a:rPr>
                        <a:t>-12.2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CC0000"/>
                          </a:solidFill>
                          <a:latin typeface="Kanit"/>
                        </a:rPr>
                        <a:t>−40.5%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E2F5C"/>
                          </a:solidFill>
                          <a:latin typeface="Kanit"/>
                        </a:rPr>
                        <a:t>All used vehicles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1E2F5C"/>
                          </a:solidFill>
                          <a:latin typeface="Kanit"/>
                        </a:rPr>
                        <a:t>75.2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15795F"/>
                          </a:solidFill>
                          <a:latin typeface="Kanit"/>
                        </a:rPr>
                        <a:t>+10.1%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CC0000"/>
                          </a:solidFill>
                          <a:latin typeface="Kanit"/>
                        </a:rPr>
                        <a:t>−2.9%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E2F5C"/>
                          </a:solidFill>
                          <a:latin typeface="Kanit"/>
                        </a:rPr>
                        <a:t>67.9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E2F5C"/>
                          </a:solidFill>
                          <a:latin typeface="Kanit"/>
                        </a:rPr>
                        <a:t>80.5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CC0000"/>
                          </a:solidFill>
                          <a:latin typeface="Kanit"/>
                        </a:rPr>
                        <a:t>-24.9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CC0000"/>
                          </a:solidFill>
                          <a:latin typeface="Kanit"/>
                        </a:rPr>
                        <a:t>−46.3%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11480" y="2528316"/>
            <a:ext cx="6903720" cy="2011680"/>
          </a:xfrm>
          <a:prstGeom prst="rect">
            <a:avLst/>
          </a:prstGeom>
          <a:solidFill>
            <a:srgbClr val="FBFCFE"/>
          </a:solidFill>
          <a:ln w="9525">
            <a:solidFill>
              <a:srgbClr val="D9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5528" y="4265676"/>
            <a:ext cx="6428232" cy="6400"/>
          </a:xfrm>
          <a:prstGeom prst="rect">
            <a:avLst/>
          </a:prstGeom>
          <a:solidFill>
            <a:srgbClr val="D9D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" y="4197096"/>
            <a:ext cx="329184" cy="1257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990"/>
              </a:lnSpc>
            </a:pPr>
            <a:r>
              <a:rPr sz="750" b="0">
                <a:solidFill>
                  <a:srgbClr val="9AA3B2"/>
                </a:solidFill>
                <a:latin typeface="Kanit"/>
              </a:rPr>
              <a:t>50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8" y="3470148"/>
            <a:ext cx="6428232" cy="10972"/>
          </a:xfrm>
          <a:prstGeom prst="rect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" y="3401568"/>
            <a:ext cx="329184" cy="1257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990"/>
              </a:lnSpc>
            </a:pPr>
            <a:r>
              <a:rPr sz="750" b="0">
                <a:solidFill>
                  <a:srgbClr val="606060"/>
                </a:solidFill>
                <a:latin typeface="Kanit"/>
              </a:rPr>
              <a:t>100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5528" y="2674620"/>
            <a:ext cx="6428232" cy="6400"/>
          </a:xfrm>
          <a:prstGeom prst="rect">
            <a:avLst/>
          </a:prstGeom>
          <a:solidFill>
            <a:srgbClr val="D9D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" y="2606039"/>
            <a:ext cx="329184" cy="1257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990"/>
              </a:lnSpc>
            </a:pPr>
            <a:r>
              <a:rPr sz="750" b="0">
                <a:solidFill>
                  <a:srgbClr val="9AA3B2"/>
                </a:solidFill>
                <a:latin typeface="Kanit"/>
              </a:rPr>
              <a:t>150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74611" y="2656332"/>
            <a:ext cx="157708" cy="134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6"/>
              </a:lnSpc>
            </a:pPr>
            <a:r>
              <a:rPr sz="800" b="1">
                <a:solidFill>
                  <a:srgbClr val="1E2F5C"/>
                </a:solidFill>
                <a:latin typeface="Kanit"/>
              </a:rPr>
              <a:t>Car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736867" y="2715768"/>
            <a:ext cx="164592" cy="25603"/>
          </a:xfrm>
          <a:prstGeom prst="rect">
            <a:avLst/>
          </a:prstGeom>
          <a:solidFill>
            <a:srgbClr val="1E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9491" y="2656332"/>
            <a:ext cx="321071" cy="134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6"/>
              </a:lnSpc>
            </a:pPr>
            <a:r>
              <a:rPr sz="800" b="1">
                <a:solidFill>
                  <a:srgbClr val="CC0000"/>
                </a:solidFill>
                <a:latin typeface="Kanit"/>
              </a:rPr>
              <a:t>Pickup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31747" y="2715768"/>
            <a:ext cx="164592" cy="25603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795528" y="2933166"/>
            <a:ext cx="6428232" cy="1259480"/>
          </a:xfrm>
          <a:custGeom>
            <a:avLst/>
            <a:gdLst/>
            <a:ahLst/>
            <a:cxnLst/>
            <a:rect l="l" t="t" r="r" b="b"/>
            <a:pathLst>
              <a:path w="6428232" h="1259480">
                <a:moveTo>
                  <a:pt x="0" y="380422"/>
                </a:moveTo>
                <a:lnTo>
                  <a:pt x="34936" y="360692"/>
                </a:lnTo>
                <a:lnTo>
                  <a:pt x="69872" y="377239"/>
                </a:lnTo>
                <a:lnTo>
                  <a:pt x="104808" y="337622"/>
                </a:lnTo>
                <a:lnTo>
                  <a:pt x="139744" y="209542"/>
                </a:lnTo>
                <a:lnTo>
                  <a:pt x="174680" y="370080"/>
                </a:lnTo>
                <a:lnTo>
                  <a:pt x="209616" y="307233"/>
                </a:lnTo>
                <a:lnTo>
                  <a:pt x="244552" y="387422"/>
                </a:lnTo>
                <a:lnTo>
                  <a:pt x="279488" y="409697"/>
                </a:lnTo>
                <a:lnTo>
                  <a:pt x="314424" y="344941"/>
                </a:lnTo>
                <a:lnTo>
                  <a:pt x="349360" y="265866"/>
                </a:lnTo>
                <a:lnTo>
                  <a:pt x="384296" y="179630"/>
                </a:lnTo>
                <a:lnTo>
                  <a:pt x="419232" y="0"/>
                </a:lnTo>
                <a:lnTo>
                  <a:pt x="454168" y="78916"/>
                </a:lnTo>
                <a:lnTo>
                  <a:pt x="489104" y="60938"/>
                </a:lnTo>
                <a:lnTo>
                  <a:pt x="524040" y="64279"/>
                </a:lnTo>
                <a:lnTo>
                  <a:pt x="558976" y="131421"/>
                </a:lnTo>
                <a:lnTo>
                  <a:pt x="593912" y="204133"/>
                </a:lnTo>
                <a:lnTo>
                  <a:pt x="628848" y="254887"/>
                </a:lnTo>
                <a:lnTo>
                  <a:pt x="663784" y="218611"/>
                </a:lnTo>
                <a:lnTo>
                  <a:pt x="698720" y="288299"/>
                </a:lnTo>
                <a:lnTo>
                  <a:pt x="733656" y="265706"/>
                </a:lnTo>
                <a:lnTo>
                  <a:pt x="768592" y="231499"/>
                </a:lnTo>
                <a:lnTo>
                  <a:pt x="803529" y="306756"/>
                </a:lnTo>
                <a:lnTo>
                  <a:pt x="838465" y="153378"/>
                </a:lnTo>
                <a:lnTo>
                  <a:pt x="873401" y="117738"/>
                </a:lnTo>
                <a:lnTo>
                  <a:pt x="908337" y="183449"/>
                </a:lnTo>
                <a:lnTo>
                  <a:pt x="943273" y="265388"/>
                </a:lnTo>
                <a:lnTo>
                  <a:pt x="978209" y="299755"/>
                </a:lnTo>
                <a:lnTo>
                  <a:pt x="1013145" y="338100"/>
                </a:lnTo>
                <a:lnTo>
                  <a:pt x="1048081" y="448837"/>
                </a:lnTo>
                <a:lnTo>
                  <a:pt x="1083017" y="427040"/>
                </a:lnTo>
                <a:lnTo>
                  <a:pt x="1117953" y="501819"/>
                </a:lnTo>
                <a:lnTo>
                  <a:pt x="1152889" y="592032"/>
                </a:lnTo>
                <a:lnTo>
                  <a:pt x="1187825" y="551301"/>
                </a:lnTo>
                <a:lnTo>
                  <a:pt x="1222761" y="607783"/>
                </a:lnTo>
                <a:lnTo>
                  <a:pt x="1257697" y="456474"/>
                </a:lnTo>
                <a:lnTo>
                  <a:pt x="1292633" y="417652"/>
                </a:lnTo>
                <a:lnTo>
                  <a:pt x="1327569" y="479385"/>
                </a:lnTo>
                <a:lnTo>
                  <a:pt x="1362505" y="493864"/>
                </a:lnTo>
                <a:lnTo>
                  <a:pt x="1397441" y="549551"/>
                </a:lnTo>
                <a:lnTo>
                  <a:pt x="1432377" y="638968"/>
                </a:lnTo>
                <a:lnTo>
                  <a:pt x="1467313" y="650901"/>
                </a:lnTo>
                <a:lnTo>
                  <a:pt x="1502249" y="655992"/>
                </a:lnTo>
                <a:lnTo>
                  <a:pt x="1537185" y="636900"/>
                </a:lnTo>
                <a:lnTo>
                  <a:pt x="1572121" y="651060"/>
                </a:lnTo>
                <a:lnTo>
                  <a:pt x="1607057" y="629740"/>
                </a:lnTo>
                <a:lnTo>
                  <a:pt x="1641994" y="693064"/>
                </a:lnTo>
                <a:lnTo>
                  <a:pt x="1676930" y="508342"/>
                </a:lnTo>
                <a:lnTo>
                  <a:pt x="1711866" y="489091"/>
                </a:lnTo>
                <a:lnTo>
                  <a:pt x="1746802" y="459020"/>
                </a:lnTo>
                <a:lnTo>
                  <a:pt x="1781738" y="500228"/>
                </a:lnTo>
                <a:lnTo>
                  <a:pt x="1816674" y="517412"/>
                </a:lnTo>
                <a:lnTo>
                  <a:pt x="1851610" y="505638"/>
                </a:lnTo>
                <a:lnTo>
                  <a:pt x="1886546" y="576281"/>
                </a:lnTo>
                <a:lnTo>
                  <a:pt x="1921482" y="635150"/>
                </a:lnTo>
                <a:lnTo>
                  <a:pt x="1956418" y="594419"/>
                </a:lnTo>
                <a:lnTo>
                  <a:pt x="1991354" y="566257"/>
                </a:lnTo>
                <a:lnTo>
                  <a:pt x="2026290" y="543823"/>
                </a:lnTo>
                <a:lnTo>
                  <a:pt x="2061226" y="549233"/>
                </a:lnTo>
                <a:lnTo>
                  <a:pt x="2096162" y="386468"/>
                </a:lnTo>
                <a:lnTo>
                  <a:pt x="2131098" y="382490"/>
                </a:lnTo>
                <a:lnTo>
                  <a:pt x="2166034" y="366420"/>
                </a:lnTo>
                <a:lnTo>
                  <a:pt x="2200970" y="397287"/>
                </a:lnTo>
                <a:lnTo>
                  <a:pt x="2235906" y="445337"/>
                </a:lnTo>
                <a:lnTo>
                  <a:pt x="2270842" y="426085"/>
                </a:lnTo>
                <a:lnTo>
                  <a:pt x="2305778" y="513911"/>
                </a:lnTo>
                <a:lnTo>
                  <a:pt x="2340714" y="579304"/>
                </a:lnTo>
                <a:lnTo>
                  <a:pt x="2375650" y="534277"/>
                </a:lnTo>
                <a:lnTo>
                  <a:pt x="2410587" y="547642"/>
                </a:lnTo>
                <a:lnTo>
                  <a:pt x="2445523" y="576917"/>
                </a:lnTo>
                <a:lnTo>
                  <a:pt x="2480459" y="599351"/>
                </a:lnTo>
                <a:lnTo>
                  <a:pt x="2515395" y="425767"/>
                </a:lnTo>
                <a:lnTo>
                  <a:pt x="2550331" y="414948"/>
                </a:lnTo>
                <a:lnTo>
                  <a:pt x="2585267" y="429903"/>
                </a:lnTo>
                <a:lnTo>
                  <a:pt x="2620203" y="391400"/>
                </a:lnTo>
                <a:lnTo>
                  <a:pt x="2655139" y="448678"/>
                </a:lnTo>
                <a:lnTo>
                  <a:pt x="2690075" y="462679"/>
                </a:lnTo>
                <a:lnTo>
                  <a:pt x="2725011" y="507865"/>
                </a:lnTo>
                <a:lnTo>
                  <a:pt x="2759947" y="546528"/>
                </a:lnTo>
                <a:lnTo>
                  <a:pt x="2794883" y="528390"/>
                </a:lnTo>
                <a:lnTo>
                  <a:pt x="2829819" y="505797"/>
                </a:lnTo>
                <a:lnTo>
                  <a:pt x="2864755" y="610329"/>
                </a:lnTo>
                <a:lnTo>
                  <a:pt x="2899691" y="622262"/>
                </a:lnTo>
                <a:lnTo>
                  <a:pt x="2934627" y="441041"/>
                </a:lnTo>
                <a:lnTo>
                  <a:pt x="2969563" y="353533"/>
                </a:lnTo>
                <a:lnTo>
                  <a:pt x="3004499" y="352896"/>
                </a:lnTo>
                <a:lnTo>
                  <a:pt x="3039435" y="434836"/>
                </a:lnTo>
                <a:lnTo>
                  <a:pt x="3074371" y="456315"/>
                </a:lnTo>
                <a:lnTo>
                  <a:pt x="3109307" y="429585"/>
                </a:lnTo>
                <a:lnTo>
                  <a:pt x="3144243" y="552733"/>
                </a:lnTo>
                <a:lnTo>
                  <a:pt x="3179179" y="587259"/>
                </a:lnTo>
                <a:lnTo>
                  <a:pt x="3214116" y="572780"/>
                </a:lnTo>
                <a:lnTo>
                  <a:pt x="3249052" y="634354"/>
                </a:lnTo>
                <a:lnTo>
                  <a:pt x="3283988" y="697678"/>
                </a:lnTo>
                <a:lnTo>
                  <a:pt x="3318924" y="689882"/>
                </a:lnTo>
                <a:lnTo>
                  <a:pt x="3353860" y="511843"/>
                </a:lnTo>
                <a:lnTo>
                  <a:pt x="3388796" y="436904"/>
                </a:lnTo>
                <a:lnTo>
                  <a:pt x="3423732" y="467293"/>
                </a:lnTo>
                <a:lnTo>
                  <a:pt x="3458668" y="476044"/>
                </a:lnTo>
                <a:lnTo>
                  <a:pt x="3493604" y="511365"/>
                </a:lnTo>
                <a:lnTo>
                  <a:pt x="3528540" y="537777"/>
                </a:lnTo>
                <a:lnTo>
                  <a:pt x="3563476" y="555597"/>
                </a:lnTo>
                <a:lnTo>
                  <a:pt x="3598412" y="563552"/>
                </a:lnTo>
                <a:lnTo>
                  <a:pt x="3633348" y="607783"/>
                </a:lnTo>
                <a:lnTo>
                  <a:pt x="3668284" y="703724"/>
                </a:lnTo>
                <a:lnTo>
                  <a:pt x="3703220" y="726635"/>
                </a:lnTo>
                <a:lnTo>
                  <a:pt x="3738156" y="721862"/>
                </a:lnTo>
                <a:lnTo>
                  <a:pt x="3773092" y="574849"/>
                </a:lnTo>
                <a:lnTo>
                  <a:pt x="3808028" y="569757"/>
                </a:lnTo>
                <a:lnTo>
                  <a:pt x="3842964" y="691791"/>
                </a:lnTo>
                <a:lnTo>
                  <a:pt x="3877900" y="849942"/>
                </a:lnTo>
                <a:lnTo>
                  <a:pt x="3912836" y="747956"/>
                </a:lnTo>
                <a:lnTo>
                  <a:pt x="3947772" y="595532"/>
                </a:lnTo>
                <a:lnTo>
                  <a:pt x="3982708" y="511684"/>
                </a:lnTo>
                <a:lnTo>
                  <a:pt x="4017644" y="506911"/>
                </a:lnTo>
                <a:lnTo>
                  <a:pt x="4052581" y="501342"/>
                </a:lnTo>
                <a:lnTo>
                  <a:pt x="4087517" y="508024"/>
                </a:lnTo>
                <a:lnTo>
                  <a:pt x="4122453" y="565939"/>
                </a:lnTo>
                <a:lnTo>
                  <a:pt x="4157389" y="592509"/>
                </a:lnTo>
                <a:lnTo>
                  <a:pt x="4192325" y="569280"/>
                </a:lnTo>
                <a:lnTo>
                  <a:pt x="4227261" y="555120"/>
                </a:lnTo>
                <a:lnTo>
                  <a:pt x="4262197" y="507865"/>
                </a:lnTo>
                <a:lnTo>
                  <a:pt x="4297133" y="469680"/>
                </a:lnTo>
                <a:lnTo>
                  <a:pt x="4332069" y="483522"/>
                </a:lnTo>
                <a:lnTo>
                  <a:pt x="4367005" y="469043"/>
                </a:lnTo>
                <a:lnTo>
                  <a:pt x="4401941" y="561325"/>
                </a:lnTo>
                <a:lnTo>
                  <a:pt x="4436877" y="627513"/>
                </a:lnTo>
                <a:lnTo>
                  <a:pt x="4471813" y="600783"/>
                </a:lnTo>
                <a:lnTo>
                  <a:pt x="4506749" y="554324"/>
                </a:lnTo>
                <a:lnTo>
                  <a:pt x="4541685" y="505638"/>
                </a:lnTo>
                <a:lnTo>
                  <a:pt x="4576621" y="465861"/>
                </a:lnTo>
                <a:lnTo>
                  <a:pt x="4611557" y="363397"/>
                </a:lnTo>
                <a:lnTo>
                  <a:pt x="4646493" y="314552"/>
                </a:lnTo>
                <a:lnTo>
                  <a:pt x="4681429" y="363397"/>
                </a:lnTo>
                <a:lnTo>
                  <a:pt x="4716365" y="424335"/>
                </a:lnTo>
                <a:lnTo>
                  <a:pt x="4751301" y="440245"/>
                </a:lnTo>
                <a:lnTo>
                  <a:pt x="4786237" y="468248"/>
                </a:lnTo>
                <a:lnTo>
                  <a:pt x="4821174" y="558302"/>
                </a:lnTo>
                <a:lnTo>
                  <a:pt x="4856110" y="626558"/>
                </a:lnTo>
                <a:lnTo>
                  <a:pt x="4891046" y="669039"/>
                </a:lnTo>
                <a:lnTo>
                  <a:pt x="4925982" y="751297"/>
                </a:lnTo>
                <a:lnTo>
                  <a:pt x="4960918" y="816530"/>
                </a:lnTo>
                <a:lnTo>
                  <a:pt x="4995854" y="842623"/>
                </a:lnTo>
                <a:lnTo>
                  <a:pt x="5030790" y="777390"/>
                </a:lnTo>
                <a:lnTo>
                  <a:pt x="5065726" y="771026"/>
                </a:lnTo>
                <a:lnTo>
                  <a:pt x="5100662" y="791391"/>
                </a:lnTo>
                <a:lnTo>
                  <a:pt x="5135598" y="790596"/>
                </a:lnTo>
                <a:lnTo>
                  <a:pt x="5170534" y="806665"/>
                </a:lnTo>
                <a:lnTo>
                  <a:pt x="5205470" y="816689"/>
                </a:lnTo>
                <a:lnTo>
                  <a:pt x="5240406" y="916448"/>
                </a:lnTo>
                <a:lnTo>
                  <a:pt x="5275342" y="994251"/>
                </a:lnTo>
                <a:lnTo>
                  <a:pt x="5310278" y="1059803"/>
                </a:lnTo>
                <a:lnTo>
                  <a:pt x="5345214" y="1134105"/>
                </a:lnTo>
                <a:lnTo>
                  <a:pt x="5380150" y="1186291"/>
                </a:lnTo>
                <a:lnTo>
                  <a:pt x="5415086" y="1229091"/>
                </a:lnTo>
                <a:lnTo>
                  <a:pt x="5450022" y="1116126"/>
                </a:lnTo>
                <a:lnTo>
                  <a:pt x="5484958" y="1078100"/>
                </a:lnTo>
                <a:lnTo>
                  <a:pt x="5519894" y="1093374"/>
                </a:lnTo>
                <a:lnTo>
                  <a:pt x="5554830" y="1100852"/>
                </a:lnTo>
                <a:lnTo>
                  <a:pt x="5589766" y="1074122"/>
                </a:lnTo>
                <a:lnTo>
                  <a:pt x="5624703" y="1100693"/>
                </a:lnTo>
                <a:lnTo>
                  <a:pt x="5659639" y="1125513"/>
                </a:lnTo>
                <a:lnTo>
                  <a:pt x="5694575" y="1188360"/>
                </a:lnTo>
                <a:lnTo>
                  <a:pt x="5729511" y="1225113"/>
                </a:lnTo>
                <a:lnTo>
                  <a:pt x="5764447" y="1259480"/>
                </a:lnTo>
                <a:lnTo>
                  <a:pt x="5799383" y="1218590"/>
                </a:lnTo>
                <a:lnTo>
                  <a:pt x="5834319" y="1206021"/>
                </a:lnTo>
                <a:lnTo>
                  <a:pt x="5869255" y="1095124"/>
                </a:lnTo>
                <a:lnTo>
                  <a:pt x="5904191" y="1093851"/>
                </a:lnTo>
                <a:lnTo>
                  <a:pt x="5939127" y="1072372"/>
                </a:lnTo>
                <a:lnTo>
                  <a:pt x="5974063" y="1117240"/>
                </a:lnTo>
                <a:lnTo>
                  <a:pt x="6008999" y="1061075"/>
                </a:lnTo>
                <a:lnTo>
                  <a:pt x="6043935" y="1073326"/>
                </a:lnTo>
                <a:lnTo>
                  <a:pt x="6078871" y="1156539"/>
                </a:lnTo>
                <a:lnTo>
                  <a:pt x="6113807" y="1183587"/>
                </a:lnTo>
                <a:lnTo>
                  <a:pt x="6148743" y="1205066"/>
                </a:lnTo>
                <a:lnTo>
                  <a:pt x="6183679" y="1201406"/>
                </a:lnTo>
                <a:lnTo>
                  <a:pt x="6218615" y="1182791"/>
                </a:lnTo>
                <a:lnTo>
                  <a:pt x="6253551" y="1143969"/>
                </a:lnTo>
                <a:lnTo>
                  <a:pt x="6288487" y="1091942"/>
                </a:lnTo>
                <a:lnTo>
                  <a:pt x="6323423" y="1073804"/>
                </a:lnTo>
                <a:lnTo>
                  <a:pt x="6358359" y="1038323"/>
                </a:lnTo>
                <a:lnTo>
                  <a:pt x="6393295" y="1112785"/>
                </a:lnTo>
                <a:lnTo>
                  <a:pt x="6428232" y="1065053"/>
                </a:lnTo>
              </a:path>
            </a:pathLst>
          </a:custGeom>
          <a:noFill/>
          <a:ln w="20320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795528" y="2712646"/>
            <a:ext cx="6428232" cy="1163380"/>
          </a:xfrm>
          <a:custGeom>
            <a:avLst/>
            <a:gdLst/>
            <a:ahLst/>
            <a:cxnLst/>
            <a:rect l="l" t="t" r="r" b="b"/>
            <a:pathLst>
              <a:path w="6428232" h="1163380">
                <a:moveTo>
                  <a:pt x="0" y="362283"/>
                </a:moveTo>
                <a:lnTo>
                  <a:pt x="34936" y="182176"/>
                </a:lnTo>
                <a:lnTo>
                  <a:pt x="69872" y="205882"/>
                </a:lnTo>
                <a:lnTo>
                  <a:pt x="104808" y="240090"/>
                </a:lnTo>
                <a:lnTo>
                  <a:pt x="139744" y="263001"/>
                </a:lnTo>
                <a:lnTo>
                  <a:pt x="174680" y="157037"/>
                </a:lnTo>
                <a:lnTo>
                  <a:pt x="209616" y="120920"/>
                </a:lnTo>
                <a:lnTo>
                  <a:pt x="244552" y="267456"/>
                </a:lnTo>
                <a:lnTo>
                  <a:pt x="279488" y="200314"/>
                </a:lnTo>
                <a:lnTo>
                  <a:pt x="314424" y="250273"/>
                </a:lnTo>
                <a:lnTo>
                  <a:pt x="349360" y="358942"/>
                </a:lnTo>
                <a:lnTo>
                  <a:pt x="384296" y="316143"/>
                </a:lnTo>
                <a:lnTo>
                  <a:pt x="419232" y="0"/>
                </a:lnTo>
                <a:lnTo>
                  <a:pt x="454168" y="185994"/>
                </a:lnTo>
                <a:lnTo>
                  <a:pt x="489104" y="124739"/>
                </a:lnTo>
                <a:lnTo>
                  <a:pt x="524040" y="68097"/>
                </a:lnTo>
                <a:lnTo>
                  <a:pt x="558976" y="293390"/>
                </a:lnTo>
                <a:lnTo>
                  <a:pt x="593912" y="261410"/>
                </a:lnTo>
                <a:lnTo>
                  <a:pt x="628848" y="432131"/>
                </a:lnTo>
                <a:lnTo>
                  <a:pt x="663784" y="280344"/>
                </a:lnTo>
                <a:lnTo>
                  <a:pt x="698720" y="379307"/>
                </a:lnTo>
                <a:lnTo>
                  <a:pt x="733656" y="479862"/>
                </a:lnTo>
                <a:lnTo>
                  <a:pt x="768592" y="473657"/>
                </a:lnTo>
                <a:lnTo>
                  <a:pt x="803529" y="485431"/>
                </a:lnTo>
                <a:lnTo>
                  <a:pt x="838465" y="370716"/>
                </a:lnTo>
                <a:lnTo>
                  <a:pt x="873401" y="336985"/>
                </a:lnTo>
                <a:lnTo>
                  <a:pt x="908337" y="302619"/>
                </a:lnTo>
                <a:lnTo>
                  <a:pt x="943273" y="406196"/>
                </a:lnTo>
                <a:lnTo>
                  <a:pt x="978209" y="525685"/>
                </a:lnTo>
                <a:lnTo>
                  <a:pt x="1013145" y="616216"/>
                </a:lnTo>
                <a:lnTo>
                  <a:pt x="1048081" y="690677"/>
                </a:lnTo>
                <a:lnTo>
                  <a:pt x="1083017" y="696087"/>
                </a:lnTo>
                <a:lnTo>
                  <a:pt x="1117953" y="745409"/>
                </a:lnTo>
                <a:lnTo>
                  <a:pt x="1152889" y="830531"/>
                </a:lnTo>
                <a:lnTo>
                  <a:pt x="1187825" y="846601"/>
                </a:lnTo>
                <a:lnTo>
                  <a:pt x="1222761" y="948269"/>
                </a:lnTo>
                <a:lnTo>
                  <a:pt x="1257697" y="806983"/>
                </a:lnTo>
                <a:lnTo>
                  <a:pt x="1292633" y="711361"/>
                </a:lnTo>
                <a:lnTo>
                  <a:pt x="1327569" y="780094"/>
                </a:lnTo>
                <a:lnTo>
                  <a:pt x="1362505" y="793618"/>
                </a:lnTo>
                <a:lnTo>
                  <a:pt x="1397441" y="867125"/>
                </a:lnTo>
                <a:lnTo>
                  <a:pt x="1432377" y="845964"/>
                </a:lnTo>
                <a:lnTo>
                  <a:pt x="1467313" y="894810"/>
                </a:lnTo>
                <a:lnTo>
                  <a:pt x="1502249" y="864898"/>
                </a:lnTo>
                <a:lnTo>
                  <a:pt x="1537185" y="877785"/>
                </a:lnTo>
                <a:lnTo>
                  <a:pt x="1572121" y="898628"/>
                </a:lnTo>
                <a:lnTo>
                  <a:pt x="1607057" y="904833"/>
                </a:lnTo>
                <a:lnTo>
                  <a:pt x="1641994" y="997910"/>
                </a:lnTo>
                <a:lnTo>
                  <a:pt x="1676930" y="726794"/>
                </a:lnTo>
                <a:lnTo>
                  <a:pt x="1711866" y="666493"/>
                </a:lnTo>
                <a:lnTo>
                  <a:pt x="1746802" y="673812"/>
                </a:lnTo>
                <a:lnTo>
                  <a:pt x="1781738" y="699587"/>
                </a:lnTo>
                <a:lnTo>
                  <a:pt x="1816674" y="705156"/>
                </a:lnTo>
                <a:lnTo>
                  <a:pt x="1851610" y="725680"/>
                </a:lnTo>
                <a:lnTo>
                  <a:pt x="1886546" y="779935"/>
                </a:lnTo>
                <a:lnTo>
                  <a:pt x="1921482" y="883354"/>
                </a:lnTo>
                <a:lnTo>
                  <a:pt x="1956418" y="791073"/>
                </a:lnTo>
                <a:lnTo>
                  <a:pt x="1991354" y="831326"/>
                </a:lnTo>
                <a:lnTo>
                  <a:pt x="2026290" y="780254"/>
                </a:lnTo>
                <a:lnTo>
                  <a:pt x="2061226" y="827508"/>
                </a:lnTo>
                <a:lnTo>
                  <a:pt x="2096162" y="677790"/>
                </a:lnTo>
                <a:lnTo>
                  <a:pt x="2131098" y="644696"/>
                </a:lnTo>
                <a:lnTo>
                  <a:pt x="2166034" y="638172"/>
                </a:lnTo>
                <a:lnTo>
                  <a:pt x="2200970" y="743659"/>
                </a:lnTo>
                <a:lnTo>
                  <a:pt x="2235906" y="721703"/>
                </a:lnTo>
                <a:lnTo>
                  <a:pt x="2270842" y="692268"/>
                </a:lnTo>
                <a:lnTo>
                  <a:pt x="2305778" y="720271"/>
                </a:lnTo>
                <a:lnTo>
                  <a:pt x="2340714" y="816848"/>
                </a:lnTo>
                <a:lnTo>
                  <a:pt x="2375650" y="729499"/>
                </a:lnTo>
                <a:lnTo>
                  <a:pt x="2410587" y="786618"/>
                </a:lnTo>
                <a:lnTo>
                  <a:pt x="2445523" y="814302"/>
                </a:lnTo>
                <a:lnTo>
                  <a:pt x="2480459" y="876194"/>
                </a:lnTo>
                <a:lnTo>
                  <a:pt x="2515395" y="716293"/>
                </a:lnTo>
                <a:lnTo>
                  <a:pt x="2550331" y="658379"/>
                </a:lnTo>
                <a:lnTo>
                  <a:pt x="2585267" y="625285"/>
                </a:lnTo>
                <a:lnTo>
                  <a:pt x="2620203" y="631490"/>
                </a:lnTo>
                <a:lnTo>
                  <a:pt x="2655139" y="634990"/>
                </a:lnTo>
                <a:lnTo>
                  <a:pt x="2690075" y="595373"/>
                </a:lnTo>
                <a:lnTo>
                  <a:pt x="2725011" y="674607"/>
                </a:lnTo>
                <a:lnTo>
                  <a:pt x="2759947" y="694814"/>
                </a:lnTo>
                <a:lnTo>
                  <a:pt x="2794883" y="765457"/>
                </a:lnTo>
                <a:lnTo>
                  <a:pt x="2829819" y="742386"/>
                </a:lnTo>
                <a:lnTo>
                  <a:pt x="2864755" y="729499"/>
                </a:lnTo>
                <a:lnTo>
                  <a:pt x="2899691" y="855351"/>
                </a:lnTo>
                <a:lnTo>
                  <a:pt x="2934627" y="564029"/>
                </a:lnTo>
                <a:lnTo>
                  <a:pt x="2969563" y="556710"/>
                </a:lnTo>
                <a:lnTo>
                  <a:pt x="3004499" y="494341"/>
                </a:lnTo>
                <a:lnTo>
                  <a:pt x="3039435" y="622103"/>
                </a:lnTo>
                <a:lnTo>
                  <a:pt x="3074371" y="654083"/>
                </a:lnTo>
                <a:lnTo>
                  <a:pt x="3109307" y="632126"/>
                </a:lnTo>
                <a:lnTo>
                  <a:pt x="3144243" y="583758"/>
                </a:lnTo>
                <a:lnTo>
                  <a:pt x="3179179" y="745409"/>
                </a:lnTo>
                <a:lnTo>
                  <a:pt x="3214116" y="767366"/>
                </a:lnTo>
                <a:lnTo>
                  <a:pt x="3249052" y="796164"/>
                </a:lnTo>
                <a:lnTo>
                  <a:pt x="3283988" y="833713"/>
                </a:lnTo>
                <a:lnTo>
                  <a:pt x="3318924" y="837213"/>
                </a:lnTo>
                <a:lnTo>
                  <a:pt x="3353860" y="693541"/>
                </a:lnTo>
                <a:lnTo>
                  <a:pt x="3388796" y="616216"/>
                </a:lnTo>
                <a:lnTo>
                  <a:pt x="3423732" y="629262"/>
                </a:lnTo>
                <a:lnTo>
                  <a:pt x="3458668" y="654878"/>
                </a:lnTo>
                <a:lnTo>
                  <a:pt x="3493604" y="675085"/>
                </a:lnTo>
                <a:lnTo>
                  <a:pt x="3528540" y="739045"/>
                </a:lnTo>
                <a:lnTo>
                  <a:pt x="3563476" y="754001"/>
                </a:lnTo>
                <a:lnTo>
                  <a:pt x="3598412" y="824326"/>
                </a:lnTo>
                <a:lnTo>
                  <a:pt x="3633348" y="793459"/>
                </a:lnTo>
                <a:lnTo>
                  <a:pt x="3668284" y="891309"/>
                </a:lnTo>
                <a:lnTo>
                  <a:pt x="3703220" y="921380"/>
                </a:lnTo>
                <a:lnTo>
                  <a:pt x="3738156" y="909129"/>
                </a:lnTo>
                <a:lnTo>
                  <a:pt x="3773092" y="775162"/>
                </a:lnTo>
                <a:lnTo>
                  <a:pt x="3808028" y="793459"/>
                </a:lnTo>
                <a:lnTo>
                  <a:pt x="3842964" y="854556"/>
                </a:lnTo>
                <a:lnTo>
                  <a:pt x="3877900" y="1066007"/>
                </a:lnTo>
                <a:lnTo>
                  <a:pt x="3912836" y="959566"/>
                </a:lnTo>
                <a:lnTo>
                  <a:pt x="3947772" y="777231"/>
                </a:lnTo>
                <a:lnTo>
                  <a:pt x="3982708" y="731408"/>
                </a:lnTo>
                <a:lnTo>
                  <a:pt x="4017644" y="752728"/>
                </a:lnTo>
                <a:lnTo>
                  <a:pt x="4052581" y="695132"/>
                </a:lnTo>
                <a:lnTo>
                  <a:pt x="4087517" y="679540"/>
                </a:lnTo>
                <a:lnTo>
                  <a:pt x="4122453" y="764184"/>
                </a:lnTo>
                <a:lnTo>
                  <a:pt x="4157389" y="751296"/>
                </a:lnTo>
                <a:lnTo>
                  <a:pt x="4192325" y="718998"/>
                </a:lnTo>
                <a:lnTo>
                  <a:pt x="4227261" y="765139"/>
                </a:lnTo>
                <a:lnTo>
                  <a:pt x="4262197" y="677471"/>
                </a:lnTo>
                <a:lnTo>
                  <a:pt x="4297133" y="687972"/>
                </a:lnTo>
                <a:lnTo>
                  <a:pt x="4332069" y="637377"/>
                </a:lnTo>
                <a:lnTo>
                  <a:pt x="4367005" y="701815"/>
                </a:lnTo>
                <a:lnTo>
                  <a:pt x="4401941" y="761161"/>
                </a:lnTo>
                <a:lnTo>
                  <a:pt x="4436877" y="821303"/>
                </a:lnTo>
                <a:lnTo>
                  <a:pt x="4471813" y="835463"/>
                </a:lnTo>
                <a:lnTo>
                  <a:pt x="4506749" y="728544"/>
                </a:lnTo>
                <a:lnTo>
                  <a:pt x="4541685" y="669198"/>
                </a:lnTo>
                <a:lnTo>
                  <a:pt x="4576621" y="676835"/>
                </a:lnTo>
                <a:lnTo>
                  <a:pt x="4611557" y="496091"/>
                </a:lnTo>
                <a:lnTo>
                  <a:pt x="4646493" y="416061"/>
                </a:lnTo>
                <a:lnTo>
                  <a:pt x="4681429" y="472702"/>
                </a:lnTo>
                <a:lnTo>
                  <a:pt x="4716365" y="612875"/>
                </a:lnTo>
                <a:lnTo>
                  <a:pt x="4751301" y="541754"/>
                </a:lnTo>
                <a:lnTo>
                  <a:pt x="4786237" y="543982"/>
                </a:lnTo>
                <a:lnTo>
                  <a:pt x="4821174" y="577553"/>
                </a:lnTo>
                <a:lnTo>
                  <a:pt x="4856110" y="710247"/>
                </a:lnTo>
                <a:lnTo>
                  <a:pt x="4891046" y="726158"/>
                </a:lnTo>
                <a:lnTo>
                  <a:pt x="4925982" y="800937"/>
                </a:lnTo>
                <a:lnTo>
                  <a:pt x="4960918" y="759888"/>
                </a:lnTo>
                <a:lnTo>
                  <a:pt x="4995854" y="864420"/>
                </a:lnTo>
                <a:lnTo>
                  <a:pt x="5030790" y="633240"/>
                </a:lnTo>
                <a:lnTo>
                  <a:pt x="5065726" y="652810"/>
                </a:lnTo>
                <a:lnTo>
                  <a:pt x="5100662" y="673653"/>
                </a:lnTo>
                <a:lnTo>
                  <a:pt x="5135598" y="755115"/>
                </a:lnTo>
                <a:lnTo>
                  <a:pt x="5170534" y="700223"/>
                </a:lnTo>
                <a:lnTo>
                  <a:pt x="5205470" y="738886"/>
                </a:lnTo>
                <a:lnTo>
                  <a:pt x="5240406" y="827826"/>
                </a:lnTo>
                <a:lnTo>
                  <a:pt x="5275342" y="873649"/>
                </a:lnTo>
                <a:lnTo>
                  <a:pt x="5310278" y="918357"/>
                </a:lnTo>
                <a:lnTo>
                  <a:pt x="5345214" y="1047233"/>
                </a:lnTo>
                <a:lnTo>
                  <a:pt x="5380150" y="1116603"/>
                </a:lnTo>
                <a:lnTo>
                  <a:pt x="5415086" y="1163380"/>
                </a:lnTo>
                <a:lnTo>
                  <a:pt x="5450022" y="1027663"/>
                </a:lnTo>
                <a:lnTo>
                  <a:pt x="5484958" y="967680"/>
                </a:lnTo>
                <a:lnTo>
                  <a:pt x="5519894" y="945564"/>
                </a:lnTo>
                <a:lnTo>
                  <a:pt x="5554830" y="1044051"/>
                </a:lnTo>
                <a:lnTo>
                  <a:pt x="5589766" y="941587"/>
                </a:lnTo>
                <a:lnTo>
                  <a:pt x="5624703" y="956702"/>
                </a:lnTo>
                <a:lnTo>
                  <a:pt x="5659639" y="1059643"/>
                </a:lnTo>
                <a:lnTo>
                  <a:pt x="5694575" y="1023208"/>
                </a:lnTo>
                <a:lnTo>
                  <a:pt x="5729511" y="1107375"/>
                </a:lnTo>
                <a:lnTo>
                  <a:pt x="5764447" y="1126149"/>
                </a:lnTo>
                <a:lnTo>
                  <a:pt x="5799383" y="999660"/>
                </a:lnTo>
                <a:lnTo>
                  <a:pt x="5834319" y="996955"/>
                </a:lnTo>
                <a:lnTo>
                  <a:pt x="5869255" y="855033"/>
                </a:lnTo>
                <a:lnTo>
                  <a:pt x="5904191" y="772298"/>
                </a:lnTo>
                <a:lnTo>
                  <a:pt x="5939127" y="813507"/>
                </a:lnTo>
                <a:lnTo>
                  <a:pt x="5974063" y="791709"/>
                </a:lnTo>
                <a:lnTo>
                  <a:pt x="6008999" y="824962"/>
                </a:lnTo>
                <a:lnTo>
                  <a:pt x="6043935" y="872535"/>
                </a:lnTo>
                <a:lnTo>
                  <a:pt x="6078871" y="885741"/>
                </a:lnTo>
                <a:lnTo>
                  <a:pt x="6113807" y="1018912"/>
                </a:lnTo>
                <a:lnTo>
                  <a:pt x="6148743" y="953520"/>
                </a:lnTo>
                <a:lnTo>
                  <a:pt x="6183679" y="1010161"/>
                </a:lnTo>
                <a:lnTo>
                  <a:pt x="6218615" y="1030845"/>
                </a:lnTo>
                <a:lnTo>
                  <a:pt x="6253551" y="1004752"/>
                </a:lnTo>
                <a:lnTo>
                  <a:pt x="6288487" y="811597"/>
                </a:lnTo>
                <a:lnTo>
                  <a:pt x="6323423" y="763548"/>
                </a:lnTo>
                <a:lnTo>
                  <a:pt x="6358359" y="767366"/>
                </a:lnTo>
                <a:lnTo>
                  <a:pt x="6393295" y="969430"/>
                </a:lnTo>
                <a:lnTo>
                  <a:pt x="6428232" y="951929"/>
                </a:lnTo>
              </a:path>
            </a:pathLst>
          </a:custGeom>
          <a:noFill/>
          <a:ln w="20320">
            <a:solidFill>
              <a:srgbClr val="1E2F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7" y="4338828"/>
            <a:ext cx="365760" cy="1257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990"/>
              </a:lnSpc>
            </a:pPr>
            <a:r>
              <a:rPr sz="750" b="0">
                <a:solidFill>
                  <a:srgbClr val="606060"/>
                </a:solidFill>
                <a:latin typeface="Kanit"/>
              </a:rPr>
              <a:t>2011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9578" y="4338828"/>
            <a:ext cx="365760" cy="1257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990"/>
              </a:lnSpc>
            </a:pPr>
            <a:r>
              <a:rPr sz="750" b="0">
                <a:solidFill>
                  <a:srgbClr val="606060"/>
                </a:solidFill>
                <a:latin typeface="Kanit"/>
              </a:rPr>
              <a:t>2015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66508" y="4338828"/>
            <a:ext cx="365760" cy="1257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990"/>
              </a:lnSpc>
            </a:pPr>
            <a:r>
              <a:rPr sz="750" b="0">
                <a:solidFill>
                  <a:srgbClr val="606060"/>
                </a:solidFill>
                <a:latin typeface="Kanit"/>
              </a:rPr>
              <a:t>2019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24205" y="4338828"/>
            <a:ext cx="365760" cy="1257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990"/>
              </a:lnSpc>
            </a:pPr>
            <a:r>
              <a:rPr sz="750" b="0">
                <a:solidFill>
                  <a:srgbClr val="606060"/>
                </a:solidFill>
                <a:latin typeface="Kanit"/>
              </a:rPr>
              <a:t>2022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1135" y="4338828"/>
            <a:ext cx="365760" cy="1257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990"/>
              </a:lnSpc>
            </a:pPr>
            <a:r>
              <a:rPr sz="750" b="0">
                <a:solidFill>
                  <a:srgbClr val="606060"/>
                </a:solidFill>
                <a:latin typeface="Kanit"/>
              </a:rPr>
              <a:t>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" y="2537460"/>
            <a:ext cx="6812280" cy="134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6"/>
              </a:lnSpc>
            </a:pPr>
            <a:r>
              <a:rPr sz="800" b="0">
                <a:solidFill>
                  <a:srgbClr val="606060"/>
                </a:solidFill>
                <a:latin typeface="Kanit"/>
              </a:rPr>
              <a:t>Index, 2015 = 100 · monthly, 2011-01 → 2026-05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98079" y="2528316"/>
            <a:ext cx="4279392" cy="1177798"/>
          </a:xfrm>
          <a:prstGeom prst="rect">
            <a:avLst/>
          </a:prstGeom>
          <a:solidFill>
            <a:srgbClr val="FC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498079" y="2528316"/>
            <a:ext cx="50292" cy="1177798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17536" y="2674620"/>
            <a:ext cx="3950207" cy="158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</a:pPr>
            <a:r>
              <a:rPr sz="950" b="1">
                <a:solidFill>
                  <a:srgbClr val="CC0000"/>
                </a:solidFill>
                <a:latin typeface="Kanit"/>
              </a:rPr>
              <a:t>Two windows, one message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17536" y="2879090"/>
            <a:ext cx="3950207" cy="680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40"/>
              </a:lnSpc>
            </a:pPr>
            <a:r>
              <a:rPr sz="1000" b="0">
                <a:solidFill>
                  <a:srgbClr val="1E2F5C"/>
                </a:solidFill>
                <a:latin typeface="Kanit"/>
              </a:rPr>
              <a:t>• Pickup +12.5% in 6 months, −0.4% in 12 — the fall has stopped.
• Car +6.0% in 6 months, −8.3% in 12 — same shape, weaker level.
• Pickup is 33 pts below its 2015 base, car 12 pts.
• Advance rates set before 2022 price a market that no longer exists.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11480" y="4686300"/>
            <a:ext cx="754177" cy="19202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1579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4715560"/>
            <a:ext cx="754177" cy="134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056"/>
              </a:lnSpc>
            </a:pPr>
            <a:r>
              <a:rPr sz="800" b="1">
                <a:solidFill>
                  <a:srgbClr val="15795F"/>
                </a:solidFill>
                <a:latin typeface="Kanit"/>
              </a:rPr>
              <a:t>MEASURED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75385" y="4700016"/>
            <a:ext cx="10502086" cy="30861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15"/>
              </a:lnSpc>
            </a:pPr>
            <a:r>
              <a:rPr sz="900" b="0">
                <a:solidFill>
                  <a:srgbClr val="606060"/>
                </a:solidFill>
                <a:latin typeface="Kanit"/>
              </a:rPr>
              <a:t>Bank of Thailand used-vehicle price index (EC_EI_040), 185 monthly points; 6- and 12-month moves computed from the published series, rebased to 2015 = 100. Pickup = confirmed pickup trucks (รถกระบะ), not heavy commercial (BoT Stat-Horizon methodology, 2019). Latest month preliminary.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19456"/>
            <a:ext cx="8686800" cy="1508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88"/>
              </a:lnSpc>
            </a:pPr>
            <a:r>
              <a:rPr sz="900" b="1">
                <a:solidFill>
                  <a:srgbClr val="CC0000"/>
                </a:solidFill>
                <a:latin typeface="Kanit"/>
              </a:rPr>
              <a:t>10B · COLLATERAL SUPPLY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57200"/>
            <a:ext cx="996696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E2F5C"/>
                </a:solidFill>
                <a:latin typeface="Kanit"/>
              </a:rPr>
              <a:t>Two vehicle markets, moving opposite ways.</a:t>
            </a:r>
          </a:p>
        </p:txBody>
      </p:sp>
      <p:pic>
        <p:nvPicPr>
          <p:cNvPr id="5" name="Picture 4" descr="aut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4472" y="256032"/>
            <a:ext cx="941832" cy="29260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11480" y="969264"/>
            <a:ext cx="11365992" cy="20116"/>
          </a:xfrm>
          <a:prstGeom prst="rect">
            <a:avLst/>
          </a:prstGeom>
          <a:solidFill>
            <a:srgbClr val="1E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91969" cy="109728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92824"/>
            <a:ext cx="6400800" cy="134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6"/>
              </a:lnSpc>
            </a:pPr>
            <a:r>
              <a:rPr sz="800" b="0">
                <a:solidFill>
                  <a:srgbClr val="606060"/>
                </a:solidFill>
                <a:latin typeface="Kanit"/>
              </a:rPr>
              <a:t>Restricted Data – Reproduction is prohibited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152144"/>
            <a:ext cx="11365992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00"/>
              </a:lnSpc>
            </a:pPr>
            <a:r>
              <a:rPr sz="1100" b="0">
                <a:solidFill>
                  <a:srgbClr val="606060"/>
                </a:solidFill>
                <a:latin typeface="Kanit"/>
              </a:rPr>
              <a:t>DLT first registrations, AutoX’s own pickup definition — any pickup or PPV, any class. Six- and 12-month windows, side by side.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11480" y="1488948"/>
          <a:ext cx="11365993" cy="9875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83192"/>
                <a:gridCol w="1924886"/>
                <a:gridCol w="1466580"/>
                <a:gridCol w="1924886"/>
                <a:gridCol w="1466580"/>
                <a:gridCol w="2199869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12-month units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12m YoY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6-month units †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6m YoY †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6m trend ex-flag, units/mo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E2F5C"/>
                          </a:solidFill>
                          <a:latin typeface="Kanit"/>
                        </a:rPr>
                        <a:t>Pickup + PPV รถกระบะ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E2F5C"/>
                          </a:solidFill>
                          <a:latin typeface="Kanit"/>
                        </a:rPr>
                        <a:t>183,277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CC0000"/>
                          </a:solidFill>
                          <a:latin typeface="Kanit"/>
                        </a:rPr>
                        <a:t>−15.3%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E2F5C"/>
                          </a:solidFill>
                          <a:latin typeface="Kanit"/>
                        </a:rPr>
                        <a:t>85,276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CC0000"/>
                          </a:solidFill>
                          <a:latin typeface="Kanit"/>
                        </a:rPr>
                        <a:t>−9.8%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CC0000"/>
                          </a:solidFill>
                          <a:latin typeface="Kanit"/>
                        </a:rPr>
                        <a:t>-986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E2F5C"/>
                          </a:solidFill>
                          <a:latin typeface="Kanit"/>
                        </a:rPr>
                        <a:t>Passenger car รถยนต์นั่ง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E2F5C"/>
                          </a:solidFill>
                          <a:latin typeface="Kanit"/>
                        </a:rPr>
                        <a:t>443,641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5795F"/>
                          </a:solidFill>
                          <a:latin typeface="Kanit"/>
                        </a:rPr>
                        <a:t>+19.8%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E2F5C"/>
                          </a:solidFill>
                          <a:latin typeface="Kanit"/>
                        </a:rPr>
                        <a:t>233,102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5795F"/>
                          </a:solidFill>
                          <a:latin typeface="Kanit"/>
                        </a:rPr>
                        <a:t>+34.3%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CC0000"/>
                          </a:solidFill>
                          <a:latin typeface="Kanit"/>
                        </a:rPr>
                        <a:t>-393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11480" y="2531364"/>
            <a:ext cx="11365992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00"/>
              </a:lnSpc>
            </a:pPr>
            <a:r>
              <a:rPr sz="900" b="0">
                <a:solidFill>
                  <a:srgbClr val="606060"/>
                </a:solidFill>
                <a:latin typeface="Kanit"/>
              </a:rPr>
              <a:t>† flagged months in this window: 2025-12, 2026-01 — registrations pulled forward before an incentive deadline. Only the last is stripped from the trend column; both YoY columns keep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830068"/>
            <a:ext cx="5568696" cy="1592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4"/>
              </a:lnSpc>
            </a:pPr>
            <a:r>
              <a:rPr sz="950" b="1">
                <a:solidFill>
                  <a:srgbClr val="1E2F5C"/>
                </a:solidFill>
                <a:latin typeface="Kanit"/>
              </a:rPr>
              <a:t>Pickup + PPV — registrations by month, 2025-08 → 2026-01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031236"/>
            <a:ext cx="5568696" cy="1280160"/>
          </a:xfrm>
          <a:prstGeom prst="rect">
            <a:avLst/>
          </a:prstGeom>
          <a:solidFill>
            <a:srgbClr val="FBFCFE"/>
          </a:solidFill>
          <a:ln w="9525">
            <a:solidFill>
              <a:srgbClr val="D9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415" y="3475052"/>
            <a:ext cx="458845" cy="580311"/>
          </a:xfrm>
          <a:prstGeom prst="rect">
            <a:avLst/>
          </a:prstGeom>
          <a:solidFill>
            <a:srgbClr val="D9D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292172"/>
            <a:ext cx="882396" cy="1508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88"/>
              </a:lnSpc>
            </a:pPr>
            <a:r>
              <a:rPr sz="900" b="0">
                <a:solidFill>
                  <a:srgbClr val="1E2F5C"/>
                </a:solidFill>
                <a:latin typeface="Kanit"/>
              </a:rPr>
              <a:t>14.9k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101083"/>
            <a:ext cx="882396" cy="1424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22"/>
              </a:lnSpc>
            </a:pPr>
            <a:r>
              <a:rPr sz="850" b="0">
                <a:solidFill>
                  <a:srgbClr val="606060"/>
                </a:solidFill>
                <a:latin typeface="Kanit"/>
              </a:rPr>
              <a:t>25-08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42811" y="3459662"/>
            <a:ext cx="458845" cy="595701"/>
          </a:xfrm>
          <a:prstGeom prst="rect">
            <a:avLst/>
          </a:prstGeom>
          <a:solidFill>
            <a:srgbClr val="D9D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31036" y="3276782"/>
            <a:ext cx="882396" cy="1508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88"/>
              </a:lnSpc>
            </a:pPr>
            <a:r>
              <a:rPr sz="900" b="0">
                <a:solidFill>
                  <a:srgbClr val="1E2F5C"/>
                </a:solidFill>
                <a:latin typeface="Kanit"/>
              </a:rPr>
              <a:t>15.3k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31036" y="4101083"/>
            <a:ext cx="882396" cy="1424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22"/>
              </a:lnSpc>
            </a:pPr>
            <a:r>
              <a:rPr sz="850" b="0">
                <a:solidFill>
                  <a:srgbClr val="606060"/>
                </a:solidFill>
                <a:latin typeface="Kanit"/>
              </a:rPr>
              <a:t>25-09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5207" y="3539149"/>
            <a:ext cx="458845" cy="516214"/>
          </a:xfrm>
          <a:prstGeom prst="rect">
            <a:avLst/>
          </a:prstGeom>
          <a:solidFill>
            <a:srgbClr val="D9D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13432" y="3356269"/>
            <a:ext cx="882396" cy="1508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88"/>
              </a:lnSpc>
            </a:pPr>
            <a:r>
              <a:rPr sz="900" b="0">
                <a:solidFill>
                  <a:srgbClr val="1E2F5C"/>
                </a:solidFill>
                <a:latin typeface="Kanit"/>
              </a:rPr>
              <a:t>13.2k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13432" y="4101083"/>
            <a:ext cx="882396" cy="1424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22"/>
              </a:lnSpc>
            </a:pPr>
            <a:r>
              <a:rPr sz="850" b="0">
                <a:solidFill>
                  <a:srgbClr val="606060"/>
                </a:solidFill>
                <a:latin typeface="Kanit"/>
              </a:rPr>
              <a:t>25-10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07603" y="3575865"/>
            <a:ext cx="458845" cy="479498"/>
          </a:xfrm>
          <a:prstGeom prst="rect">
            <a:avLst/>
          </a:prstGeom>
          <a:solidFill>
            <a:srgbClr val="D9D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95828" y="3392985"/>
            <a:ext cx="882396" cy="1508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88"/>
              </a:lnSpc>
            </a:pPr>
            <a:r>
              <a:rPr sz="900" b="0">
                <a:solidFill>
                  <a:srgbClr val="1E2F5C"/>
                </a:solidFill>
                <a:latin typeface="Kanit"/>
              </a:rPr>
              <a:t>12.3k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95828" y="4101083"/>
            <a:ext cx="882396" cy="1424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22"/>
              </a:lnSpc>
            </a:pPr>
            <a:r>
              <a:rPr sz="850" b="0">
                <a:solidFill>
                  <a:srgbClr val="606060"/>
                </a:solidFill>
                <a:latin typeface="Kanit"/>
              </a:rPr>
              <a:t>25-11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89999" y="3609457"/>
            <a:ext cx="458845" cy="445906"/>
          </a:xfrm>
          <a:prstGeom prst="rect">
            <a:avLst/>
          </a:prstGeom>
          <a:solidFill>
            <a:srgbClr val="D9D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078224" y="3426577"/>
            <a:ext cx="882396" cy="1508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88"/>
              </a:lnSpc>
            </a:pPr>
            <a:r>
              <a:rPr sz="900" b="0">
                <a:solidFill>
                  <a:srgbClr val="1E2F5C"/>
                </a:solidFill>
                <a:latin typeface="Kanit"/>
              </a:rPr>
              <a:t>11.4k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78224" y="4101083"/>
            <a:ext cx="882396" cy="1424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22"/>
              </a:lnSpc>
            </a:pPr>
            <a:r>
              <a:rPr sz="850" b="0">
                <a:solidFill>
                  <a:srgbClr val="606060"/>
                </a:solidFill>
                <a:latin typeface="Kanit"/>
              </a:rPr>
              <a:t>25-12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172395" y="3342132"/>
            <a:ext cx="458845" cy="713231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60620" y="3159252"/>
            <a:ext cx="882396" cy="1508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88"/>
              </a:lnSpc>
            </a:pPr>
            <a:r>
              <a:rPr sz="900" b="1">
                <a:solidFill>
                  <a:srgbClr val="CC0000"/>
                </a:solidFill>
                <a:latin typeface="Kanit"/>
              </a:rPr>
              <a:t>18.3k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60620" y="4101083"/>
            <a:ext cx="882396" cy="1424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22"/>
              </a:lnSpc>
            </a:pPr>
            <a:r>
              <a:rPr sz="850" b="0">
                <a:solidFill>
                  <a:srgbClr val="606060"/>
                </a:solidFill>
                <a:latin typeface="Kanit"/>
              </a:rPr>
              <a:t>26-01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08776" y="2830068"/>
            <a:ext cx="5568696" cy="1592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4"/>
              </a:lnSpc>
            </a:pPr>
            <a:r>
              <a:rPr sz="950" b="1">
                <a:solidFill>
                  <a:srgbClr val="1E2F5C"/>
                </a:solidFill>
                <a:latin typeface="Kanit"/>
              </a:rPr>
              <a:t>Passenger car — registrations by month, 2025-08 → 2026-01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08776" y="3031236"/>
            <a:ext cx="5568696" cy="1280160"/>
          </a:xfrm>
          <a:prstGeom prst="rect">
            <a:avLst/>
          </a:prstGeom>
          <a:solidFill>
            <a:srgbClr val="FBFCFE"/>
          </a:solidFill>
          <a:ln w="9525">
            <a:solidFill>
              <a:srgbClr val="D9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57711" y="3740421"/>
            <a:ext cx="458845" cy="314942"/>
          </a:xfrm>
          <a:prstGeom prst="rect">
            <a:avLst/>
          </a:prstGeom>
          <a:solidFill>
            <a:srgbClr val="D9D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45936" y="3557541"/>
            <a:ext cx="882396" cy="1508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88"/>
              </a:lnSpc>
            </a:pPr>
            <a:r>
              <a:rPr sz="900" b="0">
                <a:solidFill>
                  <a:srgbClr val="1E2F5C"/>
                </a:solidFill>
                <a:latin typeface="Kanit"/>
              </a:rPr>
              <a:t>32.0k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45936" y="4101083"/>
            <a:ext cx="882396" cy="1424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22"/>
              </a:lnSpc>
            </a:pPr>
            <a:r>
              <a:rPr sz="850" b="0">
                <a:solidFill>
                  <a:srgbClr val="606060"/>
                </a:solidFill>
                <a:latin typeface="Kanit"/>
              </a:rPr>
              <a:t>25-08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40107" y="3727489"/>
            <a:ext cx="458845" cy="327874"/>
          </a:xfrm>
          <a:prstGeom prst="rect">
            <a:avLst/>
          </a:prstGeom>
          <a:solidFill>
            <a:srgbClr val="D9D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228332" y="3544609"/>
            <a:ext cx="882396" cy="1508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88"/>
              </a:lnSpc>
            </a:pPr>
            <a:r>
              <a:rPr sz="900" b="0">
                <a:solidFill>
                  <a:srgbClr val="1E2F5C"/>
                </a:solidFill>
                <a:latin typeface="Kanit"/>
              </a:rPr>
              <a:t>33.3k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28332" y="4101083"/>
            <a:ext cx="882396" cy="1424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22"/>
              </a:lnSpc>
            </a:pPr>
            <a:r>
              <a:rPr sz="850" b="0">
                <a:solidFill>
                  <a:srgbClr val="606060"/>
                </a:solidFill>
                <a:latin typeface="Kanit"/>
              </a:rPr>
              <a:t>25-09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322503" y="3732400"/>
            <a:ext cx="458845" cy="322963"/>
          </a:xfrm>
          <a:prstGeom prst="rect">
            <a:avLst/>
          </a:prstGeom>
          <a:solidFill>
            <a:srgbClr val="D9D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10728" y="3549520"/>
            <a:ext cx="882396" cy="1508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88"/>
              </a:lnSpc>
            </a:pPr>
            <a:r>
              <a:rPr sz="900" b="0">
                <a:solidFill>
                  <a:srgbClr val="1E2F5C"/>
                </a:solidFill>
                <a:latin typeface="Kanit"/>
              </a:rPr>
              <a:t>32.8k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10728" y="4101083"/>
            <a:ext cx="882396" cy="1424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22"/>
              </a:lnSpc>
            </a:pPr>
            <a:r>
              <a:rPr sz="850" b="0">
                <a:solidFill>
                  <a:srgbClr val="606060"/>
                </a:solidFill>
                <a:latin typeface="Kanit"/>
              </a:rPr>
              <a:t>25-10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204899" y="3744367"/>
            <a:ext cx="458845" cy="310996"/>
          </a:xfrm>
          <a:prstGeom prst="rect">
            <a:avLst/>
          </a:prstGeom>
          <a:solidFill>
            <a:srgbClr val="D9D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993124" y="3561487"/>
            <a:ext cx="882396" cy="1508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88"/>
              </a:lnSpc>
            </a:pPr>
            <a:r>
              <a:rPr sz="900" b="0">
                <a:solidFill>
                  <a:srgbClr val="1E2F5C"/>
                </a:solidFill>
                <a:latin typeface="Kanit"/>
              </a:rPr>
              <a:t>31.6k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993124" y="4101083"/>
            <a:ext cx="882396" cy="1424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22"/>
              </a:lnSpc>
            </a:pPr>
            <a:r>
              <a:rPr sz="850" b="0">
                <a:solidFill>
                  <a:srgbClr val="606060"/>
                </a:solidFill>
                <a:latin typeface="Kanit"/>
              </a:rPr>
              <a:t>25-11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087295" y="3751335"/>
            <a:ext cx="458845" cy="304028"/>
          </a:xfrm>
          <a:prstGeom prst="rect">
            <a:avLst/>
          </a:prstGeom>
          <a:solidFill>
            <a:srgbClr val="D9D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875520" y="3568455"/>
            <a:ext cx="882396" cy="1508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88"/>
              </a:lnSpc>
            </a:pPr>
            <a:r>
              <a:rPr sz="900" b="0">
                <a:solidFill>
                  <a:srgbClr val="1E2F5C"/>
                </a:solidFill>
                <a:latin typeface="Kanit"/>
              </a:rPr>
              <a:t>30.9k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875520" y="4101083"/>
            <a:ext cx="882396" cy="1424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22"/>
              </a:lnSpc>
            </a:pPr>
            <a:r>
              <a:rPr sz="850" b="0">
                <a:solidFill>
                  <a:srgbClr val="606060"/>
                </a:solidFill>
                <a:latin typeface="Kanit"/>
              </a:rPr>
              <a:t>25-12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969691" y="3342132"/>
            <a:ext cx="458845" cy="713231"/>
          </a:xfrm>
          <a:prstGeom prst="rect">
            <a:avLst/>
          </a:prstGeom>
          <a:solidFill>
            <a:srgbClr val="1E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757916" y="3159252"/>
            <a:ext cx="882396" cy="1508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88"/>
              </a:lnSpc>
            </a:pPr>
            <a:r>
              <a:rPr sz="900" b="1">
                <a:solidFill>
                  <a:srgbClr val="1E2F5C"/>
                </a:solidFill>
                <a:latin typeface="Kanit"/>
              </a:rPr>
              <a:t>72.5k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757916" y="4101083"/>
            <a:ext cx="882396" cy="1424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22"/>
              </a:lnSpc>
            </a:pPr>
            <a:r>
              <a:rPr sz="850" b="0">
                <a:solidFill>
                  <a:srgbClr val="606060"/>
                </a:solidFill>
                <a:latin typeface="Kanit"/>
              </a:rPr>
              <a:t>26-01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11480" y="4494276"/>
            <a:ext cx="5568696" cy="1007618"/>
          </a:xfrm>
          <a:prstGeom prst="rect">
            <a:avLst/>
          </a:prstGeom>
          <a:solidFill>
            <a:srgbClr val="FC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11480" y="4494276"/>
            <a:ext cx="50292" cy="1007618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0936" y="4640580"/>
            <a:ext cx="5239512" cy="158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</a:pPr>
            <a:r>
              <a:rPr sz="950" b="1">
                <a:solidFill>
                  <a:srgbClr val="CC0000"/>
                </a:solidFill>
                <a:latin typeface="Kanit"/>
              </a:rPr>
              <a:t>The pickup “trend” is one flagged month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0936" y="4845050"/>
            <a:ext cx="5239512" cy="5105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40"/>
              </a:lnSpc>
            </a:pPr>
            <a:r>
              <a:rPr sz="1000" b="0">
                <a:solidFill>
                  <a:srgbClr val="1E2F5C"/>
                </a:solidFill>
                <a:latin typeface="Kanit"/>
              </a:rPr>
              <a:t>• Five months fall in a row, then one month jumps — a bar, not a turn.
• Slope with that month in: +131/mo. Without it: -986/mo.
• Even that month was −14.6% YoY for pickups — still falling.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208776" y="4494276"/>
            <a:ext cx="5568696" cy="1007618"/>
          </a:xfrm>
          <a:prstGeom prst="rect">
            <a:avLst/>
          </a:prstGeom>
          <a:solidFill>
            <a:srgbClr val="FDF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208776" y="4494276"/>
            <a:ext cx="50292" cy="1007618"/>
          </a:xfrm>
          <a:prstGeom prst="rect">
            <a:avLst/>
          </a:prstGeom>
          <a:solidFill>
            <a:srgbClr val="F5C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28232" y="4640580"/>
            <a:ext cx="5239512" cy="158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</a:pPr>
            <a:r>
              <a:rPr sz="950" b="1">
                <a:solidFill>
                  <a:srgbClr val="9A7411"/>
                </a:solidFill>
                <a:latin typeface="Kanit"/>
              </a:rPr>
              <a:t>Most of the car “boom” is one month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28232" y="4845050"/>
            <a:ext cx="5239512" cy="5105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40"/>
              </a:lnSpc>
            </a:pPr>
            <a:r>
              <a:rPr sz="1000" b="0">
                <a:solidFill>
                  <a:srgbClr val="1E2F5C"/>
                </a:solidFill>
                <a:latin typeface="Kanit"/>
              </a:rPr>
              <a:t>• 6-month car growth: +34.3%. Ex-flag: +11.0%.
• That month alone ran +69.3% YoY — pulled forward, not demand.
• The 12-month figure, +19.8%, is the safer read.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11480" y="5648198"/>
            <a:ext cx="535747" cy="19202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1E2F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11480" y="5677458"/>
            <a:ext cx="535747" cy="134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056"/>
              </a:lnSpc>
            </a:pPr>
            <a:r>
              <a:rPr sz="800" b="1">
                <a:solidFill>
                  <a:srgbClr val="1E2F5C"/>
                </a:solidFill>
                <a:latin typeface="Kanit"/>
              </a:rPr>
              <a:t>MIXED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56955" y="5661914"/>
            <a:ext cx="10720516" cy="1543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15"/>
              </a:lnSpc>
            </a:pPr>
            <a:r>
              <a:rPr sz="900" b="0">
                <a:solidFill>
                  <a:srgbClr val="606060"/>
                </a:solidFill>
                <a:latin typeface="Kanit"/>
              </a:rPr>
              <a:t>Registrations MEASURED — DLT gdcatalog first registrations, 48 months from 2022-01. Ex-flag figures are our arithmetic on that series — ESTIMATED, a judgement call on which month to trust.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19456"/>
            <a:ext cx="8686800" cy="1508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88"/>
              </a:lnSpc>
            </a:pPr>
            <a:r>
              <a:rPr sz="900" b="1">
                <a:solidFill>
                  <a:srgbClr val="CC0000"/>
                </a:solidFill>
                <a:latin typeface="Kanit"/>
              </a:rPr>
              <a:t>10C · BRAND CONCENTRATION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57200"/>
            <a:ext cx="996696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E2F5C"/>
                </a:solidFill>
                <a:latin typeface="Kanit"/>
              </a:rPr>
              <a:t>Two vehicle markets, and only one is holding its shape.</a:t>
            </a:r>
          </a:p>
        </p:txBody>
      </p:sp>
      <p:pic>
        <p:nvPicPr>
          <p:cNvPr id="5" name="Picture 4" descr="aut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4472" y="256032"/>
            <a:ext cx="941832" cy="29260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11480" y="969264"/>
            <a:ext cx="11365992" cy="20116"/>
          </a:xfrm>
          <a:prstGeom prst="rect">
            <a:avLst/>
          </a:prstGeom>
          <a:solidFill>
            <a:srgbClr val="1E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91969" cy="109728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92824"/>
            <a:ext cx="6400800" cy="134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6"/>
              </a:lnSpc>
            </a:pPr>
            <a:r>
              <a:rPr sz="800" b="0">
                <a:solidFill>
                  <a:srgbClr val="606060"/>
                </a:solidFill>
                <a:latin typeface="Kanit"/>
              </a:rPr>
              <a:t>Restricted Data – Reproduction is prohibited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152144"/>
            <a:ext cx="2738628" cy="1060704"/>
          </a:xfrm>
          <a:prstGeom prst="roundRect">
            <a:avLst>
              <a:gd name="adj" fmla="val 7758"/>
            </a:avLst>
          </a:prstGeom>
          <a:solidFill>
            <a:srgbClr val="F4F6FA"/>
          </a:solidFill>
          <a:ln w="9525">
            <a:solidFill>
              <a:srgbClr val="D9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252728"/>
            <a:ext cx="2464308" cy="1592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4"/>
              </a:lnSpc>
            </a:pPr>
            <a:r>
              <a:rPr sz="950" b="0">
                <a:solidFill>
                  <a:srgbClr val="606060"/>
                </a:solidFill>
                <a:latin typeface="Kanit"/>
              </a:rPr>
              <a:t>Top 2 pickup brands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426464"/>
            <a:ext cx="2464308" cy="33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00"/>
              </a:lnSpc>
            </a:pPr>
            <a:r>
              <a:rPr sz="2100" b="1">
                <a:solidFill>
                  <a:srgbClr val="F5C242"/>
                </a:solidFill>
                <a:latin typeface="Kanit"/>
              </a:rPr>
              <a:t>78.7%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792224"/>
            <a:ext cx="2464308" cy="3474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60"/>
              </a:lnSpc>
            </a:pPr>
            <a:r>
              <a:rPr sz="800" b="0">
                <a:solidFill>
                  <a:srgbClr val="606060"/>
                </a:solidFill>
                <a:latin typeface="Kanit"/>
              </a:rPr>
              <a:t>TOYOTA + ISUZU · was 80.5% a year ago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87268" y="1152144"/>
            <a:ext cx="2738628" cy="1060704"/>
          </a:xfrm>
          <a:prstGeom prst="roundRect">
            <a:avLst>
              <a:gd name="adj" fmla="val 7758"/>
            </a:avLst>
          </a:prstGeom>
          <a:solidFill>
            <a:srgbClr val="F4F6FA"/>
          </a:solidFill>
          <a:ln w="9525">
            <a:solidFill>
              <a:srgbClr val="D9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4428" y="1252728"/>
            <a:ext cx="2464308" cy="1592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4"/>
              </a:lnSpc>
            </a:pPr>
            <a:r>
              <a:rPr sz="950" b="0">
                <a:solidFill>
                  <a:srgbClr val="606060"/>
                </a:solidFill>
                <a:latin typeface="Kanit"/>
              </a:rPr>
              <a:t>Top 2 car brands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4428" y="1426464"/>
            <a:ext cx="2464308" cy="33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00"/>
              </a:lnSpc>
            </a:pPr>
            <a:r>
              <a:rPr sz="2100" b="1">
                <a:solidFill>
                  <a:srgbClr val="CC0000"/>
                </a:solidFill>
                <a:latin typeface="Kanit"/>
              </a:rPr>
              <a:t>48.5%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4428" y="1792224"/>
            <a:ext cx="2464308" cy="3474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60"/>
              </a:lnSpc>
            </a:pPr>
            <a:r>
              <a:rPr sz="800" b="0">
                <a:solidFill>
                  <a:srgbClr val="606060"/>
                </a:solidFill>
                <a:latin typeface="Kanit"/>
              </a:rPr>
              <a:t>TOYOTA + HONDA · down 9.4 points in a year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63056" y="1152144"/>
            <a:ext cx="2738628" cy="1060704"/>
          </a:xfrm>
          <a:prstGeom prst="roundRect">
            <a:avLst>
              <a:gd name="adj" fmla="val 7758"/>
            </a:avLst>
          </a:prstGeom>
          <a:solidFill>
            <a:srgbClr val="F4F6FA"/>
          </a:solidFill>
          <a:ln w="9525">
            <a:solidFill>
              <a:srgbClr val="D9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0216" y="1252728"/>
            <a:ext cx="2464308" cy="1592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4"/>
              </a:lnSpc>
            </a:pPr>
            <a:r>
              <a:rPr sz="950" b="0">
                <a:solidFill>
                  <a:srgbClr val="606060"/>
                </a:solidFill>
                <a:latin typeface="Kanit"/>
              </a:rPr>
              <a:t>Third PU brand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216" y="1426464"/>
            <a:ext cx="2464308" cy="33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00"/>
              </a:lnSpc>
            </a:pPr>
            <a:r>
              <a:rPr sz="2100" b="1">
                <a:solidFill>
                  <a:srgbClr val="1E2F5C"/>
                </a:solidFill>
                <a:latin typeface="Kanit"/>
              </a:rPr>
              <a:t>10.8%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0216" y="1792224"/>
            <a:ext cx="2464308" cy="3474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60"/>
              </a:lnSpc>
            </a:pPr>
            <a:r>
              <a:rPr sz="800" b="0">
                <a:solidFill>
                  <a:srgbClr val="606060"/>
                </a:solidFill>
                <a:latin typeface="Kanit"/>
              </a:rPr>
              <a:t>FORD · next is MITSUBISHI at 5.3%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38844" y="1152144"/>
            <a:ext cx="2738628" cy="1060704"/>
          </a:xfrm>
          <a:prstGeom prst="roundRect">
            <a:avLst>
              <a:gd name="adj" fmla="val 7758"/>
            </a:avLst>
          </a:prstGeom>
          <a:solidFill>
            <a:srgbClr val="F4F6FA"/>
          </a:solidFill>
          <a:ln w="9525">
            <a:solidFill>
              <a:srgbClr val="D9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76004" y="1252728"/>
            <a:ext cx="2464308" cy="1592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4"/>
              </a:lnSpc>
            </a:pPr>
            <a:r>
              <a:rPr sz="950" b="0">
                <a:solidFill>
                  <a:srgbClr val="606060"/>
                </a:solidFill>
                <a:latin typeface="Kanit"/>
              </a:rPr>
              <a:t>New car brands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76004" y="1426464"/>
            <a:ext cx="2464308" cy="33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00"/>
              </a:lnSpc>
            </a:pPr>
            <a:r>
              <a:rPr sz="2100" b="1">
                <a:solidFill>
                  <a:srgbClr val="CC0000"/>
                </a:solidFill>
                <a:latin typeface="Kanit"/>
              </a:rPr>
              <a:t>26.8%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76004" y="1792224"/>
            <a:ext cx="2464308" cy="3474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60"/>
              </a:lnSpc>
            </a:pPr>
            <a:r>
              <a:rPr sz="800" b="0">
                <a:solidFill>
                  <a:srgbClr val="606060"/>
                </a:solidFill>
                <a:latin typeface="Kanit"/>
              </a:rPr>
              <a:t>BYD + MG + Jaecoo + AION + Deepal · no Thai residual record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2395728"/>
            <a:ext cx="5568696" cy="1592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4"/>
              </a:lnSpc>
            </a:pPr>
            <a:r>
              <a:rPr sz="950" b="1">
                <a:solidFill>
                  <a:srgbClr val="1E2F5C"/>
                </a:solidFill>
                <a:latin typeface="Kanit"/>
              </a:rPr>
              <a:t>Pickup + PPV — 183,277 registered in 12 months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08776" y="2395728"/>
            <a:ext cx="5568696" cy="1592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4"/>
              </a:lnSpc>
            </a:pPr>
            <a:r>
              <a:rPr sz="950" b="1">
                <a:solidFill>
                  <a:srgbClr val="1E2F5C"/>
                </a:solidFill>
                <a:latin typeface="Kanit"/>
              </a:rPr>
              <a:t>Passenger car — 443,641 registered in 12 months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411480" y="2615184"/>
          <a:ext cx="5568696" cy="22896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11680"/>
                <a:gridCol w="1371600"/>
                <a:gridCol w="1463040"/>
                <a:gridCol w="722376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PU + PPV brand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12-month units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share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</a:tr>
              <a:tr h="245059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E2F5C"/>
                          </a:solidFill>
                          <a:latin typeface="Kanit"/>
                        </a:rPr>
                        <a:t>TOYOTA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606060"/>
                          </a:solidFill>
                          <a:latin typeface="Kanit"/>
                        </a:rPr>
                        <a:t>incumbent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E2F5C"/>
                          </a:solidFill>
                          <a:latin typeface="Kanit"/>
                        </a:rPr>
                        <a:t>82,838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1E2F5C"/>
                          </a:solidFill>
                          <a:latin typeface="Kanit"/>
                        </a:rPr>
                        <a:t>45.20%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45059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E2F5C"/>
                          </a:solidFill>
                          <a:latin typeface="Kanit"/>
                        </a:rPr>
                        <a:t>ISUZU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606060"/>
                          </a:solidFill>
                          <a:latin typeface="Kanit"/>
                        </a:rPr>
                        <a:t>incumbent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E2F5C"/>
                          </a:solidFill>
                          <a:latin typeface="Kanit"/>
                        </a:rPr>
                        <a:t>61,342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1E2F5C"/>
                          </a:solidFill>
                          <a:latin typeface="Kanit"/>
                        </a:rPr>
                        <a:t>33.47%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</a:tr>
              <a:tr h="245059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E2F5C"/>
                          </a:solidFill>
                          <a:latin typeface="Kanit"/>
                        </a:rPr>
                        <a:t>FORD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606060"/>
                          </a:solidFill>
                          <a:latin typeface="Kanit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E2F5C"/>
                          </a:solidFill>
                          <a:latin typeface="Kanit"/>
                        </a:rPr>
                        <a:t>19,884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CC0000"/>
                          </a:solidFill>
                          <a:latin typeface="Kanit"/>
                        </a:rPr>
                        <a:t>10.85%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45059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E2F5C"/>
                          </a:solidFill>
                          <a:latin typeface="Kanit"/>
                        </a:rPr>
                        <a:t>MITSUBISHI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606060"/>
                          </a:solidFill>
                          <a:latin typeface="Kanit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E2F5C"/>
                          </a:solidFill>
                          <a:latin typeface="Kanit"/>
                        </a:rPr>
                        <a:t>9,777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CC0000"/>
                          </a:solidFill>
                          <a:latin typeface="Kanit"/>
                        </a:rPr>
                        <a:t>5.33%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</a:tr>
              <a:tr h="245059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E2F5C"/>
                          </a:solidFill>
                          <a:latin typeface="Kanit"/>
                        </a:rPr>
                        <a:t>GWM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606060"/>
                          </a:solidFill>
                          <a:latin typeface="Kanit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E2F5C"/>
                          </a:solidFill>
                          <a:latin typeface="Kanit"/>
                        </a:rPr>
                        <a:t>6,381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CC0000"/>
                          </a:solidFill>
                          <a:latin typeface="Kanit"/>
                        </a:rPr>
                        <a:t>3.48%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45059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E2F5C"/>
                          </a:solidFill>
                          <a:latin typeface="Kanit"/>
                        </a:rPr>
                        <a:t>NISSAN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606060"/>
                          </a:solidFill>
                          <a:latin typeface="Kanit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E2F5C"/>
                          </a:solidFill>
                          <a:latin typeface="Kanit"/>
                        </a:rPr>
                        <a:t>2,174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CC0000"/>
                          </a:solidFill>
                          <a:latin typeface="Kanit"/>
                        </a:rPr>
                        <a:t>1.19%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</a:tr>
              <a:tr h="245059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E2F5C"/>
                          </a:solidFill>
                          <a:latin typeface="Kanit"/>
                        </a:rPr>
                        <a:t>MG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606060"/>
                          </a:solidFill>
                          <a:latin typeface="Kanit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E2F5C"/>
                          </a:solidFill>
                          <a:latin typeface="Kanit"/>
                        </a:rPr>
                        <a:t>725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CC0000"/>
                          </a:solidFill>
                          <a:latin typeface="Kanit"/>
                        </a:rPr>
                        <a:t>0.40%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45059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E2F5C"/>
                          </a:solidFill>
                          <a:latin typeface="Kanit"/>
                        </a:rPr>
                        <a:t>MAZDA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606060"/>
                          </a:solidFill>
                          <a:latin typeface="Kanit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E2F5C"/>
                          </a:solidFill>
                          <a:latin typeface="Kanit"/>
                        </a:rPr>
                        <a:t>121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CC0000"/>
                          </a:solidFill>
                          <a:latin typeface="Kanit"/>
                        </a:rPr>
                        <a:t>0.07%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6208776" y="2615184"/>
          <a:ext cx="5568696" cy="22896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11680"/>
                <a:gridCol w="1371600"/>
                <a:gridCol w="1463040"/>
                <a:gridCol w="722376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Car brand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12-month units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share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</a:tr>
              <a:tr h="245059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E2F5C"/>
                          </a:solidFill>
                          <a:latin typeface="Kanit"/>
                        </a:rPr>
                        <a:t>TOYOTA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606060"/>
                          </a:solidFill>
                          <a:latin typeface="Kanit"/>
                        </a:rPr>
                        <a:t>incumbent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E2F5C"/>
                          </a:solidFill>
                          <a:latin typeface="Kanit"/>
                        </a:rPr>
                        <a:t>142,799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1E2F5C"/>
                          </a:solidFill>
                          <a:latin typeface="Kanit"/>
                        </a:rPr>
                        <a:t>32.19%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45059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E2F5C"/>
                          </a:solidFill>
                          <a:latin typeface="Kanit"/>
                        </a:rPr>
                        <a:t>HONDA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606060"/>
                          </a:solidFill>
                          <a:latin typeface="Kanit"/>
                        </a:rPr>
                        <a:t>incumbent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E2F5C"/>
                          </a:solidFill>
                          <a:latin typeface="Kanit"/>
                        </a:rPr>
                        <a:t>72,171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1E2F5C"/>
                          </a:solidFill>
                          <a:latin typeface="Kanit"/>
                        </a:rPr>
                        <a:t>16.27%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</a:tr>
              <a:tr h="245059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E2F5C"/>
                          </a:solidFill>
                          <a:latin typeface="Kanit"/>
                        </a:rPr>
                        <a:t>BYD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606060"/>
                          </a:solidFill>
                          <a:latin typeface="Kanit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E2F5C"/>
                          </a:solidFill>
                          <a:latin typeface="Kanit"/>
                        </a:rPr>
                        <a:t>49,990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CC0000"/>
                          </a:solidFill>
                          <a:latin typeface="Kanit"/>
                        </a:rPr>
                        <a:t>11.27%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45059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E2F5C"/>
                          </a:solidFill>
                          <a:latin typeface="Kanit"/>
                        </a:rPr>
                        <a:t>MG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606060"/>
                          </a:solidFill>
                          <a:latin typeface="Kanit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E2F5C"/>
                          </a:solidFill>
                          <a:latin typeface="Kanit"/>
                        </a:rPr>
                        <a:t>25,839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CC0000"/>
                          </a:solidFill>
                          <a:latin typeface="Kanit"/>
                        </a:rPr>
                        <a:t>5.82%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</a:tr>
              <a:tr h="245059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E2F5C"/>
                          </a:solidFill>
                          <a:latin typeface="Kanit"/>
                        </a:rPr>
                        <a:t>JAECOO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606060"/>
                          </a:solidFill>
                          <a:latin typeface="Kanit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E2F5C"/>
                          </a:solidFill>
                          <a:latin typeface="Kanit"/>
                        </a:rPr>
                        <a:t>16,905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CC0000"/>
                          </a:solidFill>
                          <a:latin typeface="Kanit"/>
                        </a:rPr>
                        <a:t>3.81%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45059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E2F5C"/>
                          </a:solidFill>
                          <a:latin typeface="Kanit"/>
                        </a:rPr>
                        <a:t>MITSUBISHI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606060"/>
                          </a:solidFill>
                          <a:latin typeface="Kanit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E2F5C"/>
                          </a:solidFill>
                          <a:latin typeface="Kanit"/>
                        </a:rPr>
                        <a:t>16,253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CC0000"/>
                          </a:solidFill>
                          <a:latin typeface="Kanit"/>
                        </a:rPr>
                        <a:t>3.66%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</a:tr>
              <a:tr h="245059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E2F5C"/>
                          </a:solidFill>
                          <a:latin typeface="Kanit"/>
                        </a:rPr>
                        <a:t>AION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606060"/>
                          </a:solidFill>
                          <a:latin typeface="Kanit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E2F5C"/>
                          </a:solidFill>
                          <a:latin typeface="Kanit"/>
                        </a:rPr>
                        <a:t>15,378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CC0000"/>
                          </a:solidFill>
                          <a:latin typeface="Kanit"/>
                        </a:rPr>
                        <a:t>3.47%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45059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E2F5C"/>
                          </a:solidFill>
                          <a:latin typeface="Kanit"/>
                        </a:rPr>
                        <a:t>DEEPAL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606060"/>
                          </a:solidFill>
                          <a:latin typeface="Kanit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E2F5C"/>
                          </a:solidFill>
                          <a:latin typeface="Kanit"/>
                        </a:rPr>
                        <a:t>10,628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CC0000"/>
                          </a:solidFill>
                          <a:latin typeface="Kanit"/>
                        </a:rPr>
                        <a:t>2.40%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29" name="Rounded Rectangle 28"/>
          <p:cNvSpPr/>
          <p:nvPr/>
        </p:nvSpPr>
        <p:spPr>
          <a:xfrm>
            <a:off x="411480" y="5051145"/>
            <a:ext cx="754177" cy="19202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1579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5080406"/>
            <a:ext cx="754177" cy="134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056"/>
              </a:lnSpc>
            </a:pPr>
            <a:r>
              <a:rPr sz="800" b="1">
                <a:solidFill>
                  <a:srgbClr val="15795F"/>
                </a:solidFill>
                <a:latin typeface="Kanit"/>
              </a:rPr>
              <a:t>MEASURED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75385" y="5064861"/>
            <a:ext cx="10502086" cy="30861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15"/>
              </a:lnSpc>
            </a:pPr>
            <a:r>
              <a:rPr sz="900" b="0">
                <a:solidFill>
                  <a:srgbClr val="606060"/>
                </a:solidFill>
                <a:latin typeface="Kanit"/>
              </a:rPr>
              <a:t>DLT first registrations at nameplate grain, trailing 12 months, NATIONAL only — no province column exists. First registrations are the FUTURE collateral pool, not a stock of what is on the road, and not used-vehicle sales.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" y="5524347"/>
            <a:ext cx="11365992" cy="1007618"/>
          </a:xfrm>
          <a:prstGeom prst="rect">
            <a:avLst/>
          </a:prstGeom>
          <a:solidFill>
            <a:srgbClr val="FC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11480" y="5524347"/>
            <a:ext cx="50292" cy="1007618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936" y="5670651"/>
            <a:ext cx="11036808" cy="158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</a:pPr>
            <a:r>
              <a:rPr sz="950" b="1">
                <a:solidFill>
                  <a:srgbClr val="CC0000"/>
                </a:solidFill>
                <a:latin typeface="Kanit"/>
              </a:rPr>
              <a:t>Two markets, opposite directions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" y="5875121"/>
            <a:ext cx="11036808" cy="5105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40"/>
              </a:lnSpc>
            </a:pPr>
            <a:r>
              <a:rPr sz="1000" b="0">
                <a:solidFill>
                  <a:srgbClr val="1E2F5C"/>
                </a:solidFill>
                <a:latin typeface="Kanit"/>
              </a:rPr>
              <a:t>• Pickup: Toyota + Isuzu hold 78.7%, down only 1.8 points in a year. The pool shrinks; its shape barely changes.
• Car: 9.4 points surrendered in a year. 26.8% of new cars now carry no Thai residual record.
• We know what a five-year-old Hilux is worth. We do not yet know what a five-year-old BYD is worth.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19456"/>
            <a:ext cx="8686800" cy="1508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88"/>
              </a:lnSpc>
            </a:pPr>
            <a:r>
              <a:rPr sz="900" b="1">
                <a:solidFill>
                  <a:srgbClr val="CC0000"/>
                </a:solidFill>
                <a:latin typeface="Kanit"/>
              </a:rPr>
              <a:t>10D · THE NAMEPLATES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57200"/>
            <a:ext cx="996696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E2F5C"/>
                </a:solidFill>
                <a:latin typeface="Kanit"/>
              </a:rPr>
              <a:t>Top 5 pickups are 78.0% of the market. The top car is 12.5%.</a:t>
            </a:r>
          </a:p>
        </p:txBody>
      </p:sp>
      <p:pic>
        <p:nvPicPr>
          <p:cNvPr id="5" name="Picture 4" descr="aut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4472" y="256032"/>
            <a:ext cx="941832" cy="29260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11480" y="969264"/>
            <a:ext cx="11365992" cy="20116"/>
          </a:xfrm>
          <a:prstGeom prst="rect">
            <a:avLst/>
          </a:prstGeom>
          <a:solidFill>
            <a:srgbClr val="1E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91969" cy="109728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92824"/>
            <a:ext cx="6400800" cy="134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6"/>
              </a:lnSpc>
            </a:pPr>
            <a:r>
              <a:rPr sz="800" b="0">
                <a:solidFill>
                  <a:srgbClr val="606060"/>
                </a:solidFill>
                <a:latin typeface="Kanit"/>
              </a:rPr>
              <a:t>Restricted Data – Reproduction is prohibited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152144"/>
            <a:ext cx="2738628" cy="1042415"/>
          </a:xfrm>
          <a:prstGeom prst="roundRect">
            <a:avLst>
              <a:gd name="adj" fmla="val 7894"/>
            </a:avLst>
          </a:prstGeom>
          <a:solidFill>
            <a:srgbClr val="F4F6FA"/>
          </a:solidFill>
          <a:ln w="9525">
            <a:solidFill>
              <a:srgbClr val="D9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252728"/>
            <a:ext cx="2464308" cy="1592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4"/>
              </a:lnSpc>
            </a:pPr>
            <a:r>
              <a:rPr sz="950" b="0">
                <a:solidFill>
                  <a:srgbClr val="606060"/>
                </a:solidFill>
                <a:latin typeface="Kanit"/>
              </a:rPr>
              <a:t>Top 5 PU nameplates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426464"/>
            <a:ext cx="2464308" cy="33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00"/>
              </a:lnSpc>
            </a:pPr>
            <a:r>
              <a:rPr sz="2100" b="1">
                <a:solidFill>
                  <a:srgbClr val="F5C242"/>
                </a:solidFill>
                <a:latin typeface="Kanit"/>
              </a:rPr>
              <a:t>78.0%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792224"/>
            <a:ext cx="2464308" cy="32918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60"/>
              </a:lnSpc>
            </a:pPr>
            <a:r>
              <a:rPr sz="800" b="0">
                <a:solidFill>
                  <a:srgbClr val="606060"/>
                </a:solidFill>
                <a:latin typeface="Kanit"/>
              </a:rPr>
              <a:t>of the 183,277 pickups and PPVs registered in 12 months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87268" y="1152144"/>
            <a:ext cx="2738628" cy="1042415"/>
          </a:xfrm>
          <a:prstGeom prst="roundRect">
            <a:avLst>
              <a:gd name="adj" fmla="val 7894"/>
            </a:avLst>
          </a:prstGeom>
          <a:solidFill>
            <a:srgbClr val="F4F6FA"/>
          </a:solidFill>
          <a:ln w="9525">
            <a:solidFill>
              <a:srgbClr val="D9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4428" y="1252728"/>
            <a:ext cx="2464308" cy="1592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4"/>
              </a:lnSpc>
            </a:pPr>
            <a:r>
              <a:rPr sz="950" b="0">
                <a:solidFill>
                  <a:srgbClr val="606060"/>
                </a:solidFill>
                <a:latin typeface="Kanit"/>
              </a:rPr>
              <a:t>Top 5 PA nameplates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4428" y="1426464"/>
            <a:ext cx="2464308" cy="33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00"/>
              </a:lnSpc>
            </a:pPr>
            <a:r>
              <a:rPr sz="2100" b="1">
                <a:solidFill>
                  <a:srgbClr val="CC0000"/>
                </a:solidFill>
                <a:latin typeface="Kanit"/>
              </a:rPr>
              <a:t>32.5%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4428" y="1792224"/>
            <a:ext cx="2464308" cy="32918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60"/>
              </a:lnSpc>
            </a:pPr>
            <a:r>
              <a:rPr sz="800" b="0">
                <a:solidFill>
                  <a:srgbClr val="606060"/>
                </a:solidFill>
                <a:latin typeface="Kanit"/>
              </a:rPr>
              <a:t>of the 443,641 cars — the same five-model test, less than half the answer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63056" y="1152144"/>
            <a:ext cx="2738628" cy="1042415"/>
          </a:xfrm>
          <a:prstGeom prst="roundRect">
            <a:avLst>
              <a:gd name="adj" fmla="val 7894"/>
            </a:avLst>
          </a:prstGeom>
          <a:solidFill>
            <a:srgbClr val="F4F6FA"/>
          </a:solidFill>
          <a:ln w="9525">
            <a:solidFill>
              <a:srgbClr val="D9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0216" y="1252728"/>
            <a:ext cx="2464308" cy="1592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4"/>
              </a:lnSpc>
            </a:pPr>
            <a:r>
              <a:rPr sz="950" b="0">
                <a:solidFill>
                  <a:srgbClr val="606060"/>
                </a:solidFill>
                <a:latin typeface="Kanit"/>
              </a:rPr>
              <a:t>Biggest PU nameplate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216" y="1426464"/>
            <a:ext cx="2464308" cy="33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00"/>
              </a:lnSpc>
            </a:pPr>
            <a:r>
              <a:rPr sz="2100" b="1">
                <a:solidFill>
                  <a:srgbClr val="CC0000"/>
                </a:solidFill>
                <a:latin typeface="Kanit"/>
              </a:rPr>
              <a:t>31.3%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0216" y="1792224"/>
            <a:ext cx="2464308" cy="32918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60"/>
              </a:lnSpc>
            </a:pPr>
            <a:r>
              <a:rPr sz="800" b="0">
                <a:solidFill>
                  <a:srgbClr val="606060"/>
                </a:solidFill>
                <a:latin typeface="Kanit"/>
              </a:rPr>
              <a:t>HILUX REVO · 57,445 units · -21.5% YoY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38844" y="1152144"/>
            <a:ext cx="2738628" cy="1042415"/>
          </a:xfrm>
          <a:prstGeom prst="roundRect">
            <a:avLst>
              <a:gd name="adj" fmla="val 7894"/>
            </a:avLst>
          </a:prstGeom>
          <a:solidFill>
            <a:srgbClr val="F4F6FA"/>
          </a:solidFill>
          <a:ln w="9525">
            <a:solidFill>
              <a:srgbClr val="D9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76004" y="1252728"/>
            <a:ext cx="2464308" cy="1592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4"/>
              </a:lnSpc>
            </a:pPr>
            <a:r>
              <a:rPr sz="950" b="0">
                <a:solidFill>
                  <a:srgbClr val="606060"/>
                </a:solidFill>
                <a:latin typeface="Kanit"/>
              </a:rPr>
              <a:t>Biggest PA nameplate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76004" y="1426464"/>
            <a:ext cx="2464308" cy="33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00"/>
              </a:lnSpc>
            </a:pPr>
            <a:r>
              <a:rPr sz="2100" b="1">
                <a:solidFill>
                  <a:srgbClr val="1E2F5C"/>
                </a:solidFill>
                <a:latin typeface="Kanit"/>
              </a:rPr>
              <a:t>12.5%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76004" y="1792224"/>
            <a:ext cx="2464308" cy="32918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60"/>
              </a:lnSpc>
            </a:pPr>
            <a:r>
              <a:rPr sz="800" b="0">
                <a:solidFill>
                  <a:srgbClr val="606060"/>
                </a:solidFill>
                <a:latin typeface="Kanit"/>
              </a:rPr>
              <a:t>TOYOTA YARIS ATIV · 55,544 units · +18.3% YoY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2377439"/>
            <a:ext cx="5568696" cy="1592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4"/>
              </a:lnSpc>
            </a:pPr>
            <a:r>
              <a:rPr sz="950" b="1">
                <a:solidFill>
                  <a:srgbClr val="1E2F5C"/>
                </a:solidFill>
                <a:latin typeface="Kanit"/>
              </a:rPr>
              <a:t>PU nameplates — share of the 183,277-unit pickup + PPV market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08776" y="2377439"/>
            <a:ext cx="5568696" cy="1592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4"/>
              </a:lnSpc>
            </a:pPr>
            <a:r>
              <a:rPr sz="950" b="1">
                <a:solidFill>
                  <a:srgbClr val="1E2F5C"/>
                </a:solidFill>
                <a:latin typeface="Kanit"/>
              </a:rPr>
              <a:t>PA nameplates — share of the 443,641-unit car market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411480" y="2596896"/>
          <a:ext cx="5568696" cy="22165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74520"/>
                <a:gridCol w="548640"/>
                <a:gridCol w="1234440"/>
                <a:gridCol w="1143000"/>
                <a:gridCol w="768096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PU nameplate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12-month units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share of PU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YoY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</a:tr>
              <a:tr h="235915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HILUX REVO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606060"/>
                          </a:solidFill>
                          <a:latin typeface="Kanit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57,445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31.34%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CC0000"/>
                          </a:solidFill>
                          <a:latin typeface="Kanit"/>
                        </a:rPr>
                        <a:t>-21.5%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35915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D-MAX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606060"/>
                          </a:solidFill>
                          <a:latin typeface="Kanit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49,425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26.97%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CC0000"/>
                          </a:solidFill>
                          <a:latin typeface="Kanit"/>
                        </a:rPr>
                        <a:t>-23.0%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</a:tr>
              <a:tr h="235915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FORTUNER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606060"/>
                          </a:solidFill>
                          <a:latin typeface="Kanit"/>
                        </a:rPr>
                        <a:t>PPV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14,146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7.72%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15795F"/>
                          </a:solidFill>
                          <a:latin typeface="Kanit"/>
                        </a:rPr>
                        <a:t>+0.3%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35915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MU-X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606060"/>
                          </a:solidFill>
                          <a:latin typeface="Kanit"/>
                        </a:rPr>
                        <a:t>PPV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11,916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6.50%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CC0000"/>
                          </a:solidFill>
                          <a:latin typeface="Kanit"/>
                        </a:rPr>
                        <a:t>-8.7%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</a:tr>
              <a:tr h="235915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RANGER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606060"/>
                          </a:solidFill>
                          <a:latin typeface="Kanit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10,055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5.49%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CC0000"/>
                          </a:solidFill>
                          <a:latin typeface="Kanit"/>
                        </a:rPr>
                        <a:t>-30.0%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35915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TRITON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606060"/>
                          </a:solidFill>
                          <a:latin typeface="Kanit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7,989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4.36%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CC0000"/>
                          </a:solidFill>
                          <a:latin typeface="Kanit"/>
                        </a:rPr>
                        <a:t>-2.5%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</a:tr>
              <a:tr h="235915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HILUX CHAMP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606060"/>
                          </a:solidFill>
                          <a:latin typeface="Kanit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7,923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4.32%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CC0000"/>
                          </a:solidFill>
                          <a:latin typeface="Kanit"/>
                        </a:rPr>
                        <a:t>-18.8%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35915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EVEREST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606060"/>
                          </a:solidFill>
                          <a:latin typeface="Kanit"/>
                        </a:rPr>
                        <a:t>PPV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7,733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4.22%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CC0000"/>
                          </a:solidFill>
                          <a:latin typeface="Kanit"/>
                        </a:rPr>
                        <a:t>-14.3%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6208776" y="2596896"/>
          <a:ext cx="5568696" cy="22165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23160"/>
                <a:gridCol w="1234440"/>
                <a:gridCol w="1143000"/>
                <a:gridCol w="768096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PA nameplate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12-month units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share of PA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YoY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</a:tr>
              <a:tr h="235915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TOYOTA YARIS ATIV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55,544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12.52%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15795F"/>
                          </a:solidFill>
                          <a:latin typeface="Kanit"/>
                        </a:rPr>
                        <a:t>+18.3%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35915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TOYOTA YARIS CROSS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34,669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7.81%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CC0000"/>
                          </a:solidFill>
                          <a:latin typeface="Kanit"/>
                        </a:rPr>
                        <a:t>-2.6%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</a:tr>
              <a:tr h="235915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HONDA HR-V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23,155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5.22%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15795F"/>
                          </a:solidFill>
                          <a:latin typeface="Kanit"/>
                        </a:rPr>
                        <a:t>+9.6%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35915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HONDA CITY HATCHBACK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16,533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3.73%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15795F"/>
                          </a:solidFill>
                          <a:latin typeface="Kanit"/>
                        </a:rPr>
                        <a:t>+6.3%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</a:tr>
              <a:tr h="235915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TOYOTA COROLLA CROSS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14,324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3.23%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CC0000"/>
                          </a:solidFill>
                          <a:latin typeface="Kanit"/>
                        </a:rPr>
                        <a:t>-10.4%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35915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BYD DOLPHIN (435KM-STD)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14,109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3.18%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15795F"/>
                          </a:solidFill>
                          <a:latin typeface="Kanit"/>
                        </a:rPr>
                        <a:t>+295.9%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</a:tr>
              <a:tr h="235915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HONDA CITY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12,502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2.82%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CC0000"/>
                          </a:solidFill>
                          <a:latin typeface="Kanit"/>
                        </a:rPr>
                        <a:t>-28.4%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35915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JAECOO 5 EV LONG RANGE MAX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12,293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2.77%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5C242"/>
                          </a:solidFill>
                          <a:latin typeface="Kanit"/>
                        </a:rPr>
                        <a:t>new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29" name="Rounded Rectangle 28"/>
          <p:cNvSpPr/>
          <p:nvPr/>
        </p:nvSpPr>
        <p:spPr>
          <a:xfrm>
            <a:off x="411480" y="4932273"/>
            <a:ext cx="754177" cy="19202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1579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4961534"/>
            <a:ext cx="754177" cy="134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056"/>
              </a:lnSpc>
            </a:pPr>
            <a:r>
              <a:rPr sz="800" b="1">
                <a:solidFill>
                  <a:srgbClr val="15795F"/>
                </a:solidFill>
                <a:latin typeface="Kanit"/>
              </a:rPr>
              <a:t>MEASURED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75385" y="4945989"/>
            <a:ext cx="10502086" cy="46291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15"/>
              </a:lnSpc>
            </a:pPr>
            <a:r>
              <a:rPr sz="900" b="0">
                <a:solidFill>
                  <a:srgbClr val="606060"/>
                </a:solidFill>
                <a:latin typeface="Kanit"/>
              </a:rPr>
              <a:t>DLT first registrations at the registrar's own ยี่ห้อ + รุ่น grain, trailing 12 months to 2026-01, NATIONAL only. PU shares are over pickup + PPV combined, PA shares over cars, so each is a share of its own market. One caveat that only bites the right-hand table: DLT files many car models per TRIM — 1,235 distinct car nameplate strings against 443,641 cars, Toyota alone filing 172 — so each PA share is a floor. Merging every trim would not close the gap: BYD's entire car volume is 11.3%, still under the single biggest PU nameplate.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5573496"/>
            <a:ext cx="164592" cy="17602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86"/>
              </a:lnSpc>
            </a:pPr>
            <a:r>
              <a:rPr sz="1050" b="1">
                <a:solidFill>
                  <a:srgbClr val="CC0000"/>
                </a:solidFill>
                <a:latin typeface="Kanit"/>
              </a:rPr>
              <a:t>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5559780"/>
            <a:ext cx="11183112" cy="1813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28"/>
              </a:lnSpc>
            </a:pPr>
            <a:r>
              <a:rPr sz="1050" b="0">
                <a:solidFill>
                  <a:srgbClr val="1E2F5C"/>
                </a:solidFill>
                <a:latin typeface="Kanit"/>
              </a:rPr>
              <a:t>Top 5 pickup nameplates cover 78.0% of the market — priced off years of Thai resale history.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" y="5846292"/>
            <a:ext cx="164592" cy="17602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86"/>
              </a:lnSpc>
            </a:pPr>
            <a:r>
              <a:rPr sz="1050" b="1">
                <a:solidFill>
                  <a:srgbClr val="CC0000"/>
                </a:solidFill>
                <a:latin typeface="Kanit"/>
              </a:rPr>
              <a:t>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5832576"/>
            <a:ext cx="11183112" cy="1813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28"/>
              </a:lnSpc>
            </a:pPr>
            <a:r>
              <a:rPr sz="1050" b="0">
                <a:solidFill>
                  <a:srgbClr val="1E2F5C"/>
                </a:solidFill>
                <a:latin typeface="Kanit"/>
              </a:rPr>
              <a:t>Top 5 car nameplates cover only 32.5%, and the single biggest is just 12.5%.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" y="6119088"/>
            <a:ext cx="164592" cy="17602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86"/>
              </a:lnSpc>
            </a:pPr>
            <a:r>
              <a:rPr sz="1050" b="1">
                <a:solidFill>
                  <a:srgbClr val="CC0000"/>
                </a:solidFill>
                <a:latin typeface="Kanit"/>
              </a:rPr>
              <a:t>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6105372"/>
            <a:ext cx="11183112" cy="1813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28"/>
              </a:lnSpc>
            </a:pPr>
            <a:r>
              <a:rPr sz="1050" b="0">
                <a:solidFill>
                  <a:srgbClr val="1E2F5C"/>
                </a:solidFill>
                <a:latin typeface="Kanit"/>
              </a:rPr>
              <a:t>New brands — BYD, MG, Jaecoo, AION, Deepal — carry no Thai resale record; some registered for the first time this year.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80" y="6391884"/>
            <a:ext cx="164592" cy="17602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86"/>
              </a:lnSpc>
            </a:pPr>
            <a:r>
              <a:rPr sz="1050" b="1">
                <a:solidFill>
                  <a:srgbClr val="CC0000"/>
                </a:solidFill>
                <a:latin typeface="Kanit"/>
              </a:rPr>
              <a:t>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" y="6378168"/>
            <a:ext cx="11183112" cy="1813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28"/>
              </a:lnSpc>
            </a:pPr>
            <a:r>
              <a:rPr sz="1050" b="0">
                <a:solidFill>
                  <a:srgbClr val="1E2F5C"/>
                </a:solidFill>
                <a:latin typeface="Kanit"/>
              </a:rPr>
              <a:t>An advance rate is set per model. PU is five rows we can price. PA is a long tail we cannot, yet.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19456"/>
            <a:ext cx="8686800" cy="1508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88"/>
              </a:lnSpc>
            </a:pPr>
            <a:r>
              <a:rPr sz="900" b="1">
                <a:solidFill>
                  <a:srgbClr val="CC0000"/>
                </a:solidFill>
                <a:latin typeface="Kanit"/>
              </a:rPr>
              <a:t>10F · FOUR YEARS OF NAMEPLATES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57200"/>
            <a:ext cx="996696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E2F5C"/>
                </a:solidFill>
                <a:latin typeface="Kanit"/>
              </a:rPr>
              <a:t>Pickups entering the road are down 59% since 2022. Cars are up 7%.</a:t>
            </a:r>
          </a:p>
        </p:txBody>
      </p:sp>
      <p:pic>
        <p:nvPicPr>
          <p:cNvPr id="5" name="Picture 4" descr="aut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4472" y="256032"/>
            <a:ext cx="941832" cy="29260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11480" y="969264"/>
            <a:ext cx="11365992" cy="20116"/>
          </a:xfrm>
          <a:prstGeom prst="rect">
            <a:avLst/>
          </a:prstGeom>
          <a:solidFill>
            <a:srgbClr val="1E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91969" cy="109728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92824"/>
            <a:ext cx="6400800" cy="134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6"/>
              </a:lnSpc>
            </a:pPr>
            <a:r>
              <a:rPr sz="800" b="0">
                <a:solidFill>
                  <a:srgbClr val="606060"/>
                </a:solidFill>
                <a:latin typeface="Kanit"/>
              </a:rPr>
              <a:t>Restricted Data – Reproduction is prohibited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152144"/>
            <a:ext cx="2738628" cy="1005840"/>
          </a:xfrm>
          <a:prstGeom prst="roundRect">
            <a:avLst>
              <a:gd name="adj" fmla="val 8181"/>
            </a:avLst>
          </a:prstGeom>
          <a:solidFill>
            <a:srgbClr val="F4F6FA"/>
          </a:solidFill>
          <a:ln w="9525">
            <a:solidFill>
              <a:srgbClr val="D9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252728"/>
            <a:ext cx="2464308" cy="1592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4"/>
              </a:lnSpc>
            </a:pPr>
            <a:r>
              <a:rPr sz="950" b="0">
                <a:solidFill>
                  <a:srgbClr val="606060"/>
                </a:solidFill>
                <a:latin typeface="Kanit"/>
              </a:rPr>
              <a:t>Pickups + PPV, 2022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426464"/>
            <a:ext cx="2464308" cy="33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00"/>
              </a:lnSpc>
            </a:pPr>
            <a:r>
              <a:rPr sz="2100" b="1">
                <a:solidFill>
                  <a:srgbClr val="1E2F5C"/>
                </a:solidFill>
                <a:latin typeface="Kanit"/>
              </a:rPr>
              <a:t>453,745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792224"/>
            <a:ext cx="2464308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60"/>
              </a:lnSpc>
            </a:pPr>
            <a:r>
              <a:rPr sz="800" b="0">
                <a:solidFill>
                  <a:srgbClr val="606060"/>
                </a:solidFill>
                <a:latin typeface="Kanit"/>
              </a:rPr>
              <a:t>first registrations that year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87268" y="1152144"/>
            <a:ext cx="2738628" cy="1005840"/>
          </a:xfrm>
          <a:prstGeom prst="roundRect">
            <a:avLst>
              <a:gd name="adj" fmla="val 8181"/>
            </a:avLst>
          </a:prstGeom>
          <a:solidFill>
            <a:srgbClr val="F4F6FA"/>
          </a:solidFill>
          <a:ln w="9525">
            <a:solidFill>
              <a:srgbClr val="D9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4428" y="1252728"/>
            <a:ext cx="2464308" cy="1592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4"/>
              </a:lnSpc>
            </a:pPr>
            <a:r>
              <a:rPr sz="950" b="0">
                <a:solidFill>
                  <a:srgbClr val="606060"/>
                </a:solidFill>
                <a:latin typeface="Kanit"/>
              </a:rPr>
              <a:t>Pickups + PPV, 2025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4428" y="1426464"/>
            <a:ext cx="2464308" cy="33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00"/>
              </a:lnSpc>
            </a:pPr>
            <a:r>
              <a:rPr sz="2100" b="1">
                <a:solidFill>
                  <a:srgbClr val="CC0000"/>
                </a:solidFill>
                <a:latin typeface="Kanit"/>
              </a:rPr>
              <a:t>186,405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4428" y="1792224"/>
            <a:ext cx="2464308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60"/>
              </a:lnSpc>
            </a:pPr>
            <a:r>
              <a:rPr sz="800" b="0">
                <a:solidFill>
                  <a:srgbClr val="606060"/>
                </a:solidFill>
                <a:latin typeface="Kanit"/>
              </a:rPr>
              <a:t>−58.9% over four years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63056" y="1152144"/>
            <a:ext cx="2738628" cy="1005840"/>
          </a:xfrm>
          <a:prstGeom prst="roundRect">
            <a:avLst>
              <a:gd name="adj" fmla="val 8181"/>
            </a:avLst>
          </a:prstGeom>
          <a:solidFill>
            <a:srgbClr val="F4F6FA"/>
          </a:solidFill>
          <a:ln w="9525">
            <a:solidFill>
              <a:srgbClr val="D9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0216" y="1252728"/>
            <a:ext cx="2464308" cy="1592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4"/>
              </a:lnSpc>
            </a:pPr>
            <a:r>
              <a:rPr sz="950" b="0">
                <a:solidFill>
                  <a:srgbClr val="606060"/>
                </a:solidFill>
                <a:latin typeface="Kanit"/>
              </a:rPr>
              <a:t>Cars, 2022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216" y="1426464"/>
            <a:ext cx="2464308" cy="33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00"/>
              </a:lnSpc>
            </a:pPr>
            <a:r>
              <a:rPr sz="2100" b="1">
                <a:solidFill>
                  <a:srgbClr val="1E2F5C"/>
                </a:solidFill>
                <a:latin typeface="Kanit"/>
              </a:rPr>
              <a:t>388,164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0216" y="1792224"/>
            <a:ext cx="2464308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60"/>
              </a:lnSpc>
            </a:pPr>
            <a:r>
              <a:rPr sz="800" b="0">
                <a:solidFill>
                  <a:srgbClr val="606060"/>
                </a:solidFill>
                <a:latin typeface="Kanit"/>
              </a:rPr>
              <a:t>first registrations that year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38844" y="1152144"/>
            <a:ext cx="2738628" cy="1005840"/>
          </a:xfrm>
          <a:prstGeom prst="roundRect">
            <a:avLst>
              <a:gd name="adj" fmla="val 8181"/>
            </a:avLst>
          </a:prstGeom>
          <a:solidFill>
            <a:srgbClr val="F4F6FA"/>
          </a:solidFill>
          <a:ln w="9525">
            <a:solidFill>
              <a:srgbClr val="D9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76004" y="1252728"/>
            <a:ext cx="2464308" cy="1592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4"/>
              </a:lnSpc>
            </a:pPr>
            <a:r>
              <a:rPr sz="950" b="0">
                <a:solidFill>
                  <a:srgbClr val="606060"/>
                </a:solidFill>
                <a:latin typeface="Kanit"/>
              </a:rPr>
              <a:t>Cars, 2025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76004" y="1426464"/>
            <a:ext cx="2464308" cy="33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00"/>
              </a:lnSpc>
            </a:pPr>
            <a:r>
              <a:rPr sz="2100" b="1">
                <a:solidFill>
                  <a:srgbClr val="15795F"/>
                </a:solidFill>
                <a:latin typeface="Kanit"/>
              </a:rPr>
              <a:t>413,968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76004" y="1792224"/>
            <a:ext cx="2464308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60"/>
              </a:lnSpc>
            </a:pPr>
            <a:r>
              <a:rPr sz="800" b="0">
                <a:solidFill>
                  <a:srgbClr val="606060"/>
                </a:solidFill>
                <a:latin typeface="Kanit"/>
              </a:rPr>
              <a:t>+6.6% over four years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2322576"/>
            <a:ext cx="5568696" cy="1592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4"/>
              </a:lnSpc>
            </a:pPr>
            <a:r>
              <a:rPr sz="950" b="1">
                <a:solidFill>
                  <a:srgbClr val="1E2F5C"/>
                </a:solidFill>
                <a:latin typeface="Kanit"/>
              </a:rPr>
              <a:t>Pickup + PPV nameplates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08776" y="2322576"/>
            <a:ext cx="5568696" cy="1592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4"/>
              </a:lnSpc>
            </a:pPr>
            <a:r>
              <a:rPr sz="950" b="1">
                <a:solidFill>
                  <a:srgbClr val="1E2F5C"/>
                </a:solidFill>
                <a:latin typeface="Kanit"/>
              </a:rPr>
              <a:t>Car nameplates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411480" y="2542032"/>
          <a:ext cx="5568696" cy="20061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91640"/>
                <a:gridCol w="749808"/>
                <a:gridCol w="749808"/>
                <a:gridCol w="749808"/>
                <a:gridCol w="749808"/>
                <a:gridCol w="877824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Nameplate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2022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2023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2024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2025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4-yr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</a:tr>
              <a:tr h="239572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Hilux Revo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145,408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114,556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76,608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60,075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CC0000"/>
                          </a:solidFill>
                          <a:latin typeface="Kanit"/>
                        </a:rPr>
                        <a:t>−59%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39572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D-Max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181,373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127,279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66,266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51,255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CC0000"/>
                          </a:solidFill>
                          <a:latin typeface="Kanit"/>
                        </a:rPr>
                        <a:t>−72%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</a:tr>
              <a:tr h="239572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Fortuner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27,131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25,636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14,526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14,264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CC0000"/>
                          </a:solidFill>
                          <a:latin typeface="Kanit"/>
                        </a:rPr>
                        <a:t>−47%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39572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Mu-X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19,376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22,394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13,051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12,131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CC0000"/>
                          </a:solidFill>
                          <a:latin typeface="Kanit"/>
                        </a:rPr>
                        <a:t>−37%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</a:tr>
              <a:tr h="239572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Ranger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27,697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24,732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15,156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10,274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CC0000"/>
                          </a:solidFill>
                          <a:latin typeface="Kanit"/>
                        </a:rPr>
                        <a:t>−63%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39572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Triton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23,061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14,509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7,966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8,597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CC0000"/>
                          </a:solidFill>
                          <a:latin typeface="Kanit"/>
                        </a:rPr>
                        <a:t>−63%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</a:tr>
              <a:tr h="239572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Hilux Champ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606060"/>
                          </a:solidFill>
                          <a:latin typeface="Kanit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606060"/>
                          </a:solidFill>
                          <a:latin typeface="Kanit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8,929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8,249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606060"/>
                          </a:solidFill>
                          <a:latin typeface="Kanit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6208776" y="2542032"/>
          <a:ext cx="5568696" cy="20061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91640"/>
                <a:gridCol w="749808"/>
                <a:gridCol w="749808"/>
                <a:gridCol w="749808"/>
                <a:gridCol w="749808"/>
                <a:gridCol w="877824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Nameplate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2022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2023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2024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2025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4-yr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</a:tr>
              <a:tr h="239572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Toyota Yaris Ativ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26,404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55,527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47,538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53,642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15795F"/>
                          </a:solidFill>
                          <a:latin typeface="Kanit"/>
                        </a:rPr>
                        <a:t>+103%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39572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Toyota Yaris Cross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606060"/>
                          </a:solidFill>
                          <a:latin typeface="Kanit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606060"/>
                          </a:solidFill>
                          <a:latin typeface="Kanit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34,822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34,709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606060"/>
                          </a:solidFill>
                          <a:latin typeface="Kanit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</a:tr>
              <a:tr h="239572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Honda Hr-V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14,825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22,442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22,161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22,051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15795F"/>
                          </a:solidFill>
                          <a:latin typeface="Kanit"/>
                        </a:rPr>
                        <a:t>+49%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39572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Honda City Hatchback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22,348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22,677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15,283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16,344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CC0000"/>
                          </a:solidFill>
                          <a:latin typeface="Kanit"/>
                        </a:rPr>
                        <a:t>−27%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</a:tr>
              <a:tr h="239572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Toyota Corolla Cross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21,443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19,857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16,469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14,458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CC0000"/>
                          </a:solidFill>
                          <a:latin typeface="Kanit"/>
                        </a:rPr>
                        <a:t>−33%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39572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Honda City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23,873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20,583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18,416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12,753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CC0000"/>
                          </a:solidFill>
                          <a:latin typeface="Kanit"/>
                        </a:rPr>
                        <a:t>−47%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</a:tr>
              <a:tr h="239572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Honda Civic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15,542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13,370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10,679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11,140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CC0000"/>
                          </a:solidFill>
                          <a:latin typeface="Kanit"/>
                        </a:rPr>
                        <a:t>−28%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9" name="Rounded Rectangle 28"/>
          <p:cNvSpPr/>
          <p:nvPr/>
        </p:nvSpPr>
        <p:spPr>
          <a:xfrm>
            <a:off x="411480" y="4676241"/>
            <a:ext cx="754177" cy="19202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1579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4705502"/>
            <a:ext cx="754177" cy="134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056"/>
              </a:lnSpc>
            </a:pPr>
            <a:r>
              <a:rPr sz="800" b="1">
                <a:solidFill>
                  <a:srgbClr val="15795F"/>
                </a:solidFill>
                <a:latin typeface="Kanit"/>
              </a:rPr>
              <a:t>MEASURED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75385" y="4689957"/>
            <a:ext cx="10502086" cy="46291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15"/>
              </a:lnSpc>
            </a:pPr>
            <a:r>
              <a:rPr sz="900" b="0">
                <a:solidFill>
                  <a:srgbClr val="606060"/>
                </a:solidFill>
                <a:latin typeface="Kanit"/>
              </a:rPr>
              <a:t>DLT first registrations at the registrar's own ยี่ห้อ + รุ่น grain, from the yearly roll-up files so the mirror's missing 2023-12 month cannot distort a year. 2022–2025 are the only complete years published. These are vehicles entering the fleet, NOT the stock on the road — no DLT dataset carries brand or model against registered stock, so a total parc by nameplate does not exist and is not shown here. An em-dash means the nameplate was outside that year's top 15, not that none were registered.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" y="5285460"/>
            <a:ext cx="11365992" cy="837438"/>
          </a:xfrm>
          <a:prstGeom prst="rect">
            <a:avLst/>
          </a:prstGeom>
          <a:solidFill>
            <a:srgbClr val="FC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11480" y="5285460"/>
            <a:ext cx="50292" cy="837438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936" y="5431764"/>
            <a:ext cx="11036808" cy="158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</a:pPr>
            <a:r>
              <a:rPr sz="950" b="1">
                <a:solidFill>
                  <a:srgbClr val="CC0000"/>
                </a:solidFill>
                <a:latin typeface="Kanit"/>
              </a:rPr>
              <a:t>The collateral pool is shrinking faster than it is changing shape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" y="5636234"/>
            <a:ext cx="11036808" cy="340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40"/>
              </a:lnSpc>
            </a:pPr>
            <a:r>
              <a:rPr sz="1000" b="0">
                <a:solidFill>
                  <a:srgbClr val="1E2F5C"/>
                </a:solidFill>
                <a:latin typeface="Kanit"/>
              </a:rPr>
              <a:t>Four years took 267,340 pickups a year out of the flow — 59% — while cars held roughly flat. Fewer new pickups now means a thinner supply of five-year-old pickups to lend against later, and the nameplates are the same ones: this is a volume problem, not a mix problem.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19456"/>
            <a:ext cx="8686800" cy="1508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88"/>
              </a:lnSpc>
            </a:pPr>
            <a:r>
              <a:rPr sz="900" b="1">
                <a:solidFill>
                  <a:srgbClr val="CC0000"/>
                </a:solidFill>
                <a:latin typeface="Kanit"/>
              </a:rPr>
              <a:t>10E · THE SECOND-HAND 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57200"/>
            <a:ext cx="996696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E2F5C"/>
                </a:solidFill>
                <a:latin typeface="Kanit"/>
              </a:rPr>
              <a:t>Pickups are 17% of the parc — cars 34%, motorcycles 46%.</a:t>
            </a:r>
          </a:p>
        </p:txBody>
      </p:sp>
      <p:pic>
        <p:nvPicPr>
          <p:cNvPr id="5" name="Picture 4" descr="aut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4472" y="256032"/>
            <a:ext cx="941832" cy="29260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11480" y="969264"/>
            <a:ext cx="11365992" cy="20116"/>
          </a:xfrm>
          <a:prstGeom prst="rect">
            <a:avLst/>
          </a:prstGeom>
          <a:solidFill>
            <a:srgbClr val="1E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91969" cy="109728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92824"/>
            <a:ext cx="6400800" cy="134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6"/>
              </a:lnSpc>
            </a:pPr>
            <a:r>
              <a:rPr sz="800" b="0">
                <a:solidFill>
                  <a:srgbClr val="606060"/>
                </a:solidFill>
                <a:latin typeface="Kanit"/>
              </a:rPr>
              <a:t>Restricted Data – Reproduction is prohibited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152144"/>
            <a:ext cx="2738628" cy="1024128"/>
          </a:xfrm>
          <a:prstGeom prst="roundRect">
            <a:avLst>
              <a:gd name="adj" fmla="val 8035"/>
            </a:avLst>
          </a:prstGeom>
          <a:solidFill>
            <a:srgbClr val="F4F6FA"/>
          </a:solidFill>
          <a:ln w="9525">
            <a:solidFill>
              <a:srgbClr val="D9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252728"/>
            <a:ext cx="2464308" cy="1592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4"/>
              </a:lnSpc>
            </a:pPr>
            <a:r>
              <a:rPr sz="950" b="0">
                <a:solidFill>
                  <a:srgbClr val="606060"/>
                </a:solidFill>
                <a:latin typeface="Kanit"/>
              </a:rPr>
              <a:t>Pickup stock รถกระบะ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426464"/>
            <a:ext cx="2464308" cy="33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00"/>
              </a:lnSpc>
            </a:pPr>
            <a:r>
              <a:rPr sz="2100" b="1">
                <a:solidFill>
                  <a:srgbClr val="CC0000"/>
                </a:solidFill>
                <a:latin typeface="Kanit"/>
              </a:rPr>
              <a:t>6.98M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792224"/>
            <a:ext cx="2464308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60"/>
              </a:lnSpc>
            </a:pPr>
            <a:r>
              <a:rPr sz="800" b="0">
                <a:solidFill>
                  <a:srgbClr val="606060"/>
                </a:solidFill>
                <a:latin typeface="Kanit"/>
              </a:rPr>
              <a:t>registered pickups nationally · -0.77% YoY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87268" y="1152144"/>
            <a:ext cx="2738628" cy="1024128"/>
          </a:xfrm>
          <a:prstGeom prst="roundRect">
            <a:avLst>
              <a:gd name="adj" fmla="val 8035"/>
            </a:avLst>
          </a:prstGeom>
          <a:solidFill>
            <a:srgbClr val="F4F6FA"/>
          </a:solidFill>
          <a:ln w="9525">
            <a:solidFill>
              <a:srgbClr val="D9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4428" y="1252728"/>
            <a:ext cx="2464308" cy="1592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4"/>
              </a:lnSpc>
            </a:pPr>
            <a:r>
              <a:rPr sz="950" b="0">
                <a:solidFill>
                  <a:srgbClr val="606060"/>
                </a:solidFill>
                <a:latin typeface="Kanit"/>
              </a:rPr>
              <a:t>Car stock รถยนต์นั่ง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4428" y="1426464"/>
            <a:ext cx="2464308" cy="33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00"/>
              </a:lnSpc>
            </a:pPr>
            <a:r>
              <a:rPr sz="2100" b="1">
                <a:solidFill>
                  <a:srgbClr val="15795F"/>
                </a:solidFill>
                <a:latin typeface="Kanit"/>
              </a:rPr>
              <a:t>12.98M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4428" y="1792224"/>
            <a:ext cx="2464308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60"/>
              </a:lnSpc>
            </a:pPr>
            <a:r>
              <a:rPr sz="800" b="0">
                <a:solidFill>
                  <a:srgbClr val="606060"/>
                </a:solidFill>
                <a:latin typeface="Kanit"/>
              </a:rPr>
              <a:t>+1.81% YoY · +19.3% since 2563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63056" y="1152144"/>
            <a:ext cx="2738628" cy="1024128"/>
          </a:xfrm>
          <a:prstGeom prst="roundRect">
            <a:avLst>
              <a:gd name="adj" fmla="val 8035"/>
            </a:avLst>
          </a:prstGeom>
          <a:solidFill>
            <a:srgbClr val="F4F6FA"/>
          </a:solidFill>
          <a:ln w="9525">
            <a:solidFill>
              <a:srgbClr val="D9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0216" y="1252728"/>
            <a:ext cx="2464308" cy="1592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4"/>
              </a:lnSpc>
            </a:pPr>
            <a:r>
              <a:rPr sz="950" b="0">
                <a:solidFill>
                  <a:srgbClr val="606060"/>
                </a:solidFill>
                <a:latin typeface="Kanit"/>
              </a:rPr>
              <a:t>Diesel share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216" y="1426464"/>
            <a:ext cx="2464308" cy="33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00"/>
              </a:lnSpc>
            </a:pPr>
            <a:r>
              <a:rPr sz="2100" b="1">
                <a:solidFill>
                  <a:srgbClr val="1E2F5C"/>
                </a:solidFill>
                <a:latin typeface="Kanit"/>
              </a:rPr>
              <a:t>56.3%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0216" y="1792224"/>
            <a:ext cx="2464308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60"/>
              </a:lnSpc>
            </a:pPr>
            <a:r>
              <a:rPr sz="800" b="0">
                <a:solidFill>
                  <a:srgbClr val="606060"/>
                </a:solidFill>
                <a:latin typeface="Kanit"/>
              </a:rPr>
              <a:t>of the 44.3M fleet — what the market runs on today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38844" y="1152144"/>
            <a:ext cx="2738628" cy="1024128"/>
          </a:xfrm>
          <a:prstGeom prst="roundRect">
            <a:avLst>
              <a:gd name="adj" fmla="val 8035"/>
            </a:avLst>
          </a:prstGeom>
          <a:solidFill>
            <a:srgbClr val="F4F6FA"/>
          </a:solidFill>
          <a:ln w="9525">
            <a:solidFill>
              <a:srgbClr val="D9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76004" y="1252728"/>
            <a:ext cx="2464308" cy="1592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4"/>
              </a:lnSpc>
            </a:pPr>
            <a:r>
              <a:rPr sz="950" b="0">
                <a:solidFill>
                  <a:srgbClr val="606060"/>
                </a:solidFill>
                <a:latin typeface="Kanit"/>
              </a:rPr>
              <a:t>BEV share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76004" y="1426464"/>
            <a:ext cx="2464308" cy="33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00"/>
              </a:lnSpc>
            </a:pPr>
            <a:r>
              <a:rPr sz="2100" b="1">
                <a:solidFill>
                  <a:srgbClr val="F5C242"/>
                </a:solidFill>
                <a:latin typeface="Kanit"/>
              </a:rPr>
              <a:t>0.95%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76004" y="1792224"/>
            <a:ext cx="2464308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60"/>
              </a:lnSpc>
            </a:pPr>
            <a:r>
              <a:rPr sz="800" b="0">
                <a:solidFill>
                  <a:srgbClr val="606060"/>
                </a:solidFill>
                <a:latin typeface="Kanit"/>
              </a:rPr>
              <a:t>electrified 2.57% — not a factor this quarter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411480" y="2359152"/>
          <a:ext cx="11365992" cy="17007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17320"/>
                <a:gridCol w="1417320"/>
                <a:gridCol w="1325880"/>
                <a:gridCol w="1325880"/>
                <a:gridCol w="1417320"/>
                <a:gridCol w="1463040"/>
                <a:gridCol w="1463040"/>
                <a:gridCol w="1536192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Region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Registered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PU share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Car share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Moto share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PU turnover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Car turnover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Moto turnover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E2F5C"/>
                          </a:solidFill>
                          <a:latin typeface="Kanit"/>
                        </a:rPr>
                        <a:t>Central&amp;BKK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E2F5C"/>
                          </a:solidFill>
                          <a:latin typeface="Kanit"/>
                        </a:rPr>
                        <a:t>15.86M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E2F5C"/>
                          </a:solidFill>
                          <a:latin typeface="Kanit"/>
                        </a:rPr>
                        <a:t>13.5%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E2F5C"/>
                          </a:solidFill>
                          <a:latin typeface="Kanit"/>
                        </a:rPr>
                        <a:t>41.7%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E2F5C"/>
                          </a:solidFill>
                          <a:latin typeface="Kanit"/>
                        </a:rPr>
                        <a:t>40.2%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1E2F5C"/>
                          </a:solidFill>
                          <a:latin typeface="Kanit"/>
                        </a:rPr>
                        <a:t>7.60%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E2F5C"/>
                          </a:solidFill>
                          <a:latin typeface="Kanit"/>
                        </a:rPr>
                        <a:t>10.18%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E2F5C"/>
                          </a:solidFill>
                          <a:latin typeface="Kanit"/>
                        </a:rPr>
                        <a:t>6.64%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E2F5C"/>
                          </a:solidFill>
                          <a:latin typeface="Kanit"/>
                        </a:rPr>
                        <a:t>East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E2F5C"/>
                          </a:solidFill>
                          <a:latin typeface="Kanit"/>
                        </a:rPr>
                        <a:t>4.15M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E2F5C"/>
                          </a:solidFill>
                          <a:latin typeface="Kanit"/>
                        </a:rPr>
                        <a:t>16.4%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E2F5C"/>
                          </a:solidFill>
                          <a:latin typeface="Kanit"/>
                        </a:rPr>
                        <a:t>33.4%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E2F5C"/>
                          </a:solidFill>
                          <a:latin typeface="Kanit"/>
                        </a:rPr>
                        <a:t>48.5%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CC0000"/>
                          </a:solidFill>
                          <a:latin typeface="Kanit"/>
                        </a:rPr>
                        <a:t>5.21%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E2F5C"/>
                          </a:solidFill>
                          <a:latin typeface="Kanit"/>
                        </a:rPr>
                        <a:t>5.61%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E2F5C"/>
                          </a:solidFill>
                          <a:latin typeface="Kanit"/>
                        </a:rPr>
                        <a:t>6.69%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E2F5C"/>
                          </a:solidFill>
                          <a:latin typeface="Kanit"/>
                        </a:rPr>
                        <a:t>Isan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E2F5C"/>
                          </a:solidFill>
                          <a:latin typeface="Kanit"/>
                        </a:rPr>
                        <a:t>8.04M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E2F5C"/>
                          </a:solidFill>
                          <a:latin typeface="Kanit"/>
                        </a:rPr>
                        <a:t>22.1%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E2F5C"/>
                          </a:solidFill>
                          <a:latin typeface="Kanit"/>
                        </a:rPr>
                        <a:t>27.3%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E2F5C"/>
                          </a:solidFill>
                          <a:latin typeface="Kanit"/>
                        </a:rPr>
                        <a:t>47.8%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CC0000"/>
                          </a:solidFill>
                          <a:latin typeface="Kanit"/>
                        </a:rPr>
                        <a:t>5.61%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E2F5C"/>
                          </a:solidFill>
                          <a:latin typeface="Kanit"/>
                        </a:rPr>
                        <a:t>6.41%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E2F5C"/>
                          </a:solidFill>
                          <a:latin typeface="Kanit"/>
                        </a:rPr>
                        <a:t>7.30%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E2F5C"/>
                          </a:solidFill>
                          <a:latin typeface="Kanit"/>
                        </a:rPr>
                        <a:t>North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E2F5C"/>
                          </a:solidFill>
                          <a:latin typeface="Kanit"/>
                        </a:rPr>
                        <a:t>6.83M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E2F5C"/>
                          </a:solidFill>
                          <a:latin typeface="Kanit"/>
                        </a:rPr>
                        <a:t>19.4%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E2F5C"/>
                          </a:solidFill>
                          <a:latin typeface="Kanit"/>
                        </a:rPr>
                        <a:t>26.0%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E2F5C"/>
                          </a:solidFill>
                          <a:latin typeface="Kanit"/>
                        </a:rPr>
                        <a:t>52.0%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CC0000"/>
                          </a:solidFill>
                          <a:latin typeface="Kanit"/>
                        </a:rPr>
                        <a:t>5.95%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E2F5C"/>
                          </a:solidFill>
                          <a:latin typeface="Kanit"/>
                        </a:rPr>
                        <a:t>7.27%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E2F5C"/>
                          </a:solidFill>
                          <a:latin typeface="Kanit"/>
                        </a:rPr>
                        <a:t>5.22%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E2F5C"/>
                          </a:solidFill>
                          <a:latin typeface="Kanit"/>
                        </a:rPr>
                        <a:t>South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E2F5C"/>
                          </a:solidFill>
                          <a:latin typeface="Kanit"/>
                        </a:rPr>
                        <a:t>4.82M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E2F5C"/>
                          </a:solidFill>
                          <a:latin typeface="Kanit"/>
                        </a:rPr>
                        <a:t>16.3%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E2F5C"/>
                          </a:solidFill>
                          <a:latin typeface="Kanit"/>
                        </a:rPr>
                        <a:t>29.3%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E2F5C"/>
                          </a:solidFill>
                          <a:latin typeface="Kanit"/>
                        </a:rPr>
                        <a:t>53.1%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CC0000"/>
                          </a:solidFill>
                          <a:latin typeface="Kanit"/>
                        </a:rPr>
                        <a:t>5.53%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E2F5C"/>
                          </a:solidFill>
                          <a:latin typeface="Kanit"/>
                        </a:rPr>
                        <a:t>6.54%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E2F5C"/>
                          </a:solidFill>
                          <a:latin typeface="Kanit"/>
                        </a:rPr>
                        <a:t>6.98%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Rounded Rectangle 25"/>
          <p:cNvSpPr/>
          <p:nvPr/>
        </p:nvSpPr>
        <p:spPr>
          <a:xfrm>
            <a:off x="411480" y="4206240"/>
            <a:ext cx="754177" cy="19202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1579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4235500"/>
            <a:ext cx="754177" cy="134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056"/>
              </a:lnSpc>
            </a:pPr>
            <a:r>
              <a:rPr sz="800" b="1">
                <a:solidFill>
                  <a:srgbClr val="15795F"/>
                </a:solidFill>
                <a:latin typeface="Kanit"/>
              </a:rPr>
              <a:t>MEASURED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75385" y="4219955"/>
            <a:ext cx="10502086" cy="30861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15"/>
              </a:lnSpc>
            </a:pPr>
            <a:r>
              <a:rPr sz="900" b="0">
                <a:solidFill>
                  <a:srgbClr val="606060"/>
                </a:solidFill>
                <a:latin typeface="Kanit"/>
              </a:rPr>
              <a:t>DLT registered stock and ownership transfers by region and class (PU รถกระบะ · car รถยนต์นั่ง · moto รถจักรยานยนต์), plus MOT fleet totals. Share = class stock ÷ all registered vehicles in the region. Turnover = transfers ÷ registered stock — how much of the parc changes hands a year, the depth a repossessed title sells into.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4697729"/>
            <a:ext cx="5568696" cy="1347978"/>
          </a:xfrm>
          <a:prstGeom prst="rect">
            <a:avLst/>
          </a:prstGeom>
          <a:solidFill>
            <a:srgbClr val="FC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11480" y="4697729"/>
            <a:ext cx="50292" cy="1347978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" y="4844033"/>
            <a:ext cx="5239512" cy="158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</a:pPr>
            <a:r>
              <a:rPr sz="950" b="1">
                <a:solidFill>
                  <a:srgbClr val="CC0000"/>
                </a:solidFill>
                <a:latin typeface="Kanit"/>
              </a:rPr>
              <a:t>Small and slow, at the same time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" y="5048503"/>
            <a:ext cx="5239512" cy="850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40"/>
              </a:lnSpc>
            </a:pPr>
            <a:r>
              <a:rPr sz="1000" b="0">
                <a:solidFill>
                  <a:srgbClr val="1E2F5C"/>
                </a:solidFill>
                <a:latin typeface="Kanit"/>
              </a:rPr>
              <a:t>Pickups are only 17% of the vehicle parc — cars 34%, motorcycles 46% — and still turn over slowest: 5.2–7.6% of pickups change hands a year against 5.6–10.2% for cars, worst in East.
A smaller, slower market means a longer disposal and a wider discount on a repossessed title.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08776" y="4697729"/>
            <a:ext cx="5568696" cy="1177798"/>
          </a:xfrm>
          <a:prstGeom prst="rect">
            <a:avLst/>
          </a:prstGeom>
          <a:solidFill>
            <a:srgbClr val="FDF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08776" y="4697729"/>
            <a:ext cx="50292" cy="1177798"/>
          </a:xfrm>
          <a:prstGeom prst="rect">
            <a:avLst/>
          </a:prstGeom>
          <a:solidFill>
            <a:srgbClr val="F5C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28232" y="4844033"/>
            <a:ext cx="5239512" cy="158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</a:pPr>
            <a:r>
              <a:rPr sz="950" b="1">
                <a:solidFill>
                  <a:srgbClr val="9A7411"/>
                </a:solidFill>
                <a:latin typeface="Kanit"/>
              </a:rPr>
              <a:t>Electrification is a clock, not a problem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28232" y="5048503"/>
            <a:ext cx="5239512" cy="680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40"/>
              </a:lnSpc>
            </a:pPr>
            <a:r>
              <a:rPr sz="1000" b="0">
                <a:solidFill>
                  <a:srgbClr val="1E2F5C"/>
                </a:solidFill>
                <a:latin typeface="Kanit"/>
              </a:rPr>
              <a:t>BEVs are 0.9% of the fleet, electrified 2.6% — not a factor today.
But titles resell over five to ten years, and 27% of new cars already carry no Thai resale history. That fleet ages into the used market before 2032.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19456"/>
            <a:ext cx="8686800" cy="1508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88"/>
              </a:lnSpc>
            </a:pPr>
            <a:r>
              <a:rPr sz="900" b="1">
                <a:solidFill>
                  <a:srgbClr val="CC0000"/>
                </a:solidFill>
                <a:latin typeface="Kanit"/>
              </a:rPr>
              <a:t>11 · SO WHAT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57200"/>
            <a:ext cx="996696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E2F5C"/>
                </a:solidFill>
                <a:latin typeface="Kanit"/>
              </a:rPr>
              <a:t>Five things the macro picture asks of us.</a:t>
            </a:r>
          </a:p>
        </p:txBody>
      </p:sp>
      <p:pic>
        <p:nvPicPr>
          <p:cNvPr id="5" name="Picture 4" descr="aut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4472" y="256032"/>
            <a:ext cx="941832" cy="29260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11480" y="969264"/>
            <a:ext cx="11365992" cy="20116"/>
          </a:xfrm>
          <a:prstGeom prst="rect">
            <a:avLst/>
          </a:prstGeom>
          <a:solidFill>
            <a:srgbClr val="1E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91969" cy="109728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92824"/>
            <a:ext cx="6400800" cy="134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6"/>
              </a:lnSpc>
            </a:pPr>
            <a:r>
              <a:rPr sz="800" b="0">
                <a:solidFill>
                  <a:srgbClr val="606060"/>
                </a:solidFill>
                <a:latin typeface="Kanit"/>
              </a:rPr>
              <a:t>Restricted Data – Reproduction is prohibited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152144"/>
            <a:ext cx="3291840" cy="2297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09"/>
              </a:lnSpc>
            </a:pPr>
            <a:r>
              <a:rPr sz="1350" b="1">
                <a:solidFill>
                  <a:srgbClr val="1E2F5C"/>
                </a:solidFill>
                <a:latin typeface="Kanit"/>
              </a:rPr>
              <a:t>Call the four-signal provinces first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7639" y="1152144"/>
            <a:ext cx="7799831" cy="2297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09"/>
              </a:lnSpc>
            </a:pPr>
            <a:r>
              <a:rPr sz="1350" b="0">
                <a:solidFill>
                  <a:srgbClr val="2A3346"/>
                </a:solidFill>
                <a:latin typeface="Kanit"/>
              </a:rPr>
              <a:t>อำนาจเจริญ trips all four warning flags. Three more trip three — สุโขทัย, สิงห์บุรี, อุบลราชธานี.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500759"/>
            <a:ext cx="11365992" cy="10972"/>
          </a:xfrm>
          <a:prstGeom prst="rect">
            <a:avLst/>
          </a:prstGeom>
          <a:solidFill>
            <a:srgbClr val="D9D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1619630"/>
            <a:ext cx="3291840" cy="2297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09"/>
              </a:lnSpc>
            </a:pPr>
            <a:r>
              <a:rPr sz="1350" b="1">
                <a:solidFill>
                  <a:srgbClr val="1E2F5C"/>
                </a:solidFill>
                <a:latin typeface="Kanit"/>
              </a:rPr>
              <a:t>Watch the provinces left behind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77639" y="1619630"/>
            <a:ext cx="7799831" cy="45948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09"/>
              </a:lnSpc>
            </a:pPr>
            <a:r>
              <a:rPr sz="1350" b="0">
                <a:solidFill>
                  <a:srgbClr val="2A3346"/>
                </a:solidFill>
                <a:latin typeface="Kanit"/>
              </a:rPr>
              <a:t>Median crop income rose +15.3%, but four provinces fell — all on the coconut (มะพร้าว) belt, worst สมุทรสงคราม at −64.6%.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2197988"/>
            <a:ext cx="11365992" cy="10972"/>
          </a:xfrm>
          <a:prstGeom prst="rect">
            <a:avLst/>
          </a:prstGeom>
          <a:solidFill>
            <a:srgbClr val="D9D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2316860"/>
            <a:ext cx="3291840" cy="2297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09"/>
              </a:lnSpc>
            </a:pPr>
            <a:r>
              <a:rPr sz="1350" b="1">
                <a:solidFill>
                  <a:srgbClr val="1E2F5C"/>
                </a:solidFill>
                <a:latin typeface="Kanit"/>
              </a:rPr>
              <a:t>Track the three crops still falling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77639" y="2316860"/>
            <a:ext cx="7799831" cy="45948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09"/>
              </a:lnSpc>
            </a:pPr>
            <a:r>
              <a:rPr sz="1350" b="0">
                <a:solidFill>
                  <a:srgbClr val="2A3346"/>
                </a:solidFill>
                <a:latin typeface="Kanit"/>
              </a:rPr>
              <a:t>Coconut (มะพร้าว), Pineapple (สับปะรด), Sugarcane (อ้อย) keep falling at the farm gate (ราคาที่เกษตรกรขายได้) — 11% of the country’s planted land.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2895218"/>
            <a:ext cx="11365992" cy="10972"/>
          </a:xfrm>
          <a:prstGeom prst="rect">
            <a:avLst/>
          </a:prstGeom>
          <a:solidFill>
            <a:srgbClr val="D9D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3014090"/>
            <a:ext cx="3291840" cy="2297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09"/>
              </a:lnSpc>
            </a:pPr>
            <a:r>
              <a:rPr sz="1350" b="1">
                <a:solidFill>
                  <a:srgbClr val="1E2F5C"/>
                </a:solidFill>
                <a:latin typeface="Kanit"/>
              </a:rPr>
              <a:t>Reprice the vehicle we lend against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77639" y="3014090"/>
            <a:ext cx="7799831" cy="45948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09"/>
              </a:lnSpc>
            </a:pPr>
            <a:r>
              <a:rPr sz="1350" b="0">
                <a:solidFill>
                  <a:srgbClr val="2A3346"/>
                </a:solidFill>
                <a:latin typeface="Kanit"/>
              </a:rPr>
              <a:t>Pickup resale is still 33 points below its 2015 level, the slowest-selling class on the road. Five nameplates cover 78% of that market; new car brands do not.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3592448"/>
            <a:ext cx="11365992" cy="10972"/>
          </a:xfrm>
          <a:prstGeom prst="rect">
            <a:avLst/>
          </a:prstGeom>
          <a:solidFill>
            <a:srgbClr val="D9D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3711320"/>
            <a:ext cx="3291840" cy="2297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09"/>
              </a:lnSpc>
            </a:pPr>
            <a:r>
              <a:rPr sz="1350" b="1">
                <a:solidFill>
                  <a:srgbClr val="1E2F5C"/>
                </a:solidFill>
                <a:latin typeface="Kanit"/>
              </a:rPr>
              <a:t>Read two signals as models, not facts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77639" y="3711320"/>
            <a:ext cx="7799831" cy="45948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09"/>
              </a:lnSpc>
            </a:pPr>
            <a:r>
              <a:rPr sz="1350" b="0">
                <a:solidFill>
                  <a:srgbClr val="2A3346"/>
                </a:solidFill>
                <a:latin typeface="Kanit"/>
              </a:rPr>
              <a:t>Transport income moves −4.8% on one national fuel number, no Thai freight data behind it. Drought (ภัยแล้ง) is a rainfall model — nobody has walked those districts.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4490847"/>
            <a:ext cx="11365992" cy="854456"/>
          </a:xfrm>
          <a:prstGeom prst="rect">
            <a:avLst/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1480" y="4490847"/>
            <a:ext cx="50292" cy="854456"/>
          </a:xfrm>
          <a:prstGeom prst="rect">
            <a:avLst/>
          </a:prstGeom>
          <a:solidFill>
            <a:srgbClr val="1E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" y="4637151"/>
            <a:ext cx="11036808" cy="158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</a:pPr>
            <a:r>
              <a:rPr sz="950" b="1">
                <a:solidFill>
                  <a:srgbClr val="1E2F5C"/>
                </a:solidFill>
                <a:latin typeface="Kanit"/>
              </a:rPr>
              <a:t>Scope, stated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" y="4841620"/>
            <a:ext cx="11036808" cy="35737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7"/>
              </a:lnSpc>
            </a:pPr>
            <a:r>
              <a:rPr sz="1050" b="0">
                <a:solidFill>
                  <a:srgbClr val="1E2F5C"/>
                </a:solidFill>
                <a:latin typeface="Kanit"/>
              </a:rPr>
              <a:t>External data only — the economy, crops, water, vehicles. It points at places, never at people; turning a place into a call list is the Assistance tab’s job. Nothing here argues to open, close or expand anything.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5473319"/>
            <a:ext cx="11365992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</a:pPr>
            <a:r>
              <a:rPr sz="900" b="0">
                <a:solidFill>
                  <a:srgbClr val="606060"/>
                </a:solidFill>
                <a:latin typeface="Kanit"/>
              </a:rPr>
              <a:t>Vintages — world prices 2026M06 · Thai farm gate 2026-09-11 · Thai price history 2026-09-11 · crop cost of production OAE Cai-up 2568 (crop year 2568/69, OAE forecast Mar 2569) · drought 2026-06-21 · CPI 2026-05 · GDP 2026-Q1 · IMF WEO 2026 · resale index 2026-05 · registrations to 2026-01 · household debt NSO SES 2566 · wages NSO LFS 2568 · telemetry 2026-09-11.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