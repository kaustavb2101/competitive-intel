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note up front: this is the Macro tab only — external data, none of it is our loan book. The book, competition and branch views are separate tabs and separate conversations. Four questions, and the fourth one is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this. If they take one thing away: the macro is fine, the crops are fine, the collateral is not, and the borrower stress is drought rather than price.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Until last week this page quoted a World Bank annual average showing Thailand in deflation at −0.13%, when the Ministry of Commerce had already measured +2.79% for May. Every chip now comes from a Thai official source with its vintage stamped on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changed on 2 August. The old board showed sugar as the only falling price; the farm-gate feed had been dropping livestock, fishery and orchard series. If anyone saw the earlier version, that is the difference. Do not sum the accounts column — the belts overlap.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present the zero as an all-clear. The double-stress test still runs on the global price proxy; the measured Thai farm-gate layer is newer than the test. สุพรรณบุรี is the worked example of what the refit will pick 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Everything before this was context; this is the part with a decision attached to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2022 break is the useful part. A structural gap would be a fact of the asset class; a four-year-old gap is something that happened, and things that happen can be diagnosed.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nameplate point is worth making explicitly — on the registrar's own class column 2025 reads 99,984, and anyone quoting that number is understating our collateral universe by 86%.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someone reaches for the unemployment rate as evidence the borrower is fine, this is the slide. 0.94% is not a measure of borrower stress in a 63% informal economy.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 of branches on repeatedly-flooded ground is a hazard flag on the footprint we already run. It is not an argument to close anything, and it is not a loss estimate.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Volunteering the gaps is the point. Two of these — the trailing current account and a Thai government-debt source — are on the build list; the co-pay figure needs an owner to confirm the referent.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scope. This is a risk lens on the footprint we already run — it makes no open, close or expand recommendation, by design.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9811512" y="0"/>
            <a:ext cx="2377440" cy="6858000"/>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9811512" y="0"/>
            <a:ext cx="109728" cy="68580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5" name="Picture 4" descr="chaiyo.png"/>
          <p:cNvPicPr>
            <a:picLocks noChangeAspect="1"/>
          </p:cNvPicPr>
          <p:nvPr/>
        </p:nvPicPr>
        <p:blipFill>
          <a:blip r:embed="rId2"/>
          <a:stretch>
            <a:fillRect/>
          </a:stretch>
        </p:blipFill>
        <p:spPr>
          <a:xfrm>
            <a:off x="640080" y="640080"/>
            <a:ext cx="2926080" cy="1828800"/>
          </a:xfrm>
          <a:prstGeom prst="rect">
            <a:avLst/>
          </a:prstGeom>
        </p:spPr>
      </p:pic>
      <p:sp>
        <p:nvSpPr>
          <p:cNvPr id="6" name="TextBox 5"/>
          <p:cNvSpPr txBox="1"/>
          <p:nvPr/>
        </p:nvSpPr>
        <p:spPr>
          <a:xfrm>
            <a:off x="685800" y="2743200"/>
            <a:ext cx="8503920" cy="965200"/>
          </a:xfrm>
          <a:prstGeom prst="rect">
            <a:avLst/>
          </a:prstGeom>
          <a:noFill/>
        </p:spPr>
        <p:txBody>
          <a:bodyPr wrap="square" lIns="0" rIns="0" tIns="0" bIns="0" anchor="t">
            <a:noAutofit/>
          </a:bodyPr>
          <a:lstStyle/>
          <a:p>
            <a:pPr algn="l">
              <a:lnSpc>
                <a:spcPts val="3800"/>
              </a:lnSpc>
            </a:pPr>
            <a:r>
              <a:rPr sz="3000" b="1">
                <a:solidFill>
                  <a:srgbClr val="FFFFFF"/>
                </a:solidFill>
                <a:latin typeface="Kanit"/>
              </a:rPr>
              <a:t>Macro: the external conditions
moving the book.</a:t>
            </a:r>
          </a:p>
        </p:txBody>
      </p:sp>
      <p:sp>
        <p:nvSpPr>
          <p:cNvPr id="7" name="TextBox 6"/>
          <p:cNvSpPr txBox="1"/>
          <p:nvPr/>
        </p:nvSpPr>
        <p:spPr>
          <a:xfrm>
            <a:off x="685800" y="4224528"/>
            <a:ext cx="8503920" cy="241300"/>
          </a:xfrm>
          <a:prstGeom prst="rect">
            <a:avLst/>
          </a:prstGeom>
          <a:noFill/>
        </p:spPr>
        <p:txBody>
          <a:bodyPr wrap="square" lIns="0" rIns="0" tIns="0" bIns="0" anchor="t">
            <a:noAutofit/>
          </a:bodyPr>
          <a:lstStyle/>
          <a:p>
            <a:pPr algn="l">
              <a:lnSpc>
                <a:spcPts val="1900"/>
              </a:lnSpc>
            </a:pPr>
            <a:r>
              <a:rPr sz="1300" b="0">
                <a:solidFill>
                  <a:srgbClr val="F5C242"/>
                </a:solidFill>
                <a:latin typeface="Kanit"/>
              </a:rPr>
              <a:t>MCOM · Wednesday 5 August 2026 · AutoX / บริษัท ออโต้ เอกซ์ จำกัด (เงินไชโย)</a:t>
            </a:r>
          </a:p>
        </p:txBody>
      </p:sp>
      <p:sp>
        <p:nvSpPr>
          <p:cNvPr id="8" name="TextBox 7"/>
          <p:cNvSpPr txBox="1"/>
          <p:nvPr/>
        </p:nvSpPr>
        <p:spPr>
          <a:xfrm>
            <a:off x="685800" y="5760720"/>
            <a:ext cx="5486400" cy="268224"/>
          </a:xfrm>
          <a:prstGeom prst="rect">
            <a:avLst/>
          </a:prstGeom>
          <a:noFill/>
        </p:spPr>
        <p:txBody>
          <a:bodyPr wrap="square" lIns="0" rIns="0" tIns="0" bIns="0" anchor="t">
            <a:noAutofit/>
          </a:bodyPr>
          <a:lstStyle/>
          <a:p>
            <a:pPr algn="l">
              <a:lnSpc>
                <a:spcPts val="2112"/>
              </a:lnSpc>
            </a:pPr>
            <a:r>
              <a:rPr sz="1600" b="1">
                <a:solidFill>
                  <a:srgbClr val="FFFFFF"/>
                </a:solidFill>
                <a:latin typeface="Kanit"/>
              </a:rPr>
              <a:t>Aug ’26</a:t>
            </a:r>
          </a:p>
        </p:txBody>
      </p:sp>
      <p:sp>
        <p:nvSpPr>
          <p:cNvPr id="9" name="TextBox 8"/>
          <p:cNvSpPr txBox="1"/>
          <p:nvPr/>
        </p:nvSpPr>
        <p:spPr>
          <a:xfrm>
            <a:off x="365760" y="6547104"/>
            <a:ext cx="6400800" cy="134112"/>
          </a:xfrm>
          <a:prstGeom prst="rect">
            <a:avLst/>
          </a:prstGeom>
          <a:noFill/>
        </p:spPr>
        <p:txBody>
          <a:bodyPr wrap="square" lIns="0" rIns="0" tIns="0" bIns="0" anchor="t">
            <a:noAutofit/>
          </a:bodyPr>
          <a:lstStyle/>
          <a:p>
            <a:pPr algn="l">
              <a:lnSpc>
                <a:spcPts val="1056"/>
              </a:lnSpc>
            </a:pPr>
            <a:r>
              <a:rPr sz="800" b="0">
                <a:solidFill>
                  <a:srgbClr val="FFFFFF"/>
                </a:solidFill>
                <a:latin typeface="Kanit"/>
              </a:rPr>
              <a:t>Restricted Data – Reproduction is prohibited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THE ANSWER FIRST</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Four questions. The fourth one is the deck.</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TextBox 8"/>
          <p:cNvSpPr txBox="1"/>
          <p:nvPr/>
        </p:nvSpPr>
        <p:spPr>
          <a:xfrm>
            <a:off x="411480" y="1152144"/>
            <a:ext cx="11365992" cy="196850"/>
          </a:xfrm>
          <a:prstGeom prst="rect">
            <a:avLst/>
          </a:prstGeom>
          <a:noFill/>
        </p:spPr>
        <p:txBody>
          <a:bodyPr wrap="square" lIns="0" rIns="0" tIns="0" bIns="0" anchor="t">
            <a:noAutofit/>
          </a:bodyPr>
          <a:lstStyle/>
          <a:p>
            <a:pPr algn="l">
              <a:lnSpc>
                <a:spcPts val="1550"/>
              </a:lnSpc>
            </a:pPr>
            <a:r>
              <a:rPr sz="1150" b="0">
                <a:solidFill>
                  <a:srgbClr val="606060"/>
                </a:solidFill>
                <a:latin typeface="Kanit"/>
              </a:rPr>
              <a:t>Nothing on this page is our loan book. The question the Macro tab answers is narrower and more useful: what is happening outside the company that will show up inside it.</a:t>
            </a:r>
          </a:p>
        </p:txBody>
      </p:sp>
      <p:sp>
        <p:nvSpPr>
          <p:cNvPr id="10" name="TextBox 9"/>
          <p:cNvSpPr txBox="1"/>
          <p:nvPr/>
        </p:nvSpPr>
        <p:spPr>
          <a:xfrm>
            <a:off x="411480" y="1550162"/>
            <a:ext cx="3017520" cy="212725"/>
          </a:xfrm>
          <a:prstGeom prst="rect">
            <a:avLst/>
          </a:prstGeom>
          <a:noFill/>
        </p:spPr>
        <p:txBody>
          <a:bodyPr wrap="square" lIns="0" rIns="0" tIns="0" bIns="0" anchor="t">
            <a:noAutofit/>
          </a:bodyPr>
          <a:lstStyle/>
          <a:p>
            <a:pPr algn="l">
              <a:lnSpc>
                <a:spcPts val="1675"/>
              </a:lnSpc>
            </a:pPr>
            <a:r>
              <a:rPr sz="1250" b="1">
                <a:solidFill>
                  <a:srgbClr val="1E2F5C"/>
                </a:solidFill>
                <a:latin typeface="Kanit"/>
              </a:rPr>
              <a:t>Is the economy the problem?</a:t>
            </a:r>
          </a:p>
        </p:txBody>
      </p:sp>
      <p:sp>
        <p:nvSpPr>
          <p:cNvPr id="11" name="TextBox 10"/>
          <p:cNvSpPr txBox="1"/>
          <p:nvPr/>
        </p:nvSpPr>
        <p:spPr>
          <a:xfrm>
            <a:off x="3703320" y="1550162"/>
            <a:ext cx="8074151" cy="425450"/>
          </a:xfrm>
          <a:prstGeom prst="rect">
            <a:avLst/>
          </a:prstGeom>
          <a:noFill/>
        </p:spPr>
        <p:txBody>
          <a:bodyPr wrap="square" lIns="0" rIns="0" tIns="0" bIns="0" anchor="t">
            <a:noAutofit/>
          </a:bodyPr>
          <a:lstStyle/>
          <a:p>
            <a:pPr algn="l">
              <a:lnSpc>
                <a:spcPts val="1675"/>
              </a:lnSpc>
            </a:pPr>
            <a:r>
              <a:rPr sz="1250" b="0">
                <a:solidFill>
                  <a:srgbClr val="2A3346"/>
                </a:solidFill>
                <a:latin typeface="Kanit"/>
              </a:rPr>
              <a:t>No. Growth and inflation both came in above what the IMF projected for 2026, and the policy rate is at 1.00%. The macro backdrop is a mild tailwind.</a:t>
            </a:r>
          </a:p>
        </p:txBody>
      </p:sp>
      <p:sp>
        <p:nvSpPr>
          <p:cNvPr id="12" name="Rectangle 11"/>
          <p:cNvSpPr/>
          <p:nvPr/>
        </p:nvSpPr>
        <p:spPr>
          <a:xfrm>
            <a:off x="411480" y="2094484"/>
            <a:ext cx="11365992" cy="10972"/>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411480" y="2213356"/>
            <a:ext cx="3017520" cy="212725"/>
          </a:xfrm>
          <a:prstGeom prst="rect">
            <a:avLst/>
          </a:prstGeom>
          <a:noFill/>
        </p:spPr>
        <p:txBody>
          <a:bodyPr wrap="square" lIns="0" rIns="0" tIns="0" bIns="0" anchor="t">
            <a:noAutofit/>
          </a:bodyPr>
          <a:lstStyle/>
          <a:p>
            <a:pPr algn="l">
              <a:lnSpc>
                <a:spcPts val="1675"/>
              </a:lnSpc>
            </a:pPr>
            <a:r>
              <a:rPr sz="1250" b="1">
                <a:solidFill>
                  <a:srgbClr val="1E2F5C"/>
                </a:solidFill>
                <a:latin typeface="Kanit"/>
              </a:rPr>
              <a:t>Are crop prices the problem?</a:t>
            </a:r>
          </a:p>
        </p:txBody>
      </p:sp>
      <p:sp>
        <p:nvSpPr>
          <p:cNvPr id="14" name="TextBox 13"/>
          <p:cNvSpPr txBox="1"/>
          <p:nvPr/>
        </p:nvSpPr>
        <p:spPr>
          <a:xfrm>
            <a:off x="3703320" y="2213356"/>
            <a:ext cx="8074151" cy="638175"/>
          </a:xfrm>
          <a:prstGeom prst="rect">
            <a:avLst/>
          </a:prstGeom>
          <a:noFill/>
        </p:spPr>
        <p:txBody>
          <a:bodyPr wrap="square" lIns="0" rIns="0" tIns="0" bIns="0" anchor="t">
            <a:noAutofit/>
          </a:bodyPr>
          <a:lstStyle/>
          <a:p>
            <a:pPr algn="l">
              <a:lnSpc>
                <a:spcPts val="1675"/>
              </a:lnSpc>
            </a:pPr>
            <a:r>
              <a:rPr sz="1250" b="0">
                <a:solidFill>
                  <a:srgbClr val="2A3346"/>
                </a:solidFill>
                <a:latin typeface="Kanit"/>
              </a:rPr>
              <a:t>Not on the world index — rice +17.9%, rubber +32.4%, palm +18.2%. But on the measured Thai farm gate nine commodities are falling, led by coconut −70.9%, pineapple −20.0% and sugar −17.9%. Six of those nine were invisible on our own board until 2 August.</a:t>
            </a:r>
          </a:p>
        </p:txBody>
      </p:sp>
      <p:sp>
        <p:nvSpPr>
          <p:cNvPr id="15" name="Rectangle 14"/>
          <p:cNvSpPr/>
          <p:nvPr/>
        </p:nvSpPr>
        <p:spPr>
          <a:xfrm>
            <a:off x="411480" y="2970403"/>
            <a:ext cx="11365992" cy="10972"/>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411480" y="3089275"/>
            <a:ext cx="3017520" cy="212725"/>
          </a:xfrm>
          <a:prstGeom prst="rect">
            <a:avLst/>
          </a:prstGeom>
          <a:noFill/>
        </p:spPr>
        <p:txBody>
          <a:bodyPr wrap="square" lIns="0" rIns="0" tIns="0" bIns="0" anchor="t">
            <a:noAutofit/>
          </a:bodyPr>
          <a:lstStyle/>
          <a:p>
            <a:pPr algn="l">
              <a:lnSpc>
                <a:spcPts val="1675"/>
              </a:lnSpc>
            </a:pPr>
            <a:r>
              <a:rPr sz="1250" b="1">
                <a:solidFill>
                  <a:srgbClr val="1E2F5C"/>
                </a:solidFill>
                <a:latin typeface="Kanit"/>
              </a:rPr>
              <a:t>So what is deteriorating?</a:t>
            </a:r>
          </a:p>
        </p:txBody>
      </p:sp>
      <p:sp>
        <p:nvSpPr>
          <p:cNvPr id="17" name="TextBox 16"/>
          <p:cNvSpPr txBox="1"/>
          <p:nvPr/>
        </p:nvSpPr>
        <p:spPr>
          <a:xfrm>
            <a:off x="3703320" y="3089275"/>
            <a:ext cx="8074151" cy="638175"/>
          </a:xfrm>
          <a:prstGeom prst="rect">
            <a:avLst/>
          </a:prstGeom>
          <a:noFill/>
        </p:spPr>
        <p:txBody>
          <a:bodyPr wrap="square" lIns="0" rIns="0" tIns="0" bIns="0" anchor="t">
            <a:noAutofit/>
          </a:bodyPr>
          <a:lstStyle/>
          <a:p>
            <a:pPr algn="l">
              <a:lnSpc>
                <a:spcPts val="1675"/>
              </a:lnSpc>
            </a:pPr>
            <a:r>
              <a:rPr sz="1250" b="0">
                <a:solidFill>
                  <a:srgbClr val="2A3346"/>
                </a:solidFill>
                <a:latin typeface="Kanit"/>
              </a:rPr>
              <a:t>The collateral. Used pickup values sit 50% below their peak and 33 points below their own 2015 base, and new pickup registrations have fallen 59% in three years. That is the pool we lend against, shrinking and cheapening at the same time.</a:t>
            </a:r>
          </a:p>
        </p:txBody>
      </p:sp>
      <p:sp>
        <p:nvSpPr>
          <p:cNvPr id="18" name="Rectangle 17"/>
          <p:cNvSpPr/>
          <p:nvPr/>
        </p:nvSpPr>
        <p:spPr>
          <a:xfrm>
            <a:off x="411480" y="3846322"/>
            <a:ext cx="11365992" cy="10972"/>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411480" y="3965194"/>
            <a:ext cx="3017520" cy="212725"/>
          </a:xfrm>
          <a:prstGeom prst="rect">
            <a:avLst/>
          </a:prstGeom>
          <a:noFill/>
        </p:spPr>
        <p:txBody>
          <a:bodyPr wrap="square" lIns="0" rIns="0" tIns="0" bIns="0" anchor="t">
            <a:noAutofit/>
          </a:bodyPr>
          <a:lstStyle/>
          <a:p>
            <a:pPr algn="l">
              <a:lnSpc>
                <a:spcPts val="1675"/>
              </a:lnSpc>
            </a:pPr>
            <a:r>
              <a:rPr sz="1250" b="1">
                <a:solidFill>
                  <a:srgbClr val="1E2F5C"/>
                </a:solidFill>
                <a:latin typeface="Kanit"/>
              </a:rPr>
              <a:t>And the borrower?</a:t>
            </a:r>
          </a:p>
        </p:txBody>
      </p:sp>
      <p:sp>
        <p:nvSpPr>
          <p:cNvPr id="20" name="TextBox 19"/>
          <p:cNvSpPr txBox="1"/>
          <p:nvPr/>
        </p:nvSpPr>
        <p:spPr>
          <a:xfrm>
            <a:off x="3703320" y="3965194"/>
            <a:ext cx="8074151" cy="425450"/>
          </a:xfrm>
          <a:prstGeom prst="rect">
            <a:avLst/>
          </a:prstGeom>
          <a:noFill/>
        </p:spPr>
        <p:txBody>
          <a:bodyPr wrap="square" lIns="0" rIns="0" tIns="0" bIns="0" anchor="t">
            <a:noAutofit/>
          </a:bodyPr>
          <a:lstStyle/>
          <a:p>
            <a:pPr algn="l">
              <a:lnSpc>
                <a:spcPts val="1675"/>
              </a:lnSpc>
            </a:pPr>
            <a:r>
              <a:rPr sz="1250" b="0">
                <a:solidFill>
                  <a:srgbClr val="2A3346"/>
                </a:solidFill>
                <a:latin typeface="Kanit"/>
              </a:rPr>
              <a:t>Drought first — 338 of 928 districts (36.4%) are dry, and a price tailwind does not reach a household whose field did not yield. But the farm gate is now a second, separate hazard rather than the same story told twice.</a:t>
            </a:r>
          </a:p>
        </p:txBody>
      </p:sp>
      <p:sp>
        <p:nvSpPr>
          <p:cNvPr id="21" name="Rounded Rectangle 20"/>
          <p:cNvSpPr/>
          <p:nvPr/>
        </p:nvSpPr>
        <p:spPr>
          <a:xfrm>
            <a:off x="411480" y="4747260"/>
            <a:ext cx="754177" cy="192024"/>
          </a:xfrm>
          <a:prstGeom prst="roundRect">
            <a:avLst>
              <a:gd name="adj" fmla="val 50000"/>
            </a:avLst>
          </a:prstGeom>
          <a:noFill/>
          <a:ln w="9525">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411480" y="4776520"/>
            <a:ext cx="754177" cy="134112"/>
          </a:xfrm>
          <a:prstGeom prst="rect">
            <a:avLst/>
          </a:prstGeom>
          <a:noFill/>
        </p:spPr>
        <p:txBody>
          <a:bodyPr wrap="square" lIns="0" rIns="0" tIns="0" bIns="0" anchor="t">
            <a:noAutofit/>
          </a:bodyPr>
          <a:lstStyle/>
          <a:p>
            <a:pPr algn="ctr">
              <a:lnSpc>
                <a:spcPts val="1056"/>
              </a:lnSpc>
            </a:pPr>
            <a:r>
              <a:rPr sz="800" b="1">
                <a:solidFill>
                  <a:srgbClr val="15795F"/>
                </a:solidFill>
                <a:latin typeface="Kanit"/>
              </a:rPr>
              <a:t>MEASURED</a:t>
            </a:r>
          </a:p>
        </p:txBody>
      </p:sp>
      <p:sp>
        <p:nvSpPr>
          <p:cNvPr id="23" name="TextBox 22"/>
          <p:cNvSpPr txBox="1"/>
          <p:nvPr/>
        </p:nvSpPr>
        <p:spPr>
          <a:xfrm>
            <a:off x="1275385" y="4760975"/>
            <a:ext cx="10502086" cy="162877"/>
          </a:xfrm>
          <a:prstGeom prst="rect">
            <a:avLst/>
          </a:prstGeom>
          <a:noFill/>
        </p:spPr>
        <p:txBody>
          <a:bodyPr wrap="square" lIns="0" rIns="0" tIns="0" bIns="0" anchor="t">
            <a:noAutofit/>
          </a:bodyPr>
          <a:lstStyle/>
          <a:p>
            <a:pPr algn="l">
              <a:lnSpc>
                <a:spcPts val="1282"/>
              </a:lnSpc>
            </a:pPr>
            <a:r>
              <a:rPr sz="950" b="0">
                <a:solidFill>
                  <a:srgbClr val="606060"/>
                </a:solidFill>
                <a:latin typeface="Kanit"/>
              </a:rPr>
              <a:t>Each figure on the following pages carries its own provenance chip. MEASURED means a source published it; ESTIMATED means we modelled it. They should be read differently.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01 · MACRO OVERLAY</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The backdrop is benign — and it is finally current.</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Rounded Rectangle 8"/>
          <p:cNvSpPr/>
          <p:nvPr/>
        </p:nvSpPr>
        <p:spPr>
          <a:xfrm>
            <a:off x="411480" y="1152144"/>
            <a:ext cx="3697223"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548640" y="1252728"/>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GDP growth</a:t>
            </a:r>
          </a:p>
        </p:txBody>
      </p:sp>
      <p:sp>
        <p:nvSpPr>
          <p:cNvPr id="11" name="TextBox 10"/>
          <p:cNvSpPr txBox="1"/>
          <p:nvPr/>
        </p:nvSpPr>
        <p:spPr>
          <a:xfrm>
            <a:off x="548640" y="1426464"/>
            <a:ext cx="3422904" cy="330200"/>
          </a:xfrm>
          <a:prstGeom prst="rect">
            <a:avLst/>
          </a:prstGeom>
          <a:noFill/>
        </p:spPr>
        <p:txBody>
          <a:bodyPr wrap="square" lIns="0" rIns="0" tIns="0" bIns="0" anchor="t">
            <a:noAutofit/>
          </a:bodyPr>
          <a:lstStyle/>
          <a:p>
            <a:pPr algn="l">
              <a:lnSpc>
                <a:spcPts val="2600"/>
              </a:lnSpc>
            </a:pPr>
            <a:r>
              <a:rPr sz="2100" b="1">
                <a:solidFill>
                  <a:srgbClr val="15795F"/>
                </a:solidFill>
                <a:latin typeface="Kanit"/>
              </a:rPr>
              <a:t>+2.8%</a:t>
            </a:r>
          </a:p>
        </p:txBody>
      </p:sp>
      <p:sp>
        <p:nvSpPr>
          <p:cNvPr id="12" name="TextBox 11"/>
          <p:cNvSpPr txBox="1"/>
          <p:nvPr/>
        </p:nvSpPr>
        <p:spPr>
          <a:xfrm>
            <a:off x="548640" y="1792224"/>
            <a:ext cx="3422904"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YoY · a measured quarter, not a projection · NESDC 2026-Q1</a:t>
            </a:r>
          </a:p>
        </p:txBody>
      </p:sp>
      <p:sp>
        <p:nvSpPr>
          <p:cNvPr id="13" name="Rounded Rectangle 12"/>
          <p:cNvSpPr/>
          <p:nvPr/>
        </p:nvSpPr>
        <p:spPr>
          <a:xfrm>
            <a:off x="4245864" y="1152144"/>
            <a:ext cx="3697223"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4383024" y="1252728"/>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Inflation</a:t>
            </a:r>
          </a:p>
        </p:txBody>
      </p:sp>
      <p:sp>
        <p:nvSpPr>
          <p:cNvPr id="15" name="TextBox 14"/>
          <p:cNvSpPr txBox="1"/>
          <p:nvPr/>
        </p:nvSpPr>
        <p:spPr>
          <a:xfrm>
            <a:off x="4383024" y="1426464"/>
            <a:ext cx="3422904"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+2.79%</a:t>
            </a:r>
          </a:p>
        </p:txBody>
      </p:sp>
      <p:sp>
        <p:nvSpPr>
          <p:cNvPr id="16" name="TextBox 15"/>
          <p:cNvSpPr txBox="1"/>
          <p:nvPr/>
        </p:nvSpPr>
        <p:spPr>
          <a:xfrm>
            <a:off x="4383024" y="1792224"/>
            <a:ext cx="3422904"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headline CPI YoY · TPSO, Ministry of Commerce · 2026-05</a:t>
            </a:r>
          </a:p>
        </p:txBody>
      </p:sp>
      <p:sp>
        <p:nvSpPr>
          <p:cNvPr id="17" name="Rounded Rectangle 16"/>
          <p:cNvSpPr/>
          <p:nvPr/>
        </p:nvSpPr>
        <p:spPr>
          <a:xfrm>
            <a:off x="8080247" y="1152144"/>
            <a:ext cx="3697223"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8217408" y="1252728"/>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Policy rate</a:t>
            </a:r>
          </a:p>
        </p:txBody>
      </p:sp>
      <p:sp>
        <p:nvSpPr>
          <p:cNvPr id="19" name="TextBox 18"/>
          <p:cNvSpPr txBox="1"/>
          <p:nvPr/>
        </p:nvSpPr>
        <p:spPr>
          <a:xfrm>
            <a:off x="8217408" y="1426464"/>
            <a:ext cx="3422904" cy="330200"/>
          </a:xfrm>
          <a:prstGeom prst="rect">
            <a:avLst/>
          </a:prstGeom>
          <a:noFill/>
        </p:spPr>
        <p:txBody>
          <a:bodyPr wrap="square" lIns="0" rIns="0" tIns="0" bIns="0" anchor="t">
            <a:noAutofit/>
          </a:bodyPr>
          <a:lstStyle/>
          <a:p>
            <a:pPr algn="l">
              <a:lnSpc>
                <a:spcPts val="2600"/>
              </a:lnSpc>
            </a:pPr>
            <a:r>
              <a:rPr sz="2100" b="1">
                <a:solidFill>
                  <a:srgbClr val="1E2F5C"/>
                </a:solidFill>
                <a:latin typeface="Kanit"/>
              </a:rPr>
              <a:t>1.00%</a:t>
            </a:r>
          </a:p>
        </p:txBody>
      </p:sp>
      <p:sp>
        <p:nvSpPr>
          <p:cNvPr id="20" name="TextBox 19"/>
          <p:cNvSpPr txBox="1"/>
          <p:nvPr/>
        </p:nvSpPr>
        <p:spPr>
          <a:xfrm>
            <a:off x="8217408" y="1792224"/>
            <a:ext cx="3422904"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Bank of Thailand policy rate · 2026-06</a:t>
            </a:r>
          </a:p>
        </p:txBody>
      </p:sp>
      <p:sp>
        <p:nvSpPr>
          <p:cNvPr id="21" name="Rounded Rectangle 20"/>
          <p:cNvSpPr/>
          <p:nvPr/>
        </p:nvSpPr>
        <p:spPr>
          <a:xfrm>
            <a:off x="411480" y="2350008"/>
            <a:ext cx="3697223"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548640" y="2450591"/>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USD / THB</a:t>
            </a:r>
          </a:p>
        </p:txBody>
      </p:sp>
      <p:sp>
        <p:nvSpPr>
          <p:cNvPr id="23" name="TextBox 22"/>
          <p:cNvSpPr txBox="1"/>
          <p:nvPr/>
        </p:nvSpPr>
        <p:spPr>
          <a:xfrm>
            <a:off x="548640" y="2624327"/>
            <a:ext cx="3422904" cy="330200"/>
          </a:xfrm>
          <a:prstGeom prst="rect">
            <a:avLst/>
          </a:prstGeom>
          <a:noFill/>
        </p:spPr>
        <p:txBody>
          <a:bodyPr wrap="square" lIns="0" rIns="0" tIns="0" bIns="0" anchor="t">
            <a:noAutofit/>
          </a:bodyPr>
          <a:lstStyle/>
          <a:p>
            <a:pPr algn="l">
              <a:lnSpc>
                <a:spcPts val="2600"/>
              </a:lnSpc>
            </a:pPr>
            <a:r>
              <a:rPr sz="2100" b="1">
                <a:solidFill>
                  <a:srgbClr val="1E2F5C"/>
                </a:solidFill>
                <a:latin typeface="Kanit"/>
              </a:rPr>
              <a:t>33.47</a:t>
            </a:r>
          </a:p>
        </p:txBody>
      </p:sp>
      <p:sp>
        <p:nvSpPr>
          <p:cNvPr id="24" name="TextBox 23"/>
          <p:cNvSpPr txBox="1"/>
          <p:nvPr/>
        </p:nvSpPr>
        <p:spPr>
          <a:xfrm>
            <a:off x="548640" y="2990087"/>
            <a:ext cx="3422904"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ECB reference rate · 2026-07-31</a:t>
            </a:r>
          </a:p>
        </p:txBody>
      </p:sp>
      <p:sp>
        <p:nvSpPr>
          <p:cNvPr id="25" name="Rounded Rectangle 24"/>
          <p:cNvSpPr/>
          <p:nvPr/>
        </p:nvSpPr>
        <p:spPr>
          <a:xfrm>
            <a:off x="4245864" y="2350008"/>
            <a:ext cx="3697223"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4383024" y="2450591"/>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Household debt</a:t>
            </a:r>
          </a:p>
        </p:txBody>
      </p:sp>
      <p:sp>
        <p:nvSpPr>
          <p:cNvPr id="27" name="TextBox 26"/>
          <p:cNvSpPr txBox="1"/>
          <p:nvPr/>
        </p:nvSpPr>
        <p:spPr>
          <a:xfrm>
            <a:off x="4383024" y="2624327"/>
            <a:ext cx="3422904"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87.5%</a:t>
            </a:r>
          </a:p>
        </p:txBody>
      </p:sp>
      <p:sp>
        <p:nvSpPr>
          <p:cNvPr id="28" name="TextBox 27"/>
          <p:cNvSpPr txBox="1"/>
          <p:nvPr/>
        </p:nvSpPr>
        <p:spPr>
          <a:xfrm>
            <a:off x="4383024" y="2990087"/>
            <a:ext cx="3422904"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of GDP · BIS · 2025-Q4</a:t>
            </a:r>
          </a:p>
        </p:txBody>
      </p:sp>
      <p:sp>
        <p:nvSpPr>
          <p:cNvPr id="29" name="Rounded Rectangle 28"/>
          <p:cNvSpPr/>
          <p:nvPr/>
        </p:nvSpPr>
        <p:spPr>
          <a:xfrm>
            <a:off x="8080247" y="2350008"/>
            <a:ext cx="3697223"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8217408" y="2450591"/>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Tourist arrivals</a:t>
            </a:r>
          </a:p>
        </p:txBody>
      </p:sp>
      <p:sp>
        <p:nvSpPr>
          <p:cNvPr id="31" name="TextBox 30"/>
          <p:cNvSpPr txBox="1"/>
          <p:nvPr/>
        </p:nvSpPr>
        <p:spPr>
          <a:xfrm>
            <a:off x="8217408" y="2624327"/>
            <a:ext cx="3422904"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32.2M</a:t>
            </a:r>
          </a:p>
        </p:txBody>
      </p:sp>
      <p:sp>
        <p:nvSpPr>
          <p:cNvPr id="32" name="TextBox 31"/>
          <p:cNvSpPr txBox="1"/>
          <p:nvPr/>
        </p:nvSpPr>
        <p:spPr>
          <a:xfrm>
            <a:off x="8217408" y="2990087"/>
            <a:ext cx="3422904"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trailing 12 months · −6.6% YoY · BoT 2026-06</a:t>
            </a:r>
          </a:p>
        </p:txBody>
      </p:sp>
      <p:sp>
        <p:nvSpPr>
          <p:cNvPr id="33" name="Rounded Rectangle 32"/>
          <p:cNvSpPr/>
          <p:nvPr/>
        </p:nvSpPr>
        <p:spPr>
          <a:xfrm>
            <a:off x="411480" y="3575304"/>
            <a:ext cx="754177" cy="192024"/>
          </a:xfrm>
          <a:prstGeom prst="roundRect">
            <a:avLst>
              <a:gd name="adj" fmla="val 50000"/>
            </a:avLst>
          </a:prstGeom>
          <a:noFill/>
          <a:ln w="9525">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TextBox 33"/>
          <p:cNvSpPr txBox="1"/>
          <p:nvPr/>
        </p:nvSpPr>
        <p:spPr>
          <a:xfrm>
            <a:off x="411480" y="3604564"/>
            <a:ext cx="754177" cy="134112"/>
          </a:xfrm>
          <a:prstGeom prst="rect">
            <a:avLst/>
          </a:prstGeom>
          <a:noFill/>
        </p:spPr>
        <p:txBody>
          <a:bodyPr wrap="square" lIns="0" rIns="0" tIns="0" bIns="0" anchor="t">
            <a:noAutofit/>
          </a:bodyPr>
          <a:lstStyle/>
          <a:p>
            <a:pPr algn="ctr">
              <a:lnSpc>
                <a:spcPts val="1056"/>
              </a:lnSpc>
            </a:pPr>
            <a:r>
              <a:rPr sz="800" b="1">
                <a:solidFill>
                  <a:srgbClr val="15795F"/>
                </a:solidFill>
                <a:latin typeface="Kanit"/>
              </a:rPr>
              <a:t>MEASURED</a:t>
            </a:r>
          </a:p>
        </p:txBody>
      </p:sp>
      <p:sp>
        <p:nvSpPr>
          <p:cNvPr id="35" name="TextBox 34"/>
          <p:cNvSpPr txBox="1"/>
          <p:nvPr/>
        </p:nvSpPr>
        <p:spPr>
          <a:xfrm>
            <a:off x="1275385" y="3589020"/>
            <a:ext cx="10502086" cy="162877"/>
          </a:xfrm>
          <a:prstGeom prst="rect">
            <a:avLst/>
          </a:prstGeom>
          <a:noFill/>
        </p:spPr>
        <p:txBody>
          <a:bodyPr wrap="square" lIns="0" rIns="0" tIns="0" bIns="0" anchor="t">
            <a:noAutofit/>
          </a:bodyPr>
          <a:lstStyle/>
          <a:p>
            <a:pPr algn="l">
              <a:lnSpc>
                <a:spcPts val="1282"/>
              </a:lnSpc>
            </a:pPr>
            <a:r>
              <a:rPr sz="950" b="0">
                <a:solidFill>
                  <a:srgbClr val="606060"/>
                </a:solidFill>
                <a:latin typeface="Kanit"/>
              </a:rPr>
              <a:t>All six are pulled from the publishing agency, not typed in. NESDC · TPSO · Bank of Thailand · BIS · ECB.</a:t>
            </a:r>
          </a:p>
        </p:txBody>
      </p:sp>
      <p:sp>
        <p:nvSpPr>
          <p:cNvPr id="36" name="Rectangle 35"/>
          <p:cNvSpPr/>
          <p:nvPr/>
        </p:nvSpPr>
        <p:spPr>
          <a:xfrm>
            <a:off x="411480" y="3921061"/>
            <a:ext cx="11365992" cy="854456"/>
          </a:xfrm>
          <a:prstGeom prst="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411480" y="3921061"/>
            <a:ext cx="50292" cy="85445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8" name="TextBox 37"/>
          <p:cNvSpPr txBox="1"/>
          <p:nvPr/>
        </p:nvSpPr>
        <p:spPr>
          <a:xfrm>
            <a:off x="630936" y="4067365"/>
            <a:ext cx="11036808" cy="158750"/>
          </a:xfrm>
          <a:prstGeom prst="rect">
            <a:avLst/>
          </a:prstGeom>
          <a:noFill/>
        </p:spPr>
        <p:txBody>
          <a:bodyPr wrap="square" lIns="0" rIns="0" tIns="0" bIns="0" anchor="t">
            <a:noAutofit/>
          </a:bodyPr>
          <a:lstStyle/>
          <a:p>
            <a:pPr algn="l">
              <a:lnSpc>
                <a:spcPts val="1250"/>
              </a:lnSpc>
            </a:pPr>
            <a:r>
              <a:rPr sz="950" b="1">
                <a:solidFill>
                  <a:srgbClr val="1E2F5C"/>
                </a:solidFill>
                <a:latin typeface="Kanit"/>
              </a:rPr>
              <a:t>Thailand has already overtaken the IMF’s 2026 projection</a:t>
            </a:r>
          </a:p>
        </p:txBody>
      </p:sp>
      <p:sp>
        <p:nvSpPr>
          <p:cNvPr id="39" name="TextBox 38"/>
          <p:cNvSpPr txBox="1"/>
          <p:nvPr/>
        </p:nvSpPr>
        <p:spPr>
          <a:xfrm>
            <a:off x="630936" y="4271835"/>
            <a:ext cx="11036808" cy="357378"/>
          </a:xfrm>
          <a:prstGeom prst="rect">
            <a:avLst/>
          </a:prstGeom>
          <a:noFill/>
        </p:spPr>
        <p:txBody>
          <a:bodyPr wrap="square" lIns="0" rIns="0" tIns="0" bIns="0" anchor="t">
            <a:noAutofit/>
          </a:bodyPr>
          <a:lstStyle/>
          <a:p>
            <a:pPr algn="l">
              <a:lnSpc>
                <a:spcPts val="1407"/>
              </a:lnSpc>
            </a:pPr>
            <a:r>
              <a:rPr sz="1050" b="0">
                <a:solidFill>
                  <a:srgbClr val="1E2F5C"/>
                </a:solidFill>
                <a:latin typeface="Kanit"/>
              </a:rPr>
              <a:t>The IMF projected 1.5% growth and 0.9% inflation for 2026. The measured outturns are +2.8% and +2.79% — 1.3 and 1.9 points higher. Where a Thai measurement exists we show it instead of the projection, and say which is which.</a:t>
            </a:r>
          </a:p>
        </p:txBody>
      </p:sp>
      <p:sp>
        <p:nvSpPr>
          <p:cNvPr id="40" name="Rectangle 39"/>
          <p:cNvSpPr/>
          <p:nvPr/>
        </p:nvSpPr>
        <p:spPr>
          <a:xfrm>
            <a:off x="411480" y="4921821"/>
            <a:ext cx="11365992" cy="854456"/>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1" name="Rectangle 40"/>
          <p:cNvSpPr/>
          <p:nvPr/>
        </p:nvSpPr>
        <p:spPr>
          <a:xfrm>
            <a:off x="411480" y="4921821"/>
            <a:ext cx="50292" cy="854456"/>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2" name="TextBox 41"/>
          <p:cNvSpPr txBox="1"/>
          <p:nvPr/>
        </p:nvSpPr>
        <p:spPr>
          <a:xfrm>
            <a:off x="630936" y="5068125"/>
            <a:ext cx="11036808"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One number is deliberately not on this page</a:t>
            </a:r>
          </a:p>
        </p:txBody>
      </p:sp>
      <p:sp>
        <p:nvSpPr>
          <p:cNvPr id="43" name="TextBox 42"/>
          <p:cNvSpPr txBox="1"/>
          <p:nvPr/>
        </p:nvSpPr>
        <p:spPr>
          <a:xfrm>
            <a:off x="630936" y="5272595"/>
            <a:ext cx="11036808" cy="357378"/>
          </a:xfrm>
          <a:prstGeom prst="rect">
            <a:avLst/>
          </a:prstGeom>
          <a:noFill/>
        </p:spPr>
        <p:txBody>
          <a:bodyPr wrap="square" lIns="0" rIns="0" tIns="0" bIns="0" anchor="t">
            <a:noAutofit/>
          </a:bodyPr>
          <a:lstStyle/>
          <a:p>
            <a:pPr algn="l">
              <a:lnSpc>
                <a:spcPts val="1407"/>
              </a:lnSpc>
            </a:pPr>
            <a:r>
              <a:rPr sz="1050" b="0">
                <a:solidFill>
                  <a:srgbClr val="1E2F5C"/>
                </a:solidFill>
                <a:latin typeface="Kanit"/>
              </a:rPr>
              <a:t>The current account printed −7,591 USD million in April 2026, but the trailing twelve months of the same series net to roughly +847M. A single month shown alone would read as a national crisis and would be wrong. The honest trailing figure is not built yet, so the chip waits.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02 · COMMODITY BOARD</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The world index says tailwind. The Thai farm gate does not.</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TextBox 8"/>
          <p:cNvSpPr txBox="1"/>
          <p:nvPr/>
        </p:nvSpPr>
        <p:spPr>
          <a:xfrm>
            <a:off x="411480" y="1152144"/>
            <a:ext cx="11365992" cy="381000"/>
          </a:xfrm>
          <a:prstGeom prst="rect">
            <a:avLst/>
          </a:prstGeom>
          <a:noFill/>
        </p:spPr>
        <p:txBody>
          <a:bodyPr wrap="square" lIns="0" rIns="0" tIns="0" bIns="0" anchor="t">
            <a:noAutofit/>
          </a:bodyPr>
          <a:lstStyle/>
          <a:p>
            <a:pPr algn="l">
              <a:lnSpc>
                <a:spcPts val="1500"/>
              </a:lnSpc>
            </a:pPr>
            <a:r>
              <a:rPr sz="1100" b="0">
                <a:solidFill>
                  <a:srgbClr val="606060"/>
                </a:solidFill>
                <a:latin typeface="Kanit"/>
              </a:rPr>
              <a:t>The board carries 21 commodities. Seventeen now have a measured Thai farm-gate price beside the world index — and nine of those seventeen are negative year on year. Six of them were invisible here until 2 August, because the feed kept crop forms only and silently dropped livestock, fishery and orchard prices.</a:t>
            </a:r>
          </a:p>
        </p:txBody>
      </p:sp>
      <p:graphicFrame>
        <p:nvGraphicFramePr>
          <p:cNvPr id="10" name="Table 9"/>
          <p:cNvGraphicFramePr>
            <a:graphicFrameLocks noGrp="1"/>
          </p:cNvGraphicFramePr>
          <p:nvPr/>
        </p:nvGraphicFramePr>
        <p:xfrm>
          <a:off x="411480" y="1679448"/>
          <a:ext cx="11365992" cy="2617011"/>
        </p:xfrm>
        <a:graphic>
          <a:graphicData uri="http://schemas.openxmlformats.org/drawingml/2006/table">
            <a:tbl>
              <a:tblPr>
                <a:tableStyleId>{5C22544A-7EE6-4342-B048-85BDC9FD1C3A}</a:tableStyleId>
              </a:tblPr>
              <a:tblGrid>
                <a:gridCol w="2108208"/>
                <a:gridCol w="1374918"/>
                <a:gridCol w="1833225"/>
                <a:gridCol w="2016547"/>
                <a:gridCol w="1833225"/>
                <a:gridCol w="2199869"/>
              </a:tblGrid>
              <a:tr h="329184">
                <a:tc>
                  <a:txBody>
                    <a:bodyPr wrap="square"/>
                    <a:lstStyle/>
                    <a:p>
                      <a:pPr algn="l"/>
                      <a:r>
                        <a:rPr sz="1050" b="1">
                          <a:solidFill>
                            <a:srgbClr val="FFFFFF"/>
                          </a:solidFill>
                          <a:latin typeface="Kanit"/>
                        </a:rPr>
                        <a:t>Falling at the farm gate</a:t>
                      </a:r>
                    </a:p>
                  </a:txBody>
                  <a:tcPr marL="54864" marR="54864" marT="18288" marB="18288" anchor="ctr">
                    <a:solidFill>
                      <a:srgbClr val="1B2A6B"/>
                    </a:solidFill>
                  </a:tcPr>
                </a:tc>
                <a:tc>
                  <a:txBody>
                    <a:bodyPr wrap="square"/>
                    <a:lstStyle/>
                    <a:p>
                      <a:pPr algn="l"/>
                      <a:r>
                        <a:rPr sz="1050" b="1">
                          <a:solidFill>
                            <a:srgbClr val="FFFFFF"/>
                          </a:solidFill>
                          <a:latin typeface="Kanit"/>
                        </a:rPr>
                        <a:t>Segment</a:t>
                      </a:r>
                    </a:p>
                  </a:txBody>
                  <a:tcPr marL="54864" marR="54864" marT="18288" marB="18288" anchor="ctr">
                    <a:solidFill>
                      <a:srgbClr val="1B2A6B"/>
                    </a:solidFill>
                  </a:tcPr>
                </a:tc>
                <a:tc>
                  <a:txBody>
                    <a:bodyPr wrap="square"/>
                    <a:lstStyle/>
                    <a:p>
                      <a:pPr algn="l"/>
                      <a:r>
                        <a:rPr sz="1050" b="1">
                          <a:solidFill>
                            <a:srgbClr val="FFFFFF"/>
                          </a:solidFill>
                          <a:latin typeface="Kanit"/>
                        </a:rPr>
                        <a:t>Belt</a:t>
                      </a:r>
                    </a:p>
                  </a:txBody>
                  <a:tcPr marL="54864" marR="54864" marT="18288" marB="18288" anchor="ctr">
                    <a:solidFill>
                      <a:srgbClr val="1B2A6B"/>
                    </a:solidFill>
                  </a:tcPr>
                </a:tc>
                <a:tc>
                  <a:txBody>
                    <a:bodyPr wrap="square"/>
                    <a:lstStyle/>
                    <a:p>
                      <a:pPr algn="r"/>
                      <a:r>
                        <a:rPr sz="1050" b="1">
                          <a:solidFill>
                            <a:srgbClr val="FFFFFF"/>
                          </a:solidFill>
                          <a:latin typeface="Kanit"/>
                        </a:rPr>
                        <a:t>Thai farm-gate YoY</a:t>
                      </a:r>
                    </a:p>
                  </a:txBody>
                  <a:tcPr marL="54864" marR="54864" marT="18288" marB="18288" anchor="ctr">
                    <a:solidFill>
                      <a:srgbClr val="1B2A6B"/>
                    </a:solidFill>
                  </a:tcPr>
                </a:tc>
                <a:tc>
                  <a:txBody>
                    <a:bodyPr wrap="square"/>
                    <a:lstStyle/>
                    <a:p>
                      <a:pPr algn="r"/>
                      <a:r>
                        <a:rPr sz="1050" b="1">
                          <a:solidFill>
                            <a:srgbClr val="FFFFFF"/>
                          </a:solidFill>
                          <a:latin typeface="Kanit"/>
                        </a:rPr>
                        <a:t>World index YoY</a:t>
                      </a:r>
                    </a:p>
                  </a:txBody>
                  <a:tcPr marL="54864" marR="54864" marT="18288" marB="18288" anchor="ctr">
                    <a:solidFill>
                      <a:srgbClr val="1B2A6B"/>
                    </a:solidFill>
                  </a:tcPr>
                </a:tc>
                <a:tc>
                  <a:txBody>
                    <a:bodyPr wrap="square"/>
                    <a:lstStyle/>
                    <a:p>
                      <a:pPr algn="r"/>
                      <a:r>
                        <a:rPr sz="1050" b="1">
                          <a:solidFill>
                            <a:srgbClr val="FFFFFF"/>
                          </a:solidFill>
                          <a:latin typeface="Kanit"/>
                        </a:rPr>
                        <a:t>Accounts in the belt</a:t>
                      </a:r>
                    </a:p>
                  </a:txBody>
                  <a:tcPr marL="54864" marR="54864" marT="18288" marB="18288" anchor="ctr">
                    <a:solidFill>
                      <a:srgbClr val="1B2A6B"/>
                    </a:solidFill>
                  </a:tcPr>
                </a:tc>
              </a:tr>
              <a:tr h="254203">
                <a:tc>
                  <a:txBody>
                    <a:bodyPr wrap="square"/>
                    <a:lstStyle/>
                    <a:p>
                      <a:pPr algn="l"/>
                      <a:r>
                        <a:rPr sz="1000" b="1">
                          <a:solidFill>
                            <a:srgbClr val="1E2F5C"/>
                          </a:solidFill>
                          <a:latin typeface="Kanit"/>
                        </a:rPr>
                        <a:t>Coconut</a:t>
                      </a:r>
                    </a:p>
                  </a:txBody>
                  <a:tcPr marL="54864" marR="54864" marT="18288" marB="18288" anchor="ctr">
                    <a:solidFill>
                      <a:srgbClr val="FFFFFF"/>
                    </a:solidFill>
                  </a:tcPr>
                </a:tc>
                <a:tc>
                  <a:txBody>
                    <a:bodyPr wrap="square"/>
                    <a:lstStyle/>
                    <a:p>
                      <a:pPr algn="l"/>
                      <a:r>
                        <a:rPr sz="1000" b="0">
                          <a:solidFill>
                            <a:srgbClr val="1E2F5C"/>
                          </a:solidFill>
                          <a:latin typeface="Kanit"/>
                        </a:rPr>
                        <a:t>Crops</a:t>
                      </a:r>
                    </a:p>
                  </a:txBody>
                  <a:tcPr marL="54864" marR="54864" marT="18288" marB="18288" anchor="ctr">
                    <a:solidFill>
                      <a:srgbClr val="FFFFFF"/>
                    </a:solidFill>
                  </a:tcPr>
                </a:tc>
                <a:tc>
                  <a:txBody>
                    <a:bodyPr wrap="square"/>
                    <a:lstStyle/>
                    <a:p>
                      <a:pPr algn="l"/>
                      <a:r>
                        <a:rPr sz="1000" b="0">
                          <a:solidFill>
                            <a:srgbClr val="1E2F5C"/>
                          </a:solidFill>
                          <a:latin typeface="Kanit"/>
                        </a:rPr>
                        <a:t>S · E</a:t>
                      </a:r>
                    </a:p>
                  </a:txBody>
                  <a:tcPr marL="54864" marR="54864" marT="18288" marB="18288" anchor="ctr">
                    <a:solidFill>
                      <a:srgbClr val="FFFFFF"/>
                    </a:solidFill>
                  </a:tcPr>
                </a:tc>
                <a:tc>
                  <a:txBody>
                    <a:bodyPr wrap="square"/>
                    <a:lstStyle/>
                    <a:p>
                      <a:pPr algn="r"/>
                      <a:r>
                        <a:rPr sz="1000" b="1">
                          <a:solidFill>
                            <a:srgbClr val="CC0000"/>
                          </a:solidFill>
                          <a:latin typeface="Kanit"/>
                        </a:rPr>
                        <a:t>−70.9%</a:t>
                      </a:r>
                    </a:p>
                  </a:txBody>
                  <a:tcPr marL="54864" marR="54864" marT="18288" marB="18288" anchor="ctr">
                    <a:solidFill>
                      <a:srgbClr val="FFFFFF"/>
                    </a:solidFill>
                  </a:tcPr>
                </a:tc>
                <a:tc>
                  <a:txBody>
                    <a:bodyPr wrap="square"/>
                    <a:lstStyle/>
                    <a:p>
                      <a:pPr algn="r"/>
                      <a:r>
                        <a:rPr sz="1000" b="0">
                          <a:solidFill>
                            <a:srgbClr val="606060"/>
                          </a:solidFill>
                          <a:latin typeface="Kanit"/>
                        </a:rPr>
                        <a:t>—</a:t>
                      </a:r>
                    </a:p>
                  </a:txBody>
                  <a:tcPr marL="54864" marR="54864" marT="18288" marB="18288" anchor="ctr">
                    <a:solidFill>
                      <a:srgbClr val="FFFFFF"/>
                    </a:solidFill>
                  </a:tcPr>
                </a:tc>
                <a:tc>
                  <a:txBody>
                    <a:bodyPr wrap="square"/>
                    <a:lstStyle/>
                    <a:p>
                      <a:pPr algn="r"/>
                      <a:r>
                        <a:rPr sz="1000" b="0">
                          <a:solidFill>
                            <a:srgbClr val="1E2F5C"/>
                          </a:solidFill>
                          <a:latin typeface="Kanit"/>
                        </a:rPr>
                        <a:t>40,394</a:t>
                      </a:r>
                    </a:p>
                  </a:txBody>
                  <a:tcPr marL="54864" marR="54864" marT="18288" marB="18288" anchor="ctr">
                    <a:solidFill>
                      <a:srgbClr val="FFFFFF"/>
                    </a:solidFill>
                  </a:tcPr>
                </a:tc>
              </a:tr>
              <a:tr h="254203">
                <a:tc>
                  <a:txBody>
                    <a:bodyPr wrap="square"/>
                    <a:lstStyle/>
                    <a:p>
                      <a:pPr algn="l"/>
                      <a:r>
                        <a:rPr sz="1000" b="1">
                          <a:solidFill>
                            <a:srgbClr val="1E2F5C"/>
                          </a:solidFill>
                          <a:latin typeface="Kanit"/>
                        </a:rPr>
                        <a:t>Pineapple</a:t>
                      </a:r>
                    </a:p>
                  </a:txBody>
                  <a:tcPr marL="54864" marR="54864" marT="18288" marB="18288" anchor="ctr">
                    <a:solidFill>
                      <a:srgbClr val="F7F9FC"/>
                    </a:solidFill>
                  </a:tcPr>
                </a:tc>
                <a:tc>
                  <a:txBody>
                    <a:bodyPr wrap="square"/>
                    <a:lstStyle/>
                    <a:p>
                      <a:pPr algn="l"/>
                      <a:r>
                        <a:rPr sz="1000" b="0">
                          <a:solidFill>
                            <a:srgbClr val="1E2F5C"/>
                          </a:solidFill>
                          <a:latin typeface="Kanit"/>
                        </a:rPr>
                        <a:t>Crops</a:t>
                      </a:r>
                    </a:p>
                  </a:txBody>
                  <a:tcPr marL="54864" marR="54864" marT="18288" marB="18288" anchor="ctr">
                    <a:solidFill>
                      <a:srgbClr val="F7F9FC"/>
                    </a:solidFill>
                  </a:tcPr>
                </a:tc>
                <a:tc>
                  <a:txBody>
                    <a:bodyPr wrap="square"/>
                    <a:lstStyle/>
                    <a:p>
                      <a:pPr algn="l"/>
                      <a:r>
                        <a:rPr sz="1000" b="0">
                          <a:solidFill>
                            <a:srgbClr val="1E2F5C"/>
                          </a:solidFill>
                          <a:latin typeface="Kanit"/>
                        </a:rPr>
                        <a:t>E · W · N</a:t>
                      </a:r>
                    </a:p>
                  </a:txBody>
                  <a:tcPr marL="54864" marR="54864" marT="18288" marB="18288" anchor="ctr">
                    <a:solidFill>
                      <a:srgbClr val="F7F9FC"/>
                    </a:solidFill>
                  </a:tcPr>
                </a:tc>
                <a:tc>
                  <a:txBody>
                    <a:bodyPr wrap="square"/>
                    <a:lstStyle/>
                    <a:p>
                      <a:pPr algn="r"/>
                      <a:r>
                        <a:rPr sz="1000" b="1">
                          <a:solidFill>
                            <a:srgbClr val="CC0000"/>
                          </a:solidFill>
                          <a:latin typeface="Kanit"/>
                        </a:rPr>
                        <a:t>−20.0%</a:t>
                      </a:r>
                    </a:p>
                  </a:txBody>
                  <a:tcPr marL="54864" marR="54864" marT="18288" marB="18288" anchor="ctr">
                    <a:solidFill>
                      <a:srgbClr val="F7F9FC"/>
                    </a:solidFill>
                  </a:tcPr>
                </a:tc>
                <a:tc>
                  <a:txBody>
                    <a:bodyPr wrap="square"/>
                    <a:lstStyle/>
                    <a:p>
                      <a:pPr algn="r"/>
                      <a:r>
                        <a:rPr sz="1000" b="0">
                          <a:solidFill>
                            <a:srgbClr val="606060"/>
                          </a:solidFill>
                          <a:latin typeface="Kanit"/>
                        </a:rPr>
                        <a:t>—</a:t>
                      </a:r>
                    </a:p>
                  </a:txBody>
                  <a:tcPr marL="54864" marR="54864" marT="18288" marB="18288" anchor="ctr">
                    <a:solidFill>
                      <a:srgbClr val="F7F9FC"/>
                    </a:solidFill>
                  </a:tcPr>
                </a:tc>
                <a:tc>
                  <a:txBody>
                    <a:bodyPr wrap="square"/>
                    <a:lstStyle/>
                    <a:p>
                      <a:pPr algn="r"/>
                      <a:r>
                        <a:rPr sz="1000" b="0">
                          <a:solidFill>
                            <a:srgbClr val="1E2F5C"/>
                          </a:solidFill>
                          <a:latin typeface="Kanit"/>
                        </a:rPr>
                        <a:t>27,227</a:t>
                      </a:r>
                    </a:p>
                  </a:txBody>
                  <a:tcPr marL="54864" marR="54864" marT="18288" marB="18288" anchor="ctr">
                    <a:solidFill>
                      <a:srgbClr val="F7F9FC"/>
                    </a:solidFill>
                  </a:tcPr>
                </a:tc>
              </a:tr>
              <a:tr h="254203">
                <a:tc>
                  <a:txBody>
                    <a:bodyPr wrap="square"/>
                    <a:lstStyle/>
                    <a:p>
                      <a:pPr algn="l"/>
                      <a:r>
                        <a:rPr sz="1000" b="1">
                          <a:solidFill>
                            <a:srgbClr val="1E2F5C"/>
                          </a:solidFill>
                          <a:latin typeface="Kanit"/>
                        </a:rPr>
                        <a:t>Sugar</a:t>
                      </a:r>
                    </a:p>
                  </a:txBody>
                  <a:tcPr marL="54864" marR="54864" marT="18288" marB="18288" anchor="ctr">
                    <a:solidFill>
                      <a:srgbClr val="FFFFFF"/>
                    </a:solidFill>
                  </a:tcPr>
                </a:tc>
                <a:tc>
                  <a:txBody>
                    <a:bodyPr wrap="square"/>
                    <a:lstStyle/>
                    <a:p>
                      <a:pPr algn="l"/>
                      <a:r>
                        <a:rPr sz="1000" b="0">
                          <a:solidFill>
                            <a:srgbClr val="1E2F5C"/>
                          </a:solidFill>
                          <a:latin typeface="Kanit"/>
                        </a:rPr>
                        <a:t>Crops</a:t>
                      </a:r>
                    </a:p>
                  </a:txBody>
                  <a:tcPr marL="54864" marR="54864" marT="18288" marB="18288" anchor="ctr">
                    <a:solidFill>
                      <a:srgbClr val="FFFFFF"/>
                    </a:solidFill>
                  </a:tcPr>
                </a:tc>
                <a:tc>
                  <a:txBody>
                    <a:bodyPr wrap="square"/>
                    <a:lstStyle/>
                    <a:p>
                      <a:pPr algn="l"/>
                      <a:r>
                        <a:rPr sz="1000" b="0">
                          <a:solidFill>
                            <a:srgbClr val="1E2F5C"/>
                          </a:solidFill>
                          <a:latin typeface="Kanit"/>
                        </a:rPr>
                        <a:t>Isan · Central</a:t>
                      </a:r>
                    </a:p>
                  </a:txBody>
                  <a:tcPr marL="54864" marR="54864" marT="18288" marB="18288" anchor="ctr">
                    <a:solidFill>
                      <a:srgbClr val="FFFFFF"/>
                    </a:solidFill>
                  </a:tcPr>
                </a:tc>
                <a:tc>
                  <a:txBody>
                    <a:bodyPr wrap="square"/>
                    <a:lstStyle/>
                    <a:p>
                      <a:pPr algn="r"/>
                      <a:r>
                        <a:rPr sz="1000" b="1">
                          <a:solidFill>
                            <a:srgbClr val="CC0000"/>
                          </a:solidFill>
                          <a:latin typeface="Kanit"/>
                        </a:rPr>
                        <a:t>−17.9%</a:t>
                      </a:r>
                    </a:p>
                  </a:txBody>
                  <a:tcPr marL="54864" marR="54864" marT="18288" marB="18288" anchor="ctr">
                    <a:solidFill>
                      <a:srgbClr val="FFFFFF"/>
                    </a:solidFill>
                  </a:tcPr>
                </a:tc>
                <a:tc>
                  <a:txBody>
                    <a:bodyPr wrap="square"/>
                    <a:lstStyle/>
                    <a:p>
                      <a:pPr algn="r"/>
                      <a:r>
                        <a:rPr sz="1000" b="0">
                          <a:solidFill>
                            <a:srgbClr val="CC0000"/>
                          </a:solidFill>
                          <a:latin typeface="Kanit"/>
                        </a:rPr>
                        <a:t>−13.5%</a:t>
                      </a:r>
                    </a:p>
                  </a:txBody>
                  <a:tcPr marL="54864" marR="54864" marT="18288" marB="18288" anchor="ctr">
                    <a:solidFill>
                      <a:srgbClr val="FFFFFF"/>
                    </a:solidFill>
                  </a:tcPr>
                </a:tc>
                <a:tc>
                  <a:txBody>
                    <a:bodyPr wrap="square"/>
                    <a:lstStyle/>
                    <a:p>
                      <a:pPr algn="r"/>
                      <a:r>
                        <a:rPr sz="1000" b="0">
                          <a:solidFill>
                            <a:srgbClr val="1E2F5C"/>
                          </a:solidFill>
                          <a:latin typeface="Kanit"/>
                        </a:rPr>
                        <a:t>90,216</a:t>
                      </a:r>
                    </a:p>
                  </a:txBody>
                  <a:tcPr marL="54864" marR="54864" marT="18288" marB="18288" anchor="ctr">
                    <a:solidFill>
                      <a:srgbClr val="FFFFFF"/>
                    </a:solidFill>
                  </a:tcPr>
                </a:tc>
              </a:tr>
              <a:tr h="254203">
                <a:tc>
                  <a:txBody>
                    <a:bodyPr wrap="square"/>
                    <a:lstStyle/>
                    <a:p>
                      <a:pPr algn="l"/>
                      <a:r>
                        <a:rPr sz="1000" b="1">
                          <a:solidFill>
                            <a:srgbClr val="1E2F5C"/>
                          </a:solidFill>
                          <a:latin typeface="Kanit"/>
                        </a:rPr>
                        <a:t>Rambutan</a:t>
                      </a:r>
                    </a:p>
                  </a:txBody>
                  <a:tcPr marL="54864" marR="54864" marT="18288" marB="18288" anchor="ctr">
                    <a:solidFill>
                      <a:srgbClr val="F7F9FC"/>
                    </a:solidFill>
                  </a:tcPr>
                </a:tc>
                <a:tc>
                  <a:txBody>
                    <a:bodyPr wrap="square"/>
                    <a:lstStyle/>
                    <a:p>
                      <a:pPr algn="l"/>
                      <a:r>
                        <a:rPr sz="1000" b="0">
                          <a:solidFill>
                            <a:srgbClr val="1E2F5C"/>
                          </a:solidFill>
                          <a:latin typeface="Kanit"/>
                        </a:rPr>
                        <a:t>Crops</a:t>
                      </a:r>
                    </a:p>
                  </a:txBody>
                  <a:tcPr marL="54864" marR="54864" marT="18288" marB="18288" anchor="ctr">
                    <a:solidFill>
                      <a:srgbClr val="F7F9FC"/>
                    </a:solidFill>
                  </a:tcPr>
                </a:tc>
                <a:tc>
                  <a:txBody>
                    <a:bodyPr wrap="square"/>
                    <a:lstStyle/>
                    <a:p>
                      <a:pPr algn="l"/>
                      <a:r>
                        <a:rPr sz="1000" b="0">
                          <a:solidFill>
                            <a:srgbClr val="1E2F5C"/>
                          </a:solidFill>
                          <a:latin typeface="Kanit"/>
                        </a:rPr>
                        <a:t>S · E</a:t>
                      </a:r>
                    </a:p>
                  </a:txBody>
                  <a:tcPr marL="54864" marR="54864" marT="18288" marB="18288" anchor="ctr">
                    <a:solidFill>
                      <a:srgbClr val="F7F9FC"/>
                    </a:solidFill>
                  </a:tcPr>
                </a:tc>
                <a:tc>
                  <a:txBody>
                    <a:bodyPr wrap="square"/>
                    <a:lstStyle/>
                    <a:p>
                      <a:pPr algn="r"/>
                      <a:r>
                        <a:rPr sz="1000" b="1">
                          <a:solidFill>
                            <a:srgbClr val="CC0000"/>
                          </a:solidFill>
                          <a:latin typeface="Kanit"/>
                        </a:rPr>
                        <a:t>−13.5%</a:t>
                      </a:r>
                    </a:p>
                  </a:txBody>
                  <a:tcPr marL="54864" marR="54864" marT="18288" marB="18288" anchor="ctr">
                    <a:solidFill>
                      <a:srgbClr val="F7F9FC"/>
                    </a:solidFill>
                  </a:tcPr>
                </a:tc>
                <a:tc>
                  <a:txBody>
                    <a:bodyPr wrap="square"/>
                    <a:lstStyle/>
                    <a:p>
                      <a:pPr algn="r"/>
                      <a:r>
                        <a:rPr sz="1000" b="0">
                          <a:solidFill>
                            <a:srgbClr val="606060"/>
                          </a:solidFill>
                          <a:latin typeface="Kanit"/>
                        </a:rPr>
                        <a:t>—</a:t>
                      </a:r>
                    </a:p>
                  </a:txBody>
                  <a:tcPr marL="54864" marR="54864" marT="18288" marB="18288" anchor="ctr">
                    <a:solidFill>
                      <a:srgbClr val="F7F9FC"/>
                    </a:solidFill>
                  </a:tcPr>
                </a:tc>
                <a:tc>
                  <a:txBody>
                    <a:bodyPr wrap="square"/>
                    <a:lstStyle/>
                    <a:p>
                      <a:pPr algn="r"/>
                      <a:r>
                        <a:rPr sz="1000" b="0">
                          <a:solidFill>
                            <a:srgbClr val="1E2F5C"/>
                          </a:solidFill>
                          <a:latin typeface="Kanit"/>
                        </a:rPr>
                        <a:t>42,960</a:t>
                      </a:r>
                    </a:p>
                  </a:txBody>
                  <a:tcPr marL="54864" marR="54864" marT="18288" marB="18288" anchor="ctr">
                    <a:solidFill>
                      <a:srgbClr val="F7F9FC"/>
                    </a:solidFill>
                  </a:tcPr>
                </a:tc>
              </a:tr>
              <a:tr h="254203">
                <a:tc>
                  <a:txBody>
                    <a:bodyPr wrap="square"/>
                    <a:lstStyle/>
                    <a:p>
                      <a:pPr algn="l"/>
                      <a:r>
                        <a:rPr sz="1000" b="1">
                          <a:solidFill>
                            <a:srgbClr val="1E2F5C"/>
                          </a:solidFill>
                          <a:latin typeface="Kanit"/>
                        </a:rPr>
                        <a:t>Pork</a:t>
                      </a:r>
                    </a:p>
                  </a:txBody>
                  <a:tcPr marL="54864" marR="54864" marT="18288" marB="18288" anchor="ctr">
                    <a:solidFill>
                      <a:srgbClr val="FFFFFF"/>
                    </a:solidFill>
                  </a:tcPr>
                </a:tc>
                <a:tc>
                  <a:txBody>
                    <a:bodyPr wrap="square"/>
                    <a:lstStyle/>
                    <a:p>
                      <a:pPr algn="l"/>
                      <a:r>
                        <a:rPr sz="1000" b="0">
                          <a:solidFill>
                            <a:srgbClr val="1E2F5C"/>
                          </a:solidFill>
                          <a:latin typeface="Kanit"/>
                        </a:rPr>
                        <a:t>Livestock</a:t>
                      </a:r>
                    </a:p>
                  </a:txBody>
                  <a:tcPr marL="54864" marR="54864" marT="18288" marB="18288" anchor="ctr">
                    <a:solidFill>
                      <a:srgbClr val="FFFFFF"/>
                    </a:solidFill>
                  </a:tcPr>
                </a:tc>
                <a:tc>
                  <a:txBody>
                    <a:bodyPr wrap="square"/>
                    <a:lstStyle/>
                    <a:p>
                      <a:pPr algn="l"/>
                      <a:r>
                        <a:rPr sz="1000" b="0">
                          <a:solidFill>
                            <a:srgbClr val="1E2F5C"/>
                          </a:solidFill>
                          <a:latin typeface="Kanit"/>
                        </a:rPr>
                        <a:t>C · W · E</a:t>
                      </a:r>
                    </a:p>
                  </a:txBody>
                  <a:tcPr marL="54864" marR="54864" marT="18288" marB="18288" anchor="ctr">
                    <a:solidFill>
                      <a:srgbClr val="FFFFFF"/>
                    </a:solidFill>
                  </a:tcPr>
                </a:tc>
                <a:tc>
                  <a:txBody>
                    <a:bodyPr wrap="square"/>
                    <a:lstStyle/>
                    <a:p>
                      <a:pPr algn="r"/>
                      <a:r>
                        <a:rPr sz="1000" b="1">
                          <a:solidFill>
                            <a:srgbClr val="CC0000"/>
                          </a:solidFill>
                          <a:latin typeface="Kanit"/>
                        </a:rPr>
                        <a:t>−6.7%</a:t>
                      </a:r>
                    </a:p>
                  </a:txBody>
                  <a:tcPr marL="54864" marR="54864" marT="18288" marB="18288" anchor="ctr">
                    <a:solidFill>
                      <a:srgbClr val="FFFFFF"/>
                    </a:solidFill>
                  </a:tcPr>
                </a:tc>
                <a:tc>
                  <a:txBody>
                    <a:bodyPr wrap="square"/>
                    <a:lstStyle/>
                    <a:p>
                      <a:pPr algn="r"/>
                      <a:r>
                        <a:rPr sz="1000" b="0">
                          <a:solidFill>
                            <a:srgbClr val="606060"/>
                          </a:solidFill>
                          <a:latin typeface="Kanit"/>
                        </a:rPr>
                        <a:t>—</a:t>
                      </a:r>
                    </a:p>
                  </a:txBody>
                  <a:tcPr marL="54864" marR="54864" marT="18288" marB="18288" anchor="ctr">
                    <a:solidFill>
                      <a:srgbClr val="FFFFFF"/>
                    </a:solidFill>
                  </a:tcPr>
                </a:tc>
                <a:tc>
                  <a:txBody>
                    <a:bodyPr wrap="square"/>
                    <a:lstStyle/>
                    <a:p>
                      <a:pPr algn="r"/>
                      <a:r>
                        <a:rPr sz="1000" b="0">
                          <a:solidFill>
                            <a:srgbClr val="1E2F5C"/>
                          </a:solidFill>
                          <a:latin typeface="Kanit"/>
                        </a:rPr>
                        <a:t>145,045</a:t>
                      </a:r>
                    </a:p>
                  </a:txBody>
                  <a:tcPr marL="54864" marR="54864" marT="18288" marB="18288" anchor="ctr">
                    <a:solidFill>
                      <a:srgbClr val="FFFFFF"/>
                    </a:solidFill>
                  </a:tcPr>
                </a:tc>
              </a:tr>
              <a:tr h="254203">
                <a:tc>
                  <a:txBody>
                    <a:bodyPr wrap="square"/>
                    <a:lstStyle/>
                    <a:p>
                      <a:pPr algn="l"/>
                      <a:r>
                        <a:rPr sz="1000" b="1">
                          <a:solidFill>
                            <a:srgbClr val="1E2F5C"/>
                          </a:solidFill>
                          <a:latin typeface="Kanit"/>
                        </a:rPr>
                        <a:t>Beef</a:t>
                      </a:r>
                    </a:p>
                  </a:txBody>
                  <a:tcPr marL="54864" marR="54864" marT="18288" marB="18288" anchor="ctr">
                    <a:solidFill>
                      <a:srgbClr val="F7F9FC"/>
                    </a:solidFill>
                  </a:tcPr>
                </a:tc>
                <a:tc>
                  <a:txBody>
                    <a:bodyPr wrap="square"/>
                    <a:lstStyle/>
                    <a:p>
                      <a:pPr algn="l"/>
                      <a:r>
                        <a:rPr sz="1000" b="0">
                          <a:solidFill>
                            <a:srgbClr val="1E2F5C"/>
                          </a:solidFill>
                          <a:latin typeface="Kanit"/>
                        </a:rPr>
                        <a:t>Livestock</a:t>
                      </a:r>
                    </a:p>
                  </a:txBody>
                  <a:tcPr marL="54864" marR="54864" marT="18288" marB="18288" anchor="ctr">
                    <a:solidFill>
                      <a:srgbClr val="F7F9FC"/>
                    </a:solidFill>
                  </a:tcPr>
                </a:tc>
                <a:tc>
                  <a:txBody>
                    <a:bodyPr wrap="square"/>
                    <a:lstStyle/>
                    <a:p>
                      <a:pPr algn="l"/>
                      <a:r>
                        <a:rPr sz="1000" b="0">
                          <a:solidFill>
                            <a:srgbClr val="1E2F5C"/>
                          </a:solidFill>
                          <a:latin typeface="Kanit"/>
                        </a:rPr>
                        <a:t>Isan</a:t>
                      </a:r>
                    </a:p>
                  </a:txBody>
                  <a:tcPr marL="54864" marR="54864" marT="18288" marB="18288" anchor="ctr">
                    <a:solidFill>
                      <a:srgbClr val="F7F9FC"/>
                    </a:solidFill>
                  </a:tcPr>
                </a:tc>
                <a:tc>
                  <a:txBody>
                    <a:bodyPr wrap="square"/>
                    <a:lstStyle/>
                    <a:p>
                      <a:pPr algn="r"/>
                      <a:r>
                        <a:rPr sz="1000" b="1">
                          <a:solidFill>
                            <a:srgbClr val="CC0000"/>
                          </a:solidFill>
                          <a:latin typeface="Kanit"/>
                        </a:rPr>
                        <a:t>−6.1%</a:t>
                      </a:r>
                    </a:p>
                  </a:txBody>
                  <a:tcPr marL="54864" marR="54864" marT="18288" marB="18288" anchor="ctr">
                    <a:solidFill>
                      <a:srgbClr val="F7F9FC"/>
                    </a:solidFill>
                  </a:tcPr>
                </a:tc>
                <a:tc>
                  <a:txBody>
                    <a:bodyPr wrap="square"/>
                    <a:lstStyle/>
                    <a:p>
                      <a:pPr algn="r"/>
                      <a:r>
                        <a:rPr sz="1000" b="1">
                          <a:solidFill>
                            <a:srgbClr val="15795F"/>
                          </a:solidFill>
                          <a:latin typeface="Kanit"/>
                        </a:rPr>
                        <a:t>+11.8%</a:t>
                      </a:r>
                    </a:p>
                  </a:txBody>
                  <a:tcPr marL="54864" marR="54864" marT="18288" marB="18288" anchor="ctr">
                    <a:solidFill>
                      <a:srgbClr val="F7F9FC"/>
                    </a:solidFill>
                  </a:tcPr>
                </a:tc>
                <a:tc>
                  <a:txBody>
                    <a:bodyPr wrap="square"/>
                    <a:lstStyle/>
                    <a:p>
                      <a:pPr algn="r"/>
                      <a:r>
                        <a:rPr sz="1000" b="0">
                          <a:solidFill>
                            <a:srgbClr val="1E2F5C"/>
                          </a:solidFill>
                          <a:latin typeface="Kanit"/>
                        </a:rPr>
                        <a:t>136,293</a:t>
                      </a:r>
                    </a:p>
                  </a:txBody>
                  <a:tcPr marL="54864" marR="54864" marT="18288" marB="18288" anchor="ctr">
                    <a:solidFill>
                      <a:srgbClr val="F7F9FC"/>
                    </a:solidFill>
                  </a:tcPr>
                </a:tc>
              </a:tr>
              <a:tr h="254203">
                <a:tc>
                  <a:txBody>
                    <a:bodyPr wrap="square"/>
                    <a:lstStyle/>
                    <a:p>
                      <a:pPr algn="l"/>
                      <a:r>
                        <a:rPr sz="1000" b="1">
                          <a:solidFill>
                            <a:srgbClr val="1E2F5C"/>
                          </a:solidFill>
                          <a:latin typeface="Kanit"/>
                        </a:rPr>
                        <a:t>White shrimp</a:t>
                      </a:r>
                    </a:p>
                  </a:txBody>
                  <a:tcPr marL="54864" marR="54864" marT="18288" marB="18288" anchor="ctr">
                    <a:solidFill>
                      <a:srgbClr val="FFFFFF"/>
                    </a:solidFill>
                  </a:tcPr>
                </a:tc>
                <a:tc>
                  <a:txBody>
                    <a:bodyPr wrap="square"/>
                    <a:lstStyle/>
                    <a:p>
                      <a:pPr algn="l"/>
                      <a:r>
                        <a:rPr sz="1000" b="0">
                          <a:solidFill>
                            <a:srgbClr val="1E2F5C"/>
                          </a:solidFill>
                          <a:latin typeface="Kanit"/>
                        </a:rPr>
                        <a:t>Fisheries</a:t>
                      </a:r>
                    </a:p>
                  </a:txBody>
                  <a:tcPr marL="54864" marR="54864" marT="18288" marB="18288" anchor="ctr">
                    <a:solidFill>
                      <a:srgbClr val="FFFFFF"/>
                    </a:solidFill>
                  </a:tcPr>
                </a:tc>
                <a:tc>
                  <a:txBody>
                    <a:bodyPr wrap="square"/>
                    <a:lstStyle/>
                    <a:p>
                      <a:pPr algn="l"/>
                      <a:r>
                        <a:rPr sz="1000" b="0">
                          <a:solidFill>
                            <a:srgbClr val="1E2F5C"/>
                          </a:solidFill>
                          <a:latin typeface="Kanit"/>
                        </a:rPr>
                        <a:t>S · E coast</a:t>
                      </a:r>
                    </a:p>
                  </a:txBody>
                  <a:tcPr marL="54864" marR="54864" marT="18288" marB="18288" anchor="ctr">
                    <a:solidFill>
                      <a:srgbClr val="FFFFFF"/>
                    </a:solidFill>
                  </a:tcPr>
                </a:tc>
                <a:tc>
                  <a:txBody>
                    <a:bodyPr wrap="square"/>
                    <a:lstStyle/>
                    <a:p>
                      <a:pPr algn="r"/>
                      <a:r>
                        <a:rPr sz="1000" b="1">
                          <a:solidFill>
                            <a:srgbClr val="CC0000"/>
                          </a:solidFill>
                          <a:latin typeface="Kanit"/>
                        </a:rPr>
                        <a:t>−4.3%</a:t>
                      </a:r>
                    </a:p>
                  </a:txBody>
                  <a:tcPr marL="54864" marR="54864" marT="18288" marB="18288" anchor="ctr">
                    <a:solidFill>
                      <a:srgbClr val="FFFFFF"/>
                    </a:solidFill>
                  </a:tcPr>
                </a:tc>
                <a:tc>
                  <a:txBody>
                    <a:bodyPr wrap="square"/>
                    <a:lstStyle/>
                    <a:p>
                      <a:pPr algn="r"/>
                      <a:r>
                        <a:rPr sz="1000" b="0">
                          <a:solidFill>
                            <a:srgbClr val="606060"/>
                          </a:solidFill>
                          <a:latin typeface="Kanit"/>
                        </a:rPr>
                        <a:t>—</a:t>
                      </a:r>
                    </a:p>
                  </a:txBody>
                  <a:tcPr marL="54864" marR="54864" marT="18288" marB="18288" anchor="ctr">
                    <a:solidFill>
                      <a:srgbClr val="FFFFFF"/>
                    </a:solidFill>
                  </a:tcPr>
                </a:tc>
                <a:tc>
                  <a:txBody>
                    <a:bodyPr wrap="square"/>
                    <a:lstStyle/>
                    <a:p>
                      <a:pPr algn="r"/>
                      <a:r>
                        <a:rPr sz="1000" b="0">
                          <a:solidFill>
                            <a:srgbClr val="1E2F5C"/>
                          </a:solidFill>
                          <a:latin typeface="Kanit"/>
                        </a:rPr>
                        <a:t>102,961</a:t>
                      </a:r>
                    </a:p>
                  </a:txBody>
                  <a:tcPr marL="54864" marR="54864" marT="18288" marB="18288" anchor="ctr">
                    <a:solidFill>
                      <a:srgbClr val="FFFFFF"/>
                    </a:solidFill>
                  </a:tcPr>
                </a:tc>
              </a:tr>
              <a:tr h="254203">
                <a:tc>
                  <a:txBody>
                    <a:bodyPr wrap="square"/>
                    <a:lstStyle/>
                    <a:p>
                      <a:pPr algn="l"/>
                      <a:r>
                        <a:rPr sz="1000" b="1">
                          <a:solidFill>
                            <a:srgbClr val="1E2F5C"/>
                          </a:solidFill>
                          <a:latin typeface="Kanit"/>
                        </a:rPr>
                        <a:t>Chicken</a:t>
                      </a:r>
                    </a:p>
                  </a:txBody>
                  <a:tcPr marL="54864" marR="54864" marT="18288" marB="18288" anchor="ctr">
                    <a:solidFill>
                      <a:srgbClr val="F7F9FC"/>
                    </a:solidFill>
                  </a:tcPr>
                </a:tc>
                <a:tc>
                  <a:txBody>
                    <a:bodyPr wrap="square"/>
                    <a:lstStyle/>
                    <a:p>
                      <a:pPr algn="l"/>
                      <a:r>
                        <a:rPr sz="1000" b="0">
                          <a:solidFill>
                            <a:srgbClr val="1E2F5C"/>
                          </a:solidFill>
                          <a:latin typeface="Kanit"/>
                        </a:rPr>
                        <a:t>Livestock</a:t>
                      </a:r>
                    </a:p>
                  </a:txBody>
                  <a:tcPr marL="54864" marR="54864" marT="18288" marB="18288" anchor="ctr">
                    <a:solidFill>
                      <a:srgbClr val="F7F9FC"/>
                    </a:solidFill>
                  </a:tcPr>
                </a:tc>
                <a:tc>
                  <a:txBody>
                    <a:bodyPr wrap="square"/>
                    <a:lstStyle/>
                    <a:p>
                      <a:pPr algn="l"/>
                      <a:r>
                        <a:rPr sz="1000" b="0">
                          <a:solidFill>
                            <a:srgbClr val="1E2F5C"/>
                          </a:solidFill>
                          <a:latin typeface="Kanit"/>
                        </a:rPr>
                        <a:t>C · E</a:t>
                      </a:r>
                    </a:p>
                  </a:txBody>
                  <a:tcPr marL="54864" marR="54864" marT="18288" marB="18288" anchor="ctr">
                    <a:solidFill>
                      <a:srgbClr val="F7F9FC"/>
                    </a:solidFill>
                  </a:tcPr>
                </a:tc>
                <a:tc>
                  <a:txBody>
                    <a:bodyPr wrap="square"/>
                    <a:lstStyle/>
                    <a:p>
                      <a:pPr algn="r"/>
                      <a:r>
                        <a:rPr sz="1000" b="1">
                          <a:solidFill>
                            <a:srgbClr val="CC0000"/>
                          </a:solidFill>
                          <a:latin typeface="Kanit"/>
                        </a:rPr>
                        <a:t>−2.4%</a:t>
                      </a:r>
                    </a:p>
                  </a:txBody>
                  <a:tcPr marL="54864" marR="54864" marT="18288" marB="18288" anchor="ctr">
                    <a:solidFill>
                      <a:srgbClr val="F7F9FC"/>
                    </a:solidFill>
                  </a:tcPr>
                </a:tc>
                <a:tc>
                  <a:txBody>
                    <a:bodyPr wrap="square"/>
                    <a:lstStyle/>
                    <a:p>
                      <a:pPr algn="r"/>
                      <a:r>
                        <a:rPr sz="1000" b="0">
                          <a:solidFill>
                            <a:srgbClr val="606060"/>
                          </a:solidFill>
                          <a:latin typeface="Kanit"/>
                        </a:rPr>
                        <a:t>−0.6%</a:t>
                      </a:r>
                    </a:p>
                  </a:txBody>
                  <a:tcPr marL="54864" marR="54864" marT="18288" marB="18288" anchor="ctr">
                    <a:solidFill>
                      <a:srgbClr val="F7F9FC"/>
                    </a:solidFill>
                  </a:tcPr>
                </a:tc>
                <a:tc>
                  <a:txBody>
                    <a:bodyPr wrap="square"/>
                    <a:lstStyle/>
                    <a:p>
                      <a:pPr algn="r"/>
                      <a:r>
                        <a:rPr sz="1000" b="0">
                          <a:solidFill>
                            <a:srgbClr val="1E2F5C"/>
                          </a:solidFill>
                          <a:latin typeface="Kanit"/>
                        </a:rPr>
                        <a:t>181,413</a:t>
                      </a:r>
                    </a:p>
                  </a:txBody>
                  <a:tcPr marL="54864" marR="54864" marT="18288" marB="18288" anchor="ctr">
                    <a:solidFill>
                      <a:srgbClr val="F7F9FC"/>
                    </a:solidFill>
                  </a:tcPr>
                </a:tc>
              </a:tr>
              <a:tr h="254203">
                <a:tc>
                  <a:txBody>
                    <a:bodyPr wrap="square"/>
                    <a:lstStyle/>
                    <a:p>
                      <a:pPr algn="l"/>
                      <a:r>
                        <a:rPr sz="1000" b="1">
                          <a:solidFill>
                            <a:srgbClr val="1E2F5C"/>
                          </a:solidFill>
                          <a:latin typeface="Kanit"/>
                        </a:rPr>
                        <a:t>Eggs</a:t>
                      </a:r>
                    </a:p>
                  </a:txBody>
                  <a:tcPr marL="54864" marR="54864" marT="18288" marB="18288" anchor="ctr">
                    <a:solidFill>
                      <a:srgbClr val="FFFFFF"/>
                    </a:solidFill>
                  </a:tcPr>
                </a:tc>
                <a:tc>
                  <a:txBody>
                    <a:bodyPr wrap="square"/>
                    <a:lstStyle/>
                    <a:p>
                      <a:pPr algn="l"/>
                      <a:r>
                        <a:rPr sz="1000" b="0">
                          <a:solidFill>
                            <a:srgbClr val="1E2F5C"/>
                          </a:solidFill>
                          <a:latin typeface="Kanit"/>
                        </a:rPr>
                        <a:t>Livestock</a:t>
                      </a:r>
                    </a:p>
                  </a:txBody>
                  <a:tcPr marL="54864" marR="54864" marT="18288" marB="18288" anchor="ctr">
                    <a:solidFill>
                      <a:srgbClr val="FFFFFF"/>
                    </a:solidFill>
                  </a:tcPr>
                </a:tc>
                <a:tc>
                  <a:txBody>
                    <a:bodyPr wrap="square"/>
                    <a:lstStyle/>
                    <a:p>
                      <a:pPr algn="l"/>
                      <a:r>
                        <a:rPr sz="1000" b="0">
                          <a:solidFill>
                            <a:srgbClr val="1E2F5C"/>
                          </a:solidFill>
                          <a:latin typeface="Kanit"/>
                        </a:rPr>
                        <a:t>C · E</a:t>
                      </a:r>
                    </a:p>
                  </a:txBody>
                  <a:tcPr marL="54864" marR="54864" marT="18288" marB="18288" anchor="ctr">
                    <a:solidFill>
                      <a:srgbClr val="FFFFFF"/>
                    </a:solidFill>
                  </a:tcPr>
                </a:tc>
                <a:tc>
                  <a:txBody>
                    <a:bodyPr wrap="square"/>
                    <a:lstStyle/>
                    <a:p>
                      <a:pPr algn="r"/>
                      <a:r>
                        <a:rPr sz="1000" b="1">
                          <a:solidFill>
                            <a:srgbClr val="CC0000"/>
                          </a:solidFill>
                          <a:latin typeface="Kanit"/>
                        </a:rPr>
                        <a:t>−1.7%</a:t>
                      </a:r>
                    </a:p>
                  </a:txBody>
                  <a:tcPr marL="54864" marR="54864" marT="18288" marB="18288" anchor="ctr">
                    <a:solidFill>
                      <a:srgbClr val="FFFFFF"/>
                    </a:solidFill>
                  </a:tcPr>
                </a:tc>
                <a:tc>
                  <a:txBody>
                    <a:bodyPr wrap="square"/>
                    <a:lstStyle/>
                    <a:p>
                      <a:pPr algn="r"/>
                      <a:r>
                        <a:rPr sz="1000" b="0">
                          <a:solidFill>
                            <a:srgbClr val="606060"/>
                          </a:solidFill>
                          <a:latin typeface="Kanit"/>
                        </a:rPr>
                        <a:t>—</a:t>
                      </a:r>
                    </a:p>
                  </a:txBody>
                  <a:tcPr marL="54864" marR="54864" marT="18288" marB="18288" anchor="ctr">
                    <a:solidFill>
                      <a:srgbClr val="FFFFFF"/>
                    </a:solidFill>
                  </a:tcPr>
                </a:tc>
                <a:tc>
                  <a:txBody>
                    <a:bodyPr wrap="square"/>
                    <a:lstStyle/>
                    <a:p>
                      <a:pPr algn="r"/>
                      <a:r>
                        <a:rPr sz="1000" b="0">
                          <a:solidFill>
                            <a:srgbClr val="1E2F5C"/>
                          </a:solidFill>
                          <a:latin typeface="Kanit"/>
                        </a:rPr>
                        <a:t>181,413</a:t>
                      </a:r>
                    </a:p>
                  </a:txBody>
                  <a:tcPr marL="54864" marR="54864" marT="18288" marB="18288" anchor="ctr">
                    <a:solidFill>
                      <a:srgbClr val="FFFFFF"/>
                    </a:solidFill>
                  </a:tcPr>
                </a:tc>
              </a:tr>
            </a:tbl>
          </a:graphicData>
        </a:graphic>
      </p:graphicFrame>
      <p:sp>
        <p:nvSpPr>
          <p:cNvPr id="11" name="Rounded Rectangle 10"/>
          <p:cNvSpPr/>
          <p:nvPr/>
        </p:nvSpPr>
        <p:spPr>
          <a:xfrm>
            <a:off x="411480" y="4424476"/>
            <a:ext cx="535747" cy="192024"/>
          </a:xfrm>
          <a:prstGeom prst="roundRect">
            <a:avLst>
              <a:gd name="adj" fmla="val 50000"/>
            </a:avLst>
          </a:prstGeom>
          <a:noFill/>
          <a:ln w="9525">
            <a:solidFill>
              <a:srgbClr val="1E2F5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411480" y="4453737"/>
            <a:ext cx="535747" cy="134112"/>
          </a:xfrm>
          <a:prstGeom prst="rect">
            <a:avLst/>
          </a:prstGeom>
          <a:noFill/>
        </p:spPr>
        <p:txBody>
          <a:bodyPr wrap="square" lIns="0" rIns="0" tIns="0" bIns="0" anchor="t">
            <a:noAutofit/>
          </a:bodyPr>
          <a:lstStyle/>
          <a:p>
            <a:pPr algn="ctr">
              <a:lnSpc>
                <a:spcPts val="1056"/>
              </a:lnSpc>
            </a:pPr>
            <a:r>
              <a:rPr sz="800" b="1">
                <a:solidFill>
                  <a:srgbClr val="1E2F5C"/>
                </a:solidFill>
                <a:latin typeface="Kanit"/>
              </a:rPr>
              <a:t>MIXED</a:t>
            </a:r>
          </a:p>
        </p:txBody>
      </p:sp>
      <p:sp>
        <p:nvSpPr>
          <p:cNvPr id="13" name="TextBox 12"/>
          <p:cNvSpPr txBox="1"/>
          <p:nvPr/>
        </p:nvSpPr>
        <p:spPr>
          <a:xfrm>
            <a:off x="1056955" y="4438192"/>
            <a:ext cx="1072051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Prices measured — NABC daily and monthly market feeds, Thai farm-gate, OCSB announced cane price, World Bank Pink Sheet 2026M06; farm-gate vintage 2026-08-02. The account counts are an ESTIMATED book-footprint read (accounts in each commodity’s belt) and they OVERLAP heavily — eggs and chicken are the same 181,413 poultry keepers. Do not add this column up.</a:t>
            </a:r>
          </a:p>
        </p:txBody>
      </p:sp>
      <p:sp>
        <p:nvSpPr>
          <p:cNvPr id="14" name="Rectangle 13"/>
          <p:cNvSpPr/>
          <p:nvPr/>
        </p:nvSpPr>
        <p:spPr>
          <a:xfrm>
            <a:off x="411480" y="4879390"/>
            <a:ext cx="11365992" cy="854456"/>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Rectangle 14"/>
          <p:cNvSpPr/>
          <p:nvPr/>
        </p:nvSpPr>
        <p:spPr>
          <a:xfrm>
            <a:off x="411480" y="4879390"/>
            <a:ext cx="50292" cy="854456"/>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630936" y="5025694"/>
            <a:ext cx="11036808"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Beef is the row that proves the point</a:t>
            </a:r>
          </a:p>
        </p:txBody>
      </p:sp>
      <p:sp>
        <p:nvSpPr>
          <p:cNvPr id="17" name="TextBox 16"/>
          <p:cNvSpPr txBox="1"/>
          <p:nvPr/>
        </p:nvSpPr>
        <p:spPr>
          <a:xfrm>
            <a:off x="630936" y="5230164"/>
            <a:ext cx="11036808" cy="357378"/>
          </a:xfrm>
          <a:prstGeom prst="rect">
            <a:avLst/>
          </a:prstGeom>
          <a:noFill/>
        </p:spPr>
        <p:txBody>
          <a:bodyPr wrap="square" lIns="0" rIns="0" tIns="0" bIns="0" anchor="t">
            <a:noAutofit/>
          </a:bodyPr>
          <a:lstStyle/>
          <a:p>
            <a:pPr algn="l">
              <a:lnSpc>
                <a:spcPts val="1407"/>
              </a:lnSpc>
            </a:pPr>
            <a:r>
              <a:rPr sz="1050" b="0">
                <a:solidFill>
                  <a:srgbClr val="1E2F5C"/>
                </a:solidFill>
                <a:latin typeface="Kanit"/>
              </a:rPr>
              <a:t>The world beef index is +11.8%. The measured Thai farm-gate price is −6.1% — a 17.9 point divergence. A cattle household in Isan is not experiencing +11.8%, and until the farm-gate layer landed we had no measured way to say so. Rubber, palm and cassava run the other way and are genuinely up on both.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03 · FARM HOUSEHOLDS</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Drought is the bigger hazard — and no longer the only one.</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TextBox 8"/>
          <p:cNvSpPr txBox="1"/>
          <p:nvPr/>
        </p:nvSpPr>
        <p:spPr>
          <a:xfrm>
            <a:off x="411480" y="1152144"/>
            <a:ext cx="11365992" cy="381000"/>
          </a:xfrm>
          <a:prstGeom prst="rect">
            <a:avLst/>
          </a:prstGeom>
          <a:noFill/>
        </p:spPr>
        <p:txBody>
          <a:bodyPr wrap="square" lIns="0" rIns="0" tIns="0" bIns="0" anchor="t">
            <a:noAutofit/>
          </a:bodyPr>
          <a:lstStyle/>
          <a:p>
            <a:pPr algn="l">
              <a:lnSpc>
                <a:spcPts val="1500"/>
              </a:lnSpc>
            </a:pPr>
            <a:r>
              <a:rPr sz="1100" b="0">
                <a:solidFill>
                  <a:srgbClr val="606060"/>
                </a:solidFill>
                <a:latin typeface="Kanit"/>
              </a:rPr>
              <a:t>Rice, rubber and palm are up, and that tailwind reaches a household only if the field yielded — 36.4% of Thailand’s districts are in drought, concentrated in the rice belt that carries most of our farm exposure. The stress scores below are built on the GLOBAL price proxy, so they do not yet see the falling farm-gate prices on the previous page.</a:t>
            </a:r>
          </a:p>
        </p:txBody>
      </p:sp>
      <p:sp>
        <p:nvSpPr>
          <p:cNvPr id="10" name="Rounded Rectangle 9"/>
          <p:cNvSpPr/>
          <p:nvPr/>
        </p:nvSpPr>
        <p:spPr>
          <a:xfrm>
            <a:off x="411480" y="1679448"/>
            <a:ext cx="2738628" cy="969264"/>
          </a:xfrm>
          <a:prstGeom prst="roundRect">
            <a:avLst>
              <a:gd name="adj" fmla="val 8490"/>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548640" y="1780032"/>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Districts in drought</a:t>
            </a:r>
          </a:p>
        </p:txBody>
      </p:sp>
      <p:sp>
        <p:nvSpPr>
          <p:cNvPr id="12" name="TextBox 11"/>
          <p:cNvSpPr txBox="1"/>
          <p:nvPr/>
        </p:nvSpPr>
        <p:spPr>
          <a:xfrm>
            <a:off x="548640" y="1953768"/>
            <a:ext cx="2464308"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338</a:t>
            </a:r>
          </a:p>
        </p:txBody>
      </p:sp>
      <p:sp>
        <p:nvSpPr>
          <p:cNvPr id="13" name="TextBox 12"/>
          <p:cNvSpPr txBox="1"/>
          <p:nvPr/>
        </p:nvSpPr>
        <p:spPr>
          <a:xfrm>
            <a:off x="548640" y="2319528"/>
            <a:ext cx="2464308" cy="256032"/>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of 928 (36.4%) · SPEI mean −0.84</a:t>
            </a:r>
          </a:p>
        </p:txBody>
      </p:sp>
      <p:sp>
        <p:nvSpPr>
          <p:cNvPr id="14" name="Rounded Rectangle 13"/>
          <p:cNvSpPr/>
          <p:nvPr/>
        </p:nvSpPr>
        <p:spPr>
          <a:xfrm>
            <a:off x="3287268" y="1679448"/>
            <a:ext cx="2738628" cy="969264"/>
          </a:xfrm>
          <a:prstGeom prst="roundRect">
            <a:avLst>
              <a:gd name="adj" fmla="val 8490"/>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3424428" y="1780032"/>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Extreme band</a:t>
            </a:r>
          </a:p>
        </p:txBody>
      </p:sp>
      <p:sp>
        <p:nvSpPr>
          <p:cNvPr id="16" name="TextBox 15"/>
          <p:cNvSpPr txBox="1"/>
          <p:nvPr/>
        </p:nvSpPr>
        <p:spPr>
          <a:xfrm>
            <a:off x="3424428" y="1953768"/>
            <a:ext cx="2464308"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2</a:t>
            </a:r>
          </a:p>
        </p:txBody>
      </p:sp>
      <p:sp>
        <p:nvSpPr>
          <p:cNvPr id="17" name="TextBox 16"/>
          <p:cNvSpPr txBox="1"/>
          <p:nvPr/>
        </p:nvSpPr>
        <p:spPr>
          <a:xfrm>
            <a:off x="3424428" y="2319528"/>
            <a:ext cx="2464308" cy="256032"/>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districts at the extreme drought band</a:t>
            </a:r>
          </a:p>
        </p:txBody>
      </p:sp>
      <p:sp>
        <p:nvSpPr>
          <p:cNvPr id="18" name="Rounded Rectangle 17"/>
          <p:cNvSpPr/>
          <p:nvPr/>
        </p:nvSpPr>
        <p:spPr>
          <a:xfrm>
            <a:off x="6163056" y="1679448"/>
            <a:ext cx="2738628" cy="969264"/>
          </a:xfrm>
          <a:prstGeom prst="roundRect">
            <a:avLst>
              <a:gd name="adj" fmla="val 8490"/>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6300216" y="1780032"/>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Provinces scored</a:t>
            </a:r>
          </a:p>
        </p:txBody>
      </p:sp>
      <p:sp>
        <p:nvSpPr>
          <p:cNvPr id="20" name="TextBox 19"/>
          <p:cNvSpPr txBox="1"/>
          <p:nvPr/>
        </p:nvSpPr>
        <p:spPr>
          <a:xfrm>
            <a:off x="6300216" y="1953768"/>
            <a:ext cx="2464308" cy="330200"/>
          </a:xfrm>
          <a:prstGeom prst="rect">
            <a:avLst/>
          </a:prstGeom>
          <a:noFill/>
        </p:spPr>
        <p:txBody>
          <a:bodyPr wrap="square" lIns="0" rIns="0" tIns="0" bIns="0" anchor="t">
            <a:noAutofit/>
          </a:bodyPr>
          <a:lstStyle/>
          <a:p>
            <a:pPr algn="l">
              <a:lnSpc>
                <a:spcPts val="2600"/>
              </a:lnSpc>
            </a:pPr>
            <a:r>
              <a:rPr sz="2100" b="1">
                <a:solidFill>
                  <a:srgbClr val="1E2F5C"/>
                </a:solidFill>
                <a:latin typeface="Kanit"/>
              </a:rPr>
              <a:t>77</a:t>
            </a:r>
          </a:p>
        </p:txBody>
      </p:sp>
      <p:sp>
        <p:nvSpPr>
          <p:cNvPr id="21" name="TextBox 20"/>
          <p:cNvSpPr txBox="1"/>
          <p:nvPr/>
        </p:nvSpPr>
        <p:spPr>
          <a:xfrm>
            <a:off x="6300216" y="2319528"/>
            <a:ext cx="2464308" cy="256032"/>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all of them, crop mix by planted area</a:t>
            </a:r>
          </a:p>
        </p:txBody>
      </p:sp>
      <p:sp>
        <p:nvSpPr>
          <p:cNvPr id="22" name="Rounded Rectangle 21"/>
          <p:cNvSpPr/>
          <p:nvPr/>
        </p:nvSpPr>
        <p:spPr>
          <a:xfrm>
            <a:off x="9038844" y="1679448"/>
            <a:ext cx="2738628" cy="969264"/>
          </a:xfrm>
          <a:prstGeom prst="roundRect">
            <a:avLst>
              <a:gd name="adj" fmla="val 8490"/>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9176004" y="1780032"/>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Double-stressed</a:t>
            </a:r>
          </a:p>
        </p:txBody>
      </p:sp>
      <p:sp>
        <p:nvSpPr>
          <p:cNvPr id="24" name="TextBox 23"/>
          <p:cNvSpPr txBox="1"/>
          <p:nvPr/>
        </p:nvSpPr>
        <p:spPr>
          <a:xfrm>
            <a:off x="9176004" y="1953768"/>
            <a:ext cx="2464308"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0</a:t>
            </a:r>
          </a:p>
        </p:txBody>
      </p:sp>
      <p:sp>
        <p:nvSpPr>
          <p:cNvPr id="25" name="TextBox 24"/>
          <p:cNvSpPr txBox="1"/>
          <p:nvPr/>
        </p:nvSpPr>
        <p:spPr>
          <a:xfrm>
            <a:off x="9176004" y="2319528"/>
            <a:ext cx="2464308" cy="256032"/>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but the test runs on world prices — see the note below</a:t>
            </a:r>
          </a:p>
        </p:txBody>
      </p:sp>
      <p:graphicFrame>
        <p:nvGraphicFramePr>
          <p:cNvPr id="26" name="Table 25"/>
          <p:cNvGraphicFramePr>
            <a:graphicFrameLocks noGrp="1"/>
          </p:cNvGraphicFramePr>
          <p:nvPr/>
        </p:nvGraphicFramePr>
        <p:xfrm>
          <a:off x="411480" y="2831592"/>
          <a:ext cx="11365991" cy="1947672"/>
        </p:xfrm>
        <a:graphic>
          <a:graphicData uri="http://schemas.openxmlformats.org/drawingml/2006/table">
            <a:tbl>
              <a:tblPr>
                <a:tableStyleId>{5C22544A-7EE6-4342-B048-85BDC9FD1C3A}</a:tableStyleId>
              </a:tblPr>
              <a:tblGrid>
                <a:gridCol w="2016547"/>
                <a:gridCol w="1374918"/>
                <a:gridCol w="3299804"/>
                <a:gridCol w="1374918"/>
                <a:gridCol w="3299804"/>
              </a:tblGrid>
              <a:tr h="329184">
                <a:tc>
                  <a:txBody>
                    <a:bodyPr wrap="square"/>
                    <a:lstStyle/>
                    <a:p>
                      <a:pPr algn="l"/>
                      <a:r>
                        <a:rPr sz="1050" b="1">
                          <a:solidFill>
                            <a:srgbClr val="FFFFFF"/>
                          </a:solidFill>
                          <a:latin typeface="Kanit"/>
                        </a:rPr>
                        <a:t>Province</a:t>
                      </a:r>
                    </a:p>
                  </a:txBody>
                  <a:tcPr marL="54864" marR="54864" marT="18288" marB="18288" anchor="ctr">
                    <a:solidFill>
                      <a:srgbClr val="1B2A6B"/>
                    </a:solidFill>
                  </a:tcPr>
                </a:tc>
                <a:tc>
                  <a:txBody>
                    <a:bodyPr wrap="square"/>
                    <a:lstStyle/>
                    <a:p>
                      <a:pPr algn="l"/>
                      <a:r>
                        <a:rPr sz="1050" b="1">
                          <a:solidFill>
                            <a:srgbClr val="FFFFFF"/>
                          </a:solidFill>
                          <a:latin typeface="Kanit"/>
                        </a:rPr>
                        <a:t>Region</a:t>
                      </a:r>
                    </a:p>
                  </a:txBody>
                  <a:tcPr marL="54864" marR="54864" marT="18288" marB="18288" anchor="ctr">
                    <a:solidFill>
                      <a:srgbClr val="1B2A6B"/>
                    </a:solidFill>
                  </a:tcPr>
                </a:tc>
                <a:tc>
                  <a:txBody>
                    <a:bodyPr wrap="square"/>
                    <a:lstStyle/>
                    <a:p>
                      <a:pPr algn="l"/>
                      <a:r>
                        <a:rPr sz="1050" b="1">
                          <a:solidFill>
                            <a:srgbClr val="FFFFFF"/>
                          </a:solidFill>
                          <a:latin typeface="Kanit"/>
                        </a:rPr>
                        <a:t>Dominant crops</a:t>
                      </a:r>
                    </a:p>
                  </a:txBody>
                  <a:tcPr marL="54864" marR="54864" marT="18288" marB="18288" anchor="ctr">
                    <a:solidFill>
                      <a:srgbClr val="1B2A6B"/>
                    </a:solidFill>
                  </a:tcPr>
                </a:tc>
                <a:tc>
                  <a:txBody>
                    <a:bodyPr wrap="square"/>
                    <a:lstStyle/>
                    <a:p>
                      <a:pPr algn="r"/>
                      <a:r>
                        <a:rPr sz="1050" b="1">
                          <a:solidFill>
                            <a:srgbClr val="FFFFFF"/>
                          </a:solidFill>
                          <a:latin typeface="Kanit"/>
                        </a:rPr>
                        <a:t>Drought</a:t>
                      </a:r>
                    </a:p>
                  </a:txBody>
                  <a:tcPr marL="54864" marR="54864" marT="18288" marB="18288" anchor="ctr">
                    <a:solidFill>
                      <a:srgbClr val="1B2A6B"/>
                    </a:solidFill>
                  </a:tcPr>
                </a:tc>
                <a:tc>
                  <a:txBody>
                    <a:bodyPr wrap="square"/>
                    <a:lstStyle/>
                    <a:p>
                      <a:pPr algn="l"/>
                      <a:r>
                        <a:rPr sz="1050" b="1">
                          <a:solidFill>
                            <a:srgbClr val="FFFFFF"/>
                          </a:solidFill>
                          <a:latin typeface="Kanit"/>
                        </a:rPr>
                        <a:t>Crop-stress rank</a:t>
                      </a:r>
                    </a:p>
                  </a:txBody>
                  <a:tcPr marL="54864" marR="54864" marT="18288" marB="18288" anchor="ctr">
                    <a:solidFill>
                      <a:srgbClr val="1B2A6B"/>
                    </a:solidFill>
                  </a:tcPr>
                </a:tc>
              </a:tr>
              <a:tr h="269748">
                <a:tc>
                  <a:txBody>
                    <a:bodyPr wrap="square"/>
                    <a:lstStyle/>
                    <a:p>
                      <a:pPr algn="l"/>
                      <a:r>
                        <a:rPr sz="1000" b="0">
                          <a:solidFill>
                            <a:srgbClr val="1E2F5C"/>
                          </a:solidFill>
                          <a:latin typeface="Kanit"/>
                        </a:rPr>
                        <a:t>อุบลราชธานี</a:t>
                      </a:r>
                    </a:p>
                  </a:txBody>
                  <a:tcPr marL="54864" marR="54864" marT="18288" marB="18288" anchor="ctr">
                    <a:solidFill>
                      <a:srgbClr val="FFFFFF"/>
                    </a:solidFill>
                  </a:tcPr>
                </a:tc>
                <a:tc>
                  <a:txBody>
                    <a:bodyPr wrap="square"/>
                    <a:lstStyle/>
                    <a:p>
                      <a:pPr algn="l"/>
                      <a:r>
                        <a:rPr sz="1000" b="0">
                          <a:solidFill>
                            <a:srgbClr val="1E2F5C"/>
                          </a:solidFill>
                          <a:latin typeface="Kanit"/>
                        </a:rPr>
                        <a:t>Isan</a:t>
                      </a:r>
                    </a:p>
                  </a:txBody>
                  <a:tcPr marL="54864" marR="54864" marT="18288" marB="18288" anchor="ctr">
                    <a:solidFill>
                      <a:srgbClr val="FFFFFF"/>
                    </a:solidFill>
                  </a:tcPr>
                </a:tc>
                <a:tc>
                  <a:txBody>
                    <a:bodyPr wrap="square"/>
                    <a:lstStyle/>
                    <a:p>
                      <a:pPr algn="l"/>
                      <a:r>
                        <a:rPr sz="1000" b="0">
                          <a:solidFill>
                            <a:srgbClr val="1E2F5C"/>
                          </a:solidFill>
                          <a:latin typeface="Kanit"/>
                        </a:rPr>
                        <a:t>Rice 79% · Rubber 12%</a:t>
                      </a:r>
                    </a:p>
                  </a:txBody>
                  <a:tcPr marL="54864" marR="54864" marT="18288" marB="18288" anchor="ctr">
                    <a:solidFill>
                      <a:srgbClr val="FFFFFF"/>
                    </a:solidFill>
                  </a:tcPr>
                </a:tc>
                <a:tc>
                  <a:txBody>
                    <a:bodyPr wrap="square"/>
                    <a:lstStyle/>
                    <a:p>
                      <a:pPr algn="r"/>
                      <a:r>
                        <a:rPr sz="1000" b="1">
                          <a:solidFill>
                            <a:srgbClr val="F5C242"/>
                          </a:solidFill>
                          <a:latin typeface="Kanit"/>
                        </a:rPr>
                        <a:t>0.52</a:t>
                      </a:r>
                    </a:p>
                  </a:txBody>
                  <a:tcPr marL="54864" marR="54864" marT="18288" marB="18288" anchor="ctr">
                    <a:solidFill>
                      <a:srgbClr val="FFFFFF"/>
                    </a:solidFill>
                  </a:tcPr>
                </a:tc>
                <a:tc>
                  <a:txBody>
                    <a:bodyPr wrap="square"/>
                    <a:lstStyle/>
                    <a:p>
                      <a:pPr algn="l"/>
                      <a:r>
                        <a:rPr sz="1000" b="1">
                          <a:solidFill>
                            <a:srgbClr val="CC0000"/>
                          </a:solidFill>
                          <a:latin typeface="Kanit"/>
                        </a:rPr>
                        <a:t>1st — highest</a:t>
                      </a:r>
                    </a:p>
                  </a:txBody>
                  <a:tcPr marL="54864" marR="54864" marT="18288" marB="18288" anchor="ctr">
                    <a:solidFill>
                      <a:srgbClr val="FFFFFF"/>
                    </a:solidFill>
                  </a:tcPr>
                </a:tc>
              </a:tr>
              <a:tr h="269748">
                <a:tc>
                  <a:txBody>
                    <a:bodyPr wrap="square"/>
                    <a:lstStyle/>
                    <a:p>
                      <a:pPr algn="l"/>
                      <a:r>
                        <a:rPr sz="1000" b="0">
                          <a:solidFill>
                            <a:srgbClr val="1E2F5C"/>
                          </a:solidFill>
                          <a:latin typeface="Kanit"/>
                        </a:rPr>
                        <a:t>ร้อยเอ็ด</a:t>
                      </a:r>
                    </a:p>
                  </a:txBody>
                  <a:tcPr marL="54864" marR="54864" marT="18288" marB="18288" anchor="ctr">
                    <a:solidFill>
                      <a:srgbClr val="F7F9FC"/>
                    </a:solidFill>
                  </a:tcPr>
                </a:tc>
                <a:tc>
                  <a:txBody>
                    <a:bodyPr wrap="square"/>
                    <a:lstStyle/>
                    <a:p>
                      <a:pPr algn="l"/>
                      <a:r>
                        <a:rPr sz="1000" b="0">
                          <a:solidFill>
                            <a:srgbClr val="1E2F5C"/>
                          </a:solidFill>
                          <a:latin typeface="Kanit"/>
                        </a:rPr>
                        <a:t>Isan</a:t>
                      </a:r>
                    </a:p>
                  </a:txBody>
                  <a:tcPr marL="54864" marR="54864" marT="18288" marB="18288" anchor="ctr">
                    <a:solidFill>
                      <a:srgbClr val="F7F9FC"/>
                    </a:solidFill>
                  </a:tcPr>
                </a:tc>
                <a:tc>
                  <a:txBody>
                    <a:bodyPr wrap="square"/>
                    <a:lstStyle/>
                    <a:p>
                      <a:pPr algn="l"/>
                      <a:r>
                        <a:rPr sz="1000" b="0">
                          <a:solidFill>
                            <a:srgbClr val="1E2F5C"/>
                          </a:solidFill>
                          <a:latin typeface="Kanit"/>
                        </a:rPr>
                        <a:t>Rice 92% · Sugarcane 5%</a:t>
                      </a:r>
                    </a:p>
                  </a:txBody>
                  <a:tcPr marL="54864" marR="54864" marT="18288" marB="18288" anchor="ctr">
                    <a:solidFill>
                      <a:srgbClr val="F7F9FC"/>
                    </a:solidFill>
                  </a:tcPr>
                </a:tc>
                <a:tc>
                  <a:txBody>
                    <a:bodyPr wrap="square"/>
                    <a:lstStyle/>
                    <a:p>
                      <a:pPr algn="r"/>
                      <a:r>
                        <a:rPr sz="1000" b="1">
                          <a:solidFill>
                            <a:srgbClr val="CC0000"/>
                          </a:solidFill>
                          <a:latin typeface="Kanit"/>
                        </a:rPr>
                        <a:t>0.74</a:t>
                      </a:r>
                    </a:p>
                  </a:txBody>
                  <a:tcPr marL="54864" marR="54864" marT="18288" marB="18288" anchor="ctr">
                    <a:solidFill>
                      <a:srgbClr val="F7F9FC"/>
                    </a:solidFill>
                  </a:tcPr>
                </a:tc>
                <a:tc>
                  <a:txBody>
                    <a:bodyPr wrap="square"/>
                    <a:lstStyle/>
                    <a:p>
                      <a:pPr algn="l"/>
                      <a:r>
                        <a:rPr sz="1000" b="0">
                          <a:solidFill>
                            <a:srgbClr val="1E2F5C"/>
                          </a:solidFill>
                          <a:latin typeface="Kanit"/>
                        </a:rPr>
                        <a:t>2nd</a:t>
                      </a:r>
                    </a:p>
                  </a:txBody>
                  <a:tcPr marL="54864" marR="54864" marT="18288" marB="18288" anchor="ctr">
                    <a:solidFill>
                      <a:srgbClr val="F7F9FC"/>
                    </a:solidFill>
                  </a:tcPr>
                </a:tc>
              </a:tr>
              <a:tr h="269748">
                <a:tc>
                  <a:txBody>
                    <a:bodyPr wrap="square"/>
                    <a:lstStyle/>
                    <a:p>
                      <a:pPr algn="l"/>
                      <a:r>
                        <a:rPr sz="1000" b="0">
                          <a:solidFill>
                            <a:srgbClr val="1E2F5C"/>
                          </a:solidFill>
                          <a:latin typeface="Kanit"/>
                        </a:rPr>
                        <a:t>สุรินทร์</a:t>
                      </a:r>
                    </a:p>
                  </a:txBody>
                  <a:tcPr marL="54864" marR="54864" marT="18288" marB="18288" anchor="ctr">
                    <a:solidFill>
                      <a:srgbClr val="FFFFFF"/>
                    </a:solidFill>
                  </a:tcPr>
                </a:tc>
                <a:tc>
                  <a:txBody>
                    <a:bodyPr wrap="square"/>
                    <a:lstStyle/>
                    <a:p>
                      <a:pPr algn="l"/>
                      <a:r>
                        <a:rPr sz="1000" b="0">
                          <a:solidFill>
                            <a:srgbClr val="1E2F5C"/>
                          </a:solidFill>
                          <a:latin typeface="Kanit"/>
                        </a:rPr>
                        <a:t>Isan</a:t>
                      </a:r>
                    </a:p>
                  </a:txBody>
                  <a:tcPr marL="54864" marR="54864" marT="18288" marB="18288" anchor="ctr">
                    <a:solidFill>
                      <a:srgbClr val="FFFFFF"/>
                    </a:solidFill>
                  </a:tcPr>
                </a:tc>
                <a:tc>
                  <a:txBody>
                    <a:bodyPr wrap="square"/>
                    <a:lstStyle/>
                    <a:p>
                      <a:pPr algn="l"/>
                      <a:r>
                        <a:rPr sz="1000" b="0">
                          <a:solidFill>
                            <a:srgbClr val="1E2F5C"/>
                          </a:solidFill>
                          <a:latin typeface="Kanit"/>
                        </a:rPr>
                        <a:t>Rice 88% · Rubber 7%</a:t>
                      </a:r>
                    </a:p>
                  </a:txBody>
                  <a:tcPr marL="54864" marR="54864" marT="18288" marB="18288" anchor="ctr">
                    <a:solidFill>
                      <a:srgbClr val="FFFFFF"/>
                    </a:solidFill>
                  </a:tcPr>
                </a:tc>
                <a:tc>
                  <a:txBody>
                    <a:bodyPr wrap="square"/>
                    <a:lstStyle/>
                    <a:p>
                      <a:pPr algn="r"/>
                      <a:r>
                        <a:rPr sz="1000" b="1">
                          <a:solidFill>
                            <a:srgbClr val="F5C242"/>
                          </a:solidFill>
                          <a:latin typeface="Kanit"/>
                        </a:rPr>
                        <a:t>0.59</a:t>
                      </a:r>
                    </a:p>
                  </a:txBody>
                  <a:tcPr marL="54864" marR="54864" marT="18288" marB="18288" anchor="ctr">
                    <a:solidFill>
                      <a:srgbClr val="FFFFFF"/>
                    </a:solidFill>
                  </a:tcPr>
                </a:tc>
                <a:tc>
                  <a:txBody>
                    <a:bodyPr wrap="square"/>
                    <a:lstStyle/>
                    <a:p>
                      <a:pPr algn="l"/>
                      <a:r>
                        <a:rPr sz="1000" b="0">
                          <a:solidFill>
                            <a:srgbClr val="1E2F5C"/>
                          </a:solidFill>
                          <a:latin typeface="Kanit"/>
                        </a:rPr>
                        <a:t>3rd</a:t>
                      </a:r>
                    </a:p>
                  </a:txBody>
                  <a:tcPr marL="54864" marR="54864" marT="18288" marB="18288" anchor="ctr">
                    <a:solidFill>
                      <a:srgbClr val="FFFFFF"/>
                    </a:solidFill>
                  </a:tcPr>
                </a:tc>
              </a:tr>
              <a:tr h="269748">
                <a:tc>
                  <a:txBody>
                    <a:bodyPr wrap="square"/>
                    <a:lstStyle/>
                    <a:p>
                      <a:pPr algn="l"/>
                      <a:r>
                        <a:rPr sz="1000" b="0">
                          <a:solidFill>
                            <a:srgbClr val="1E2F5C"/>
                          </a:solidFill>
                          <a:latin typeface="Kanit"/>
                        </a:rPr>
                        <a:t>ศรีสะเกษ</a:t>
                      </a:r>
                    </a:p>
                  </a:txBody>
                  <a:tcPr marL="54864" marR="54864" marT="18288" marB="18288" anchor="ctr">
                    <a:solidFill>
                      <a:srgbClr val="F7F9FC"/>
                    </a:solidFill>
                  </a:tcPr>
                </a:tc>
                <a:tc>
                  <a:txBody>
                    <a:bodyPr wrap="square"/>
                    <a:lstStyle/>
                    <a:p>
                      <a:pPr algn="l"/>
                      <a:r>
                        <a:rPr sz="1000" b="0">
                          <a:solidFill>
                            <a:srgbClr val="1E2F5C"/>
                          </a:solidFill>
                          <a:latin typeface="Kanit"/>
                        </a:rPr>
                        <a:t>Isan</a:t>
                      </a:r>
                    </a:p>
                  </a:txBody>
                  <a:tcPr marL="54864" marR="54864" marT="18288" marB="18288" anchor="ctr">
                    <a:solidFill>
                      <a:srgbClr val="F7F9FC"/>
                    </a:solidFill>
                  </a:tcPr>
                </a:tc>
                <a:tc>
                  <a:txBody>
                    <a:bodyPr wrap="square"/>
                    <a:lstStyle/>
                    <a:p>
                      <a:pPr algn="l"/>
                      <a:r>
                        <a:rPr sz="1000" b="0">
                          <a:solidFill>
                            <a:srgbClr val="1E2F5C"/>
                          </a:solidFill>
                          <a:latin typeface="Kanit"/>
                        </a:rPr>
                        <a:t>Rice 86% · Rubber 10%</a:t>
                      </a:r>
                    </a:p>
                  </a:txBody>
                  <a:tcPr marL="54864" marR="54864" marT="18288" marB="18288" anchor="ctr">
                    <a:solidFill>
                      <a:srgbClr val="F7F9FC"/>
                    </a:solidFill>
                  </a:tcPr>
                </a:tc>
                <a:tc>
                  <a:txBody>
                    <a:bodyPr wrap="square"/>
                    <a:lstStyle/>
                    <a:p>
                      <a:pPr algn="r"/>
                      <a:r>
                        <a:rPr sz="1000" b="1">
                          <a:solidFill>
                            <a:srgbClr val="F5C242"/>
                          </a:solidFill>
                          <a:latin typeface="Kanit"/>
                        </a:rPr>
                        <a:t>0.55</a:t>
                      </a:r>
                    </a:p>
                  </a:txBody>
                  <a:tcPr marL="54864" marR="54864" marT="18288" marB="18288" anchor="ctr">
                    <a:solidFill>
                      <a:srgbClr val="F7F9FC"/>
                    </a:solidFill>
                  </a:tcPr>
                </a:tc>
                <a:tc>
                  <a:txBody>
                    <a:bodyPr wrap="square"/>
                    <a:lstStyle/>
                    <a:p>
                      <a:pPr algn="l"/>
                      <a:r>
                        <a:rPr sz="1000" b="0">
                          <a:solidFill>
                            <a:srgbClr val="1E2F5C"/>
                          </a:solidFill>
                          <a:latin typeface="Kanit"/>
                        </a:rPr>
                        <a:t>4th</a:t>
                      </a:r>
                    </a:p>
                  </a:txBody>
                  <a:tcPr marL="54864" marR="54864" marT="18288" marB="18288" anchor="ctr">
                    <a:solidFill>
                      <a:srgbClr val="F7F9FC"/>
                    </a:solidFill>
                  </a:tcPr>
                </a:tc>
              </a:tr>
              <a:tr h="269748">
                <a:tc>
                  <a:txBody>
                    <a:bodyPr wrap="square"/>
                    <a:lstStyle/>
                    <a:p>
                      <a:pPr algn="l"/>
                      <a:r>
                        <a:rPr sz="1000" b="0">
                          <a:solidFill>
                            <a:srgbClr val="1E2F5C"/>
                          </a:solidFill>
                          <a:latin typeface="Kanit"/>
                        </a:rPr>
                        <a:t>สุพรรณบุรี</a:t>
                      </a:r>
                    </a:p>
                  </a:txBody>
                  <a:tcPr marL="54864" marR="54864" marT="18288" marB="18288" anchor="ctr">
                    <a:solidFill>
                      <a:srgbClr val="FFFFFF"/>
                    </a:solidFill>
                  </a:tcPr>
                </a:tc>
                <a:tc>
                  <a:txBody>
                    <a:bodyPr wrap="square"/>
                    <a:lstStyle/>
                    <a:p>
                      <a:pPr algn="l"/>
                      <a:r>
                        <a:rPr sz="1000" b="0">
                          <a:solidFill>
                            <a:srgbClr val="1E2F5C"/>
                          </a:solidFill>
                          <a:latin typeface="Kanit"/>
                        </a:rPr>
                        <a:t>Central</a:t>
                      </a:r>
                    </a:p>
                  </a:txBody>
                  <a:tcPr marL="54864" marR="54864" marT="18288" marB="18288" anchor="ctr">
                    <a:solidFill>
                      <a:srgbClr val="FFFFFF"/>
                    </a:solidFill>
                  </a:tcPr>
                </a:tc>
                <a:tc>
                  <a:txBody>
                    <a:bodyPr wrap="square"/>
                    <a:lstStyle/>
                    <a:p>
                      <a:pPr algn="l"/>
                      <a:r>
                        <a:rPr sz="1000" b="0">
                          <a:solidFill>
                            <a:srgbClr val="1E2F5C"/>
                          </a:solidFill>
                          <a:latin typeface="Kanit"/>
                        </a:rPr>
                        <a:t>Rice 65% · Sugarcane 31%</a:t>
                      </a:r>
                    </a:p>
                  </a:txBody>
                  <a:tcPr marL="54864" marR="54864" marT="18288" marB="18288" anchor="ctr">
                    <a:solidFill>
                      <a:srgbClr val="FFFFFF"/>
                    </a:solidFill>
                  </a:tcPr>
                </a:tc>
                <a:tc>
                  <a:txBody>
                    <a:bodyPr wrap="square"/>
                    <a:lstStyle/>
                    <a:p>
                      <a:pPr algn="r"/>
                      <a:r>
                        <a:rPr sz="1000" b="1">
                          <a:solidFill>
                            <a:srgbClr val="CC0000"/>
                          </a:solidFill>
                          <a:latin typeface="Kanit"/>
                        </a:rPr>
                        <a:t>0.95</a:t>
                      </a:r>
                    </a:p>
                  </a:txBody>
                  <a:tcPr marL="54864" marR="54864" marT="18288" marB="18288" anchor="ctr">
                    <a:solidFill>
                      <a:srgbClr val="FFFFFF"/>
                    </a:solidFill>
                  </a:tcPr>
                </a:tc>
                <a:tc>
                  <a:txBody>
                    <a:bodyPr wrap="square"/>
                    <a:lstStyle/>
                    <a:p>
                      <a:pPr algn="l"/>
                      <a:r>
                        <a:rPr sz="1000" b="0">
                          <a:solidFill>
                            <a:srgbClr val="1E2F5C"/>
                          </a:solidFill>
                          <a:latin typeface="Kanit"/>
                        </a:rPr>
                        <a:t>5th</a:t>
                      </a:r>
                    </a:p>
                  </a:txBody>
                  <a:tcPr marL="54864" marR="54864" marT="18288" marB="18288" anchor="ctr">
                    <a:solidFill>
                      <a:srgbClr val="FFFFFF"/>
                    </a:solidFill>
                  </a:tcPr>
                </a:tc>
              </a:tr>
              <a:tr h="269748">
                <a:tc>
                  <a:txBody>
                    <a:bodyPr wrap="square"/>
                    <a:lstStyle/>
                    <a:p>
                      <a:pPr algn="l"/>
                      <a:r>
                        <a:rPr sz="1000" b="0">
                          <a:solidFill>
                            <a:srgbClr val="1E2F5C"/>
                          </a:solidFill>
                          <a:latin typeface="Kanit"/>
                        </a:rPr>
                        <a:t>นครสวรรค์</a:t>
                      </a:r>
                    </a:p>
                  </a:txBody>
                  <a:tcPr marL="54864" marR="54864" marT="18288" marB="18288" anchor="ctr">
                    <a:solidFill>
                      <a:srgbClr val="F7F9FC"/>
                    </a:solidFill>
                  </a:tcPr>
                </a:tc>
                <a:tc>
                  <a:txBody>
                    <a:bodyPr wrap="square"/>
                    <a:lstStyle/>
                    <a:p>
                      <a:pPr algn="l"/>
                      <a:r>
                        <a:rPr sz="1000" b="0">
                          <a:solidFill>
                            <a:srgbClr val="1E2F5C"/>
                          </a:solidFill>
                          <a:latin typeface="Kanit"/>
                        </a:rPr>
                        <a:t>North</a:t>
                      </a:r>
                    </a:p>
                  </a:txBody>
                  <a:tcPr marL="54864" marR="54864" marT="18288" marB="18288" anchor="ctr">
                    <a:solidFill>
                      <a:srgbClr val="F7F9FC"/>
                    </a:solidFill>
                  </a:tcPr>
                </a:tc>
                <a:tc>
                  <a:txBody>
                    <a:bodyPr wrap="square"/>
                    <a:lstStyle/>
                    <a:p>
                      <a:pPr algn="l"/>
                      <a:r>
                        <a:rPr sz="1000" b="0">
                          <a:solidFill>
                            <a:srgbClr val="1E2F5C"/>
                          </a:solidFill>
                          <a:latin typeface="Kanit"/>
                        </a:rPr>
                        <a:t>Rice 65% · Sugarcane 20%</a:t>
                      </a:r>
                    </a:p>
                  </a:txBody>
                  <a:tcPr marL="54864" marR="54864" marT="18288" marB="18288" anchor="ctr">
                    <a:solidFill>
                      <a:srgbClr val="F7F9FC"/>
                    </a:solidFill>
                  </a:tcPr>
                </a:tc>
                <a:tc>
                  <a:txBody>
                    <a:bodyPr wrap="square"/>
                    <a:lstStyle/>
                    <a:p>
                      <a:pPr algn="r"/>
                      <a:r>
                        <a:rPr sz="1000" b="1">
                          <a:solidFill>
                            <a:srgbClr val="F5C242"/>
                          </a:solidFill>
                          <a:latin typeface="Kanit"/>
                        </a:rPr>
                        <a:t>0.47</a:t>
                      </a:r>
                    </a:p>
                  </a:txBody>
                  <a:tcPr marL="54864" marR="54864" marT="18288" marB="18288" anchor="ctr">
                    <a:solidFill>
                      <a:srgbClr val="F7F9FC"/>
                    </a:solidFill>
                  </a:tcPr>
                </a:tc>
                <a:tc>
                  <a:txBody>
                    <a:bodyPr wrap="square"/>
                    <a:lstStyle/>
                    <a:p>
                      <a:pPr algn="l"/>
                      <a:r>
                        <a:rPr sz="1000" b="0">
                          <a:solidFill>
                            <a:srgbClr val="1E2F5C"/>
                          </a:solidFill>
                          <a:latin typeface="Kanit"/>
                        </a:rPr>
                        <a:t>6th</a:t>
                      </a:r>
                    </a:p>
                  </a:txBody>
                  <a:tcPr marL="54864" marR="54864" marT="18288" marB="18288" anchor="ctr">
                    <a:solidFill>
                      <a:srgbClr val="F7F9FC"/>
                    </a:solidFill>
                  </a:tcPr>
                </a:tc>
              </a:tr>
            </a:tbl>
          </a:graphicData>
        </a:graphic>
      </p:graphicFrame>
      <p:sp>
        <p:nvSpPr>
          <p:cNvPr id="27" name="Rounded Rectangle 26"/>
          <p:cNvSpPr/>
          <p:nvPr/>
        </p:nvSpPr>
        <p:spPr>
          <a:xfrm>
            <a:off x="411480" y="4925568"/>
            <a:ext cx="535747" cy="192024"/>
          </a:xfrm>
          <a:prstGeom prst="roundRect">
            <a:avLst>
              <a:gd name="adj" fmla="val 50000"/>
            </a:avLst>
          </a:prstGeom>
          <a:noFill/>
          <a:ln w="9525">
            <a:solidFill>
              <a:srgbClr val="1E2F5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411480" y="4954828"/>
            <a:ext cx="535747" cy="134112"/>
          </a:xfrm>
          <a:prstGeom prst="rect">
            <a:avLst/>
          </a:prstGeom>
          <a:noFill/>
        </p:spPr>
        <p:txBody>
          <a:bodyPr wrap="square" lIns="0" rIns="0" tIns="0" bIns="0" anchor="t">
            <a:noAutofit/>
          </a:bodyPr>
          <a:lstStyle/>
          <a:p>
            <a:pPr algn="ctr">
              <a:lnSpc>
                <a:spcPts val="1056"/>
              </a:lnSpc>
            </a:pPr>
            <a:r>
              <a:rPr sz="800" b="1">
                <a:solidFill>
                  <a:srgbClr val="1E2F5C"/>
                </a:solidFill>
                <a:latin typeface="Kanit"/>
              </a:rPr>
              <a:t>MIXED</a:t>
            </a:r>
          </a:p>
        </p:txBody>
      </p:sp>
      <p:sp>
        <p:nvSpPr>
          <p:cNvPr id="29" name="TextBox 28"/>
          <p:cNvSpPr txBox="1"/>
          <p:nvPr/>
        </p:nvSpPr>
        <p:spPr>
          <a:xfrm>
            <a:off x="1056955" y="4939284"/>
            <a:ext cx="10720516" cy="162877"/>
          </a:xfrm>
          <a:prstGeom prst="rect">
            <a:avLst/>
          </a:prstGeom>
          <a:noFill/>
        </p:spPr>
        <p:txBody>
          <a:bodyPr wrap="square" lIns="0" rIns="0" tIns="0" bIns="0" anchor="t">
            <a:noAutofit/>
          </a:bodyPr>
          <a:lstStyle/>
          <a:p>
            <a:pPr algn="l">
              <a:lnSpc>
                <a:spcPts val="1282"/>
              </a:lnSpc>
            </a:pPr>
            <a:r>
              <a:rPr sz="950" b="0">
                <a:solidFill>
                  <a:srgbClr val="606060"/>
                </a:solidFill>
                <a:latin typeface="Kanit"/>
              </a:rPr>
              <a:t>Crop area measured, drought modelled. Crop mix is measured planted area (OAE). Drought is a modelled SPEI index, not a field observation. The combined stress score is estimated.</a:t>
            </a:r>
          </a:p>
        </p:txBody>
      </p:sp>
      <p:sp>
        <p:nvSpPr>
          <p:cNvPr id="30" name="Rectangle 29"/>
          <p:cNvSpPr/>
          <p:nvPr/>
        </p:nvSpPr>
        <p:spPr>
          <a:xfrm>
            <a:off x="411480" y="5253037"/>
            <a:ext cx="11365992" cy="1033144"/>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Rectangle 30"/>
          <p:cNvSpPr/>
          <p:nvPr/>
        </p:nvSpPr>
        <p:spPr>
          <a:xfrm>
            <a:off x="411480" y="5253037"/>
            <a:ext cx="50292" cy="1033144"/>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630936" y="5399341"/>
            <a:ext cx="11036808"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สุพรรณบุรี is the one to watch — and the reason the zero above is soft</a:t>
            </a:r>
          </a:p>
        </p:txBody>
      </p:sp>
      <p:sp>
        <p:nvSpPr>
          <p:cNvPr id="33" name="TextBox 32"/>
          <p:cNvSpPr txBox="1"/>
          <p:nvPr/>
        </p:nvSpPr>
        <p:spPr>
          <a:xfrm>
            <a:off x="630936" y="5603811"/>
            <a:ext cx="11036808" cy="536067"/>
          </a:xfrm>
          <a:prstGeom prst="rect">
            <a:avLst/>
          </a:prstGeom>
          <a:noFill/>
        </p:spPr>
        <p:txBody>
          <a:bodyPr wrap="square" lIns="0" rIns="0" tIns="0" bIns="0" anchor="t">
            <a:noAutofit/>
          </a:bodyPr>
          <a:lstStyle/>
          <a:p>
            <a:pPr algn="l">
              <a:lnSpc>
                <a:spcPts val="1407"/>
              </a:lnSpc>
            </a:pPr>
            <a:r>
              <a:rPr sz="1050" b="0">
                <a:solidFill>
                  <a:srgbClr val="1E2F5C"/>
                </a:solidFill>
                <a:latin typeface="Kanit"/>
              </a:rPr>
              <a:t>Drought 0.95, effectively the top of the scale, and a third of its planted area is sugarcane, whose Thai farm-gate price is −17.9%. The double-stress test reads 0 because it runs on the GLOBAL price proxy; on the farm-gate layer that landed on 2 August, this province is drought and falling price at the same time. The test has not been refitted to the new layer yet, and the zero should be read with that caveat, not as an all-clear.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11731752" y="0"/>
            <a:ext cx="164592" cy="68580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11896344" y="0"/>
            <a:ext cx="164592" cy="6858000"/>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5" name="Picture 4" descr="chaiyo.png"/>
          <p:cNvPicPr>
            <a:picLocks noChangeAspect="1"/>
          </p:cNvPicPr>
          <p:nvPr/>
        </p:nvPicPr>
        <p:blipFill>
          <a:blip r:embed="rId2"/>
          <a:stretch>
            <a:fillRect/>
          </a:stretch>
        </p:blipFill>
        <p:spPr>
          <a:xfrm>
            <a:off x="640080" y="640080"/>
            <a:ext cx="2487168" cy="1554480"/>
          </a:xfrm>
          <a:prstGeom prst="rect">
            <a:avLst/>
          </a:prstGeom>
        </p:spPr>
      </p:pic>
      <p:sp>
        <p:nvSpPr>
          <p:cNvPr id="6" name="TextBox 5"/>
          <p:cNvSpPr txBox="1"/>
          <p:nvPr/>
        </p:nvSpPr>
        <p:spPr>
          <a:xfrm>
            <a:off x="685800" y="2788920"/>
            <a:ext cx="10058400" cy="184404"/>
          </a:xfrm>
          <a:prstGeom prst="rect">
            <a:avLst/>
          </a:prstGeom>
          <a:noFill/>
        </p:spPr>
        <p:txBody>
          <a:bodyPr wrap="square" lIns="0" rIns="0" tIns="0" bIns="0" anchor="t">
            <a:noAutofit/>
          </a:bodyPr>
          <a:lstStyle/>
          <a:p>
            <a:pPr algn="l">
              <a:lnSpc>
                <a:spcPts val="1452"/>
              </a:lnSpc>
            </a:pPr>
            <a:r>
              <a:rPr sz="1100" b="1">
                <a:solidFill>
                  <a:srgbClr val="F5C242"/>
                </a:solidFill>
                <a:latin typeface="Kanit"/>
              </a:rPr>
              <a:t>04 · Collateral outlook</a:t>
            </a:r>
          </a:p>
        </p:txBody>
      </p:sp>
      <p:sp>
        <p:nvSpPr>
          <p:cNvPr id="7" name="TextBox 6"/>
          <p:cNvSpPr txBox="1"/>
          <p:nvPr/>
        </p:nvSpPr>
        <p:spPr>
          <a:xfrm>
            <a:off x="685800" y="3154680"/>
            <a:ext cx="10058400" cy="508000"/>
          </a:xfrm>
          <a:prstGeom prst="rect">
            <a:avLst/>
          </a:prstGeom>
          <a:noFill/>
        </p:spPr>
        <p:txBody>
          <a:bodyPr wrap="square" lIns="0" rIns="0" tIns="0" bIns="0" anchor="t">
            <a:noAutofit/>
          </a:bodyPr>
          <a:lstStyle/>
          <a:p>
            <a:pPr algn="l">
              <a:lnSpc>
                <a:spcPts val="4000"/>
              </a:lnSpc>
            </a:pPr>
            <a:r>
              <a:rPr sz="3200" b="1">
                <a:solidFill>
                  <a:srgbClr val="FFFFFF"/>
                </a:solidFill>
                <a:latin typeface="Kanit"/>
              </a:rPr>
              <a:t>This is the slide that matters.</a:t>
            </a:r>
          </a:p>
        </p:txBody>
      </p:sp>
      <p:sp>
        <p:nvSpPr>
          <p:cNvPr id="8" name="TextBox 7"/>
          <p:cNvSpPr txBox="1"/>
          <p:nvPr/>
        </p:nvSpPr>
        <p:spPr>
          <a:xfrm>
            <a:off x="685800" y="4434840"/>
            <a:ext cx="9692640" cy="533400"/>
          </a:xfrm>
          <a:prstGeom prst="rect">
            <a:avLst/>
          </a:prstGeom>
          <a:noFill/>
        </p:spPr>
        <p:txBody>
          <a:bodyPr wrap="square" lIns="0" rIns="0" tIns="0" bIns="0" anchor="t">
            <a:noAutofit/>
          </a:bodyPr>
          <a:lstStyle/>
          <a:p>
            <a:pPr algn="l">
              <a:lnSpc>
                <a:spcPts val="2100"/>
              </a:lnSpc>
            </a:pPr>
            <a:r>
              <a:rPr sz="1350" b="0">
                <a:solidFill>
                  <a:srgbClr val="C7D0E4"/>
                </a:solidFill>
                <a:latin typeface="Kanit"/>
              </a:rPr>
              <a:t>We lend against vehicle titles. Both halves of that collateral are deteriorating at once: what a used vehicle is worth, and how many new ones are entering the pool that becomes our collateral in three to five years.</a:t>
            </a:r>
          </a:p>
        </p:txBody>
      </p:sp>
      <p:sp>
        <p:nvSpPr>
          <p:cNvPr id="9" name="TextBox 8"/>
          <p:cNvSpPr txBox="1"/>
          <p:nvPr/>
        </p:nvSpPr>
        <p:spPr>
          <a:xfrm>
            <a:off x="365760" y="6547104"/>
            <a:ext cx="6400800" cy="134112"/>
          </a:xfrm>
          <a:prstGeom prst="rect">
            <a:avLst/>
          </a:prstGeom>
          <a:noFill/>
        </p:spPr>
        <p:txBody>
          <a:bodyPr wrap="square" lIns="0" rIns="0" tIns="0" bIns="0" anchor="t">
            <a:noAutofit/>
          </a:bodyPr>
          <a:lstStyle/>
          <a:p>
            <a:pPr algn="l">
              <a:lnSpc>
                <a:spcPts val="1056"/>
              </a:lnSpc>
            </a:pPr>
            <a:r>
              <a:rPr sz="800" b="0">
                <a:solidFill>
                  <a:srgbClr val="FFFFFF"/>
                </a:solidFill>
                <a:latin typeface="Kanit"/>
              </a:rPr>
              <a:t>Restricted Data – Reproduction is prohibited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04A · RESALE VALUE</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What a title is worth: 33 points below its own 2015 base.</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TextBox 8"/>
          <p:cNvSpPr txBox="1"/>
          <p:nvPr/>
        </p:nvSpPr>
        <p:spPr>
          <a:xfrm>
            <a:off x="411480" y="1152144"/>
            <a:ext cx="11365992" cy="190500"/>
          </a:xfrm>
          <a:prstGeom prst="rect">
            <a:avLst/>
          </a:prstGeom>
          <a:noFill/>
        </p:spPr>
        <p:txBody>
          <a:bodyPr wrap="square" lIns="0" rIns="0" tIns="0" bIns="0" anchor="t">
            <a:noAutofit/>
          </a:bodyPr>
          <a:lstStyle/>
          <a:p>
            <a:pPr algn="l">
              <a:lnSpc>
                <a:spcPts val="1500"/>
              </a:lnSpc>
            </a:pPr>
            <a:r>
              <a:rPr sz="1100" b="0">
                <a:solidFill>
                  <a:srgbClr val="606060"/>
                </a:solidFill>
                <a:latin typeface="Kanit"/>
              </a:rPr>
              <a:t>Bank of Thailand used-vehicle price index, 2015 = 100, 185 monthly observations.</a:t>
            </a:r>
          </a:p>
        </p:txBody>
      </p:sp>
      <p:sp>
        <p:nvSpPr>
          <p:cNvPr id="10" name="Rounded Rectangle 9"/>
          <p:cNvSpPr/>
          <p:nvPr/>
        </p:nvSpPr>
        <p:spPr>
          <a:xfrm>
            <a:off x="411480" y="1488948"/>
            <a:ext cx="2738628" cy="1005840"/>
          </a:xfrm>
          <a:prstGeom prst="roundRect">
            <a:avLst>
              <a:gd name="adj" fmla="val 8181"/>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548640" y="1589532"/>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Pickup (รถกระบะ)</a:t>
            </a:r>
          </a:p>
        </p:txBody>
      </p:sp>
      <p:sp>
        <p:nvSpPr>
          <p:cNvPr id="12" name="TextBox 11"/>
          <p:cNvSpPr txBox="1"/>
          <p:nvPr/>
        </p:nvSpPr>
        <p:spPr>
          <a:xfrm>
            <a:off x="548640" y="1763268"/>
            <a:ext cx="2464308"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66.8</a:t>
            </a:r>
          </a:p>
        </p:txBody>
      </p:sp>
      <p:sp>
        <p:nvSpPr>
          <p:cNvPr id="13" name="TextBox 12"/>
          <p:cNvSpPr txBox="1"/>
          <p:nvPr/>
        </p:nvSpPr>
        <p:spPr>
          <a:xfrm>
            <a:off x="548640" y="2129028"/>
            <a:ext cx="2464308" cy="292608"/>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2026-05 · −50.0% off its 2012 peak · 33.2 pts below base</a:t>
            </a:r>
          </a:p>
        </p:txBody>
      </p:sp>
      <p:sp>
        <p:nvSpPr>
          <p:cNvPr id="14" name="Rounded Rectangle 13"/>
          <p:cNvSpPr/>
          <p:nvPr/>
        </p:nvSpPr>
        <p:spPr>
          <a:xfrm>
            <a:off x="3287268" y="1488948"/>
            <a:ext cx="2738628" cy="1005840"/>
          </a:xfrm>
          <a:prstGeom prst="roundRect">
            <a:avLst>
              <a:gd name="adj" fmla="val 8181"/>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3424428" y="1589532"/>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Passenger car</a:t>
            </a:r>
          </a:p>
        </p:txBody>
      </p:sp>
      <p:sp>
        <p:nvSpPr>
          <p:cNvPr id="16" name="TextBox 15"/>
          <p:cNvSpPr txBox="1"/>
          <p:nvPr/>
        </p:nvSpPr>
        <p:spPr>
          <a:xfrm>
            <a:off x="3424428" y="1763268"/>
            <a:ext cx="2464308"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87.8</a:t>
            </a:r>
          </a:p>
        </p:txBody>
      </p:sp>
      <p:sp>
        <p:nvSpPr>
          <p:cNvPr id="17" name="TextBox 16"/>
          <p:cNvSpPr txBox="1"/>
          <p:nvPr/>
        </p:nvSpPr>
        <p:spPr>
          <a:xfrm>
            <a:off x="3424428" y="2129028"/>
            <a:ext cx="2464308" cy="292608"/>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2026-05 · −40.5% off peak · 12.2 pts below base</a:t>
            </a:r>
          </a:p>
        </p:txBody>
      </p:sp>
      <p:sp>
        <p:nvSpPr>
          <p:cNvPr id="18" name="Rounded Rectangle 17"/>
          <p:cNvSpPr/>
          <p:nvPr/>
        </p:nvSpPr>
        <p:spPr>
          <a:xfrm>
            <a:off x="6163056" y="1488948"/>
            <a:ext cx="2738628" cy="1005840"/>
          </a:xfrm>
          <a:prstGeom prst="roundRect">
            <a:avLst>
              <a:gd name="adj" fmla="val 8181"/>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6300216" y="1589532"/>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Overall index</a:t>
            </a:r>
          </a:p>
        </p:txBody>
      </p:sp>
      <p:sp>
        <p:nvSpPr>
          <p:cNvPr id="20" name="TextBox 19"/>
          <p:cNvSpPr txBox="1"/>
          <p:nvPr/>
        </p:nvSpPr>
        <p:spPr>
          <a:xfrm>
            <a:off x="6300216" y="1763268"/>
            <a:ext cx="2464308"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75.2</a:t>
            </a:r>
          </a:p>
        </p:txBody>
      </p:sp>
      <p:sp>
        <p:nvSpPr>
          <p:cNvPr id="21" name="TextBox 20"/>
          <p:cNvSpPr txBox="1"/>
          <p:nvPr/>
        </p:nvSpPr>
        <p:spPr>
          <a:xfrm>
            <a:off x="6300216" y="2129028"/>
            <a:ext cx="2464308" cy="292608"/>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2026-05 · −46.3% off peak · 185 months of history</a:t>
            </a:r>
          </a:p>
        </p:txBody>
      </p:sp>
      <p:sp>
        <p:nvSpPr>
          <p:cNvPr id="22" name="Rounded Rectangle 21"/>
          <p:cNvSpPr/>
          <p:nvPr/>
        </p:nvSpPr>
        <p:spPr>
          <a:xfrm>
            <a:off x="9038844" y="1488948"/>
            <a:ext cx="2738628" cy="1005840"/>
          </a:xfrm>
          <a:prstGeom prst="roundRect">
            <a:avLst>
              <a:gd name="adj" fmla="val 8181"/>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9176004" y="1589532"/>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Trough behind us?</a:t>
            </a:r>
          </a:p>
        </p:txBody>
      </p:sp>
      <p:sp>
        <p:nvSpPr>
          <p:cNvPr id="24" name="TextBox 23"/>
          <p:cNvSpPr txBox="1"/>
          <p:nvPr/>
        </p:nvSpPr>
        <p:spPr>
          <a:xfrm>
            <a:off x="9176004" y="1763268"/>
            <a:ext cx="2464308"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Yes</a:t>
            </a:r>
          </a:p>
        </p:txBody>
      </p:sp>
      <p:sp>
        <p:nvSpPr>
          <p:cNvPr id="25" name="TextBox 24"/>
          <p:cNvSpPr txBox="1"/>
          <p:nvPr/>
        </p:nvSpPr>
        <p:spPr>
          <a:xfrm>
            <a:off x="9176004" y="2129028"/>
            <a:ext cx="2464308" cy="292608"/>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pickup bottomed at 54.6 in 2024-10 — recovered, not to base</a:t>
            </a:r>
          </a:p>
        </p:txBody>
      </p:sp>
      <p:sp>
        <p:nvSpPr>
          <p:cNvPr id="26" name="Rectangle 25"/>
          <p:cNvSpPr/>
          <p:nvPr/>
        </p:nvSpPr>
        <p:spPr>
          <a:xfrm>
            <a:off x="411480" y="2659380"/>
            <a:ext cx="6903720" cy="2331720"/>
          </a:xfrm>
          <a:prstGeom prst="rect">
            <a:avLst/>
          </a:prstGeom>
          <a:solidFill>
            <a:srgbClr val="FBFCFE"/>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795528" y="4716780"/>
            <a:ext cx="6428232" cy="6400"/>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429768" y="4648200"/>
            <a:ext cx="329184" cy="125730"/>
          </a:xfrm>
          <a:prstGeom prst="rect">
            <a:avLst/>
          </a:prstGeom>
          <a:noFill/>
        </p:spPr>
        <p:txBody>
          <a:bodyPr wrap="square" lIns="0" rIns="0" tIns="0" bIns="0" anchor="t">
            <a:noAutofit/>
          </a:bodyPr>
          <a:lstStyle/>
          <a:p>
            <a:pPr algn="r">
              <a:lnSpc>
                <a:spcPts val="990"/>
              </a:lnSpc>
            </a:pPr>
            <a:r>
              <a:rPr sz="750" b="0">
                <a:solidFill>
                  <a:srgbClr val="9AA3B2"/>
                </a:solidFill>
                <a:latin typeface="Kanit"/>
              </a:rPr>
              <a:t>50</a:t>
            </a:r>
          </a:p>
        </p:txBody>
      </p:sp>
      <p:sp>
        <p:nvSpPr>
          <p:cNvPr id="29" name="Rectangle 28"/>
          <p:cNvSpPr/>
          <p:nvPr/>
        </p:nvSpPr>
        <p:spPr>
          <a:xfrm>
            <a:off x="795528" y="3761232"/>
            <a:ext cx="6428232" cy="10972"/>
          </a:xfrm>
          <a:prstGeom prst="rect">
            <a:avLst/>
          </a:prstGeom>
          <a:solidFill>
            <a:srgbClr val="606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429768" y="3692652"/>
            <a:ext cx="329184" cy="125730"/>
          </a:xfrm>
          <a:prstGeom prst="rect">
            <a:avLst/>
          </a:prstGeom>
          <a:noFill/>
        </p:spPr>
        <p:txBody>
          <a:bodyPr wrap="square" lIns="0" rIns="0" tIns="0" bIns="0" anchor="t">
            <a:noAutofit/>
          </a:bodyPr>
          <a:lstStyle/>
          <a:p>
            <a:pPr algn="r">
              <a:lnSpc>
                <a:spcPts val="990"/>
              </a:lnSpc>
            </a:pPr>
            <a:r>
              <a:rPr sz="750" b="0">
                <a:solidFill>
                  <a:srgbClr val="606060"/>
                </a:solidFill>
                <a:latin typeface="Kanit"/>
              </a:rPr>
              <a:t>100</a:t>
            </a:r>
          </a:p>
        </p:txBody>
      </p:sp>
      <p:sp>
        <p:nvSpPr>
          <p:cNvPr id="31" name="Rectangle 30"/>
          <p:cNvSpPr/>
          <p:nvPr/>
        </p:nvSpPr>
        <p:spPr>
          <a:xfrm>
            <a:off x="795528" y="2805684"/>
            <a:ext cx="6428232" cy="6400"/>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429768" y="2737104"/>
            <a:ext cx="329184" cy="125730"/>
          </a:xfrm>
          <a:prstGeom prst="rect">
            <a:avLst/>
          </a:prstGeom>
          <a:noFill/>
        </p:spPr>
        <p:txBody>
          <a:bodyPr wrap="square" lIns="0" rIns="0" tIns="0" bIns="0" anchor="t">
            <a:noAutofit/>
          </a:bodyPr>
          <a:lstStyle/>
          <a:p>
            <a:pPr algn="r">
              <a:lnSpc>
                <a:spcPts val="990"/>
              </a:lnSpc>
            </a:pPr>
            <a:r>
              <a:rPr sz="750" b="0">
                <a:solidFill>
                  <a:srgbClr val="9AA3B2"/>
                </a:solidFill>
                <a:latin typeface="Kanit"/>
              </a:rPr>
              <a:t>150</a:t>
            </a:r>
          </a:p>
        </p:txBody>
      </p:sp>
      <p:sp>
        <p:nvSpPr>
          <p:cNvPr id="33" name="TextBox 32"/>
          <p:cNvSpPr txBox="1"/>
          <p:nvPr/>
        </p:nvSpPr>
        <p:spPr>
          <a:xfrm>
            <a:off x="6974611" y="2787396"/>
            <a:ext cx="157708" cy="134112"/>
          </a:xfrm>
          <a:prstGeom prst="rect">
            <a:avLst/>
          </a:prstGeom>
          <a:noFill/>
        </p:spPr>
        <p:txBody>
          <a:bodyPr wrap="square" lIns="0" rIns="0" tIns="0" bIns="0" anchor="t">
            <a:noAutofit/>
          </a:bodyPr>
          <a:lstStyle/>
          <a:p>
            <a:pPr algn="l">
              <a:lnSpc>
                <a:spcPts val="1056"/>
              </a:lnSpc>
            </a:pPr>
            <a:r>
              <a:rPr sz="800" b="1">
                <a:solidFill>
                  <a:srgbClr val="1E2F5C"/>
                </a:solidFill>
                <a:latin typeface="Kanit"/>
              </a:rPr>
              <a:t>Car</a:t>
            </a:r>
          </a:p>
        </p:txBody>
      </p:sp>
      <p:sp>
        <p:nvSpPr>
          <p:cNvPr id="34" name="Rectangle 33"/>
          <p:cNvSpPr/>
          <p:nvPr/>
        </p:nvSpPr>
        <p:spPr>
          <a:xfrm>
            <a:off x="6736867" y="2846832"/>
            <a:ext cx="164592" cy="25603"/>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5" name="TextBox 34"/>
          <p:cNvSpPr txBox="1"/>
          <p:nvPr/>
        </p:nvSpPr>
        <p:spPr>
          <a:xfrm>
            <a:off x="6269491" y="2787396"/>
            <a:ext cx="321071" cy="134112"/>
          </a:xfrm>
          <a:prstGeom prst="rect">
            <a:avLst/>
          </a:prstGeom>
          <a:noFill/>
        </p:spPr>
        <p:txBody>
          <a:bodyPr wrap="square" lIns="0" rIns="0" tIns="0" bIns="0" anchor="t">
            <a:noAutofit/>
          </a:bodyPr>
          <a:lstStyle/>
          <a:p>
            <a:pPr algn="l">
              <a:lnSpc>
                <a:spcPts val="1056"/>
              </a:lnSpc>
            </a:pPr>
            <a:r>
              <a:rPr sz="800" b="1">
                <a:solidFill>
                  <a:srgbClr val="CC0000"/>
                </a:solidFill>
                <a:latin typeface="Kanit"/>
              </a:rPr>
              <a:t>Pickup</a:t>
            </a:r>
          </a:p>
        </p:txBody>
      </p:sp>
      <p:sp>
        <p:nvSpPr>
          <p:cNvPr id="36" name="Rectangle 35"/>
          <p:cNvSpPr/>
          <p:nvPr/>
        </p:nvSpPr>
        <p:spPr>
          <a:xfrm>
            <a:off x="6031747" y="2846832"/>
            <a:ext cx="164592" cy="25603"/>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Freeform 36"/>
          <p:cNvSpPr/>
          <p:nvPr/>
        </p:nvSpPr>
        <p:spPr>
          <a:xfrm>
            <a:off x="795528" y="3116237"/>
            <a:ext cx="6428232" cy="1512823"/>
          </a:xfrm>
          <a:custGeom>
            <a:avLst/>
            <a:gdLst/>
            <a:ahLst/>
            <a:cxnLst/>
            <a:rect l="l" t="t" r="r" b="b"/>
            <a:pathLst>
              <a:path w="6428232" h="1512823">
                <a:moveTo>
                  <a:pt x="0" y="456943"/>
                </a:moveTo>
                <a:lnTo>
                  <a:pt x="34936" y="433245"/>
                </a:lnTo>
                <a:lnTo>
                  <a:pt x="69872" y="453120"/>
                </a:lnTo>
                <a:lnTo>
                  <a:pt x="104808" y="405534"/>
                </a:lnTo>
                <a:lnTo>
                  <a:pt x="139744" y="251691"/>
                </a:lnTo>
                <a:lnTo>
                  <a:pt x="174680" y="444521"/>
                </a:lnTo>
                <a:lnTo>
                  <a:pt x="209616" y="369032"/>
                </a:lnTo>
                <a:lnTo>
                  <a:pt x="244552" y="465351"/>
                </a:lnTo>
                <a:lnTo>
                  <a:pt x="279488" y="492107"/>
                </a:lnTo>
                <a:lnTo>
                  <a:pt x="314424" y="414325"/>
                </a:lnTo>
                <a:lnTo>
                  <a:pt x="349360" y="319344"/>
                </a:lnTo>
                <a:lnTo>
                  <a:pt x="384296" y="215762"/>
                </a:lnTo>
                <a:lnTo>
                  <a:pt x="419232" y="0"/>
                </a:lnTo>
                <a:lnTo>
                  <a:pt x="454168" y="94790"/>
                </a:lnTo>
                <a:lnTo>
                  <a:pt x="489104" y="73195"/>
                </a:lnTo>
                <a:lnTo>
                  <a:pt x="524040" y="77208"/>
                </a:lnTo>
                <a:lnTo>
                  <a:pt x="558976" y="157856"/>
                </a:lnTo>
                <a:lnTo>
                  <a:pt x="593912" y="245193"/>
                </a:lnTo>
                <a:lnTo>
                  <a:pt x="628848" y="306157"/>
                </a:lnTo>
                <a:lnTo>
                  <a:pt x="663784" y="262584"/>
                </a:lnTo>
                <a:lnTo>
                  <a:pt x="698720" y="346290"/>
                </a:lnTo>
                <a:lnTo>
                  <a:pt x="733656" y="319153"/>
                </a:lnTo>
                <a:lnTo>
                  <a:pt x="768592" y="278064"/>
                </a:lnTo>
                <a:lnTo>
                  <a:pt x="803529" y="368459"/>
                </a:lnTo>
                <a:lnTo>
                  <a:pt x="838465" y="184229"/>
                </a:lnTo>
                <a:lnTo>
                  <a:pt x="873401" y="141421"/>
                </a:lnTo>
                <a:lnTo>
                  <a:pt x="908337" y="220349"/>
                </a:lnTo>
                <a:lnTo>
                  <a:pt x="943273" y="318770"/>
                </a:lnTo>
                <a:lnTo>
                  <a:pt x="978209" y="360050"/>
                </a:lnTo>
                <a:lnTo>
                  <a:pt x="1013145" y="406108"/>
                </a:lnTo>
                <a:lnTo>
                  <a:pt x="1048081" y="539120"/>
                </a:lnTo>
                <a:lnTo>
                  <a:pt x="1083017" y="512938"/>
                </a:lnTo>
                <a:lnTo>
                  <a:pt x="1117953" y="602759"/>
                </a:lnTo>
                <a:lnTo>
                  <a:pt x="1152889" y="711118"/>
                </a:lnTo>
                <a:lnTo>
                  <a:pt x="1187825" y="662194"/>
                </a:lnTo>
                <a:lnTo>
                  <a:pt x="1222761" y="730038"/>
                </a:lnTo>
                <a:lnTo>
                  <a:pt x="1257697" y="548293"/>
                </a:lnTo>
                <a:lnTo>
                  <a:pt x="1292633" y="501662"/>
                </a:lnTo>
                <a:lnTo>
                  <a:pt x="1327569" y="575813"/>
                </a:lnTo>
                <a:lnTo>
                  <a:pt x="1362505" y="593204"/>
                </a:lnTo>
                <a:lnTo>
                  <a:pt x="1397441" y="660092"/>
                </a:lnTo>
                <a:lnTo>
                  <a:pt x="1432377" y="767496"/>
                </a:lnTo>
                <a:lnTo>
                  <a:pt x="1467313" y="781829"/>
                </a:lnTo>
                <a:lnTo>
                  <a:pt x="1502249" y="787944"/>
                </a:lnTo>
                <a:lnTo>
                  <a:pt x="1537185" y="765011"/>
                </a:lnTo>
                <a:lnTo>
                  <a:pt x="1572121" y="782020"/>
                </a:lnTo>
                <a:lnTo>
                  <a:pt x="1607057" y="756411"/>
                </a:lnTo>
                <a:lnTo>
                  <a:pt x="1641994" y="832473"/>
                </a:lnTo>
                <a:lnTo>
                  <a:pt x="1676930" y="610595"/>
                </a:lnTo>
                <a:lnTo>
                  <a:pt x="1711866" y="587471"/>
                </a:lnTo>
                <a:lnTo>
                  <a:pt x="1746802" y="551351"/>
                </a:lnTo>
                <a:lnTo>
                  <a:pt x="1781738" y="600848"/>
                </a:lnTo>
                <a:lnTo>
                  <a:pt x="1816674" y="621488"/>
                </a:lnTo>
                <a:lnTo>
                  <a:pt x="1851610" y="607346"/>
                </a:lnTo>
                <a:lnTo>
                  <a:pt x="1886546" y="692199"/>
                </a:lnTo>
                <a:lnTo>
                  <a:pt x="1921482" y="762909"/>
                </a:lnTo>
                <a:lnTo>
                  <a:pt x="1956418" y="713985"/>
                </a:lnTo>
                <a:lnTo>
                  <a:pt x="1991354" y="680159"/>
                </a:lnTo>
                <a:lnTo>
                  <a:pt x="2026290" y="653212"/>
                </a:lnTo>
                <a:lnTo>
                  <a:pt x="2061226" y="659710"/>
                </a:lnTo>
                <a:lnTo>
                  <a:pt x="2096162" y="464205"/>
                </a:lnTo>
                <a:lnTo>
                  <a:pt x="2131098" y="459427"/>
                </a:lnTo>
                <a:lnTo>
                  <a:pt x="2166034" y="440125"/>
                </a:lnTo>
                <a:lnTo>
                  <a:pt x="2200970" y="477200"/>
                </a:lnTo>
                <a:lnTo>
                  <a:pt x="2235906" y="534915"/>
                </a:lnTo>
                <a:lnTo>
                  <a:pt x="2270842" y="511791"/>
                </a:lnTo>
                <a:lnTo>
                  <a:pt x="2305778" y="617284"/>
                </a:lnTo>
                <a:lnTo>
                  <a:pt x="2340714" y="695830"/>
                </a:lnTo>
                <a:lnTo>
                  <a:pt x="2375650" y="641746"/>
                </a:lnTo>
                <a:lnTo>
                  <a:pt x="2410587" y="657799"/>
                </a:lnTo>
                <a:lnTo>
                  <a:pt x="2445523" y="692963"/>
                </a:lnTo>
                <a:lnTo>
                  <a:pt x="2480459" y="719909"/>
                </a:lnTo>
                <a:lnTo>
                  <a:pt x="2515395" y="511409"/>
                </a:lnTo>
                <a:lnTo>
                  <a:pt x="2550331" y="498413"/>
                </a:lnTo>
                <a:lnTo>
                  <a:pt x="2585267" y="516378"/>
                </a:lnTo>
                <a:lnTo>
                  <a:pt x="2620203" y="470129"/>
                </a:lnTo>
                <a:lnTo>
                  <a:pt x="2655139" y="538929"/>
                </a:lnTo>
                <a:lnTo>
                  <a:pt x="2690075" y="555746"/>
                </a:lnTo>
                <a:lnTo>
                  <a:pt x="2725011" y="610021"/>
                </a:lnTo>
                <a:lnTo>
                  <a:pt x="2759947" y="656461"/>
                </a:lnTo>
                <a:lnTo>
                  <a:pt x="2794883" y="634675"/>
                </a:lnTo>
                <a:lnTo>
                  <a:pt x="2829819" y="607537"/>
                </a:lnTo>
                <a:lnTo>
                  <a:pt x="2864755" y="733096"/>
                </a:lnTo>
                <a:lnTo>
                  <a:pt x="2899691" y="747429"/>
                </a:lnTo>
                <a:lnTo>
                  <a:pt x="2934627" y="529755"/>
                </a:lnTo>
                <a:lnTo>
                  <a:pt x="2969563" y="424645"/>
                </a:lnTo>
                <a:lnTo>
                  <a:pt x="3004499" y="423881"/>
                </a:lnTo>
                <a:lnTo>
                  <a:pt x="3039435" y="522302"/>
                </a:lnTo>
                <a:lnTo>
                  <a:pt x="3074371" y="548102"/>
                </a:lnTo>
                <a:lnTo>
                  <a:pt x="3109307" y="515996"/>
                </a:lnTo>
                <a:lnTo>
                  <a:pt x="3144243" y="663914"/>
                </a:lnTo>
                <a:lnTo>
                  <a:pt x="3179179" y="705385"/>
                </a:lnTo>
                <a:lnTo>
                  <a:pt x="3214116" y="687994"/>
                </a:lnTo>
                <a:lnTo>
                  <a:pt x="3249052" y="761954"/>
                </a:lnTo>
                <a:lnTo>
                  <a:pt x="3283988" y="838015"/>
                </a:lnTo>
                <a:lnTo>
                  <a:pt x="3318924" y="828651"/>
                </a:lnTo>
                <a:lnTo>
                  <a:pt x="3353860" y="614799"/>
                </a:lnTo>
                <a:lnTo>
                  <a:pt x="3388796" y="524787"/>
                </a:lnTo>
                <a:lnTo>
                  <a:pt x="3423732" y="561288"/>
                </a:lnTo>
                <a:lnTo>
                  <a:pt x="3458668" y="571800"/>
                </a:lnTo>
                <a:lnTo>
                  <a:pt x="3493604" y="614226"/>
                </a:lnTo>
                <a:lnTo>
                  <a:pt x="3528540" y="645950"/>
                </a:lnTo>
                <a:lnTo>
                  <a:pt x="3563476" y="667354"/>
                </a:lnTo>
                <a:lnTo>
                  <a:pt x="3598412" y="676910"/>
                </a:lnTo>
                <a:lnTo>
                  <a:pt x="3633348" y="730038"/>
                </a:lnTo>
                <a:lnTo>
                  <a:pt x="3668284" y="845277"/>
                </a:lnTo>
                <a:lnTo>
                  <a:pt x="3703220" y="872797"/>
                </a:lnTo>
                <a:lnTo>
                  <a:pt x="3738156" y="867064"/>
                </a:lnTo>
                <a:lnTo>
                  <a:pt x="3773092" y="690479"/>
                </a:lnTo>
                <a:lnTo>
                  <a:pt x="3808028" y="684363"/>
                </a:lnTo>
                <a:lnTo>
                  <a:pt x="3842964" y="830944"/>
                </a:lnTo>
                <a:lnTo>
                  <a:pt x="3877900" y="1020907"/>
                </a:lnTo>
                <a:lnTo>
                  <a:pt x="3912836" y="898406"/>
                </a:lnTo>
                <a:lnTo>
                  <a:pt x="3947772" y="715323"/>
                </a:lnTo>
                <a:lnTo>
                  <a:pt x="3982708" y="614608"/>
                </a:lnTo>
                <a:lnTo>
                  <a:pt x="4017644" y="608875"/>
                </a:lnTo>
                <a:lnTo>
                  <a:pt x="4052581" y="602186"/>
                </a:lnTo>
                <a:lnTo>
                  <a:pt x="4087517" y="610213"/>
                </a:lnTo>
                <a:lnTo>
                  <a:pt x="4122453" y="679776"/>
                </a:lnTo>
                <a:lnTo>
                  <a:pt x="4157389" y="711692"/>
                </a:lnTo>
                <a:lnTo>
                  <a:pt x="4192325" y="683790"/>
                </a:lnTo>
                <a:lnTo>
                  <a:pt x="4227261" y="666781"/>
                </a:lnTo>
                <a:lnTo>
                  <a:pt x="4262197" y="610021"/>
                </a:lnTo>
                <a:lnTo>
                  <a:pt x="4297133" y="564155"/>
                </a:lnTo>
                <a:lnTo>
                  <a:pt x="4332069" y="580782"/>
                </a:lnTo>
                <a:lnTo>
                  <a:pt x="4367005" y="563391"/>
                </a:lnTo>
                <a:lnTo>
                  <a:pt x="4401941" y="674234"/>
                </a:lnTo>
                <a:lnTo>
                  <a:pt x="4436877" y="753736"/>
                </a:lnTo>
                <a:lnTo>
                  <a:pt x="4471813" y="721629"/>
                </a:lnTo>
                <a:lnTo>
                  <a:pt x="4506749" y="665825"/>
                </a:lnTo>
                <a:lnTo>
                  <a:pt x="4541685" y="607346"/>
                </a:lnTo>
                <a:lnTo>
                  <a:pt x="4576621" y="559569"/>
                </a:lnTo>
                <a:lnTo>
                  <a:pt x="4611557" y="436494"/>
                </a:lnTo>
                <a:lnTo>
                  <a:pt x="4646493" y="377823"/>
                </a:lnTo>
                <a:lnTo>
                  <a:pt x="4681429" y="436494"/>
                </a:lnTo>
                <a:lnTo>
                  <a:pt x="4716365" y="509689"/>
                </a:lnTo>
                <a:lnTo>
                  <a:pt x="4751301" y="528800"/>
                </a:lnTo>
                <a:lnTo>
                  <a:pt x="4786237" y="562435"/>
                </a:lnTo>
                <a:lnTo>
                  <a:pt x="4821174" y="670603"/>
                </a:lnTo>
                <a:lnTo>
                  <a:pt x="4856110" y="752589"/>
                </a:lnTo>
                <a:lnTo>
                  <a:pt x="4891046" y="803615"/>
                </a:lnTo>
                <a:lnTo>
                  <a:pt x="4925982" y="902419"/>
                </a:lnTo>
                <a:lnTo>
                  <a:pt x="4960918" y="980774"/>
                </a:lnTo>
                <a:lnTo>
                  <a:pt x="4995854" y="1012116"/>
                </a:lnTo>
                <a:lnTo>
                  <a:pt x="5030790" y="933761"/>
                </a:lnTo>
                <a:lnTo>
                  <a:pt x="5065726" y="926117"/>
                </a:lnTo>
                <a:lnTo>
                  <a:pt x="5100662" y="950579"/>
                </a:lnTo>
                <a:lnTo>
                  <a:pt x="5135598" y="949623"/>
                </a:lnTo>
                <a:lnTo>
                  <a:pt x="5170534" y="968925"/>
                </a:lnTo>
                <a:lnTo>
                  <a:pt x="5205470" y="980965"/>
                </a:lnTo>
                <a:lnTo>
                  <a:pt x="5240406" y="1100791"/>
                </a:lnTo>
                <a:lnTo>
                  <a:pt x="5275342" y="1194243"/>
                </a:lnTo>
                <a:lnTo>
                  <a:pt x="5310278" y="1272981"/>
                </a:lnTo>
                <a:lnTo>
                  <a:pt x="5345214" y="1362229"/>
                </a:lnTo>
                <a:lnTo>
                  <a:pt x="5380150" y="1424913"/>
                </a:lnTo>
                <a:lnTo>
                  <a:pt x="5415086" y="1476321"/>
                </a:lnTo>
                <a:lnTo>
                  <a:pt x="5450022" y="1340633"/>
                </a:lnTo>
                <a:lnTo>
                  <a:pt x="5484958" y="1294958"/>
                </a:lnTo>
                <a:lnTo>
                  <a:pt x="5519894" y="1313305"/>
                </a:lnTo>
                <a:lnTo>
                  <a:pt x="5554830" y="1322287"/>
                </a:lnTo>
                <a:lnTo>
                  <a:pt x="5589766" y="1290181"/>
                </a:lnTo>
                <a:lnTo>
                  <a:pt x="5624703" y="1322096"/>
                </a:lnTo>
                <a:lnTo>
                  <a:pt x="5659639" y="1351909"/>
                </a:lnTo>
                <a:lnTo>
                  <a:pt x="5694575" y="1427397"/>
                </a:lnTo>
                <a:lnTo>
                  <a:pt x="5729511" y="1471544"/>
                </a:lnTo>
                <a:lnTo>
                  <a:pt x="5764447" y="1512823"/>
                </a:lnTo>
                <a:lnTo>
                  <a:pt x="5799383" y="1463708"/>
                </a:lnTo>
                <a:lnTo>
                  <a:pt x="5834319" y="1448610"/>
                </a:lnTo>
                <a:lnTo>
                  <a:pt x="5869255" y="1315407"/>
                </a:lnTo>
                <a:lnTo>
                  <a:pt x="5904191" y="1313878"/>
                </a:lnTo>
                <a:lnTo>
                  <a:pt x="5939127" y="1288078"/>
                </a:lnTo>
                <a:lnTo>
                  <a:pt x="5974063" y="1341971"/>
                </a:lnTo>
                <a:lnTo>
                  <a:pt x="6008999" y="1274510"/>
                </a:lnTo>
                <a:lnTo>
                  <a:pt x="6043935" y="1289225"/>
                </a:lnTo>
                <a:lnTo>
                  <a:pt x="6078871" y="1389175"/>
                </a:lnTo>
                <a:lnTo>
                  <a:pt x="6113807" y="1421664"/>
                </a:lnTo>
                <a:lnTo>
                  <a:pt x="6148743" y="1447464"/>
                </a:lnTo>
                <a:lnTo>
                  <a:pt x="6183679" y="1443068"/>
                </a:lnTo>
                <a:lnTo>
                  <a:pt x="6218615" y="1420708"/>
                </a:lnTo>
                <a:lnTo>
                  <a:pt x="6253551" y="1374078"/>
                </a:lnTo>
                <a:lnTo>
                  <a:pt x="6288487" y="1311585"/>
                </a:lnTo>
                <a:lnTo>
                  <a:pt x="6323423" y="1289798"/>
                </a:lnTo>
                <a:lnTo>
                  <a:pt x="6358359" y="1247181"/>
                </a:lnTo>
                <a:lnTo>
                  <a:pt x="6393295" y="1336620"/>
                </a:lnTo>
                <a:lnTo>
                  <a:pt x="6428232" y="1279287"/>
                </a:lnTo>
              </a:path>
            </a:pathLst>
          </a:custGeom>
          <a:noFill/>
          <a:ln w="20320">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Freeform 37"/>
          <p:cNvSpPr/>
          <p:nvPr/>
        </p:nvSpPr>
        <p:spPr>
          <a:xfrm>
            <a:off x="795528" y="2851359"/>
            <a:ext cx="6428232" cy="1397393"/>
          </a:xfrm>
          <a:custGeom>
            <a:avLst/>
            <a:gdLst/>
            <a:ahLst/>
            <a:cxnLst/>
            <a:rect l="l" t="t" r="r" b="b"/>
            <a:pathLst>
              <a:path w="6428232" h="1397393">
                <a:moveTo>
                  <a:pt x="0" y="435156"/>
                </a:moveTo>
                <a:lnTo>
                  <a:pt x="34936" y="218820"/>
                </a:lnTo>
                <a:lnTo>
                  <a:pt x="69872" y="247296"/>
                </a:lnTo>
                <a:lnTo>
                  <a:pt x="104808" y="288384"/>
                </a:lnTo>
                <a:lnTo>
                  <a:pt x="139744" y="315904"/>
                </a:lnTo>
                <a:lnTo>
                  <a:pt x="174680" y="188625"/>
                </a:lnTo>
                <a:lnTo>
                  <a:pt x="209616" y="145243"/>
                </a:lnTo>
                <a:lnTo>
                  <a:pt x="244552" y="321255"/>
                </a:lnTo>
                <a:lnTo>
                  <a:pt x="279488" y="240607"/>
                </a:lnTo>
                <a:lnTo>
                  <a:pt x="314424" y="300615"/>
                </a:lnTo>
                <a:lnTo>
                  <a:pt x="349360" y="431143"/>
                </a:lnTo>
                <a:lnTo>
                  <a:pt x="384296" y="379734"/>
                </a:lnTo>
                <a:lnTo>
                  <a:pt x="419232" y="0"/>
                </a:lnTo>
                <a:lnTo>
                  <a:pt x="454168" y="223407"/>
                </a:lnTo>
                <a:lnTo>
                  <a:pt x="489104" y="149830"/>
                </a:lnTo>
                <a:lnTo>
                  <a:pt x="524040" y="81795"/>
                </a:lnTo>
                <a:lnTo>
                  <a:pt x="558976" y="352406"/>
                </a:lnTo>
                <a:lnTo>
                  <a:pt x="593912" y="313993"/>
                </a:lnTo>
                <a:lnTo>
                  <a:pt x="628848" y="519053"/>
                </a:lnTo>
                <a:lnTo>
                  <a:pt x="663784" y="336735"/>
                </a:lnTo>
                <a:lnTo>
                  <a:pt x="698720" y="455605"/>
                </a:lnTo>
                <a:lnTo>
                  <a:pt x="733656" y="576386"/>
                </a:lnTo>
                <a:lnTo>
                  <a:pt x="768592" y="568933"/>
                </a:lnTo>
                <a:lnTo>
                  <a:pt x="803529" y="583075"/>
                </a:lnTo>
                <a:lnTo>
                  <a:pt x="838465" y="445285"/>
                </a:lnTo>
                <a:lnTo>
                  <a:pt x="873401" y="404770"/>
                </a:lnTo>
                <a:lnTo>
                  <a:pt x="908337" y="363490"/>
                </a:lnTo>
                <a:lnTo>
                  <a:pt x="943273" y="487903"/>
                </a:lnTo>
                <a:lnTo>
                  <a:pt x="978209" y="631426"/>
                </a:lnTo>
                <a:lnTo>
                  <a:pt x="1013145" y="740167"/>
                </a:lnTo>
                <a:lnTo>
                  <a:pt x="1048081" y="829606"/>
                </a:lnTo>
                <a:lnTo>
                  <a:pt x="1083017" y="836104"/>
                </a:lnTo>
                <a:lnTo>
                  <a:pt x="1117953" y="895348"/>
                </a:lnTo>
                <a:lnTo>
                  <a:pt x="1152889" y="997592"/>
                </a:lnTo>
                <a:lnTo>
                  <a:pt x="1187825" y="1016894"/>
                </a:lnTo>
                <a:lnTo>
                  <a:pt x="1222761" y="1139013"/>
                </a:lnTo>
                <a:lnTo>
                  <a:pt x="1257697" y="969308"/>
                </a:lnTo>
                <a:lnTo>
                  <a:pt x="1292633" y="854451"/>
                </a:lnTo>
                <a:lnTo>
                  <a:pt x="1327569" y="937010"/>
                </a:lnTo>
                <a:lnTo>
                  <a:pt x="1362505" y="953254"/>
                </a:lnTo>
                <a:lnTo>
                  <a:pt x="1397441" y="1041547"/>
                </a:lnTo>
                <a:lnTo>
                  <a:pt x="1432377" y="1016129"/>
                </a:lnTo>
                <a:lnTo>
                  <a:pt x="1467313" y="1074800"/>
                </a:lnTo>
                <a:lnTo>
                  <a:pt x="1502249" y="1038871"/>
                </a:lnTo>
                <a:lnTo>
                  <a:pt x="1537185" y="1054351"/>
                </a:lnTo>
                <a:lnTo>
                  <a:pt x="1572121" y="1079387"/>
                </a:lnTo>
                <a:lnTo>
                  <a:pt x="1607057" y="1086840"/>
                </a:lnTo>
                <a:lnTo>
                  <a:pt x="1641994" y="1198639"/>
                </a:lnTo>
                <a:lnTo>
                  <a:pt x="1676930" y="872988"/>
                </a:lnTo>
                <a:lnTo>
                  <a:pt x="1711866" y="800558"/>
                </a:lnTo>
                <a:lnTo>
                  <a:pt x="1746802" y="809349"/>
                </a:lnTo>
                <a:lnTo>
                  <a:pt x="1781738" y="840309"/>
                </a:lnTo>
                <a:lnTo>
                  <a:pt x="1816674" y="846997"/>
                </a:lnTo>
                <a:lnTo>
                  <a:pt x="1851610" y="871651"/>
                </a:lnTo>
                <a:lnTo>
                  <a:pt x="1886546" y="936819"/>
                </a:lnTo>
                <a:lnTo>
                  <a:pt x="1921482" y="1061040"/>
                </a:lnTo>
                <a:lnTo>
                  <a:pt x="1956418" y="950197"/>
                </a:lnTo>
                <a:lnTo>
                  <a:pt x="1991354" y="998547"/>
                </a:lnTo>
                <a:lnTo>
                  <a:pt x="2026290" y="937201"/>
                </a:lnTo>
                <a:lnTo>
                  <a:pt x="2061226" y="993961"/>
                </a:lnTo>
                <a:lnTo>
                  <a:pt x="2096162" y="814127"/>
                </a:lnTo>
                <a:lnTo>
                  <a:pt x="2131098" y="774376"/>
                </a:lnTo>
                <a:lnTo>
                  <a:pt x="2166034" y="766540"/>
                </a:lnTo>
                <a:lnTo>
                  <a:pt x="2200970" y="893246"/>
                </a:lnTo>
                <a:lnTo>
                  <a:pt x="2235906" y="866873"/>
                </a:lnTo>
                <a:lnTo>
                  <a:pt x="2270842" y="831518"/>
                </a:lnTo>
                <a:lnTo>
                  <a:pt x="2305778" y="865153"/>
                </a:lnTo>
                <a:lnTo>
                  <a:pt x="2340714" y="981156"/>
                </a:lnTo>
                <a:lnTo>
                  <a:pt x="2375650" y="876237"/>
                </a:lnTo>
                <a:lnTo>
                  <a:pt x="2410587" y="944846"/>
                </a:lnTo>
                <a:lnTo>
                  <a:pt x="2445523" y="978099"/>
                </a:lnTo>
                <a:lnTo>
                  <a:pt x="2480459" y="1052440"/>
                </a:lnTo>
                <a:lnTo>
                  <a:pt x="2515395" y="860375"/>
                </a:lnTo>
                <a:lnTo>
                  <a:pt x="2550331" y="790811"/>
                </a:lnTo>
                <a:lnTo>
                  <a:pt x="2585267" y="751060"/>
                </a:lnTo>
                <a:lnTo>
                  <a:pt x="2620203" y="758514"/>
                </a:lnTo>
                <a:lnTo>
                  <a:pt x="2655139" y="762718"/>
                </a:lnTo>
                <a:lnTo>
                  <a:pt x="2690075" y="715132"/>
                </a:lnTo>
                <a:lnTo>
                  <a:pt x="2725011" y="810304"/>
                </a:lnTo>
                <a:lnTo>
                  <a:pt x="2759947" y="834575"/>
                </a:lnTo>
                <a:lnTo>
                  <a:pt x="2794883" y="919428"/>
                </a:lnTo>
                <a:lnTo>
                  <a:pt x="2829819" y="891717"/>
                </a:lnTo>
                <a:lnTo>
                  <a:pt x="2864755" y="876237"/>
                </a:lnTo>
                <a:lnTo>
                  <a:pt x="2899691" y="1027405"/>
                </a:lnTo>
                <a:lnTo>
                  <a:pt x="2934627" y="677483"/>
                </a:lnTo>
                <a:lnTo>
                  <a:pt x="2969563" y="668692"/>
                </a:lnTo>
                <a:lnTo>
                  <a:pt x="3004499" y="593777"/>
                </a:lnTo>
                <a:lnTo>
                  <a:pt x="3039435" y="747238"/>
                </a:lnTo>
                <a:lnTo>
                  <a:pt x="3074371" y="785651"/>
                </a:lnTo>
                <a:lnTo>
                  <a:pt x="3109307" y="759278"/>
                </a:lnTo>
                <a:lnTo>
                  <a:pt x="3144243" y="701181"/>
                </a:lnTo>
                <a:lnTo>
                  <a:pt x="3179179" y="895348"/>
                </a:lnTo>
                <a:lnTo>
                  <a:pt x="3214116" y="921721"/>
                </a:lnTo>
                <a:lnTo>
                  <a:pt x="3249052" y="956312"/>
                </a:lnTo>
                <a:lnTo>
                  <a:pt x="3283988" y="1001414"/>
                </a:lnTo>
                <a:lnTo>
                  <a:pt x="3318924" y="1005618"/>
                </a:lnTo>
                <a:lnTo>
                  <a:pt x="3353860" y="833046"/>
                </a:lnTo>
                <a:lnTo>
                  <a:pt x="3388796" y="740167"/>
                </a:lnTo>
                <a:lnTo>
                  <a:pt x="3423732" y="755838"/>
                </a:lnTo>
                <a:lnTo>
                  <a:pt x="3458668" y="786607"/>
                </a:lnTo>
                <a:lnTo>
                  <a:pt x="3493604" y="810878"/>
                </a:lnTo>
                <a:lnTo>
                  <a:pt x="3528540" y="887704"/>
                </a:lnTo>
                <a:lnTo>
                  <a:pt x="3563476" y="905668"/>
                </a:lnTo>
                <a:lnTo>
                  <a:pt x="3598412" y="990139"/>
                </a:lnTo>
                <a:lnTo>
                  <a:pt x="3633348" y="953063"/>
                </a:lnTo>
                <a:lnTo>
                  <a:pt x="3668284" y="1070596"/>
                </a:lnTo>
                <a:lnTo>
                  <a:pt x="3703220" y="1106715"/>
                </a:lnTo>
                <a:lnTo>
                  <a:pt x="3738156" y="1092000"/>
                </a:lnTo>
                <a:lnTo>
                  <a:pt x="3773092" y="931086"/>
                </a:lnTo>
                <a:lnTo>
                  <a:pt x="3808028" y="953063"/>
                </a:lnTo>
                <a:lnTo>
                  <a:pt x="3842964" y="1026449"/>
                </a:lnTo>
                <a:lnTo>
                  <a:pt x="3877900" y="1280434"/>
                </a:lnTo>
                <a:lnTo>
                  <a:pt x="3912836" y="1152582"/>
                </a:lnTo>
                <a:lnTo>
                  <a:pt x="3947772" y="933570"/>
                </a:lnTo>
                <a:lnTo>
                  <a:pt x="3982708" y="878531"/>
                </a:lnTo>
                <a:lnTo>
                  <a:pt x="4017644" y="904139"/>
                </a:lnTo>
                <a:lnTo>
                  <a:pt x="4052581" y="834958"/>
                </a:lnTo>
                <a:lnTo>
                  <a:pt x="4087517" y="816229"/>
                </a:lnTo>
                <a:lnTo>
                  <a:pt x="4122453" y="917899"/>
                </a:lnTo>
                <a:lnTo>
                  <a:pt x="4157389" y="902419"/>
                </a:lnTo>
                <a:lnTo>
                  <a:pt x="4192325" y="863624"/>
                </a:lnTo>
                <a:lnTo>
                  <a:pt x="4227261" y="919046"/>
                </a:lnTo>
                <a:lnTo>
                  <a:pt x="4262197" y="813744"/>
                </a:lnTo>
                <a:lnTo>
                  <a:pt x="4297133" y="826358"/>
                </a:lnTo>
                <a:lnTo>
                  <a:pt x="4332069" y="765585"/>
                </a:lnTo>
                <a:lnTo>
                  <a:pt x="4367005" y="842984"/>
                </a:lnTo>
                <a:lnTo>
                  <a:pt x="4401941" y="914268"/>
                </a:lnTo>
                <a:lnTo>
                  <a:pt x="4436877" y="986507"/>
                </a:lnTo>
                <a:lnTo>
                  <a:pt x="4471813" y="1003516"/>
                </a:lnTo>
                <a:lnTo>
                  <a:pt x="4506749" y="875091"/>
                </a:lnTo>
                <a:lnTo>
                  <a:pt x="4541685" y="803807"/>
                </a:lnTo>
                <a:lnTo>
                  <a:pt x="4576621" y="812980"/>
                </a:lnTo>
                <a:lnTo>
                  <a:pt x="4611557" y="595879"/>
                </a:lnTo>
                <a:lnTo>
                  <a:pt x="4646493" y="499751"/>
                </a:lnTo>
                <a:lnTo>
                  <a:pt x="4681429" y="567786"/>
                </a:lnTo>
                <a:lnTo>
                  <a:pt x="4716365" y="736154"/>
                </a:lnTo>
                <a:lnTo>
                  <a:pt x="4751301" y="650728"/>
                </a:lnTo>
                <a:lnTo>
                  <a:pt x="4786237" y="653403"/>
                </a:lnTo>
                <a:lnTo>
                  <a:pt x="4821174" y="693728"/>
                </a:lnTo>
                <a:lnTo>
                  <a:pt x="4856110" y="853113"/>
                </a:lnTo>
                <a:lnTo>
                  <a:pt x="4891046" y="872224"/>
                </a:lnTo>
                <a:lnTo>
                  <a:pt x="4925982" y="962045"/>
                </a:lnTo>
                <a:lnTo>
                  <a:pt x="4960918" y="912739"/>
                </a:lnTo>
                <a:lnTo>
                  <a:pt x="4995854" y="1038298"/>
                </a:lnTo>
                <a:lnTo>
                  <a:pt x="5030790" y="760616"/>
                </a:lnTo>
                <a:lnTo>
                  <a:pt x="5065726" y="784122"/>
                </a:lnTo>
                <a:lnTo>
                  <a:pt x="5100662" y="809158"/>
                </a:lnTo>
                <a:lnTo>
                  <a:pt x="5135598" y="907006"/>
                </a:lnTo>
                <a:lnTo>
                  <a:pt x="5170534" y="841073"/>
                </a:lnTo>
                <a:lnTo>
                  <a:pt x="5205470" y="887513"/>
                </a:lnTo>
                <a:lnTo>
                  <a:pt x="5240406" y="994343"/>
                </a:lnTo>
                <a:lnTo>
                  <a:pt x="5275342" y="1049383"/>
                </a:lnTo>
                <a:lnTo>
                  <a:pt x="5310278" y="1103084"/>
                </a:lnTo>
                <a:lnTo>
                  <a:pt x="5345214" y="1257883"/>
                </a:lnTo>
                <a:lnTo>
                  <a:pt x="5380150" y="1341207"/>
                </a:lnTo>
                <a:lnTo>
                  <a:pt x="5415086" y="1397393"/>
                </a:lnTo>
                <a:lnTo>
                  <a:pt x="5450022" y="1234377"/>
                </a:lnTo>
                <a:lnTo>
                  <a:pt x="5484958" y="1162328"/>
                </a:lnTo>
                <a:lnTo>
                  <a:pt x="5519894" y="1135764"/>
                </a:lnTo>
                <a:lnTo>
                  <a:pt x="5554830" y="1254061"/>
                </a:lnTo>
                <a:lnTo>
                  <a:pt x="5589766" y="1130986"/>
                </a:lnTo>
                <a:lnTo>
                  <a:pt x="5624703" y="1149142"/>
                </a:lnTo>
                <a:lnTo>
                  <a:pt x="5659639" y="1272790"/>
                </a:lnTo>
                <a:lnTo>
                  <a:pt x="5694575" y="1229026"/>
                </a:lnTo>
                <a:lnTo>
                  <a:pt x="5729511" y="1330123"/>
                </a:lnTo>
                <a:lnTo>
                  <a:pt x="5764447" y="1352673"/>
                </a:lnTo>
                <a:lnTo>
                  <a:pt x="5799383" y="1200741"/>
                </a:lnTo>
                <a:lnTo>
                  <a:pt x="5834319" y="1197492"/>
                </a:lnTo>
                <a:lnTo>
                  <a:pt x="5869255" y="1027023"/>
                </a:lnTo>
                <a:lnTo>
                  <a:pt x="5904191" y="927646"/>
                </a:lnTo>
                <a:lnTo>
                  <a:pt x="5939127" y="977143"/>
                </a:lnTo>
                <a:lnTo>
                  <a:pt x="5974063" y="950961"/>
                </a:lnTo>
                <a:lnTo>
                  <a:pt x="6008999" y="990903"/>
                </a:lnTo>
                <a:lnTo>
                  <a:pt x="6043935" y="1048045"/>
                </a:lnTo>
                <a:lnTo>
                  <a:pt x="6078871" y="1063907"/>
                </a:lnTo>
                <a:lnTo>
                  <a:pt x="6113807" y="1223866"/>
                </a:lnTo>
                <a:lnTo>
                  <a:pt x="6148743" y="1145320"/>
                </a:lnTo>
                <a:lnTo>
                  <a:pt x="6183679" y="1213355"/>
                </a:lnTo>
                <a:lnTo>
                  <a:pt x="6218615" y="1238199"/>
                </a:lnTo>
                <a:lnTo>
                  <a:pt x="6253551" y="1206857"/>
                </a:lnTo>
                <a:lnTo>
                  <a:pt x="6288487" y="974850"/>
                </a:lnTo>
                <a:lnTo>
                  <a:pt x="6323423" y="917135"/>
                </a:lnTo>
                <a:lnTo>
                  <a:pt x="6358359" y="921721"/>
                </a:lnTo>
                <a:lnTo>
                  <a:pt x="6393295" y="1164430"/>
                </a:lnTo>
                <a:lnTo>
                  <a:pt x="6428232" y="1143408"/>
                </a:lnTo>
              </a:path>
            </a:pathLst>
          </a:custGeom>
          <a:noFill/>
          <a:ln w="20320">
            <a:solidFill>
              <a:srgbClr val="1E2F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12647" y="4789932"/>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2011</a:t>
            </a:r>
          </a:p>
        </p:txBody>
      </p:sp>
      <p:sp>
        <p:nvSpPr>
          <p:cNvPr id="40" name="TextBox 39"/>
          <p:cNvSpPr txBox="1"/>
          <p:nvPr/>
        </p:nvSpPr>
        <p:spPr>
          <a:xfrm>
            <a:off x="2289578" y="4789932"/>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2015</a:t>
            </a:r>
          </a:p>
        </p:txBody>
      </p:sp>
      <p:sp>
        <p:nvSpPr>
          <p:cNvPr id="41" name="TextBox 40"/>
          <p:cNvSpPr txBox="1"/>
          <p:nvPr/>
        </p:nvSpPr>
        <p:spPr>
          <a:xfrm>
            <a:off x="3966508" y="4789932"/>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2019</a:t>
            </a:r>
          </a:p>
        </p:txBody>
      </p:sp>
      <p:sp>
        <p:nvSpPr>
          <p:cNvPr id="42" name="TextBox 41"/>
          <p:cNvSpPr txBox="1"/>
          <p:nvPr/>
        </p:nvSpPr>
        <p:spPr>
          <a:xfrm>
            <a:off x="5224205" y="4789932"/>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2022</a:t>
            </a:r>
          </a:p>
        </p:txBody>
      </p:sp>
      <p:sp>
        <p:nvSpPr>
          <p:cNvPr id="43" name="TextBox 42"/>
          <p:cNvSpPr txBox="1"/>
          <p:nvPr/>
        </p:nvSpPr>
        <p:spPr>
          <a:xfrm>
            <a:off x="6901135" y="4789932"/>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2026</a:t>
            </a:r>
          </a:p>
        </p:txBody>
      </p:sp>
      <p:sp>
        <p:nvSpPr>
          <p:cNvPr id="44" name="TextBox 43"/>
          <p:cNvSpPr txBox="1"/>
          <p:nvPr/>
        </p:nvSpPr>
        <p:spPr>
          <a:xfrm>
            <a:off x="429768" y="2668523"/>
            <a:ext cx="681228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Index, 2015 = 100 · monthly, 2011-01 → 2026-05</a:t>
            </a:r>
          </a:p>
        </p:txBody>
      </p:sp>
      <p:sp>
        <p:nvSpPr>
          <p:cNvPr id="45" name="Rectangle 44"/>
          <p:cNvSpPr/>
          <p:nvPr/>
        </p:nvSpPr>
        <p:spPr>
          <a:xfrm>
            <a:off x="7498079" y="2659380"/>
            <a:ext cx="4279392" cy="2028698"/>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6" name="Rectangle 45"/>
          <p:cNvSpPr/>
          <p:nvPr/>
        </p:nvSpPr>
        <p:spPr>
          <a:xfrm>
            <a:off x="7498079" y="2659380"/>
            <a:ext cx="50292" cy="202869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7" name="TextBox 46"/>
          <p:cNvSpPr txBox="1"/>
          <p:nvPr/>
        </p:nvSpPr>
        <p:spPr>
          <a:xfrm>
            <a:off x="7717536" y="2805684"/>
            <a:ext cx="3950207"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The pickup–car gap is recent, not structural</a:t>
            </a:r>
          </a:p>
        </p:txBody>
      </p:sp>
      <p:sp>
        <p:nvSpPr>
          <p:cNvPr id="48" name="TextBox 47"/>
          <p:cNvSpPr txBox="1"/>
          <p:nvPr/>
        </p:nvSpPr>
        <p:spPr>
          <a:xfrm>
            <a:off x="7717536" y="3010154"/>
            <a:ext cx="3950207" cy="153162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Through most of 2013–2021 the two lines sit on top of each other — the mean gap was 1.1 index points. It only opens from 2022, and the last twelve months average 26.9 points. Pickups are now 33.2 points below their own 2015 base against 12.2 for cars: 2.7 times the decline.
Whatever is depressing pickup resale started four years ago and has not reversed. It is not a long-run property of the asset class — which means advance rates calibrated on pre-2022 behaviour are calibrated against a market that no longer exists.</a:t>
            </a:r>
          </a:p>
        </p:txBody>
      </p:sp>
      <p:sp>
        <p:nvSpPr>
          <p:cNvPr id="49" name="Rounded Rectangle 48"/>
          <p:cNvSpPr/>
          <p:nvPr/>
        </p:nvSpPr>
        <p:spPr>
          <a:xfrm>
            <a:off x="411480" y="5137404"/>
            <a:ext cx="754177" cy="192024"/>
          </a:xfrm>
          <a:prstGeom prst="roundRect">
            <a:avLst>
              <a:gd name="adj" fmla="val 50000"/>
            </a:avLst>
          </a:prstGeom>
          <a:noFill/>
          <a:ln w="9525">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0" name="TextBox 49"/>
          <p:cNvSpPr txBox="1"/>
          <p:nvPr/>
        </p:nvSpPr>
        <p:spPr>
          <a:xfrm>
            <a:off x="411480" y="5166664"/>
            <a:ext cx="754177" cy="134112"/>
          </a:xfrm>
          <a:prstGeom prst="rect">
            <a:avLst/>
          </a:prstGeom>
          <a:noFill/>
        </p:spPr>
        <p:txBody>
          <a:bodyPr wrap="square" lIns="0" rIns="0" tIns="0" bIns="0" anchor="t">
            <a:noAutofit/>
          </a:bodyPr>
          <a:lstStyle/>
          <a:p>
            <a:pPr algn="ctr">
              <a:lnSpc>
                <a:spcPts val="1056"/>
              </a:lnSpc>
            </a:pPr>
            <a:r>
              <a:rPr sz="800" b="1">
                <a:solidFill>
                  <a:srgbClr val="15795F"/>
                </a:solidFill>
                <a:latin typeface="Kanit"/>
              </a:rPr>
              <a:t>MEASURED</a:t>
            </a:r>
          </a:p>
        </p:txBody>
      </p:sp>
      <p:sp>
        <p:nvSpPr>
          <p:cNvPr id="51" name="TextBox 50"/>
          <p:cNvSpPr txBox="1"/>
          <p:nvPr/>
        </p:nvSpPr>
        <p:spPr>
          <a:xfrm>
            <a:off x="1275385" y="5151120"/>
            <a:ext cx="1050208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Bank of Thailand used-vehicle price index (EC_EI_040), 185 monthly observations, both series independently rebased so their own 2015 average = 100. The pickup series is confirmed to be pickup trucks (รถกระบะ), not heavy commercial — BoT’s own 2019 Stat-Horizon methodology paper. The latest month is preliminary.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04B · COLLATERAL SUPPLY</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The pool refilling our collateral has more than halved.</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TextBox 8"/>
          <p:cNvSpPr txBox="1"/>
          <p:nvPr/>
        </p:nvSpPr>
        <p:spPr>
          <a:xfrm>
            <a:off x="411480" y="1152144"/>
            <a:ext cx="11365992" cy="190500"/>
          </a:xfrm>
          <a:prstGeom prst="rect">
            <a:avLst/>
          </a:prstGeom>
          <a:noFill/>
        </p:spPr>
        <p:txBody>
          <a:bodyPr wrap="square" lIns="0" rIns="0" tIns="0" bIns="0" anchor="t">
            <a:noAutofit/>
          </a:bodyPr>
          <a:lstStyle/>
          <a:p>
            <a:pPr algn="l">
              <a:lnSpc>
                <a:spcPts val="1500"/>
              </a:lnSpc>
            </a:pPr>
            <a:r>
              <a:rPr sz="1100" b="0">
                <a:solidFill>
                  <a:srgbClr val="606060"/>
                </a:solidFill>
                <a:latin typeface="Kanit"/>
              </a:rPr>
              <a:t>DLT first registrations at nameplate grain, on AutoX’s own definition of a pickup.</a:t>
            </a:r>
          </a:p>
        </p:txBody>
      </p:sp>
      <p:graphicFrame>
        <p:nvGraphicFramePr>
          <p:cNvPr id="10" name="Table 9"/>
          <p:cNvGraphicFramePr>
            <a:graphicFrameLocks noGrp="1"/>
          </p:cNvGraphicFramePr>
          <p:nvPr/>
        </p:nvGraphicFramePr>
        <p:xfrm>
          <a:off x="411480" y="1488948"/>
          <a:ext cx="11365993" cy="1572768"/>
        </p:xfrm>
        <a:graphic>
          <a:graphicData uri="http://schemas.openxmlformats.org/drawingml/2006/table">
            <a:tbl>
              <a:tblPr>
                <a:tableStyleId>{5C22544A-7EE6-4342-B048-85BDC9FD1C3A}</a:tableStyleId>
              </a:tblPr>
              <a:tblGrid>
                <a:gridCol w="1432688"/>
                <a:gridCol w="2483326"/>
                <a:gridCol w="2292301"/>
                <a:gridCol w="2578839"/>
                <a:gridCol w="2578839"/>
              </a:tblGrid>
              <a:tr h="329184">
                <a:tc>
                  <a:txBody>
                    <a:bodyPr wrap="square"/>
                    <a:lstStyle/>
                    <a:p>
                      <a:pPr algn="l"/>
                      <a:r>
                        <a:rPr sz="1050" b="1">
                          <a:solidFill>
                            <a:srgbClr val="FFFFFF"/>
                          </a:solidFill>
                          <a:latin typeface="Kanit"/>
                        </a:rPr>
                        <a:t>Year</a:t>
                      </a:r>
                    </a:p>
                  </a:txBody>
                  <a:tcPr marL="54864" marR="54864" marT="18288" marB="18288" anchor="ctr">
                    <a:solidFill>
                      <a:srgbClr val="1B2A6B"/>
                    </a:solidFill>
                  </a:tcPr>
                </a:tc>
                <a:tc>
                  <a:txBody>
                    <a:bodyPr wrap="square"/>
                    <a:lstStyle/>
                    <a:p>
                      <a:pPr algn="r"/>
                      <a:r>
                        <a:rPr sz="1050" b="1">
                          <a:solidFill>
                            <a:srgbClr val="FFFFFF"/>
                          </a:solidFill>
                          <a:latin typeface="Kanit"/>
                        </a:rPr>
                        <a:t>Pickups (PU)</a:t>
                      </a:r>
                    </a:p>
                  </a:txBody>
                  <a:tcPr marL="54864" marR="54864" marT="18288" marB="18288" anchor="ctr">
                    <a:solidFill>
                      <a:srgbClr val="1B2A6B"/>
                    </a:solidFill>
                  </a:tcPr>
                </a:tc>
                <a:tc>
                  <a:txBody>
                    <a:bodyPr wrap="square"/>
                    <a:lstStyle/>
                    <a:p>
                      <a:pPr algn="r"/>
                      <a:r>
                        <a:rPr sz="1050" b="1">
                          <a:solidFill>
                            <a:srgbClr val="FFFFFF"/>
                          </a:solidFill>
                          <a:latin typeface="Kanit"/>
                        </a:rPr>
                        <a:t>of which PPV</a:t>
                      </a:r>
                    </a:p>
                  </a:txBody>
                  <a:tcPr marL="54864" marR="54864" marT="18288" marB="18288" anchor="ctr">
                    <a:solidFill>
                      <a:srgbClr val="1B2A6B"/>
                    </a:solidFill>
                  </a:tcPr>
                </a:tc>
                <a:tc>
                  <a:txBody>
                    <a:bodyPr wrap="square"/>
                    <a:lstStyle/>
                    <a:p>
                      <a:pPr algn="r"/>
                      <a:r>
                        <a:rPr sz="1050" b="1">
                          <a:solidFill>
                            <a:srgbClr val="FFFFFF"/>
                          </a:solidFill>
                          <a:latin typeface="Kanit"/>
                        </a:rPr>
                        <a:t>Passenger car</a:t>
                      </a:r>
                    </a:p>
                  </a:txBody>
                  <a:tcPr marL="54864" marR="54864" marT="18288" marB="18288" anchor="ctr">
                    <a:solidFill>
                      <a:srgbClr val="1B2A6B"/>
                    </a:solidFill>
                  </a:tcPr>
                </a:tc>
                <a:tc>
                  <a:txBody>
                    <a:bodyPr wrap="square"/>
                    <a:lstStyle/>
                    <a:p>
                      <a:pPr algn="r"/>
                      <a:r>
                        <a:rPr sz="1050" b="1">
                          <a:solidFill>
                            <a:srgbClr val="FFFFFF"/>
                          </a:solidFill>
                          <a:latin typeface="Kanit"/>
                        </a:rPr>
                        <a:t>Motorcycle</a:t>
                      </a:r>
                    </a:p>
                  </a:txBody>
                  <a:tcPr marL="54864" marR="54864" marT="18288" marB="18288" anchor="ctr">
                    <a:solidFill>
                      <a:srgbClr val="1B2A6B"/>
                    </a:solidFill>
                  </a:tcPr>
                </a:tc>
              </a:tr>
              <a:tr h="310896">
                <a:tc>
                  <a:txBody>
                    <a:bodyPr wrap="square"/>
                    <a:lstStyle/>
                    <a:p>
                      <a:pPr algn="l"/>
                      <a:r>
                        <a:rPr sz="1100" b="0">
                          <a:solidFill>
                            <a:srgbClr val="1E2F5C"/>
                          </a:solidFill>
                          <a:latin typeface="Kanit"/>
                        </a:rPr>
                        <a:t>2022</a:t>
                      </a:r>
                    </a:p>
                  </a:txBody>
                  <a:tcPr marL="54864" marR="54864" marT="18288" marB="18288" anchor="ctr">
                    <a:solidFill>
                      <a:srgbClr val="FFFFFF"/>
                    </a:solidFill>
                  </a:tcPr>
                </a:tc>
                <a:tc>
                  <a:txBody>
                    <a:bodyPr wrap="square"/>
                    <a:lstStyle/>
                    <a:p>
                      <a:pPr algn="r"/>
                      <a:r>
                        <a:rPr sz="1100" b="0">
                          <a:solidFill>
                            <a:srgbClr val="1E2F5C"/>
                          </a:solidFill>
                          <a:latin typeface="Kanit"/>
                        </a:rPr>
                        <a:t>453,745</a:t>
                      </a:r>
                    </a:p>
                  </a:txBody>
                  <a:tcPr marL="54864" marR="54864" marT="18288" marB="18288" anchor="ctr">
                    <a:solidFill>
                      <a:srgbClr val="FFFFFF"/>
                    </a:solidFill>
                  </a:tcPr>
                </a:tc>
                <a:tc>
                  <a:txBody>
                    <a:bodyPr wrap="square"/>
                    <a:lstStyle/>
                    <a:p>
                      <a:pPr algn="r"/>
                      <a:r>
                        <a:rPr sz="1100" b="0">
                          <a:solidFill>
                            <a:srgbClr val="1E2F5C"/>
                          </a:solidFill>
                          <a:latin typeface="Kanit"/>
                        </a:rPr>
                        <a:t>62,879</a:t>
                      </a:r>
                    </a:p>
                  </a:txBody>
                  <a:tcPr marL="54864" marR="54864" marT="18288" marB="18288" anchor="ctr">
                    <a:solidFill>
                      <a:srgbClr val="FFFFFF"/>
                    </a:solidFill>
                  </a:tcPr>
                </a:tc>
                <a:tc>
                  <a:txBody>
                    <a:bodyPr wrap="square"/>
                    <a:lstStyle/>
                    <a:p>
                      <a:pPr algn="r"/>
                      <a:r>
                        <a:rPr sz="1100" b="0">
                          <a:solidFill>
                            <a:srgbClr val="1E2F5C"/>
                          </a:solidFill>
                          <a:latin typeface="Kanit"/>
                        </a:rPr>
                        <a:t>388,164</a:t>
                      </a:r>
                    </a:p>
                  </a:txBody>
                  <a:tcPr marL="54864" marR="54864" marT="18288" marB="18288" anchor="ctr">
                    <a:solidFill>
                      <a:srgbClr val="FFFFFF"/>
                    </a:solidFill>
                  </a:tcPr>
                </a:tc>
                <a:tc>
                  <a:txBody>
                    <a:bodyPr wrap="square"/>
                    <a:lstStyle/>
                    <a:p>
                      <a:pPr algn="r"/>
                      <a:r>
                        <a:rPr sz="1100" b="0">
                          <a:solidFill>
                            <a:srgbClr val="1E2F5C"/>
                          </a:solidFill>
                          <a:latin typeface="Kanit"/>
                        </a:rPr>
                        <a:t>1,802,995</a:t>
                      </a:r>
                    </a:p>
                  </a:txBody>
                  <a:tcPr marL="54864" marR="54864" marT="18288" marB="18288" anchor="ctr">
                    <a:solidFill>
                      <a:srgbClr val="FFFFFF"/>
                    </a:solidFill>
                  </a:tcPr>
                </a:tc>
              </a:tr>
              <a:tr h="310896">
                <a:tc>
                  <a:txBody>
                    <a:bodyPr wrap="square"/>
                    <a:lstStyle/>
                    <a:p>
                      <a:pPr algn="l"/>
                      <a:r>
                        <a:rPr sz="1100" b="0">
                          <a:solidFill>
                            <a:srgbClr val="1E2F5C"/>
                          </a:solidFill>
                          <a:latin typeface="Kanit"/>
                        </a:rPr>
                        <a:t>2023</a:t>
                      </a:r>
                    </a:p>
                  </a:txBody>
                  <a:tcPr marL="54864" marR="54864" marT="18288" marB="18288" anchor="ctr">
                    <a:solidFill>
                      <a:srgbClr val="F7F9FC"/>
                    </a:solidFill>
                  </a:tcPr>
                </a:tc>
                <a:tc>
                  <a:txBody>
                    <a:bodyPr wrap="square"/>
                    <a:lstStyle/>
                    <a:p>
                      <a:pPr algn="r"/>
                      <a:r>
                        <a:rPr sz="1100" b="0">
                          <a:solidFill>
                            <a:srgbClr val="1E2F5C"/>
                          </a:solidFill>
                          <a:latin typeface="Kanit"/>
                        </a:rPr>
                        <a:t>359,042</a:t>
                      </a:r>
                    </a:p>
                  </a:txBody>
                  <a:tcPr marL="54864" marR="54864" marT="18288" marB="18288" anchor="ctr">
                    <a:solidFill>
                      <a:srgbClr val="F7F9FC"/>
                    </a:solidFill>
                  </a:tcPr>
                </a:tc>
                <a:tc>
                  <a:txBody>
                    <a:bodyPr wrap="square"/>
                    <a:lstStyle/>
                    <a:p>
                      <a:pPr algn="r"/>
                      <a:r>
                        <a:rPr sz="1100" b="0">
                          <a:solidFill>
                            <a:srgbClr val="1E2F5C"/>
                          </a:solidFill>
                          <a:latin typeface="Kanit"/>
                        </a:rPr>
                        <a:t>67,398</a:t>
                      </a:r>
                    </a:p>
                  </a:txBody>
                  <a:tcPr marL="54864" marR="54864" marT="18288" marB="18288" anchor="ctr">
                    <a:solidFill>
                      <a:srgbClr val="F7F9FC"/>
                    </a:solidFill>
                  </a:tcPr>
                </a:tc>
                <a:tc>
                  <a:txBody>
                    <a:bodyPr wrap="square"/>
                    <a:lstStyle/>
                    <a:p>
                      <a:pPr algn="r"/>
                      <a:r>
                        <a:rPr sz="1100" b="0">
                          <a:solidFill>
                            <a:srgbClr val="1E2F5C"/>
                          </a:solidFill>
                          <a:latin typeface="Kanit"/>
                        </a:rPr>
                        <a:t>436,636</a:t>
                      </a:r>
                    </a:p>
                  </a:txBody>
                  <a:tcPr marL="54864" marR="54864" marT="18288" marB="18288" anchor="ctr">
                    <a:solidFill>
                      <a:srgbClr val="F7F9FC"/>
                    </a:solidFill>
                  </a:tcPr>
                </a:tc>
                <a:tc>
                  <a:txBody>
                    <a:bodyPr wrap="square"/>
                    <a:lstStyle/>
                    <a:p>
                      <a:pPr algn="r"/>
                      <a:r>
                        <a:rPr sz="1100" b="0">
                          <a:solidFill>
                            <a:srgbClr val="1E2F5C"/>
                          </a:solidFill>
                          <a:latin typeface="Kanit"/>
                        </a:rPr>
                        <a:t>1,879,838</a:t>
                      </a:r>
                    </a:p>
                  </a:txBody>
                  <a:tcPr marL="54864" marR="54864" marT="18288" marB="18288" anchor="ctr">
                    <a:solidFill>
                      <a:srgbClr val="F7F9FC"/>
                    </a:solidFill>
                  </a:tcPr>
                </a:tc>
              </a:tr>
              <a:tr h="310896">
                <a:tc>
                  <a:txBody>
                    <a:bodyPr wrap="square"/>
                    <a:lstStyle/>
                    <a:p>
                      <a:pPr algn="l"/>
                      <a:r>
                        <a:rPr sz="1100" b="0">
                          <a:solidFill>
                            <a:srgbClr val="1E2F5C"/>
                          </a:solidFill>
                          <a:latin typeface="Kanit"/>
                        </a:rPr>
                        <a:t>2024</a:t>
                      </a:r>
                    </a:p>
                  </a:txBody>
                  <a:tcPr marL="54864" marR="54864" marT="18288" marB="18288" anchor="ctr">
                    <a:solidFill>
                      <a:srgbClr val="FFFFFF"/>
                    </a:solidFill>
                  </a:tcPr>
                </a:tc>
                <a:tc>
                  <a:txBody>
                    <a:bodyPr wrap="square"/>
                    <a:lstStyle/>
                    <a:p>
                      <a:pPr algn="r"/>
                      <a:r>
                        <a:rPr sz="1100" b="0">
                          <a:solidFill>
                            <a:srgbClr val="1E2F5C"/>
                          </a:solidFill>
                          <a:latin typeface="Kanit"/>
                        </a:rPr>
                        <a:t>222,807</a:t>
                      </a:r>
                    </a:p>
                  </a:txBody>
                  <a:tcPr marL="54864" marR="54864" marT="18288" marB="18288" anchor="ctr">
                    <a:solidFill>
                      <a:srgbClr val="FFFFFF"/>
                    </a:solidFill>
                  </a:tcPr>
                </a:tc>
                <a:tc>
                  <a:txBody>
                    <a:bodyPr wrap="square"/>
                    <a:lstStyle/>
                    <a:p>
                      <a:pPr algn="r"/>
                      <a:r>
                        <a:rPr sz="1100" b="0">
                          <a:solidFill>
                            <a:srgbClr val="1E2F5C"/>
                          </a:solidFill>
                          <a:latin typeface="Kanit"/>
                        </a:rPr>
                        <a:t>41,234</a:t>
                      </a:r>
                    </a:p>
                  </a:txBody>
                  <a:tcPr marL="54864" marR="54864" marT="18288" marB="18288" anchor="ctr">
                    <a:solidFill>
                      <a:srgbClr val="FFFFFF"/>
                    </a:solidFill>
                  </a:tcPr>
                </a:tc>
                <a:tc>
                  <a:txBody>
                    <a:bodyPr wrap="square"/>
                    <a:lstStyle/>
                    <a:p>
                      <a:pPr algn="r"/>
                      <a:r>
                        <a:rPr sz="1100" b="0">
                          <a:solidFill>
                            <a:srgbClr val="1E2F5C"/>
                          </a:solidFill>
                          <a:latin typeface="Kanit"/>
                        </a:rPr>
                        <a:t>377,374</a:t>
                      </a:r>
                    </a:p>
                  </a:txBody>
                  <a:tcPr marL="54864" marR="54864" marT="18288" marB="18288" anchor="ctr">
                    <a:solidFill>
                      <a:srgbClr val="FFFFFF"/>
                    </a:solidFill>
                  </a:tcPr>
                </a:tc>
                <a:tc>
                  <a:txBody>
                    <a:bodyPr wrap="square"/>
                    <a:lstStyle/>
                    <a:p>
                      <a:pPr algn="r"/>
                      <a:r>
                        <a:rPr sz="1100" b="0">
                          <a:solidFill>
                            <a:srgbClr val="1E2F5C"/>
                          </a:solidFill>
                          <a:latin typeface="Kanit"/>
                        </a:rPr>
                        <a:t>1,709,157</a:t>
                      </a:r>
                    </a:p>
                  </a:txBody>
                  <a:tcPr marL="54864" marR="54864" marT="18288" marB="18288" anchor="ctr">
                    <a:solidFill>
                      <a:srgbClr val="FFFFFF"/>
                    </a:solidFill>
                  </a:tcPr>
                </a:tc>
              </a:tr>
              <a:tr h="310896">
                <a:tc>
                  <a:txBody>
                    <a:bodyPr wrap="square"/>
                    <a:lstStyle/>
                    <a:p>
                      <a:pPr algn="l"/>
                      <a:r>
                        <a:rPr sz="1100" b="1">
                          <a:solidFill>
                            <a:srgbClr val="1E2F5C"/>
                          </a:solidFill>
                          <a:latin typeface="Kanit"/>
                        </a:rPr>
                        <a:t>2025</a:t>
                      </a:r>
                    </a:p>
                  </a:txBody>
                  <a:tcPr marL="54864" marR="54864" marT="18288" marB="18288" anchor="ctr">
                    <a:solidFill>
                      <a:srgbClr val="F7F9FC"/>
                    </a:solidFill>
                  </a:tcPr>
                </a:tc>
                <a:tc>
                  <a:txBody>
                    <a:bodyPr wrap="square"/>
                    <a:lstStyle/>
                    <a:p>
                      <a:pPr algn="r"/>
                      <a:r>
                        <a:rPr sz="1100" b="1">
                          <a:solidFill>
                            <a:srgbClr val="CC0000"/>
                          </a:solidFill>
                          <a:latin typeface="Kanit"/>
                        </a:rPr>
                        <a:t>186,405</a:t>
                      </a:r>
                    </a:p>
                  </a:txBody>
                  <a:tcPr marL="54864" marR="54864" marT="18288" marB="18288" anchor="ctr">
                    <a:solidFill>
                      <a:srgbClr val="F7F9FC"/>
                    </a:solidFill>
                  </a:tcPr>
                </a:tc>
                <a:tc>
                  <a:txBody>
                    <a:bodyPr wrap="square"/>
                    <a:lstStyle/>
                    <a:p>
                      <a:pPr algn="r"/>
                      <a:r>
                        <a:rPr sz="1100" b="0">
                          <a:solidFill>
                            <a:srgbClr val="1E2F5C"/>
                          </a:solidFill>
                          <a:latin typeface="Kanit"/>
                        </a:rPr>
                        <a:t>42,067</a:t>
                      </a:r>
                    </a:p>
                  </a:txBody>
                  <a:tcPr marL="54864" marR="54864" marT="18288" marB="18288" anchor="ctr">
                    <a:solidFill>
                      <a:srgbClr val="F7F9FC"/>
                    </a:solidFill>
                  </a:tcPr>
                </a:tc>
                <a:tc>
                  <a:txBody>
                    <a:bodyPr wrap="square"/>
                    <a:lstStyle/>
                    <a:p>
                      <a:pPr algn="r"/>
                      <a:r>
                        <a:rPr sz="1100" b="0">
                          <a:solidFill>
                            <a:srgbClr val="1E2F5C"/>
                          </a:solidFill>
                          <a:latin typeface="Kanit"/>
                        </a:rPr>
                        <a:t>413,968</a:t>
                      </a:r>
                    </a:p>
                  </a:txBody>
                  <a:tcPr marL="54864" marR="54864" marT="18288" marB="18288" anchor="ctr">
                    <a:solidFill>
                      <a:srgbClr val="F7F9FC"/>
                    </a:solidFill>
                  </a:tcPr>
                </a:tc>
                <a:tc>
                  <a:txBody>
                    <a:bodyPr wrap="square"/>
                    <a:lstStyle/>
                    <a:p>
                      <a:pPr algn="r"/>
                      <a:r>
                        <a:rPr sz="1100" b="0">
                          <a:solidFill>
                            <a:srgbClr val="1E2F5C"/>
                          </a:solidFill>
                          <a:latin typeface="Kanit"/>
                        </a:rPr>
                        <a:t>1,736,355</a:t>
                      </a:r>
                    </a:p>
                  </a:txBody>
                  <a:tcPr marL="54864" marR="54864" marT="18288" marB="18288" anchor="ctr">
                    <a:solidFill>
                      <a:srgbClr val="F7F9FC"/>
                    </a:solidFill>
                  </a:tcPr>
                </a:tc>
              </a:tr>
            </a:tbl>
          </a:graphicData>
        </a:graphic>
      </p:graphicFrame>
      <p:sp>
        <p:nvSpPr>
          <p:cNvPr id="11" name="Rectangle 10"/>
          <p:cNvSpPr/>
          <p:nvPr/>
        </p:nvSpPr>
        <p:spPr>
          <a:xfrm>
            <a:off x="411480" y="3262884"/>
            <a:ext cx="5120640" cy="1737360"/>
          </a:xfrm>
          <a:prstGeom prst="rect">
            <a:avLst/>
          </a:prstGeom>
          <a:solidFill>
            <a:srgbClr val="FBFCFE"/>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839419" y="3573780"/>
            <a:ext cx="630021" cy="1170432"/>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548640" y="3390899"/>
            <a:ext cx="1211580"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453,745</a:t>
            </a:r>
          </a:p>
        </p:txBody>
      </p:sp>
      <p:sp>
        <p:nvSpPr>
          <p:cNvPr id="14" name="TextBox 13"/>
          <p:cNvSpPr txBox="1"/>
          <p:nvPr/>
        </p:nvSpPr>
        <p:spPr>
          <a:xfrm>
            <a:off x="548640" y="4789932"/>
            <a:ext cx="1211580"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2022</a:t>
            </a:r>
          </a:p>
        </p:txBody>
      </p:sp>
      <p:sp>
        <p:nvSpPr>
          <p:cNvPr id="15" name="Rectangle 14"/>
          <p:cNvSpPr/>
          <p:nvPr/>
        </p:nvSpPr>
        <p:spPr>
          <a:xfrm>
            <a:off x="2050999" y="3818065"/>
            <a:ext cx="630021" cy="926146"/>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1760219" y="3635185"/>
            <a:ext cx="1211580"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359,042</a:t>
            </a:r>
          </a:p>
        </p:txBody>
      </p:sp>
      <p:sp>
        <p:nvSpPr>
          <p:cNvPr id="17" name="TextBox 16"/>
          <p:cNvSpPr txBox="1"/>
          <p:nvPr/>
        </p:nvSpPr>
        <p:spPr>
          <a:xfrm>
            <a:off x="1760219" y="4789932"/>
            <a:ext cx="1211580"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2023</a:t>
            </a:r>
          </a:p>
        </p:txBody>
      </p:sp>
      <p:sp>
        <p:nvSpPr>
          <p:cNvPr id="18" name="Rectangle 17"/>
          <p:cNvSpPr/>
          <p:nvPr/>
        </p:nvSpPr>
        <p:spPr>
          <a:xfrm>
            <a:off x="3262579" y="4169482"/>
            <a:ext cx="630021" cy="574729"/>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2971800" y="3986602"/>
            <a:ext cx="1211580"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222,807</a:t>
            </a:r>
          </a:p>
        </p:txBody>
      </p:sp>
      <p:sp>
        <p:nvSpPr>
          <p:cNvPr id="20" name="TextBox 19"/>
          <p:cNvSpPr txBox="1"/>
          <p:nvPr/>
        </p:nvSpPr>
        <p:spPr>
          <a:xfrm>
            <a:off x="2971800" y="4789932"/>
            <a:ext cx="1211580"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2024</a:t>
            </a:r>
          </a:p>
        </p:txBody>
      </p:sp>
      <p:sp>
        <p:nvSpPr>
          <p:cNvPr id="21" name="Rectangle 20"/>
          <p:cNvSpPr/>
          <p:nvPr/>
        </p:nvSpPr>
        <p:spPr>
          <a:xfrm>
            <a:off x="4474159" y="4263381"/>
            <a:ext cx="630021" cy="48083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4183379" y="4080501"/>
            <a:ext cx="1211580" cy="150876"/>
          </a:xfrm>
          <a:prstGeom prst="rect">
            <a:avLst/>
          </a:prstGeom>
          <a:noFill/>
        </p:spPr>
        <p:txBody>
          <a:bodyPr wrap="square" lIns="0" rIns="0" tIns="0" bIns="0" anchor="t">
            <a:noAutofit/>
          </a:bodyPr>
          <a:lstStyle/>
          <a:p>
            <a:pPr algn="ctr">
              <a:lnSpc>
                <a:spcPts val="1188"/>
              </a:lnSpc>
            </a:pPr>
            <a:r>
              <a:rPr sz="900" b="1">
                <a:solidFill>
                  <a:srgbClr val="CC0000"/>
                </a:solidFill>
                <a:latin typeface="Kanit"/>
              </a:rPr>
              <a:t>186,405</a:t>
            </a:r>
          </a:p>
        </p:txBody>
      </p:sp>
      <p:sp>
        <p:nvSpPr>
          <p:cNvPr id="23" name="TextBox 22"/>
          <p:cNvSpPr txBox="1"/>
          <p:nvPr/>
        </p:nvSpPr>
        <p:spPr>
          <a:xfrm>
            <a:off x="4183379" y="4789932"/>
            <a:ext cx="1211580"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2025</a:t>
            </a:r>
          </a:p>
        </p:txBody>
      </p:sp>
      <p:sp>
        <p:nvSpPr>
          <p:cNvPr id="24" name="Rectangle 23"/>
          <p:cNvSpPr/>
          <p:nvPr/>
        </p:nvSpPr>
        <p:spPr>
          <a:xfrm>
            <a:off x="5715000" y="3262884"/>
            <a:ext cx="6062472" cy="1347978"/>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Rectangle 24"/>
          <p:cNvSpPr/>
          <p:nvPr/>
        </p:nvSpPr>
        <p:spPr>
          <a:xfrm>
            <a:off x="5715000" y="3262884"/>
            <a:ext cx="50292" cy="134797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5934456" y="3409188"/>
            <a:ext cx="5733288"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Pickup inflow is down 59% in three years</a:t>
            </a:r>
          </a:p>
        </p:txBody>
      </p:sp>
      <p:sp>
        <p:nvSpPr>
          <p:cNvPr id="27" name="TextBox 26"/>
          <p:cNvSpPr txBox="1"/>
          <p:nvPr/>
        </p:nvSpPr>
        <p:spPr>
          <a:xfrm>
            <a:off x="5934456" y="3613658"/>
            <a:ext cx="5733288" cy="85090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453,745 → 186,405. Passenger cars and motorcycles are broadly flat over the same period, so this is specific to pickups, not a general vehicle-market decline.
The stock we already lend against is 6.98 million pickups, −0.8% year on year. The pipeline refilling it has more than halved.</a:t>
            </a:r>
          </a:p>
        </p:txBody>
      </p:sp>
      <p:sp>
        <p:nvSpPr>
          <p:cNvPr id="28" name="Rounded Rectangle 27"/>
          <p:cNvSpPr/>
          <p:nvPr/>
        </p:nvSpPr>
        <p:spPr>
          <a:xfrm>
            <a:off x="411480" y="5183124"/>
            <a:ext cx="754177" cy="192024"/>
          </a:xfrm>
          <a:prstGeom prst="roundRect">
            <a:avLst>
              <a:gd name="adj" fmla="val 50000"/>
            </a:avLst>
          </a:prstGeom>
          <a:noFill/>
          <a:ln w="9525">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9" name="TextBox 28"/>
          <p:cNvSpPr txBox="1"/>
          <p:nvPr/>
        </p:nvSpPr>
        <p:spPr>
          <a:xfrm>
            <a:off x="411480" y="5212384"/>
            <a:ext cx="754177" cy="134112"/>
          </a:xfrm>
          <a:prstGeom prst="rect">
            <a:avLst/>
          </a:prstGeom>
          <a:noFill/>
        </p:spPr>
        <p:txBody>
          <a:bodyPr wrap="square" lIns="0" rIns="0" tIns="0" bIns="0" anchor="t">
            <a:noAutofit/>
          </a:bodyPr>
          <a:lstStyle/>
          <a:p>
            <a:pPr algn="ctr">
              <a:lnSpc>
                <a:spcPts val="1056"/>
              </a:lnSpc>
            </a:pPr>
            <a:r>
              <a:rPr sz="800" b="1">
                <a:solidFill>
                  <a:srgbClr val="15795F"/>
                </a:solidFill>
                <a:latin typeface="Kanit"/>
              </a:rPr>
              <a:t>MEASURED</a:t>
            </a:r>
          </a:p>
        </p:txBody>
      </p:sp>
      <p:sp>
        <p:nvSpPr>
          <p:cNvPr id="30" name="TextBox 29"/>
          <p:cNvSpPr txBox="1"/>
          <p:nvPr/>
        </p:nvSpPr>
        <p:spPr>
          <a:xfrm>
            <a:off x="1275385" y="5196839"/>
            <a:ext cx="1050208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PU = any pickup nameplate plus any PPV nameplate, in any registration class. A double-cab D-Max and a Fortuner are both pickups to this business even though the registrar files them under “passenger car ≤7 seats”. On the registrar’s class column 2025 would read 99,984 — an 86% understatement of what we lend against.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05 · CONDITIONS AT OUR GRAIN</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The same five lenses, country down to a branch.</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Rounded Rectangle 8"/>
          <p:cNvSpPr/>
          <p:nvPr/>
        </p:nvSpPr>
        <p:spPr>
          <a:xfrm>
            <a:off x="411480" y="1152144"/>
            <a:ext cx="3697223"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548640" y="1252728"/>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Labour force</a:t>
            </a:r>
          </a:p>
        </p:txBody>
      </p:sp>
      <p:sp>
        <p:nvSpPr>
          <p:cNvPr id="11" name="TextBox 10"/>
          <p:cNvSpPr txBox="1"/>
          <p:nvPr/>
        </p:nvSpPr>
        <p:spPr>
          <a:xfrm>
            <a:off x="548640" y="1426464"/>
            <a:ext cx="3422904" cy="330200"/>
          </a:xfrm>
          <a:prstGeom prst="rect">
            <a:avLst/>
          </a:prstGeom>
          <a:noFill/>
        </p:spPr>
        <p:txBody>
          <a:bodyPr wrap="square" lIns="0" rIns="0" tIns="0" bIns="0" anchor="t">
            <a:noAutofit/>
          </a:bodyPr>
          <a:lstStyle/>
          <a:p>
            <a:pPr algn="l">
              <a:lnSpc>
                <a:spcPts val="2600"/>
              </a:lnSpc>
            </a:pPr>
            <a:r>
              <a:rPr sz="2100" b="1">
                <a:solidFill>
                  <a:srgbClr val="1E2F5C"/>
                </a:solidFill>
                <a:latin typeface="Kanit"/>
              </a:rPr>
              <a:t>41.9M</a:t>
            </a:r>
          </a:p>
        </p:txBody>
      </p:sp>
      <p:sp>
        <p:nvSpPr>
          <p:cNvPr id="12" name="TextBox 11"/>
          <p:cNvSpPr txBox="1"/>
          <p:nvPr/>
        </p:nvSpPr>
        <p:spPr>
          <a:xfrm>
            <a:off x="548640" y="1792224"/>
            <a:ext cx="3422904"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unemployment 0.94% · seasonal idle 0.77% (325k waiting)</a:t>
            </a:r>
          </a:p>
        </p:txBody>
      </p:sp>
      <p:sp>
        <p:nvSpPr>
          <p:cNvPr id="13" name="Rounded Rectangle 12"/>
          <p:cNvSpPr/>
          <p:nvPr/>
        </p:nvSpPr>
        <p:spPr>
          <a:xfrm>
            <a:off x="4245864" y="1152144"/>
            <a:ext cx="3697223"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4383024" y="1252728"/>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Informality</a:t>
            </a:r>
          </a:p>
        </p:txBody>
      </p:sp>
      <p:sp>
        <p:nvSpPr>
          <p:cNvPr id="15" name="TextBox 14"/>
          <p:cNvSpPr txBox="1"/>
          <p:nvPr/>
        </p:nvSpPr>
        <p:spPr>
          <a:xfrm>
            <a:off x="4383024" y="1426464"/>
            <a:ext cx="3422904"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63.2%</a:t>
            </a:r>
          </a:p>
        </p:txBody>
      </p:sp>
      <p:sp>
        <p:nvSpPr>
          <p:cNvPr id="16" name="TextBox 15"/>
          <p:cNvSpPr txBox="1"/>
          <p:nvPr/>
        </p:nvSpPr>
        <p:spPr>
          <a:xfrm>
            <a:off x="4383024" y="1792224"/>
            <a:ext cx="3422904"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of employment has no payslip or social cover — our core demographic (2024)</a:t>
            </a:r>
          </a:p>
        </p:txBody>
      </p:sp>
      <p:sp>
        <p:nvSpPr>
          <p:cNvPr id="17" name="Rounded Rectangle 16"/>
          <p:cNvSpPr/>
          <p:nvPr/>
        </p:nvSpPr>
        <p:spPr>
          <a:xfrm>
            <a:off x="8080247" y="1152144"/>
            <a:ext cx="3697223"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8217408" y="1252728"/>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Vehicle fleet</a:t>
            </a:r>
          </a:p>
        </p:txBody>
      </p:sp>
      <p:sp>
        <p:nvSpPr>
          <p:cNvPr id="19" name="TextBox 18"/>
          <p:cNvSpPr txBox="1"/>
          <p:nvPr/>
        </p:nvSpPr>
        <p:spPr>
          <a:xfrm>
            <a:off x="8217408" y="1426464"/>
            <a:ext cx="3422904" cy="330200"/>
          </a:xfrm>
          <a:prstGeom prst="rect">
            <a:avLst/>
          </a:prstGeom>
          <a:noFill/>
        </p:spPr>
        <p:txBody>
          <a:bodyPr wrap="square" lIns="0" rIns="0" tIns="0" bIns="0" anchor="t">
            <a:noAutofit/>
          </a:bodyPr>
          <a:lstStyle/>
          <a:p>
            <a:pPr algn="l">
              <a:lnSpc>
                <a:spcPts val="2600"/>
              </a:lnSpc>
            </a:pPr>
            <a:r>
              <a:rPr sz="2100" b="1">
                <a:solidFill>
                  <a:srgbClr val="1E2F5C"/>
                </a:solidFill>
                <a:latin typeface="Kanit"/>
              </a:rPr>
              <a:t>44.3M</a:t>
            </a:r>
          </a:p>
        </p:txBody>
      </p:sp>
      <p:sp>
        <p:nvSpPr>
          <p:cNvPr id="20" name="TextBox 19"/>
          <p:cNvSpPr txBox="1"/>
          <p:nvPr/>
        </p:nvSpPr>
        <p:spPr>
          <a:xfrm>
            <a:off x="8217408" y="1792224"/>
            <a:ext cx="3422904"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diesel 56.3% · electrified 2.6% · BEV 0.95%</a:t>
            </a:r>
          </a:p>
        </p:txBody>
      </p:sp>
      <p:sp>
        <p:nvSpPr>
          <p:cNvPr id="21" name="Rounded Rectangle 20"/>
          <p:cNvSpPr/>
          <p:nvPr/>
        </p:nvSpPr>
        <p:spPr>
          <a:xfrm>
            <a:off x="411480" y="2350008"/>
            <a:ext cx="3697223"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548640" y="2450591"/>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Districts dry</a:t>
            </a:r>
          </a:p>
        </p:txBody>
      </p:sp>
      <p:sp>
        <p:nvSpPr>
          <p:cNvPr id="23" name="TextBox 22"/>
          <p:cNvSpPr txBox="1"/>
          <p:nvPr/>
        </p:nvSpPr>
        <p:spPr>
          <a:xfrm>
            <a:off x="548640" y="2624327"/>
            <a:ext cx="3422904"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36.4%</a:t>
            </a:r>
          </a:p>
        </p:txBody>
      </p:sp>
      <p:sp>
        <p:nvSpPr>
          <p:cNvPr id="24" name="TextBox 23"/>
          <p:cNvSpPr txBox="1"/>
          <p:nvPr/>
        </p:nvSpPr>
        <p:spPr>
          <a:xfrm>
            <a:off x="548640" y="2990087"/>
            <a:ext cx="3422904"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338 of 928 · 134 of 794 river stations above high mark (16.9%)</a:t>
            </a:r>
          </a:p>
        </p:txBody>
      </p:sp>
      <p:sp>
        <p:nvSpPr>
          <p:cNvPr id="25" name="Rounded Rectangle 24"/>
          <p:cNvSpPr/>
          <p:nvPr/>
        </p:nvSpPr>
        <p:spPr>
          <a:xfrm>
            <a:off x="4245864" y="2350008"/>
            <a:ext cx="3697223"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4383024" y="2450591"/>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Household debt</a:t>
            </a:r>
          </a:p>
        </p:txBody>
      </p:sp>
      <p:sp>
        <p:nvSpPr>
          <p:cNvPr id="27" name="TextBox 26"/>
          <p:cNvSpPr txBox="1"/>
          <p:nvPr/>
        </p:nvSpPr>
        <p:spPr>
          <a:xfrm>
            <a:off x="4383024" y="2624327"/>
            <a:ext cx="3422904"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฿163,930</a:t>
            </a:r>
          </a:p>
        </p:txBody>
      </p:sp>
      <p:sp>
        <p:nvSpPr>
          <p:cNvPr id="28" name="TextBox 27"/>
          <p:cNvSpPr txBox="1"/>
          <p:nvPr/>
        </p:nvSpPr>
        <p:spPr>
          <a:xfrm>
            <a:off x="4383024" y="2990087"/>
            <a:ext cx="3422904"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per indebted household · 45% of households carry debt</a:t>
            </a:r>
          </a:p>
        </p:txBody>
      </p:sp>
      <p:sp>
        <p:nvSpPr>
          <p:cNvPr id="29" name="Rounded Rectangle 28"/>
          <p:cNvSpPr/>
          <p:nvPr/>
        </p:nvSpPr>
        <p:spPr>
          <a:xfrm>
            <a:off x="8080247" y="2350008"/>
            <a:ext cx="3697223"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8217408" y="2450591"/>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No cushion</a:t>
            </a:r>
          </a:p>
        </p:txBody>
      </p:sp>
      <p:sp>
        <p:nvSpPr>
          <p:cNvPr id="31" name="TextBox 30"/>
          <p:cNvSpPr txBox="1"/>
          <p:nvPr/>
        </p:nvSpPr>
        <p:spPr>
          <a:xfrm>
            <a:off x="8217408" y="2624327"/>
            <a:ext cx="3422904"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60%</a:t>
            </a:r>
          </a:p>
        </p:txBody>
      </p:sp>
      <p:sp>
        <p:nvSpPr>
          <p:cNvPr id="32" name="TextBox 31"/>
          <p:cNvSpPr txBox="1"/>
          <p:nvPr/>
        </p:nvSpPr>
        <p:spPr>
          <a:xfrm>
            <a:off x="8217408" y="2990087"/>
            <a:ext cx="3422904"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of households could not cover three months without income</a:t>
            </a:r>
          </a:p>
        </p:txBody>
      </p:sp>
      <p:sp>
        <p:nvSpPr>
          <p:cNvPr id="33" name="Rounded Rectangle 32"/>
          <p:cNvSpPr/>
          <p:nvPr/>
        </p:nvSpPr>
        <p:spPr>
          <a:xfrm>
            <a:off x="411480" y="3575304"/>
            <a:ext cx="754177" cy="192024"/>
          </a:xfrm>
          <a:prstGeom prst="roundRect">
            <a:avLst>
              <a:gd name="adj" fmla="val 50000"/>
            </a:avLst>
          </a:prstGeom>
          <a:noFill/>
          <a:ln w="9525">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TextBox 33"/>
          <p:cNvSpPr txBox="1"/>
          <p:nvPr/>
        </p:nvSpPr>
        <p:spPr>
          <a:xfrm>
            <a:off x="411480" y="3604564"/>
            <a:ext cx="754177" cy="134112"/>
          </a:xfrm>
          <a:prstGeom prst="rect">
            <a:avLst/>
          </a:prstGeom>
          <a:noFill/>
        </p:spPr>
        <p:txBody>
          <a:bodyPr wrap="square" lIns="0" rIns="0" tIns="0" bIns="0" anchor="t">
            <a:noAutofit/>
          </a:bodyPr>
          <a:lstStyle/>
          <a:p>
            <a:pPr algn="ctr">
              <a:lnSpc>
                <a:spcPts val="1056"/>
              </a:lnSpc>
            </a:pPr>
            <a:r>
              <a:rPr sz="800" b="1">
                <a:solidFill>
                  <a:srgbClr val="15795F"/>
                </a:solidFill>
                <a:latin typeface="Kanit"/>
              </a:rPr>
              <a:t>MEASURED</a:t>
            </a:r>
          </a:p>
        </p:txBody>
      </p:sp>
      <p:sp>
        <p:nvSpPr>
          <p:cNvPr id="35" name="TextBox 34"/>
          <p:cNvSpPr txBox="1"/>
          <p:nvPr/>
        </p:nvSpPr>
        <p:spPr>
          <a:xfrm>
            <a:off x="1275385" y="3589020"/>
            <a:ext cx="10502086" cy="325755"/>
          </a:xfrm>
          <a:prstGeom prst="rect">
            <a:avLst/>
          </a:prstGeom>
          <a:noFill/>
        </p:spPr>
        <p:txBody>
          <a:bodyPr wrap="square" lIns="0" rIns="0" tIns="0" bIns="0" anchor="t">
            <a:noAutofit/>
          </a:bodyPr>
          <a:lstStyle/>
          <a:p>
            <a:pPr algn="l">
              <a:lnSpc>
                <a:spcPts val="1282"/>
              </a:lnSpc>
            </a:pPr>
            <a:r>
              <a:rPr sz="950" b="0">
                <a:solidFill>
                  <a:srgbClr val="606060"/>
                </a:solidFill>
                <a:latin typeface="Kanit"/>
              </a:rPr>
              <a:t>NSO Labour Force Survey · ILOSTAT mirror of Thailand’s official submissions · DLT registry · MOT · DBD business registrations · ThaiWater telemetry · BoT. Each lens rolls national → region → province → branch on its own correct weight — labour force, fleet stock, account count, district count — never a plain average of provinces.</a:t>
            </a:r>
          </a:p>
        </p:txBody>
      </p:sp>
      <p:sp>
        <p:nvSpPr>
          <p:cNvPr id="36" name="Rectangle 35"/>
          <p:cNvSpPr/>
          <p:nvPr/>
        </p:nvSpPr>
        <p:spPr>
          <a:xfrm>
            <a:off x="411480" y="4083939"/>
            <a:ext cx="11365992" cy="854456"/>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411480" y="4083939"/>
            <a:ext cx="50292" cy="854456"/>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8" name="TextBox 37"/>
          <p:cNvSpPr txBox="1"/>
          <p:nvPr/>
        </p:nvSpPr>
        <p:spPr>
          <a:xfrm>
            <a:off x="630936" y="4230243"/>
            <a:ext cx="11036808"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Read 0.94% unemployment together with 63.2% informality, never instead of it</a:t>
            </a:r>
          </a:p>
        </p:txBody>
      </p:sp>
      <p:sp>
        <p:nvSpPr>
          <p:cNvPr id="39" name="TextBox 38"/>
          <p:cNvSpPr txBox="1"/>
          <p:nvPr/>
        </p:nvSpPr>
        <p:spPr>
          <a:xfrm>
            <a:off x="630936" y="4434713"/>
            <a:ext cx="11036808" cy="357378"/>
          </a:xfrm>
          <a:prstGeom prst="rect">
            <a:avLst/>
          </a:prstGeom>
          <a:noFill/>
        </p:spPr>
        <p:txBody>
          <a:bodyPr wrap="square" lIns="0" rIns="0" tIns="0" bIns="0" anchor="t">
            <a:noAutofit/>
          </a:bodyPr>
          <a:lstStyle/>
          <a:p>
            <a:pPr algn="l">
              <a:lnSpc>
                <a:spcPts val="1407"/>
              </a:lnSpc>
            </a:pPr>
            <a:r>
              <a:rPr sz="1050" b="0">
                <a:solidFill>
                  <a:srgbClr val="1E2F5C"/>
                </a:solidFill>
                <a:latin typeface="Kanit"/>
              </a:rPr>
              <a:t>Headline unemployment is structurally near zero in Thailand because informal work absorbs the slack. A borrower who loses formal work does not appear in the unemployment number — they appear in the informal count, on a lower and less predictable income. The unemployment rate is not a stress signal for this book. Informality and the seasonal-idle share are.</a:t>
            </a:r>
          </a:p>
        </p:txBody>
      </p:sp>
      <p:sp>
        <p:nvSpPr>
          <p:cNvPr id="40" name="Rectangle 39"/>
          <p:cNvSpPr/>
          <p:nvPr/>
        </p:nvSpPr>
        <p:spPr>
          <a:xfrm>
            <a:off x="411480" y="5066411"/>
            <a:ext cx="11365992" cy="854456"/>
          </a:xfrm>
          <a:prstGeom prst="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1" name="Rectangle 40"/>
          <p:cNvSpPr/>
          <p:nvPr/>
        </p:nvSpPr>
        <p:spPr>
          <a:xfrm>
            <a:off x="411480" y="5066411"/>
            <a:ext cx="50292" cy="85445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2" name="TextBox 41"/>
          <p:cNvSpPr txBox="1"/>
          <p:nvPr/>
        </p:nvSpPr>
        <p:spPr>
          <a:xfrm>
            <a:off x="630936" y="5212715"/>
            <a:ext cx="11036808" cy="158750"/>
          </a:xfrm>
          <a:prstGeom prst="rect">
            <a:avLst/>
          </a:prstGeom>
          <a:noFill/>
        </p:spPr>
        <p:txBody>
          <a:bodyPr wrap="square" lIns="0" rIns="0" tIns="0" bIns="0" anchor="t">
            <a:noAutofit/>
          </a:bodyPr>
          <a:lstStyle/>
          <a:p>
            <a:pPr algn="l">
              <a:lnSpc>
                <a:spcPts val="1250"/>
              </a:lnSpc>
            </a:pPr>
            <a:r>
              <a:rPr sz="950" b="1">
                <a:solidFill>
                  <a:srgbClr val="1E2F5C"/>
                </a:solidFill>
                <a:latin typeface="Kanit"/>
              </a:rPr>
              <a:t>Electrification is not a collateral problem yet — but it is the clock</a:t>
            </a:r>
          </a:p>
        </p:txBody>
      </p:sp>
      <p:sp>
        <p:nvSpPr>
          <p:cNvPr id="43" name="TextBox 42"/>
          <p:cNvSpPr txBox="1"/>
          <p:nvPr/>
        </p:nvSpPr>
        <p:spPr>
          <a:xfrm>
            <a:off x="630936" y="5417185"/>
            <a:ext cx="11036808" cy="357378"/>
          </a:xfrm>
          <a:prstGeom prst="rect">
            <a:avLst/>
          </a:prstGeom>
          <a:noFill/>
        </p:spPr>
        <p:txBody>
          <a:bodyPr wrap="square" lIns="0" rIns="0" tIns="0" bIns="0" anchor="t">
            <a:noAutofit/>
          </a:bodyPr>
          <a:lstStyle/>
          <a:p>
            <a:pPr algn="l">
              <a:lnSpc>
                <a:spcPts val="1407"/>
              </a:lnSpc>
            </a:pPr>
            <a:r>
              <a:rPr sz="1050" b="0">
                <a:solidFill>
                  <a:srgbClr val="1E2F5C"/>
                </a:solidFill>
                <a:latin typeface="Kanit"/>
              </a:rPr>
              <a:t>BEVs are 0.95% of the fleet and diesel is still 56.3%. Nothing to act on this quarter. It is worth watching precisely because our collateral has a five-to-ten-year resale tail: the fleet mix that matters for recoveries in 2032 is being registered now.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06 · LIVE</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The one feed that changes daily.</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TextBox 8"/>
          <p:cNvSpPr txBox="1"/>
          <p:nvPr/>
        </p:nvSpPr>
        <p:spPr>
          <a:xfrm>
            <a:off x="411480" y="1152144"/>
            <a:ext cx="11365992" cy="381000"/>
          </a:xfrm>
          <a:prstGeom prst="rect">
            <a:avLst/>
          </a:prstGeom>
          <a:noFill/>
        </p:spPr>
        <p:txBody>
          <a:bodyPr wrap="square" lIns="0" rIns="0" tIns="0" bIns="0" anchor="t">
            <a:noAutofit/>
          </a:bodyPr>
          <a:lstStyle/>
          <a:p>
            <a:pPr algn="l">
              <a:lnSpc>
                <a:spcPts val="1500"/>
              </a:lnSpc>
            </a:pPr>
            <a:r>
              <a:rPr sz="1100" b="0">
                <a:solidFill>
                  <a:srgbClr val="606060"/>
                </a:solidFill>
                <a:latin typeface="Kanit"/>
              </a:rPr>
              <a:t>Everything else on this tab is monthly or quarterly. River levels and rainfall are pulled every day from ThaiWater, and they are the early-warning layer under the drought and flood picture.</a:t>
            </a:r>
          </a:p>
        </p:txBody>
      </p:sp>
      <p:sp>
        <p:nvSpPr>
          <p:cNvPr id="10" name="Rounded Rectangle 9"/>
          <p:cNvSpPr/>
          <p:nvPr/>
        </p:nvSpPr>
        <p:spPr>
          <a:xfrm>
            <a:off x="411480" y="1679448"/>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548640" y="1780032"/>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Stations above high mark</a:t>
            </a:r>
          </a:p>
        </p:txBody>
      </p:sp>
      <p:sp>
        <p:nvSpPr>
          <p:cNvPr id="12" name="TextBox 11"/>
          <p:cNvSpPr txBox="1"/>
          <p:nvPr/>
        </p:nvSpPr>
        <p:spPr>
          <a:xfrm>
            <a:off x="548640" y="1953768"/>
            <a:ext cx="2464308"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134</a:t>
            </a:r>
          </a:p>
        </p:txBody>
      </p:sp>
      <p:sp>
        <p:nvSpPr>
          <p:cNvPr id="13" name="TextBox 12"/>
          <p:cNvSpPr txBox="1"/>
          <p:nvPr/>
        </p:nvSpPr>
        <p:spPr>
          <a:xfrm>
            <a:off x="548640" y="2319528"/>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of 794 (16.9%) · up from 84 on 11 July</a:t>
            </a:r>
          </a:p>
        </p:txBody>
      </p:sp>
      <p:sp>
        <p:nvSpPr>
          <p:cNvPr id="14" name="Rounded Rectangle 13"/>
          <p:cNvSpPr/>
          <p:nvPr/>
        </p:nvSpPr>
        <p:spPr>
          <a:xfrm>
            <a:off x="3287268" y="1679448"/>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3424428" y="1780032"/>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Provinces with heavy rain</a:t>
            </a:r>
          </a:p>
        </p:txBody>
      </p:sp>
      <p:sp>
        <p:nvSpPr>
          <p:cNvPr id="16" name="TextBox 15"/>
          <p:cNvSpPr txBox="1"/>
          <p:nvPr/>
        </p:nvSpPr>
        <p:spPr>
          <a:xfrm>
            <a:off x="3424428" y="1953768"/>
            <a:ext cx="2464308"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31</a:t>
            </a:r>
          </a:p>
        </p:txBody>
      </p:sp>
      <p:sp>
        <p:nvSpPr>
          <p:cNvPr id="17" name="TextBox 16"/>
          <p:cNvSpPr txBox="1"/>
          <p:nvPr/>
        </p:nvSpPr>
        <p:spPr>
          <a:xfrm>
            <a:off x="3424428" y="2319528"/>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latest reading · 2026-08-03</a:t>
            </a:r>
          </a:p>
        </p:txBody>
      </p:sp>
      <p:sp>
        <p:nvSpPr>
          <p:cNvPr id="18" name="Rounded Rectangle 17"/>
          <p:cNvSpPr/>
          <p:nvPr/>
        </p:nvSpPr>
        <p:spPr>
          <a:xfrm>
            <a:off x="6163056" y="1679448"/>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6300216" y="1780032"/>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Heaviest 24h gauge</a:t>
            </a:r>
          </a:p>
        </p:txBody>
      </p:sp>
      <p:sp>
        <p:nvSpPr>
          <p:cNvPr id="20" name="TextBox 19"/>
          <p:cNvSpPr txBox="1"/>
          <p:nvPr/>
        </p:nvSpPr>
        <p:spPr>
          <a:xfrm>
            <a:off x="6300216" y="1953768"/>
            <a:ext cx="2464308" cy="330200"/>
          </a:xfrm>
          <a:prstGeom prst="rect">
            <a:avLst/>
          </a:prstGeom>
          <a:noFill/>
        </p:spPr>
        <p:txBody>
          <a:bodyPr wrap="square" lIns="0" rIns="0" tIns="0" bIns="0" anchor="t">
            <a:noAutofit/>
          </a:bodyPr>
          <a:lstStyle/>
          <a:p>
            <a:pPr algn="l">
              <a:lnSpc>
                <a:spcPts val="2600"/>
              </a:lnSpc>
            </a:pPr>
            <a:r>
              <a:rPr sz="2100" b="1">
                <a:solidFill>
                  <a:srgbClr val="1E2F5C"/>
                </a:solidFill>
                <a:latin typeface="Kanit"/>
              </a:rPr>
              <a:t>180mm</a:t>
            </a:r>
          </a:p>
        </p:txBody>
      </p:sp>
      <p:sp>
        <p:nvSpPr>
          <p:cNvPr id="21" name="TextBox 20"/>
          <p:cNvSpPr txBox="1"/>
          <p:nvPr/>
        </p:nvSpPr>
        <p:spPr>
          <a:xfrm>
            <a:off x="6300216" y="2319528"/>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2026-08-03 · the 08-02 reading hit 608mm</a:t>
            </a:r>
          </a:p>
        </p:txBody>
      </p:sp>
      <p:sp>
        <p:nvSpPr>
          <p:cNvPr id="22" name="Rounded Rectangle 21"/>
          <p:cNvSpPr/>
          <p:nvPr/>
        </p:nvSpPr>
        <p:spPr>
          <a:xfrm>
            <a:off x="9038844" y="1679448"/>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9176004" y="1780032"/>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Structural flood exposure</a:t>
            </a:r>
          </a:p>
        </p:txBody>
      </p:sp>
      <p:sp>
        <p:nvSpPr>
          <p:cNvPr id="24" name="TextBox 23"/>
          <p:cNvSpPr txBox="1"/>
          <p:nvPr/>
        </p:nvSpPr>
        <p:spPr>
          <a:xfrm>
            <a:off x="9176004" y="1953768"/>
            <a:ext cx="2464308"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34%</a:t>
            </a:r>
          </a:p>
        </p:txBody>
      </p:sp>
      <p:sp>
        <p:nvSpPr>
          <p:cNvPr id="25" name="TextBox 24"/>
          <p:cNvSpPr txBox="1"/>
          <p:nvPr/>
        </p:nvSpPr>
        <p:spPr>
          <a:xfrm>
            <a:off x="9176004" y="2319528"/>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685 of 2,015 branches on ground that flooded ≥7 of 12 yrs</a:t>
            </a:r>
          </a:p>
        </p:txBody>
      </p:sp>
      <p:sp>
        <p:nvSpPr>
          <p:cNvPr id="26" name="Rounded Rectangle 25"/>
          <p:cNvSpPr/>
          <p:nvPr/>
        </p:nvSpPr>
        <p:spPr>
          <a:xfrm>
            <a:off x="411480" y="2886456"/>
            <a:ext cx="754177" cy="192024"/>
          </a:xfrm>
          <a:prstGeom prst="roundRect">
            <a:avLst>
              <a:gd name="adj" fmla="val 50000"/>
            </a:avLst>
          </a:prstGeom>
          <a:noFill/>
          <a:ln w="9525">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411480" y="2915716"/>
            <a:ext cx="754177" cy="134112"/>
          </a:xfrm>
          <a:prstGeom prst="rect">
            <a:avLst/>
          </a:prstGeom>
          <a:noFill/>
        </p:spPr>
        <p:txBody>
          <a:bodyPr wrap="square" lIns="0" rIns="0" tIns="0" bIns="0" anchor="t">
            <a:noAutofit/>
          </a:bodyPr>
          <a:lstStyle/>
          <a:p>
            <a:pPr algn="ctr">
              <a:lnSpc>
                <a:spcPts val="1056"/>
              </a:lnSpc>
            </a:pPr>
            <a:r>
              <a:rPr sz="800" b="1">
                <a:solidFill>
                  <a:srgbClr val="15795F"/>
                </a:solidFill>
                <a:latin typeface="Kanit"/>
              </a:rPr>
              <a:t>MEASURED</a:t>
            </a:r>
          </a:p>
        </p:txBody>
      </p:sp>
      <p:sp>
        <p:nvSpPr>
          <p:cNvPr id="28" name="TextBox 27"/>
          <p:cNvSpPr txBox="1"/>
          <p:nvPr/>
        </p:nvSpPr>
        <p:spPr>
          <a:xfrm>
            <a:off x="1275385" y="2900172"/>
            <a:ext cx="10502086" cy="325755"/>
          </a:xfrm>
          <a:prstGeom prst="rect">
            <a:avLst/>
          </a:prstGeom>
          <a:noFill/>
        </p:spPr>
        <p:txBody>
          <a:bodyPr wrap="square" lIns="0" rIns="0" tIns="0" bIns="0" anchor="t">
            <a:noAutofit/>
          </a:bodyPr>
          <a:lstStyle/>
          <a:p>
            <a:pPr algn="l">
              <a:lnSpc>
                <a:spcPts val="1282"/>
              </a:lnSpc>
            </a:pPr>
            <a:r>
              <a:rPr sz="950" b="0">
                <a:solidFill>
                  <a:srgbClr val="606060"/>
                </a:solidFill>
                <a:latin typeface="Kanit"/>
              </a:rPr>
              <a:t>ThaiWater live telemetry, pulled daily and accumulated — nothing interpolated, a missed pull leaves a gap rather than an invented point. Structural flood exposure is the GISTDA 1:50,000 repeated-flooding census, 2005–2016.</a:t>
            </a:r>
          </a:p>
        </p:txBody>
      </p:sp>
      <p:sp>
        <p:nvSpPr>
          <p:cNvPr id="29" name="Rectangle 28"/>
          <p:cNvSpPr/>
          <p:nvPr/>
        </p:nvSpPr>
        <p:spPr>
          <a:xfrm>
            <a:off x="411480" y="3413379"/>
            <a:ext cx="11365992" cy="854456"/>
          </a:xfrm>
          <a:prstGeom prst="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Rectangle 29"/>
          <p:cNvSpPr/>
          <p:nvPr/>
        </p:nvSpPr>
        <p:spPr>
          <a:xfrm>
            <a:off x="411480" y="3413379"/>
            <a:ext cx="50292" cy="85445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TextBox 30"/>
          <p:cNvSpPr txBox="1"/>
          <p:nvPr/>
        </p:nvSpPr>
        <p:spPr>
          <a:xfrm>
            <a:off x="630936" y="3559683"/>
            <a:ext cx="11036808" cy="158750"/>
          </a:xfrm>
          <a:prstGeom prst="rect">
            <a:avLst/>
          </a:prstGeom>
          <a:noFill/>
        </p:spPr>
        <p:txBody>
          <a:bodyPr wrap="square" lIns="0" rIns="0" tIns="0" bIns="0" anchor="t">
            <a:noAutofit/>
          </a:bodyPr>
          <a:lstStyle/>
          <a:p>
            <a:pPr algn="l">
              <a:lnSpc>
                <a:spcPts val="1250"/>
              </a:lnSpc>
            </a:pPr>
            <a:r>
              <a:rPr sz="950" b="1">
                <a:solidFill>
                  <a:srgbClr val="1E2F5C"/>
                </a:solidFill>
                <a:latin typeface="Kanit"/>
              </a:rPr>
              <a:t>Two different things, deliberately kept apart</a:t>
            </a:r>
          </a:p>
        </p:txBody>
      </p:sp>
      <p:sp>
        <p:nvSpPr>
          <p:cNvPr id="32" name="TextBox 31"/>
          <p:cNvSpPr txBox="1"/>
          <p:nvPr/>
        </p:nvSpPr>
        <p:spPr>
          <a:xfrm>
            <a:off x="630936" y="3764153"/>
            <a:ext cx="11036808" cy="357378"/>
          </a:xfrm>
          <a:prstGeom prst="rect">
            <a:avLst/>
          </a:prstGeom>
          <a:noFill/>
        </p:spPr>
        <p:txBody>
          <a:bodyPr wrap="square" lIns="0" rIns="0" tIns="0" bIns="0" anchor="t">
            <a:noAutofit/>
          </a:bodyPr>
          <a:lstStyle/>
          <a:p>
            <a:pPr algn="l">
              <a:lnSpc>
                <a:spcPts val="1407"/>
              </a:lnSpc>
            </a:pPr>
            <a:r>
              <a:rPr sz="1050" b="0">
                <a:solidFill>
                  <a:srgbClr val="1E2F5C"/>
                </a:solidFill>
                <a:latin typeface="Kanit"/>
              </a:rPr>
              <a:t>The live pulse says what is happening this week. The structural census says which ground floods repeatedly, whatever the weather is doing today. The second is a hazard flag — did the ground flood, how often — and explicitly not a flooded-area or loss estimate, because the source’s per-event polygons overlap and any area total drawn from them would be wrong.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07 · WHAT THIS TAB CANNOT TELL YOU</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Four gaps, said plainly.</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TextBox 8"/>
          <p:cNvSpPr txBox="1"/>
          <p:nvPr/>
        </p:nvSpPr>
        <p:spPr>
          <a:xfrm>
            <a:off x="411480" y="1152144"/>
            <a:ext cx="11365992" cy="190500"/>
          </a:xfrm>
          <a:prstGeom prst="rect">
            <a:avLst/>
          </a:prstGeom>
          <a:noFill/>
        </p:spPr>
        <p:txBody>
          <a:bodyPr wrap="square" lIns="0" rIns="0" tIns="0" bIns="0" anchor="t">
            <a:noAutofit/>
          </a:bodyPr>
          <a:lstStyle/>
          <a:p>
            <a:pPr algn="l">
              <a:lnSpc>
                <a:spcPts val="1500"/>
              </a:lnSpc>
            </a:pPr>
            <a:r>
              <a:rPr sz="1100" b="0">
                <a:solidFill>
                  <a:srgbClr val="606060"/>
                </a:solidFill>
                <a:latin typeface="Kanit"/>
              </a:rPr>
              <a:t>A number whose weakness is stated is worth more in a committee room than one that is quietly wrong.</a:t>
            </a:r>
          </a:p>
        </p:txBody>
      </p:sp>
      <p:sp>
        <p:nvSpPr>
          <p:cNvPr id="10" name="Rectangle 9"/>
          <p:cNvSpPr/>
          <p:nvPr/>
        </p:nvSpPr>
        <p:spPr>
          <a:xfrm>
            <a:off x="411480" y="1543812"/>
            <a:ext cx="11365992" cy="667258"/>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411480" y="1543812"/>
            <a:ext cx="50292" cy="667258"/>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630936" y="1690116"/>
            <a:ext cx="11036808"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The current account is a single month, not a trend</a:t>
            </a:r>
          </a:p>
        </p:txBody>
      </p:sp>
      <p:sp>
        <p:nvSpPr>
          <p:cNvPr id="13" name="TextBox 12"/>
          <p:cNvSpPr txBox="1"/>
          <p:nvPr/>
        </p:nvSpPr>
        <p:spPr>
          <a:xfrm>
            <a:off x="630936" y="1894585"/>
            <a:ext cx="11036808" cy="17018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April 2026 shows −7,591 USD million against a trailing-twelve-month figure of roughly +847M. The trailing aggregate is not built yet, so the chip is withheld rather than shown misleadingly.</a:t>
            </a:r>
          </a:p>
        </p:txBody>
      </p:sp>
      <p:sp>
        <p:nvSpPr>
          <p:cNvPr id="14" name="Rectangle 13"/>
          <p:cNvSpPr/>
          <p:nvPr/>
        </p:nvSpPr>
        <p:spPr>
          <a:xfrm>
            <a:off x="411480" y="2329942"/>
            <a:ext cx="11365992" cy="667258"/>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Rectangle 14"/>
          <p:cNvSpPr/>
          <p:nvPr/>
        </p:nvSpPr>
        <p:spPr>
          <a:xfrm>
            <a:off x="411480" y="2329942"/>
            <a:ext cx="50292" cy="667258"/>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630936" y="2476246"/>
            <a:ext cx="11036808"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Government debt has no Thai source yet</a:t>
            </a:r>
          </a:p>
        </p:txBody>
      </p:sp>
      <p:sp>
        <p:nvSpPr>
          <p:cNvPr id="17" name="TextBox 16"/>
          <p:cNvSpPr txBox="1"/>
          <p:nvPr/>
        </p:nvSpPr>
        <p:spPr>
          <a:xfrm>
            <a:off x="630936" y="2680716"/>
            <a:ext cx="11036808" cy="17018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It still reads from the IMF at 2025 vintage while every other chip on the strip is Thai-official and current.</a:t>
            </a:r>
          </a:p>
        </p:txBody>
      </p:sp>
      <p:sp>
        <p:nvSpPr>
          <p:cNvPr id="18" name="Rectangle 17"/>
          <p:cNvSpPr/>
          <p:nvPr/>
        </p:nvSpPr>
        <p:spPr>
          <a:xfrm>
            <a:off x="411480" y="3116072"/>
            <a:ext cx="11365992" cy="837438"/>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411480" y="3116072"/>
            <a:ext cx="50292" cy="837438"/>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630936" y="3262376"/>
            <a:ext cx="11036808"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The ฿44bn co-pay figure is unconfirmed</a:t>
            </a:r>
          </a:p>
        </p:txBody>
      </p:sp>
      <p:sp>
        <p:nvSpPr>
          <p:cNvPr id="21" name="TextBox 20"/>
          <p:cNvSpPr txBox="1"/>
          <p:nvPr/>
        </p:nvSpPr>
        <p:spPr>
          <a:xfrm>
            <a:off x="630936" y="3466846"/>
            <a:ext cx="11036808" cy="34036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The likely referent is ไทยช่วยไทย พลัส — cabinet-approved 2026-05-19, government portion ≈฿49.6bn at its two-month mark — but it does not cleanly match ฿44bn, so it has been left rather than guessed at.</a:t>
            </a:r>
          </a:p>
        </p:txBody>
      </p:sp>
      <p:sp>
        <p:nvSpPr>
          <p:cNvPr id="22" name="Rectangle 21"/>
          <p:cNvSpPr/>
          <p:nvPr/>
        </p:nvSpPr>
        <p:spPr>
          <a:xfrm>
            <a:off x="411480" y="4072382"/>
            <a:ext cx="11365992" cy="667258"/>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Rectangle 22"/>
          <p:cNvSpPr/>
          <p:nvPr/>
        </p:nvSpPr>
        <p:spPr>
          <a:xfrm>
            <a:off x="411480" y="4072382"/>
            <a:ext cx="50292" cy="667258"/>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630936" y="4218686"/>
            <a:ext cx="11036808"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Drought is modelled, not observed</a:t>
            </a:r>
          </a:p>
        </p:txBody>
      </p:sp>
      <p:sp>
        <p:nvSpPr>
          <p:cNvPr id="25" name="TextBox 24"/>
          <p:cNvSpPr txBox="1"/>
          <p:nvPr/>
        </p:nvSpPr>
        <p:spPr>
          <a:xfrm>
            <a:off x="630936" y="4423156"/>
            <a:ext cx="11036808" cy="17018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SPEI is an index derived from rainfall and evapotranspiration. It is the best national-coverage signal available, but no one has walked those 338 districts.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08 · SO WHAT</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Three things the macro picture asks of us.</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TextBox 8"/>
          <p:cNvSpPr txBox="1"/>
          <p:nvPr/>
        </p:nvSpPr>
        <p:spPr>
          <a:xfrm>
            <a:off x="411480" y="1152144"/>
            <a:ext cx="2651760" cy="212725"/>
          </a:xfrm>
          <a:prstGeom prst="rect">
            <a:avLst/>
          </a:prstGeom>
          <a:noFill/>
        </p:spPr>
        <p:txBody>
          <a:bodyPr wrap="square" lIns="0" rIns="0" tIns="0" bIns="0" anchor="t">
            <a:noAutofit/>
          </a:bodyPr>
          <a:lstStyle/>
          <a:p>
            <a:pPr algn="l">
              <a:lnSpc>
                <a:spcPts val="1675"/>
              </a:lnSpc>
            </a:pPr>
            <a:r>
              <a:rPr sz="1250" b="1">
                <a:solidFill>
                  <a:srgbClr val="1E2F5C"/>
                </a:solidFill>
                <a:latin typeface="Kanit"/>
              </a:rPr>
              <a:t>Collateral valuation</a:t>
            </a:r>
          </a:p>
        </p:txBody>
      </p:sp>
      <p:sp>
        <p:nvSpPr>
          <p:cNvPr id="10" name="TextBox 9"/>
          <p:cNvSpPr txBox="1"/>
          <p:nvPr/>
        </p:nvSpPr>
        <p:spPr>
          <a:xfrm>
            <a:off x="3337560" y="1152144"/>
            <a:ext cx="8439911" cy="425450"/>
          </a:xfrm>
          <a:prstGeom prst="rect">
            <a:avLst/>
          </a:prstGeom>
          <a:noFill/>
        </p:spPr>
        <p:txBody>
          <a:bodyPr wrap="square" lIns="0" rIns="0" tIns="0" bIns="0" anchor="t">
            <a:noAutofit/>
          </a:bodyPr>
          <a:lstStyle/>
          <a:p>
            <a:pPr algn="l">
              <a:lnSpc>
                <a:spcPts val="1675"/>
              </a:lnSpc>
            </a:pPr>
            <a:r>
              <a:rPr sz="1250" b="0">
                <a:solidFill>
                  <a:srgbClr val="2A3346"/>
                </a:solidFill>
                <a:latin typeface="Kanit"/>
              </a:rPr>
              <a:t>Pickup resale is 33 points below its own 2015 base and the gap to cars opened only in 2022. If advance rates on pickup titles were set against pre-2022 behaviour, they are set against a market that no longer exists.</a:t>
            </a:r>
          </a:p>
        </p:txBody>
      </p:sp>
      <p:sp>
        <p:nvSpPr>
          <p:cNvPr id="11" name="Rectangle 10"/>
          <p:cNvSpPr/>
          <p:nvPr/>
        </p:nvSpPr>
        <p:spPr>
          <a:xfrm>
            <a:off x="411480" y="1696466"/>
            <a:ext cx="11365992" cy="10972"/>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411480" y="1815338"/>
            <a:ext cx="2651760" cy="212725"/>
          </a:xfrm>
          <a:prstGeom prst="rect">
            <a:avLst/>
          </a:prstGeom>
          <a:noFill/>
        </p:spPr>
        <p:txBody>
          <a:bodyPr wrap="square" lIns="0" rIns="0" tIns="0" bIns="0" anchor="t">
            <a:noAutofit/>
          </a:bodyPr>
          <a:lstStyle/>
          <a:p>
            <a:pPr algn="l">
              <a:lnSpc>
                <a:spcPts val="1675"/>
              </a:lnSpc>
            </a:pPr>
            <a:r>
              <a:rPr sz="1250" b="1">
                <a:solidFill>
                  <a:srgbClr val="1E2F5C"/>
                </a:solidFill>
                <a:latin typeface="Kanit"/>
              </a:rPr>
              <a:t>Collateral supply</a:t>
            </a:r>
          </a:p>
        </p:txBody>
      </p:sp>
      <p:sp>
        <p:nvSpPr>
          <p:cNvPr id="13" name="TextBox 12"/>
          <p:cNvSpPr txBox="1"/>
          <p:nvPr/>
        </p:nvSpPr>
        <p:spPr>
          <a:xfrm>
            <a:off x="3337560" y="1815338"/>
            <a:ext cx="8439911" cy="425450"/>
          </a:xfrm>
          <a:prstGeom prst="rect">
            <a:avLst/>
          </a:prstGeom>
          <a:noFill/>
        </p:spPr>
        <p:txBody>
          <a:bodyPr wrap="square" lIns="0" rIns="0" tIns="0" bIns="0" anchor="t">
            <a:noAutofit/>
          </a:bodyPr>
          <a:lstStyle/>
          <a:p>
            <a:pPr algn="l">
              <a:lnSpc>
                <a:spcPts val="1675"/>
              </a:lnSpc>
            </a:pPr>
            <a:r>
              <a:rPr sz="1250" b="0">
                <a:solidFill>
                  <a:srgbClr val="2A3346"/>
                </a:solidFill>
                <a:latin typeface="Kanit"/>
              </a:rPr>
              <a:t>New pickup inflow is down 59% in three years while cars and motorcycles are flat. The pool we will be lending against in 2030 is being determined now, and it is shrinking faster than the fleet is.</a:t>
            </a:r>
          </a:p>
        </p:txBody>
      </p:sp>
      <p:sp>
        <p:nvSpPr>
          <p:cNvPr id="14" name="Rectangle 13"/>
          <p:cNvSpPr/>
          <p:nvPr/>
        </p:nvSpPr>
        <p:spPr>
          <a:xfrm>
            <a:off x="411480" y="2359660"/>
            <a:ext cx="11365992" cy="10972"/>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411480" y="2478532"/>
            <a:ext cx="2651760" cy="212725"/>
          </a:xfrm>
          <a:prstGeom prst="rect">
            <a:avLst/>
          </a:prstGeom>
          <a:noFill/>
        </p:spPr>
        <p:txBody>
          <a:bodyPr wrap="square" lIns="0" rIns="0" tIns="0" bIns="0" anchor="t">
            <a:noAutofit/>
          </a:bodyPr>
          <a:lstStyle/>
          <a:p>
            <a:pPr algn="l">
              <a:lnSpc>
                <a:spcPts val="1675"/>
              </a:lnSpc>
            </a:pPr>
            <a:r>
              <a:rPr sz="1250" b="1">
                <a:solidFill>
                  <a:srgbClr val="1E2F5C"/>
                </a:solidFill>
                <a:latin typeface="Kanit"/>
              </a:rPr>
              <a:t>Borrower stress</a:t>
            </a:r>
          </a:p>
        </p:txBody>
      </p:sp>
      <p:sp>
        <p:nvSpPr>
          <p:cNvPr id="16" name="TextBox 15"/>
          <p:cNvSpPr txBox="1"/>
          <p:nvPr/>
        </p:nvSpPr>
        <p:spPr>
          <a:xfrm>
            <a:off x="3337560" y="2478532"/>
            <a:ext cx="8439911" cy="638175"/>
          </a:xfrm>
          <a:prstGeom prst="rect">
            <a:avLst/>
          </a:prstGeom>
          <a:noFill/>
        </p:spPr>
        <p:txBody>
          <a:bodyPr wrap="square" lIns="0" rIns="0" tIns="0" bIns="0" anchor="t">
            <a:noAutofit/>
          </a:bodyPr>
          <a:lstStyle/>
          <a:p>
            <a:pPr algn="l">
              <a:lnSpc>
                <a:spcPts val="1675"/>
              </a:lnSpc>
            </a:pPr>
            <a:r>
              <a:rPr sz="1250" b="0">
                <a:solidFill>
                  <a:srgbClr val="2A3346"/>
                </a:solidFill>
                <a:latin typeface="Kanit"/>
              </a:rPr>
              <a:t>Watch drought, the Thai farm gate and informality — and not the unemployment rate, which is meaningless in a 63.2% informal economy. 36.4% of districts are dry; nine farm-gate prices are negative; 60% of households cannot cover three months without income.</a:t>
            </a:r>
          </a:p>
        </p:txBody>
      </p:sp>
      <p:sp>
        <p:nvSpPr>
          <p:cNvPr id="17" name="Rectangle 16"/>
          <p:cNvSpPr/>
          <p:nvPr/>
        </p:nvSpPr>
        <p:spPr>
          <a:xfrm>
            <a:off x="411480" y="3455035"/>
            <a:ext cx="11365992" cy="675767"/>
          </a:xfrm>
          <a:prstGeom prst="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411480" y="3455035"/>
            <a:ext cx="50292" cy="675767"/>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630936" y="3601339"/>
            <a:ext cx="11036808" cy="158750"/>
          </a:xfrm>
          <a:prstGeom prst="rect">
            <a:avLst/>
          </a:prstGeom>
          <a:noFill/>
        </p:spPr>
        <p:txBody>
          <a:bodyPr wrap="square" lIns="0" rIns="0" tIns="0" bIns="0" anchor="t">
            <a:noAutofit/>
          </a:bodyPr>
          <a:lstStyle/>
          <a:p>
            <a:pPr algn="l">
              <a:lnSpc>
                <a:spcPts val="1250"/>
              </a:lnSpc>
            </a:pPr>
            <a:r>
              <a:rPr sz="950" b="1">
                <a:solidFill>
                  <a:srgbClr val="1E2F5C"/>
                </a:solidFill>
                <a:latin typeface="Kanit"/>
              </a:rPr>
              <a:t>Scope, stated</a:t>
            </a:r>
          </a:p>
        </p:txBody>
      </p:sp>
      <p:sp>
        <p:nvSpPr>
          <p:cNvPr id="20" name="TextBox 19"/>
          <p:cNvSpPr txBox="1"/>
          <p:nvPr/>
        </p:nvSpPr>
        <p:spPr>
          <a:xfrm>
            <a:off x="630936" y="3805809"/>
            <a:ext cx="11036808" cy="178689"/>
          </a:xfrm>
          <a:prstGeom prst="rect">
            <a:avLst/>
          </a:prstGeom>
          <a:noFill/>
        </p:spPr>
        <p:txBody>
          <a:bodyPr wrap="square" lIns="0" rIns="0" tIns="0" bIns="0" anchor="t">
            <a:noAutofit/>
          </a:bodyPr>
          <a:lstStyle/>
          <a:p>
            <a:pPr algn="l">
              <a:lnSpc>
                <a:spcPts val="1407"/>
              </a:lnSpc>
            </a:pPr>
            <a:r>
              <a:rPr sz="1050" b="0">
                <a:solidFill>
                  <a:srgbClr val="1E2F5C"/>
                </a:solidFill>
                <a:latin typeface="Kanit"/>
              </a:rPr>
              <a:t>All three are readings of the network and book we already run. Nothing on this tab is an argument to open, close or expand anything.</a:t>
            </a:r>
          </a:p>
        </p:txBody>
      </p:sp>
      <p:sp>
        <p:nvSpPr>
          <p:cNvPr id="21" name="TextBox 20"/>
          <p:cNvSpPr txBox="1"/>
          <p:nvPr/>
        </p:nvSpPr>
        <p:spPr>
          <a:xfrm>
            <a:off x="411480" y="4313682"/>
            <a:ext cx="11365992" cy="317500"/>
          </a:xfrm>
          <a:prstGeom prst="rect">
            <a:avLst/>
          </a:prstGeom>
          <a:noFill/>
        </p:spPr>
        <p:txBody>
          <a:bodyPr wrap="square" lIns="0" rIns="0" tIns="0" bIns="0" anchor="t">
            <a:noAutofit/>
          </a:bodyPr>
          <a:lstStyle/>
          <a:p>
            <a:pPr algn="l">
              <a:lnSpc>
                <a:spcPts val="1250"/>
              </a:lnSpc>
            </a:pPr>
            <a:r>
              <a:rPr sz="900" b="0">
                <a:solidFill>
                  <a:srgbClr val="606060"/>
                </a:solidFill>
                <a:latin typeface="Kanit"/>
              </a:rPr>
              <a:t>Vintages — world prices 2026M06 · Thai farm gate 2026-08-02 · drought 2026-06-21 · CPI 2026-05 · GDP 2026-Q1 · resale index 2026-05 · registrations 2025 · telemetry 2026-08-03.   Every figure is reproducible from platform/data/ and gated by tests/run.sh check.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