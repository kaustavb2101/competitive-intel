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Scope: the Macro tab — external conditions only. The economy, crop prices and the used-vehicle market, all published by someone else. What any of it costs us is the Exposure and Risk conversation; competition and the branch views are separate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take one thing: the macro is stable, the crops are mixed, the collateral is deteriorating — and the borrower was already thin before any of it. Scope is external conditions; the book readouts live on Exposure and Risk, not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Economy is fine — the region and the arrears line are the story. Slow growth, thin fiscal cushion, arrears up in most of the last year. Less relief room than 2020–21.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drill goes from a national number to a district without changing instrument. Household debt is now months of income, not baht — that's the underwriting frame. If someone reaches for near-zero unemployment as evidence the borrower is fine, this is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points. First, the world index and the Thai farm gate can face opposite ways, and only one of them is what a Thai grower is paid — beef is the clean example. Second, the last column is farmers, not all accounts: the app's 'book exposed' number counts every borrower in the belt and about four in five of them are not farming.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YoY hides a slow move: sugar is down most months since its 2023 peak, not a one-off dip; rubber only just cleared its own 2021 level. We convert only the latest price to baht — the five-year peak stays in US$ so we don’t mix an old price with today’s FX.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earns agriculture a section is that its hazards are external and forecastable — price, cost, rainfall — which is rare. The crop-mix column is now the full published mix for each province, every crop, summing to 100 — not just the lead crop.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profitability argument is gone on purpose — it covered five crops and invited a fight about which published price is right. This shows the price the grower is actually paid, for every commodity we can measure, with its own six-month line. The point to land: year-on-year and six-month disagree on direction for several of them, so a single annual number is not enough to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things: farming is up everywhere and still under half the local wage — size the programme off the floor province, not the mean. Be upfront that the transport number is one national assumption, not five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clocks, kept apart: SPEI is the season (modelled, monthly), ThaiWater is today (measured, live). GISTDA is a third, separate thing — which ground floods anyway — its own card, never blended into either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on how many of four signals tripped, not on two of them — that is why สิงห์บุรี appears despite low debt. The crop test trips almost everywhere and does not discriminate; debt, jobs and rain do. Geographies, not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Everything before was conditions on the borrower; this is conditions on the security, which is the part with an underwriting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windows: pickup +12.5% over six months but −0.4% over twelve — the fall has stopped, not reversed. Level still well below 2015.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Pickup's six-month slope is not a recovery — ex-flag it is -986/mo. The same month inflates car growth from +11.0% to +34.3%. Quote the 12-month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 pool shrinks without changing shape — residual values stay predictable. Cars are the opposite: a growing share carries no Thai residual record to price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Advance rates are set per model, not brand. PU is five rows we can price from history. PA is a long tail of models registered for the first time this year — the trim-split caveat makes PA shares a floor, but it does not change the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first: this is what ENTERED the road each year, not what is on it — DLT publishes no stock by model, so the parc by nameplate cannot be built. What it shows is a four-year collapse in pickup supply with the same nameplates on top throughout, which is a volume problem rather than a mix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the table: pickup is both the smallest class of the three and the slowest to turn over. Turnover is the depth a repossession actually sells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short asks, easiest slide in the deck to read. The farm-income ask now stands on the price shock, not the OAE cost table — that argument left with 06. Close on scope: external conditions only, no book, no open/close/expand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Macro: the conditions
we are lending into.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Wednesday 5 August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Aug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THE ANSWER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Four questions about the world outside the company.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Is the economy
the problem?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 — stable, not strong.
• GDP +2.8%, CPI +2.79% — both above the IMF's 2026 forecast. Policy rate 1.00%.
• Slowest growth in ASEAN-5: Thailand 1.5% vs Vietnam 7.1%.
• Government debt 66.8% of GDP vs Vietnam's 29.8% — thinnest cushion in the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Are crop prices
the problem?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+11.8%.
• Margin over price: a 26% price move becomes an 87%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What is
deteriorating?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The collateral — the used-pickup (รถกระบะ) market.
• Resale value −50% off peak, -33 pts below its 2015 base.
• New pickup registrations −15.3% year on year.
• Hilux Revo −21.5%, worst nameplate Ranger −30.0%.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And the
borrower?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Thin before any of this.
• Farming pays ฿7,157–14,213/month vs an employee wage of ฿13,676–17,723.
• Three of five full-cost crops pay below cost of production.
• 60% of households have no 3-month cushion; arrears rose in three of the last four quarters.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NESDC · TPSO · Bank of Thailand · BIS · ECB · IMF · World Bank · NABC · OAE · DLT · MOT · NSO · ThaiWater. Each page carries its own chip and vintage; where a figure is modelled rather than published it is labelled ESTIMATED.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What follows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macro backdrop        03–08  agriculture: prices, belts, cost, income, water        09  where to reach out first        10  collateral        11  what it asks of 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MACRO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Benign at home, slowest in the region, and system arrears are turning.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GDP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YoY · measured quarter, not a projection · NESDC 2026-Q1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headline CPI YoY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Policy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Bank of Thailand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33.12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ECB reference · 2026-08-14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GDP · BIS · 2025-Q4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Tourist arrivals นักท่องเที่ยว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trailing 12m · −6.6% YoY · BoT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IMF 2026 projection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GDP growth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Inflation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Govt debt/GDP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Thailand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Vietnam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Indonesia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Malaysia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Philippines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System NPL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Thai banking-system NPL หนี้เสีย, % of loans · 40 quarters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NESDC 2026-Q1 · TPSO 2026-05 · Bank of Thailand 2026-06 · BIS 2025-Q4 · ECB 2026-08-14, each pulled from the publishing agency. IMF World Economic Outlook 2026 (pulled 2026-07-25) for the peer table. BoT published NPL ratio — 4.48% at 2026-Q1, 4.33% the quarter before, +0.24pp on the year, 3.08% low in 2021-Q1.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Growth beat the IMF's own 2026 forecast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Growth: IMF forecast 1.5%, actual +2.8%.
• Inflation: IMF forecast 0.9%, actual +2.79%.
• We use the Thai number over the projection, wherever one exists.
• Exception: tourism, −6.6% YoY (trailing 12 months) — feeds informal income in the South and East, missing from crop and fleet data.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Slowest growth in the region, least room to cushion 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Thailand grows 1.5%. The rest of the region runs 4.1–7.1%.
• Govt debt 66.8% of GDP vs Vietnam's 29.8%.
• Less fiscal room for relief than in 2020–21.
• System arrears rose in three of the last four quarters — bank loans, a direction not a benchmark.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CONDITIONS ON THE 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lenses, from the country down to a district.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Labour force 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unemployment 0.94% · seasonal idle 0.77%, 325k waiting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Informal work 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no payslip or social cover · core borrower base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Vehicle fleet 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diesel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dry ภัยแล้ง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of 928 districts · 123 of 796 rivers high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debt ÷ monthly income, all households · 45% carry debt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No cushion 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savings buffer, not debt — would last under 3 months without income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labour force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seasonal idle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vehicle fleet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diesel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districts dry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rivers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new firms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29/157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21/274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6/52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41/145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NSO LFS · ILOSTAT · DLT · MOT · DBD · ThaiWater · BoT/NSO household debt. Labour, fleet and water roll province → region → national on their own weight, never a plain average. The debt card is BoT/NSO 2562 (2019), ALL households — not only the 45% carrying debt. The table's region column is a newer cut, 2566 (2023), in baht: income is not published at region grain for enough regions to convert it. East shares Central's figure.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0.94% unemployment hides informal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A lost formal job reappears as informal work, not as unemployment — on lower, less predictable pay. Read informality, seasonal idle and the cushion instead. Isan's seasonal idle is 4.8× the North's.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COMMODITY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world index says tailwind. The Thai farm gate does not.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Six months beside the year: they disagree on direction more often than they agree on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The last column is OUR farming customers living in that belt — the only loan-book number in this deck.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Falling at the farm gate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Segment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6m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accounts in 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our accounts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Coconut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−67.6%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Pineapple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E · W · 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+47.7%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 ·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Rambutan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Beef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617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Prices MEASURED — NABC daily quotes for the Thai farm gate, OCSB announced cane price; newest quote 2026-08-13. The six-month move is computed from NABC's own monthly series (thai_price_history, vintage 2026-08-02); a crop with no monthly series is marked, never estimated. Belt is an ESTIMATED read of where each commodity is produced, and belts overlap. Farming accounts are OURS and MEASURED — accounts whose recorded occupation is เกษตร in the belt provinces, from the 382,735-account tape at 2026-07; no cell below 30 accounts is published. They live where the crop grows; they are not confirmed to grow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524756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524756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67106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Beef: the world index is the wrong instrument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875529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World beef +11.8%, Thai farm gate −6.1% — a 17.9-point gap, opposite directions. 31,240 of our farming customers live in the beef belt, Isan.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FIVE YEARS OF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Sugar has not fallen for a year. It has fallen for four.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Sugar 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Palm oil 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Rice 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Rubber 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1995005"/>
            <a:ext cx="6428232" cy="1131906"/>
          </a:xfrm>
          <a:custGeom>
            <a:avLst/>
            <a:gdLst/>
            <a:ahLst/>
            <a:cxnLst/>
            <a:rect l="l" t="t" r="r" b="b"/>
            <a:pathLst>
              <a:path w="6428232" h="1131906">
                <a:moveTo>
                  <a:pt x="0" y="783628"/>
                </a:moveTo>
                <a:lnTo>
                  <a:pt x="108953" y="759881"/>
                </a:lnTo>
                <a:lnTo>
                  <a:pt x="217906" y="846951"/>
                </a:lnTo>
                <a:lnTo>
                  <a:pt x="326859" y="783628"/>
                </a:lnTo>
                <a:lnTo>
                  <a:pt x="435812" y="736135"/>
                </a:lnTo>
                <a:lnTo>
                  <a:pt x="544765" y="744050"/>
                </a:lnTo>
                <a:lnTo>
                  <a:pt x="653718" y="704473"/>
                </a:lnTo>
                <a:lnTo>
                  <a:pt x="762671" y="593657"/>
                </a:lnTo>
                <a:lnTo>
                  <a:pt x="871624" y="585742"/>
                </a:lnTo>
                <a:lnTo>
                  <a:pt x="980577" y="609488"/>
                </a:lnTo>
                <a:lnTo>
                  <a:pt x="1089530" y="633234"/>
                </a:lnTo>
                <a:lnTo>
                  <a:pt x="1198483" y="656981"/>
                </a:lnTo>
                <a:lnTo>
                  <a:pt x="1307437" y="854866"/>
                </a:lnTo>
                <a:lnTo>
                  <a:pt x="1416390" y="989429"/>
                </a:lnTo>
                <a:lnTo>
                  <a:pt x="1525343" y="1092329"/>
                </a:lnTo>
                <a:lnTo>
                  <a:pt x="1634296" y="1076498"/>
                </a:lnTo>
                <a:lnTo>
                  <a:pt x="1743249" y="1131906"/>
                </a:lnTo>
                <a:lnTo>
                  <a:pt x="1852202" y="1044837"/>
                </a:lnTo>
                <a:lnTo>
                  <a:pt x="1961155" y="973598"/>
                </a:lnTo>
                <a:lnTo>
                  <a:pt x="2070108" y="981513"/>
                </a:lnTo>
                <a:lnTo>
                  <a:pt x="2179061" y="1013175"/>
                </a:lnTo>
                <a:lnTo>
                  <a:pt x="2288014" y="1044837"/>
                </a:lnTo>
                <a:lnTo>
                  <a:pt x="2396967" y="1029006"/>
                </a:lnTo>
                <a:lnTo>
                  <a:pt x="2505920" y="1052752"/>
                </a:lnTo>
                <a:lnTo>
                  <a:pt x="2614874" y="1084414"/>
                </a:lnTo>
                <a:lnTo>
                  <a:pt x="2723827" y="1100245"/>
                </a:lnTo>
                <a:lnTo>
                  <a:pt x="2832780" y="1036921"/>
                </a:lnTo>
                <a:lnTo>
                  <a:pt x="2941733" y="989429"/>
                </a:lnTo>
                <a:lnTo>
                  <a:pt x="3050686" y="941936"/>
                </a:lnTo>
                <a:lnTo>
                  <a:pt x="3159639" y="949851"/>
                </a:lnTo>
                <a:lnTo>
                  <a:pt x="3268592" y="839035"/>
                </a:lnTo>
                <a:lnTo>
                  <a:pt x="3377545" y="664896"/>
                </a:lnTo>
                <a:lnTo>
                  <a:pt x="3486498" y="372025"/>
                </a:lnTo>
                <a:lnTo>
                  <a:pt x="3595451" y="459095"/>
                </a:lnTo>
                <a:lnTo>
                  <a:pt x="3704404" y="561996"/>
                </a:lnTo>
                <a:lnTo>
                  <a:pt x="3813357" y="474926"/>
                </a:lnTo>
                <a:lnTo>
                  <a:pt x="3922311" y="633234"/>
                </a:lnTo>
                <a:lnTo>
                  <a:pt x="4031264" y="372025"/>
                </a:lnTo>
                <a:lnTo>
                  <a:pt x="4140217" y="166224"/>
                </a:lnTo>
                <a:lnTo>
                  <a:pt x="4249170" y="182055"/>
                </a:lnTo>
                <a:lnTo>
                  <a:pt x="4358123" y="451180"/>
                </a:lnTo>
                <a:lnTo>
                  <a:pt x="4467076" y="379941"/>
                </a:lnTo>
                <a:lnTo>
                  <a:pt x="4576029" y="387856"/>
                </a:lnTo>
                <a:lnTo>
                  <a:pt x="4684982" y="356194"/>
                </a:lnTo>
                <a:lnTo>
                  <a:pt x="4793935" y="395772"/>
                </a:lnTo>
                <a:lnTo>
                  <a:pt x="4902888" y="577826"/>
                </a:lnTo>
                <a:lnTo>
                  <a:pt x="5011841" y="530334"/>
                </a:lnTo>
                <a:lnTo>
                  <a:pt x="5120794" y="554080"/>
                </a:lnTo>
                <a:lnTo>
                  <a:pt x="5229748" y="498672"/>
                </a:lnTo>
                <a:lnTo>
                  <a:pt x="5338701" y="561996"/>
                </a:lnTo>
                <a:lnTo>
                  <a:pt x="5447654" y="593657"/>
                </a:lnTo>
                <a:lnTo>
                  <a:pt x="5556607" y="680727"/>
                </a:lnTo>
                <a:lnTo>
                  <a:pt x="5665560" y="656981"/>
                </a:lnTo>
                <a:lnTo>
                  <a:pt x="5774513" y="633234"/>
                </a:lnTo>
                <a:lnTo>
                  <a:pt x="5883466" y="569911"/>
                </a:lnTo>
                <a:lnTo>
                  <a:pt x="5992419" y="474926"/>
                </a:lnTo>
                <a:lnTo>
                  <a:pt x="6101372" y="372025"/>
                </a:lnTo>
                <a:lnTo>
                  <a:pt x="6210325" y="277040"/>
                </a:lnTo>
                <a:lnTo>
                  <a:pt x="6319278" y="134562"/>
                </a:lnTo>
                <a:lnTo>
                  <a:pt x="6428232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99102"/>
            <a:ext cx="6428232" cy="1086899"/>
          </a:xfrm>
          <a:custGeom>
            <a:avLst/>
            <a:gdLst/>
            <a:ahLst/>
            <a:cxnLst/>
            <a:rect l="l" t="t" r="r" b="b"/>
            <a:pathLst>
              <a:path w="6428232" h="1086899">
                <a:moveTo>
                  <a:pt x="0" y="879531"/>
                </a:moveTo>
                <a:lnTo>
                  <a:pt x="108953" y="918859"/>
                </a:lnTo>
                <a:lnTo>
                  <a:pt x="217906" y="929585"/>
                </a:lnTo>
                <a:lnTo>
                  <a:pt x="326859" y="926010"/>
                </a:lnTo>
                <a:lnTo>
                  <a:pt x="435812" y="929585"/>
                </a:lnTo>
                <a:lnTo>
                  <a:pt x="544765" y="929585"/>
                </a:lnTo>
                <a:lnTo>
                  <a:pt x="653718" y="833051"/>
                </a:lnTo>
                <a:lnTo>
                  <a:pt x="762671" y="833051"/>
                </a:lnTo>
                <a:lnTo>
                  <a:pt x="871624" y="850928"/>
                </a:lnTo>
                <a:lnTo>
                  <a:pt x="980577" y="818750"/>
                </a:lnTo>
                <a:lnTo>
                  <a:pt x="1089530" y="700764"/>
                </a:lnTo>
                <a:lnTo>
                  <a:pt x="1198483" y="772271"/>
                </a:lnTo>
                <a:lnTo>
                  <a:pt x="1307437" y="865229"/>
                </a:lnTo>
                <a:lnTo>
                  <a:pt x="1416390" y="818750"/>
                </a:lnTo>
                <a:lnTo>
                  <a:pt x="1525343" y="790147"/>
                </a:lnTo>
                <a:lnTo>
                  <a:pt x="1634296" y="818750"/>
                </a:lnTo>
                <a:lnTo>
                  <a:pt x="1743249" y="786572"/>
                </a:lnTo>
                <a:lnTo>
                  <a:pt x="1852202" y="690038"/>
                </a:lnTo>
                <a:lnTo>
                  <a:pt x="1961155" y="511272"/>
                </a:lnTo>
                <a:lnTo>
                  <a:pt x="2070108" y="600655"/>
                </a:lnTo>
                <a:lnTo>
                  <a:pt x="2179061" y="657860"/>
                </a:lnTo>
                <a:lnTo>
                  <a:pt x="2288014" y="568477"/>
                </a:lnTo>
                <a:lnTo>
                  <a:pt x="2396967" y="536299"/>
                </a:lnTo>
                <a:lnTo>
                  <a:pt x="2505920" y="521998"/>
                </a:lnTo>
                <a:lnTo>
                  <a:pt x="2614874" y="404012"/>
                </a:lnTo>
                <a:lnTo>
                  <a:pt x="2723827" y="89383"/>
                </a:lnTo>
                <a:lnTo>
                  <a:pt x="2832780" y="143013"/>
                </a:lnTo>
                <a:lnTo>
                  <a:pt x="2941733" y="250273"/>
                </a:lnTo>
                <a:lnTo>
                  <a:pt x="3050686" y="221670"/>
                </a:lnTo>
                <a:lnTo>
                  <a:pt x="3159639" y="57206"/>
                </a:lnTo>
                <a:lnTo>
                  <a:pt x="3268592" y="0"/>
                </a:lnTo>
                <a:lnTo>
                  <a:pt x="3377545" y="128712"/>
                </a:lnTo>
                <a:lnTo>
                  <a:pt x="3486498" y="168041"/>
                </a:lnTo>
                <a:lnTo>
                  <a:pt x="3595451" y="243122"/>
                </a:lnTo>
                <a:lnTo>
                  <a:pt x="3704404" y="114411"/>
                </a:lnTo>
                <a:lnTo>
                  <a:pt x="3813357" y="100109"/>
                </a:lnTo>
                <a:lnTo>
                  <a:pt x="3922311" y="250273"/>
                </a:lnTo>
                <a:lnTo>
                  <a:pt x="4031264" y="253848"/>
                </a:lnTo>
                <a:lnTo>
                  <a:pt x="4140217" y="286026"/>
                </a:lnTo>
                <a:lnTo>
                  <a:pt x="4249170" y="518423"/>
                </a:lnTo>
                <a:lnTo>
                  <a:pt x="4358123" y="532724"/>
                </a:lnTo>
                <a:lnTo>
                  <a:pt x="4467076" y="475519"/>
                </a:lnTo>
                <a:lnTo>
                  <a:pt x="4576029" y="650710"/>
                </a:lnTo>
                <a:lnTo>
                  <a:pt x="4684982" y="797298"/>
                </a:lnTo>
                <a:lnTo>
                  <a:pt x="4793935" y="840202"/>
                </a:lnTo>
                <a:lnTo>
                  <a:pt x="4902888" y="875955"/>
                </a:lnTo>
                <a:lnTo>
                  <a:pt x="5011841" y="818750"/>
                </a:lnTo>
                <a:lnTo>
                  <a:pt x="5120794" y="861654"/>
                </a:lnTo>
                <a:lnTo>
                  <a:pt x="5229748" y="958188"/>
                </a:lnTo>
                <a:lnTo>
                  <a:pt x="5338701" y="1018968"/>
                </a:lnTo>
                <a:lnTo>
                  <a:pt x="5447654" y="1022544"/>
                </a:lnTo>
                <a:lnTo>
                  <a:pt x="5556607" y="1086899"/>
                </a:lnTo>
                <a:lnTo>
                  <a:pt x="5665560" y="1043996"/>
                </a:lnTo>
                <a:lnTo>
                  <a:pt x="5774513" y="843777"/>
                </a:lnTo>
                <a:lnTo>
                  <a:pt x="5883466" y="900982"/>
                </a:lnTo>
                <a:lnTo>
                  <a:pt x="5992419" y="897407"/>
                </a:lnTo>
                <a:lnTo>
                  <a:pt x="6101372" y="997516"/>
                </a:lnTo>
                <a:lnTo>
                  <a:pt x="6210325" y="918859"/>
                </a:lnTo>
                <a:lnTo>
                  <a:pt x="6319278" y="786572"/>
                </a:lnTo>
                <a:lnTo>
                  <a:pt x="6428232" y="593504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784416"/>
            <a:ext cx="6428232" cy="1354864"/>
          </a:xfrm>
          <a:custGeom>
            <a:avLst/>
            <a:gdLst/>
            <a:ahLst/>
            <a:cxnLst/>
            <a:rect l="l" t="t" r="r" b="b"/>
            <a:pathLst>
              <a:path w="6428232" h="1354864">
                <a:moveTo>
                  <a:pt x="0" y="994217"/>
                </a:moveTo>
                <a:lnTo>
                  <a:pt x="108953" y="884212"/>
                </a:lnTo>
                <a:lnTo>
                  <a:pt x="217906" y="829906"/>
                </a:lnTo>
                <a:lnTo>
                  <a:pt x="326859" y="650279"/>
                </a:lnTo>
                <a:lnTo>
                  <a:pt x="435812" y="607113"/>
                </a:lnTo>
                <a:lnTo>
                  <a:pt x="544765" y="705977"/>
                </a:lnTo>
                <a:lnTo>
                  <a:pt x="653718" y="601543"/>
                </a:lnTo>
                <a:lnTo>
                  <a:pt x="762671" y="355077"/>
                </a:lnTo>
                <a:lnTo>
                  <a:pt x="871624" y="0"/>
                </a:lnTo>
                <a:lnTo>
                  <a:pt x="980577" y="130891"/>
                </a:lnTo>
                <a:lnTo>
                  <a:pt x="1089530" y="83548"/>
                </a:lnTo>
                <a:lnTo>
                  <a:pt x="1198483" y="384319"/>
                </a:lnTo>
                <a:lnTo>
                  <a:pt x="1307437" y="1002571"/>
                </a:lnTo>
                <a:lnTo>
                  <a:pt x="1416390" y="1045738"/>
                </a:lnTo>
                <a:lnTo>
                  <a:pt x="1525343" y="1208655"/>
                </a:lnTo>
                <a:lnTo>
                  <a:pt x="1634296" y="1236505"/>
                </a:lnTo>
                <a:lnTo>
                  <a:pt x="1743249" y="1157134"/>
                </a:lnTo>
                <a:lnTo>
                  <a:pt x="1852202" y="1165489"/>
                </a:lnTo>
                <a:lnTo>
                  <a:pt x="1961155" y="1162704"/>
                </a:lnTo>
                <a:lnTo>
                  <a:pt x="2070108" y="1151564"/>
                </a:lnTo>
                <a:lnTo>
                  <a:pt x="2179061" y="1120930"/>
                </a:lnTo>
                <a:lnTo>
                  <a:pt x="2288014" y="1074979"/>
                </a:lnTo>
                <a:lnTo>
                  <a:pt x="2396967" y="1173844"/>
                </a:lnTo>
                <a:lnTo>
                  <a:pt x="2505920" y="1336762"/>
                </a:lnTo>
                <a:lnTo>
                  <a:pt x="2614874" y="1250429"/>
                </a:lnTo>
                <a:lnTo>
                  <a:pt x="2723827" y="1275493"/>
                </a:lnTo>
                <a:lnTo>
                  <a:pt x="2832780" y="1318660"/>
                </a:lnTo>
                <a:lnTo>
                  <a:pt x="2941733" y="1354864"/>
                </a:lnTo>
                <a:lnTo>
                  <a:pt x="3050686" y="1318660"/>
                </a:lnTo>
                <a:lnTo>
                  <a:pt x="3159639" y="1340939"/>
                </a:lnTo>
                <a:lnTo>
                  <a:pt x="3268592" y="1297773"/>
                </a:lnTo>
                <a:lnTo>
                  <a:pt x="3377545" y="1281063"/>
                </a:lnTo>
                <a:lnTo>
                  <a:pt x="3486498" y="1161312"/>
                </a:lnTo>
                <a:lnTo>
                  <a:pt x="3595451" y="1171059"/>
                </a:lnTo>
                <a:lnTo>
                  <a:pt x="3704404" y="1278278"/>
                </a:lnTo>
                <a:lnTo>
                  <a:pt x="3813357" y="1257391"/>
                </a:lnTo>
                <a:lnTo>
                  <a:pt x="3922311" y="1226757"/>
                </a:lnTo>
                <a:lnTo>
                  <a:pt x="4031264" y="1175236"/>
                </a:lnTo>
                <a:lnTo>
                  <a:pt x="4140217" y="1105613"/>
                </a:lnTo>
                <a:lnTo>
                  <a:pt x="4249170" y="974722"/>
                </a:lnTo>
                <a:lnTo>
                  <a:pt x="4358123" y="846616"/>
                </a:lnTo>
                <a:lnTo>
                  <a:pt x="4467076" y="817374"/>
                </a:lnTo>
                <a:lnTo>
                  <a:pt x="4576029" y="984469"/>
                </a:lnTo>
                <a:lnTo>
                  <a:pt x="4684982" y="988647"/>
                </a:lnTo>
                <a:lnTo>
                  <a:pt x="4793935" y="987254"/>
                </a:lnTo>
                <a:lnTo>
                  <a:pt x="4902888" y="1090296"/>
                </a:lnTo>
                <a:lnTo>
                  <a:pt x="5011841" y="1210048"/>
                </a:lnTo>
                <a:lnTo>
                  <a:pt x="5120794" y="1172451"/>
                </a:lnTo>
                <a:lnTo>
                  <a:pt x="5229748" y="1115361"/>
                </a:lnTo>
                <a:lnTo>
                  <a:pt x="5338701" y="1045738"/>
                </a:lnTo>
                <a:lnTo>
                  <a:pt x="5447654" y="1030420"/>
                </a:lnTo>
                <a:lnTo>
                  <a:pt x="5556607" y="1029028"/>
                </a:lnTo>
                <a:lnTo>
                  <a:pt x="5665560" y="1105613"/>
                </a:lnTo>
                <a:lnTo>
                  <a:pt x="5774513" y="1109791"/>
                </a:lnTo>
                <a:lnTo>
                  <a:pt x="5883466" y="1074979"/>
                </a:lnTo>
                <a:lnTo>
                  <a:pt x="5992419" y="1027636"/>
                </a:lnTo>
                <a:lnTo>
                  <a:pt x="6101372" y="930163"/>
                </a:lnTo>
                <a:lnTo>
                  <a:pt x="6210325" y="878642"/>
                </a:lnTo>
                <a:lnTo>
                  <a:pt x="6319278" y="892567"/>
                </a:lnTo>
                <a:lnTo>
                  <a:pt x="6428232" y="935733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057517"/>
            <a:ext cx="6428232" cy="1024743"/>
          </a:xfrm>
          <a:custGeom>
            <a:avLst/>
            <a:gdLst/>
            <a:ahLst/>
            <a:cxnLst/>
            <a:rect l="l" t="t" r="r" b="b"/>
            <a:pathLst>
              <a:path w="6428232" h="1024743">
                <a:moveTo>
                  <a:pt x="0" y="721116"/>
                </a:moveTo>
                <a:lnTo>
                  <a:pt x="108953" y="569302"/>
                </a:lnTo>
                <a:lnTo>
                  <a:pt x="217906" y="569302"/>
                </a:lnTo>
                <a:lnTo>
                  <a:pt x="326859" y="607255"/>
                </a:lnTo>
                <a:lnTo>
                  <a:pt x="435812" y="569302"/>
                </a:lnTo>
                <a:lnTo>
                  <a:pt x="544765" y="607255"/>
                </a:lnTo>
                <a:lnTo>
                  <a:pt x="653718" y="683162"/>
                </a:lnTo>
                <a:lnTo>
                  <a:pt x="762671" y="721116"/>
                </a:lnTo>
                <a:lnTo>
                  <a:pt x="871624" y="607255"/>
                </a:lnTo>
                <a:lnTo>
                  <a:pt x="980577" y="569302"/>
                </a:lnTo>
                <a:lnTo>
                  <a:pt x="1089530" y="569302"/>
                </a:lnTo>
                <a:lnTo>
                  <a:pt x="1198483" y="607255"/>
                </a:lnTo>
                <a:lnTo>
                  <a:pt x="1307437" y="683162"/>
                </a:lnTo>
                <a:lnTo>
                  <a:pt x="1416390" y="721116"/>
                </a:lnTo>
                <a:lnTo>
                  <a:pt x="1525343" y="721116"/>
                </a:lnTo>
                <a:lnTo>
                  <a:pt x="1634296" y="721116"/>
                </a:lnTo>
                <a:lnTo>
                  <a:pt x="1743249" y="645209"/>
                </a:lnTo>
                <a:lnTo>
                  <a:pt x="1852202" y="607255"/>
                </a:lnTo>
                <a:lnTo>
                  <a:pt x="1961155" y="607255"/>
                </a:lnTo>
                <a:lnTo>
                  <a:pt x="2070108" y="493395"/>
                </a:lnTo>
                <a:lnTo>
                  <a:pt x="2179061" y="493395"/>
                </a:lnTo>
                <a:lnTo>
                  <a:pt x="2288014" y="189767"/>
                </a:lnTo>
                <a:lnTo>
                  <a:pt x="2396967" y="75907"/>
                </a:lnTo>
                <a:lnTo>
                  <a:pt x="2505920" y="151814"/>
                </a:lnTo>
                <a:lnTo>
                  <a:pt x="2614874" y="227721"/>
                </a:lnTo>
                <a:lnTo>
                  <a:pt x="2723827" y="189767"/>
                </a:lnTo>
                <a:lnTo>
                  <a:pt x="2832780" y="0"/>
                </a:lnTo>
                <a:lnTo>
                  <a:pt x="2941733" y="37953"/>
                </a:lnTo>
                <a:lnTo>
                  <a:pt x="3050686" y="37953"/>
                </a:lnTo>
                <a:lnTo>
                  <a:pt x="3159639" y="379534"/>
                </a:lnTo>
                <a:lnTo>
                  <a:pt x="3268592" y="379534"/>
                </a:lnTo>
                <a:lnTo>
                  <a:pt x="3377545" y="303627"/>
                </a:lnTo>
                <a:lnTo>
                  <a:pt x="3486498" y="379534"/>
                </a:lnTo>
                <a:lnTo>
                  <a:pt x="3595451" y="493395"/>
                </a:lnTo>
                <a:lnTo>
                  <a:pt x="3704404" y="607255"/>
                </a:lnTo>
                <a:lnTo>
                  <a:pt x="3813357" y="569302"/>
                </a:lnTo>
                <a:lnTo>
                  <a:pt x="3922311" y="569302"/>
                </a:lnTo>
                <a:lnTo>
                  <a:pt x="4031264" y="645209"/>
                </a:lnTo>
                <a:lnTo>
                  <a:pt x="4140217" y="493395"/>
                </a:lnTo>
                <a:lnTo>
                  <a:pt x="4249170" y="455441"/>
                </a:lnTo>
                <a:lnTo>
                  <a:pt x="4358123" y="493395"/>
                </a:lnTo>
                <a:lnTo>
                  <a:pt x="4467076" y="531348"/>
                </a:lnTo>
                <a:lnTo>
                  <a:pt x="4576029" y="683162"/>
                </a:lnTo>
                <a:lnTo>
                  <a:pt x="4684982" y="607255"/>
                </a:lnTo>
                <a:lnTo>
                  <a:pt x="4793935" y="607255"/>
                </a:lnTo>
                <a:lnTo>
                  <a:pt x="4902888" y="683162"/>
                </a:lnTo>
                <a:lnTo>
                  <a:pt x="5011841" y="721116"/>
                </a:lnTo>
                <a:lnTo>
                  <a:pt x="5120794" y="797022"/>
                </a:lnTo>
                <a:lnTo>
                  <a:pt x="5229748" y="797022"/>
                </a:lnTo>
                <a:lnTo>
                  <a:pt x="5338701" y="797022"/>
                </a:lnTo>
                <a:lnTo>
                  <a:pt x="5447654" y="872929"/>
                </a:lnTo>
                <a:lnTo>
                  <a:pt x="5556607" y="910883"/>
                </a:lnTo>
                <a:lnTo>
                  <a:pt x="5665560" y="986790"/>
                </a:lnTo>
                <a:lnTo>
                  <a:pt x="5774513" y="986790"/>
                </a:lnTo>
                <a:lnTo>
                  <a:pt x="5883466" y="986790"/>
                </a:lnTo>
                <a:lnTo>
                  <a:pt x="5992419" y="1024743"/>
                </a:lnTo>
                <a:lnTo>
                  <a:pt x="6101372" y="948836"/>
                </a:lnTo>
                <a:lnTo>
                  <a:pt x="6210325" y="986790"/>
                </a:lnTo>
                <a:lnTo>
                  <a:pt x="6319278" y="910883"/>
                </a:lnTo>
                <a:lnTo>
                  <a:pt x="6428232" y="98679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73803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4959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611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World price rebased to 100 at 2021-07 · 60 monthly observations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A year-on-year number hides the shape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Sugar (น้ำตาล): world price −45% against its 2023-09 peak — down in 26 of the last 33 months, not a one-year dip.
• Rubber (ยางพารา): spent 20 of the last 60 months below its own 2021 level — only just cleared it, after 29 months running above.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World price, five years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5-yr peak,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latest,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5 yrs ago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Rubber ยางพารา ($/kg)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94.74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+52.9%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Rice ข้าว ($/mt)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16,364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-25.2%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Palm oil ปาล์มน้ำมัน ($/mt)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36,603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 น้ำตาล ($/kg)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10.60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-17.9%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Only ‘latest’ is converted to baht — today’s FX is right for today’s price, not a 2021–23 one, so ‘5-yr peak’ stays in US$.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World Bank Pink Sheet nominal-USD monthly prices, vintage 2026M06 (60 observations per series, rebased to 100 at 2021-07 for the chart — units differ, so raw levels can’t share an axis). Baht conversion at the ECB reference rate USD/THB 33.125, 2026-08-14. Planted-area share MEASURED, OAE/DOAE crop mix (crop_mix.json). Nominal, not deflated: five years of Thai CPI sit under every ‘vs 5 yrs ago’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THE CROP BELTS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Which crop each region grows, and what the price round did to its income.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Crops with a Thai farm-gate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rice, rubber, sugarcane, oil palm, cassava, maize, coconut, pineapple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Falling at the farm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coconut −67.6%, pineapple −18.4%, sugarcane −17.9% year on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Median province crop-income shock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+16.9%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most of the country gained from this price 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where it went backwards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all four are coconut belts on the western gulf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Farm gate (ราคาที่เกษตรกรขายได้) = what the farmer is paid at first sale — before trading, milling or transport take a cut.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income 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backwards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-63.2%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Good for farming, almost everywhere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+42% rubber, +64% cassava, +25% palm, +14% rice at the farm gate. Crop income rose in every region.
•  Four provinces fell — all coconut, all on the western gulf. Coconut price is down 68%.
•  A gain on paper is not cash yet — the next table nets prices against cost.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Largest planted areas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crop mix, % 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rain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67%, Cassava 12%, Sugarcane 12%, Maize 7%, Rubber 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79%, Rubber 12%, Cassava 8%, Maize 1%, Oil palm &lt;1%, Sugarcane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65%, Sugarcane 20%, Maize 9%, Cassava 6%, Rubber &lt;1%,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Rubber 60%, Oil palm 39%, Coconut 1%, Rice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+34.5%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82%, Rubber 8%, Sugarcane 5%, Cassava 4%, Oil palm &lt;1%, Maize &lt;1%, Coconut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88%, Rubber 7%, Sugarcane 4%, Cassava 2%, Oil palm &lt;1%, Coconut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(OAE, by province). Crop mix MEASURED — every crop OAE tracks for that province, share of planted area, rounded to the nearest point and shown for all of them, not just the lead crop; a share that rounds to zero reads “&lt;1%”, and any rounding gap is shown honestly as “other”. Farm-gate price moves MEASURED (NABC/OCSB); farm income level MEASURED (NSO/OAE, baht per month). The income shock is ESTIMATED — each province's crop mix weighted by the measured price move, as a percentage of its measured farm income. Six of 77 provinces shown, ordered by planted area.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EVERY CROP AT THE FARM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the grower is paid, and which way it has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Seventeen commodities have a measured Thai farm-gate price (ราคาที่เกษตรกรขายได้). Twelve also have a real monthly price series — those are the lines below.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Year on year and six months disagree on direction for four of them. A single annual number can point the wrong 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Every line is scaled to its own range: read the shape, not the height.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Coconut  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฿543.53 /ร้อยผล · S·E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−67.6%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−58.7%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49367"/>
                </a:lnTo>
                <a:lnTo>
                  <a:pt x="825886" y="262297"/>
                </a:lnTo>
                <a:lnTo>
                  <a:pt x="1238829" y="246096"/>
                </a:lnTo>
                <a:lnTo>
                  <a:pt x="1651772" y="414999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620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Pineapple  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฿9.75 /กก. · E·W·N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+47.7%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7240"/>
                </a:moveTo>
                <a:lnTo>
                  <a:pt x="412943" y="400773"/>
                </a:lnTo>
                <a:lnTo>
                  <a:pt x="825886" y="457200"/>
                </a:lnTo>
                <a:lnTo>
                  <a:pt x="1238829" y="380517"/>
                </a:lnTo>
                <a:lnTo>
                  <a:pt x="1651772" y="21123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Eggs  ไข่ไก่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฿338.24 /ร้อยฟอง · C·E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+0.7%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+5.0%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91702"/>
                </a:lnTo>
                <a:lnTo>
                  <a:pt x="825886" y="105409"/>
                </a:lnTo>
                <a:lnTo>
                  <a:pt x="1238829" y="105409"/>
                </a:lnTo>
                <a:lnTo>
                  <a:pt x="1651772" y="21414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White shrimp  กุ้งขาว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฿133.82 /กก. · S·E coast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+1.1%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−15.8%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47179"/>
                </a:lnTo>
                <a:lnTo>
                  <a:pt x="825886" y="420769"/>
                </a:lnTo>
                <a:lnTo>
                  <a:pt x="1238829" y="457200"/>
                </a:lnTo>
                <a:lnTo>
                  <a:pt x="1651772" y="424594"/>
                </a:lnTo>
                <a:lnTo>
                  <a:pt x="2064715" y="223135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628007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Pork  สุกร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฿66.65 /กก. · C·W·E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+1.5%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+6.1%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82662"/>
                </a:lnTo>
                <a:lnTo>
                  <a:pt x="825886" y="0"/>
                </a:lnTo>
                <a:lnTo>
                  <a:pt x="1238829" y="252749"/>
                </a:lnTo>
                <a:lnTo>
                  <a:pt x="1651772" y="129642"/>
                </a:lnTo>
                <a:lnTo>
                  <a:pt x="2064715" y="5301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5789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Chicken  ไก่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฿41.19 /กก. · C·E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−1.9%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87960"/>
                </a:moveTo>
                <a:lnTo>
                  <a:pt x="412943" y="0"/>
                </a:lnTo>
                <a:lnTo>
                  <a:pt x="825886" y="114807"/>
                </a:lnTo>
                <a:lnTo>
                  <a:pt x="1238829" y="305815"/>
                </a:lnTo>
                <a:lnTo>
                  <a:pt x="1651772" y="457200"/>
                </a:lnTo>
                <a:lnTo>
                  <a:pt x="2064715" y="275336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78663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Rice  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฿17,727 /ตัน · Isan·N·C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+14.0%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+8.1%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0931"/>
                </a:lnTo>
                <a:lnTo>
                  <a:pt x="825886" y="253323"/>
                </a:lnTo>
                <a:lnTo>
                  <a:pt x="1238829" y="103264"/>
                </a:lnTo>
                <a:lnTo>
                  <a:pt x="1651772" y="619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Maize  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฿10.76 /กก. · North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+16.5%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+22.1%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415234"/>
                </a:lnTo>
                <a:lnTo>
                  <a:pt x="825886" y="315843"/>
                </a:lnTo>
                <a:lnTo>
                  <a:pt x="1238829" y="81721"/>
                </a:lnTo>
                <a:lnTo>
                  <a:pt x="1651772" y="0"/>
                </a:lnTo>
                <a:lnTo>
                  <a:pt x="2064715" y="46382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5767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Palm oil  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฿8.21 /กก. · South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+24.7%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+28.7%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30385"/>
                </a:lnTo>
                <a:lnTo>
                  <a:pt x="825886" y="320373"/>
                </a:lnTo>
                <a:lnTo>
                  <a:pt x="1238829" y="337059"/>
                </a:lnTo>
                <a:lnTo>
                  <a:pt x="1651772" y="18021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Rubber  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฿84.55 /กก. · S·E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+42.4%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+49.0%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18935"/>
                </a:lnTo>
                <a:lnTo>
                  <a:pt x="825886" y="199735"/>
                </a:lnTo>
                <a:lnTo>
                  <a:pt x="1238829" y="108509"/>
                </a:lnTo>
                <a:lnTo>
                  <a:pt x="1651772" y="0"/>
                </a:lnTo>
                <a:lnTo>
                  <a:pt x="2064715" y="2601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53730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Cassava  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฿3.41 /กก. · Isan·N·E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+64.3%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+40.3%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81000"/>
                </a:lnTo>
                <a:lnTo>
                  <a:pt x="825886" y="254000"/>
                </a:lnTo>
                <a:lnTo>
                  <a:pt x="1238829" y="152400"/>
                </a:lnTo>
                <a:lnTo>
                  <a:pt x="1651772" y="2540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Lime  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฿85.88 /ร้อยผล · C·W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+126.5%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−44.6%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75183"/>
                </a:moveTo>
                <a:lnTo>
                  <a:pt x="412943" y="213449"/>
                </a:lnTo>
                <a:lnTo>
                  <a:pt x="825886" y="0"/>
                </a:lnTo>
                <a:lnTo>
                  <a:pt x="1238829" y="260067"/>
                </a:lnTo>
                <a:lnTo>
                  <a:pt x="1651772" y="443905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749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Priced but not plotted — no monthly series: Sugar −17.9% (annual, administered) · Rambutan −13.5% · Beef −6.1% · Durian +7.0% · Longan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Farm-gate prices MEASURED — NABC daily quotes, monthly means, in baht as published (no currency conversion); newest quote 2026-08-13, history vintage 2026-08-02. Farm gate (ราคาที่เกษตรกรขายได้) is what the grower is paid at first sale, before trading, milling or transport take a cut — not the world index and not a supermarket price. Belts are an ESTIMATED read of where each commodity is produced, and they overlap. Sugar is OCSB's announced season price, one point a year, so it has no six-month move to show.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INCOME RIGHT NOW, BY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each occupation earns, where the floor is, and which way it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Monthly income now, by region and job — each region set against its own wage.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 farming 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Factory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Transport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SME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Office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employee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vs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+12.8%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+14.5%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Income MEASURED — NSO SES province income (NSO SES 2566), NSO LFS regional wages (2568 (4-quarter average)), ฿/month; region = unweighted mean of its provinces. Move is ESTIMATED — one first-order model of the price and fuel round (fuel driver 2026M07), at documented coefficients, not fitted. No monthly SES/LFS series exists, so no 6-month figure sits beside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90950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79095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Farming (เกษตรกร) — up everywhere, still the floor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141724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Best-moving job in every region — and still the lowest-paid.
• North ฿7,157 against a ฿15,407 wage (46%); Isan ฿8,030 against ฿14,805 (54%).
• Floor: นราธิวาส farms on ฿2,742/mo — size a programme against this, not the mean.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790950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790950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Transport (ขนส่ง) — one number, not five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141724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Down −2.75% in every region. Factory moves the same way; office is flat — no channel modelled for it, which is not the same as no change.
• One measured crude-oil move through one chosen coefficient. No Thai diesel or freight series behind it.
• Still matters: here the vehicle IS the income. An early call beats a late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WATER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Where it is driest, and where it is wettest — right now.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(ภัยแล้ง, drought) is modelled once a month — how the season has gone, not today’s weather.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is measured every day — rain gauges and river levels (น้ำท่วม, flood), 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is a separate 12-year census — ground that has flooded before, not what is happening now.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in drought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928 (36.4%) · SPEI mean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Extreme 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districts at the extreme drought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District-crop cells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3,295 measured cells at severe drought or worse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Stations above high 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796 (15.5%) · live · 2026-08-16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with heavy 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18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latest daily reading · 2026-08-16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Ground that floods anyway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685 of 2,015 branch locations flooded in 7+ of 12 years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Drought (ภัยแล้ง) — worst planted-area cells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Rain &amp; rivers (น้ำท่วม) — worst today, live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Driest cells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(ยาง)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Wettest today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gauges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Max mm/24h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heavy+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 ≥high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Level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8/15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มุกดาหาร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บึงกาฬ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สตูล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24.2%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ฉะเชิงเทรา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11.1%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Severe drought at planting means a lighter harvest and less cash this season.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High rivers and heavy rain threaten roads, fields and branches right now — today’s reading, not a forecast.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9034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9327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9171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 — 3,295 amphoe crop rows). Drought is a MODELLED SPEI index from rainfall and evapotranspiration, refreshed monthly, retrieved 2026-07-20 — the best national-coverage signal available, but nobody has walked those districts. Rain and river telemetry MEASURED (ThaiWater, live, pulled daily and accumulated — a missed pull leaves a gap rather than an invented point) · rain to 2026-08-16, river to 2026-08-16. Structural flood exposure MEASURED (GISTDA 1:50,000 repeated-flooding census, 2005-2016 — a 12-year ground record, not a forecast).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WHERE TO REACH OUT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Provinces ranked by how many stress signals tripped.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Debt (หนี้)  —  debt-to-income ≥ 100% of a year's income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Unemployment (การว่างงาน)  —  unemployment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Crop (พืชหลัก)  —  lead crop pays below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Rain (ฝน)  —  rainfall &lt; 90% of 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Ordered by signals tripped; ties broken on debt + unemployment.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lead 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 economics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vs normal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tripped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Household debt-to-income MEASURED (NSO SES 2566 — debt as a share of ANNUAL income, so above 100% is more debt than a year of earnings). Unemployment MEASURED (NSO LFS, by province). Lead crop MEASURED (OAE planted area, all eight crops); its economics ESTIMATED from OAE cost of production (2568 (crop year 2568/69, OAE forecast Mar 2569)). Rainfall MEASURED as precipitation against the long-run normal, a different instrument from the SPEI index two slides back; two provinces carry no gauge and cannot trip this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Crop is a poor discriminator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It trips 70 of 77 provinces — national exposure, not who to call. Debt, jobs and rain are what separate this 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Collateral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This is the half with a decision attached.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We lend against titles, so the used-vehicle market is an external condition that prices our security directly. Five things are moving at once: what a used vehicle is worth, how many are entering the pool, which brands they are, which nameplates underneath those brands, and how easily any of them can be sold on. A model with no Thai residual history is a recovery assumption nobody can make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RESALE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fall has stopped. The level has not recovered.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BoT used-vehicle price index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low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2015 base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all-time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Pickup (รถกระบะ)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Passenger car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All used vehicles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Car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Index, 2015 = 100 · monthly,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17779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17779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windows, one message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 +12.5% in 6 months, −0.4% in 12 — the fall has stopped.
• Car +6.0% in 6 months, −8.3% in 12 — same shape, weaker level.
• Pickup is 33 pts below its 2015 base, car 12 pts.
• Advance rates set before 2022 price a market that no longer exists.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Bank of Thailand used-vehicle price index (EC_EI_040), 185 monthly points; 6- and 12-month moves computed from the published series, rebased to 2015 = 100. Pickup = confirmed pickup trucks (รถกระบะ), not heavy commercial (BoT Stat-Horizon methodology, 2019). Latest month preliminary.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COLLATERAL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moving opposite ways.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DLT first registrations, AutoX’s own pickup definition — any pickup or PPV, any class. Six- and 12-month windows, side by side.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units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YoY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trend ex-flag, units/mo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Pickup + PPV 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Passenger car 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flagged months in this window: 2025-12, 2026-01 — registrations pulled forward before an incentive deadline. Only the last is stripped from the trend column; both YoY columns keep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registrations by month,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registrations by month,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pickup “trend” is one flagged month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Five months fall in a row, then one month jumps — a bar, not a turn.
• Slope with that month in: +131/mo. Without it: -986/mo.
• Even that month was −14.6% YoY for pickups — still falling.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Most of the car “boom” is one month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6-month car growth: +34.3%. Ex-flag: +11.0%.
• That month alone ran +69.3% YoY — pulled forward, not demand.
• The 12-month figure, +19.8%, is the safer read.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1543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Registrations MEASURED — DLT gdcatalog first registrations, 48 months from 2022-01. Ex-flag figures are our arithmetic on that series — ESTIMATED, a judgement call on which month to trust.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BRAND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and only one is holding its shape.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pickup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was 80.5% a year 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car brands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down 9.4 points in a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Third PU brand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next is MITSUBISHI at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New car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no Thai residual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183,277 registered in 12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443,641 registered in 12 months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+ PPV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nameplate grain, trailing 12 months, NATIONAL only — no province column exists. First registrations are the FUTURE collateral pool, not a stock of what is on the road, and not used-vehicle sales.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markets, opposite directions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Pickup: Toyota + Isuzu hold 78.7%, down only 1.8 points in a year. The pool shrinks; its shape barely changes.
• Car: 9.4 points surrendered in a year. 26.8% of new cars now carry no Thai residual record.
• We know what a five-year-old Hilux is worth. We do not yet know what a five-year-old BYD is worth.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THE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Top 5 pickups are 78.0% of the market. The top car is 12.5%.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PU nameplates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183,277 pickups and PPVs registered in 12 months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PA nameplates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443,641 cars — the same five-model test, less than half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PU nameplate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units · -21.5% YoY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PA nameplate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units · +18.3% YoY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PU nameplates — share of the 183,277-unit pickup + PPV 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 nameplates — share of the 443,641-unit car market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PU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PA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new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trailing 12 months to 2026-01, NATIONAL only. PU shares are over pickup + PPV combined, PA shares over cars, so each is a share of its own market. One caveat that only bites the right-hand table: DLT files many car models per TRIM — 1,235 distinct car nameplate strings against 443,641 cars, Toyota alone filing 172 — so each PA share is a floor. Merging every trim would not close the gap: BYD's entire car volume is 11.3%, still under the single biggest PU nameplate.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pickup nameplates cover 78.0% of the market — priced off years of Thai resale history.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car nameplates cover only 32.5%, and the single biggest is just 12.5%.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New brands — BYD, MG, Jaecoo, AION, Deepal — carry no Thai resale record; some registered for the first time this year.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An advance rate is set per model. PU is five rows we can price. PA is a long tail we cannot,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FOUR YEARS OF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entering the road are down 59% since 2022. Cars are up 7%.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over four years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over four years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nameplates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Car nameplates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from the yearly roll-up files so the mirror's missing 2023-12 month cannot distort a year. 2022–2025 are the only complete years published. These are vehicles entering the fleet, NOT the stock on the road — no DLT dataset carries brand or model against registered stock, so a total parc by nameplate does not exist and is not shown here. An em-dash means the nameplate was outside that year's top 15, not that none were registered.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collateral pool is shrinking faster than it is changing shape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Four years took 267,340 pickups a year out of the flow — 59% — while cars held roughly flat. Fewer new pickups now means a thinner supply of five-year-old pickups to lend against later, and the nameplates are the same ones: this is a volume problem, not a mix problem.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THE SECOND-HAND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are 17% of the parc — cars 34%, motorcycles 46%.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 stock รถกระบะ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registered pickups nationally · -0.77% YoY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 stock รถยนต์นั่ง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YoY · +19.3% since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Diesel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44.3M fleet — what the market runs on today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BEV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electrified 2.57% — not a factor this quarter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Registered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registered stock and ownership transfers by region and class (PU รถกระบะ · car รถยนต์นั่ง · moto รถจักรยานยนต์), plus MOT fleet totals. Share = class stock ÷ all registered vehicles in the region. Turnover = transfers ÷ registered stock — how much of the parc changes hands a year, the depth a repossessed title sells into.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Small and slow, at the same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Pickups are only 17% of the vehicle parc — cars 34%, motorcycles 46% — and still turn over slowest: 5.2–7.6% of pickups change hands a year against 5.6–10.2% for cars, worst in East.
A smaller, slower market means a longer disposal and a wider discount on a repossessed title.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Electrification is a clock, not a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BEVs are 0.9% of the fleet, electrified 2.6% — not a factor today.
But titles resell over five to ten years, and 27% of new cars already carry no Thai resale history. That fleet ages into the used market before 2032.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things the macro picture asks of us.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Call the four-signal provinces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 trips all four warning flags. Three more trip three — สุโขทัย, สิงห์บุรี, อุบลราชธานี.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Watch the provinces left behind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Median crop income rose +16.9%, but four provinces fell — all on the coconut (มะพร้าว) belt, worst สมุทรสงคราม at −63.2%.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Track the three crops still falling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Coconut (มะพร้าว), Pineapple (สับปะรด), Sugarcane (อ้อย) keep falling at the farm gate (ราคาที่เกษตรกรขายได้) — 11% of the country’s planted land.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Reprice the vehicle we lend against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Pickup resale is still 33 points below its 2015 level, the slowest-selling class on the road. Five nameplates cover 78% of that market; new car brands do not.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Read two signals as models, not 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Transport income moves −2.8% on one national fuel number, no Thai freight data behind it. Drought (ภัยแล้ง) is a rainfall model — nobody has walked those districts.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8544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85445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Scope, stated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External data only — the economy, crops, water, vehicles. It points at places, never at people; turning a place into a call list is the Assistance tab’s job. Nothing here argues to open, close or expand anything.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473319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Vintages — world prices 2026M06 · Thai farm gate 2026-08-13 · Thai price history 2026-08-02 · crop cost of production OAE Cai-up 2568 (crop year 2568/69, OAE forecast Mar 2569) · drought 2026-06-21 · CPI 2026-05 · GDP 2026-Q1 · IMF WEO 2026 · resale index 2026-05 · registrations to 2026-01 · household debt NSO SES 2566 · wages NSO LFS 2568 · telemetry 2026-08-16.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