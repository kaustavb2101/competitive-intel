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the Macro tab — external conditions only. The economy, crop prices and the used-vehicle market, all published by someone else. What any of it costs us is the Exposure and Risk conversation; competition and the branch views are separate again.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take one thing: the macro is stable, the crops are mixed, the collateral is deteriorating — and the borrower was already thin before any of it. Scope is external conditions; the book readouts live on Exposure and Risk, not 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merged. The economy is fine and the region is not the story — the story is that growth is slow, the fiscal cushion is thin, and arrears are turning up. If relief comes, less of it will come from government this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drill goes from a national number to a district without changing instrument. If someone reaches for 0.94% unemployment as evidence the borrower is fine, this is the slide. Note the seasonal-idle column: Isan is five times the North.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divergence rows are the point: the world index and the Thai farm gate can face opposite directions, and only one of them is what a Thai grower is paid.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YoY is a poor instrument for a slow decline. Sugar's −13.5% is the fourth year of one move, not a new event.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earns agriculture a section is that its hazards are external and forecastable — price, cost, rainfall — which is rare. The last column is context for how much of it reaches us; the belts themselves are the subject.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merge of what were two contradicting slides. Say it plainly: there are two published prices for every crop — the farm gate and the market quote — and only the farm gate belongs beside a production cost. On that basis three of the five crops with full economics lose money, rice included, with its price up 13.2%.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say. First, farming is up everywhere and still under half the local employee wage — a good month on a very low base is not resilience, and the weakest province column is where to size the programme. Second, be honest that the transport line is one national assumption, not five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merged. Keep the three clocks straight: SPEI is the season, ThaiWater is this week, GISTDA is the ground itself. Zero double-stressed provinces is a world-price result — สุพรรณบุรี is the worked counter-example, so say it rather than presenting a clean zero.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assistance programme comes out of, and it is now ranked on the count rather than on two of the four signals — which is why สิงห์บุรี appears and นครพนม does not. Be straight that the crop test trips almost everywhere and therefore does not discriminate; debt, unemployment and rain do. Geographies, not people.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Everything before was conditions on the borrower; this is conditions on the security, which is the part with an underwriting consequence.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two windows: pickup +12.5% over six months but −0.4% over twelve, so the fall has stopped rather than reversed. Then the level — still 33 points below its own 2015 base. Direction improving, level still bad.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worth making out loud: the pickup six-month slope is NOT a recovery — strip the flagged January and it is about −986 units a month. Same month inflates the car boom from +11% to +34%. Quote the twelve-month windows.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pickup nameplate of any size is down double digits; the one thing growing on the PU side is a PPV, GWM's Tank 300, off a 650-unit base. The commercial point: we know what a five-year-old Hilux is worth. We do not know what a five-year-old BYD or Jaecoo is worth, and a fifth of new cars are now those.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dropping from brands to nameplates: an advance rate is set per model, not per marque. On PU that is a five-row problem we can price from history. On PA it is a long tail of models registered for the first time this year — say plainly that the trim-splitting caveat makes PA shares a floor, and that it does not change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Turnover is the depth a repossession is actually sold into. Pickup is the slowest-turning class in every region, and the East is the extreme.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scope: external conditions on the network we already run — no open, close or expand recommendation, and no book readout, by design. The last two asks are honest gaps, not conclusions: three crops we cannot cost, and one occupation we are reading through a global proxy.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9811512" y="0"/>
            <a:ext cx="2377440" cy="685800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9811512" y="0"/>
            <a:ext cx="109728"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 name="Picture 4" descr="chaiyo.png"/>
          <p:cNvPicPr>
            <a:picLocks noChangeAspect="1"/>
          </p:cNvPicPr>
          <p:nvPr/>
        </p:nvPicPr>
        <p:blipFill>
          <a:blip r:embed="rId2"/>
          <a:stretch>
            <a:fillRect/>
          </a:stretch>
        </p:blipFill>
        <p:spPr>
          <a:xfrm>
            <a:off x="640080" y="640080"/>
            <a:ext cx="2926080" cy="1828800"/>
          </a:xfrm>
          <a:prstGeom prst="rect">
            <a:avLst/>
          </a:prstGeom>
        </p:spPr>
      </p:pic>
      <p:sp>
        <p:nvSpPr>
          <p:cNvPr id="6" name="TextBox 5"/>
          <p:cNvSpPr txBox="1"/>
          <p:nvPr/>
        </p:nvSpPr>
        <p:spPr>
          <a:xfrm>
            <a:off x="685800" y="2743200"/>
            <a:ext cx="8503920" cy="965200"/>
          </a:xfrm>
          <a:prstGeom prst="rect">
            <a:avLst/>
          </a:prstGeom>
          <a:noFill/>
        </p:spPr>
        <p:txBody>
          <a:bodyPr wrap="square" lIns="0" rIns="0" tIns="0" bIns="0" anchor="t">
            <a:noAutofit/>
          </a:bodyPr>
          <a:lstStyle/>
          <a:p>
            <a:pPr algn="l">
              <a:lnSpc>
                <a:spcPts val="3800"/>
              </a:lnSpc>
            </a:pPr>
            <a:r>
              <a:rPr sz="3000" b="1">
                <a:solidFill>
                  <a:srgbClr val="FFFFFF"/>
                </a:solidFill>
                <a:latin typeface="Kanit"/>
              </a:rPr>
              <a:t>Macro: the conditions
we are lending into.</a:t>
            </a:r>
          </a:p>
        </p:txBody>
      </p:sp>
      <p:sp>
        <p:nvSpPr>
          <p:cNvPr id="7" name="TextBox 6"/>
          <p:cNvSpPr txBox="1"/>
          <p:nvPr/>
        </p:nvSpPr>
        <p:spPr>
          <a:xfrm>
            <a:off x="685800" y="4224528"/>
            <a:ext cx="8503920" cy="241300"/>
          </a:xfrm>
          <a:prstGeom prst="rect">
            <a:avLst/>
          </a:prstGeom>
          <a:noFill/>
        </p:spPr>
        <p:txBody>
          <a:bodyPr wrap="square" lIns="0" rIns="0" tIns="0" bIns="0" anchor="t">
            <a:noAutofit/>
          </a:bodyPr>
          <a:lstStyle/>
          <a:p>
            <a:pPr algn="l">
              <a:lnSpc>
                <a:spcPts val="1900"/>
              </a:lnSpc>
            </a:pPr>
            <a:r>
              <a:rPr sz="1300" b="0">
                <a:solidFill>
                  <a:srgbClr val="F5C242"/>
                </a:solidFill>
                <a:latin typeface="Kanit"/>
              </a:rPr>
              <a:t>MCOM · Wednesday 5 August 2026 · AutoX / บริษัท ออโต้ เอกซ์ จำกัด (เงินไชโย)</a:t>
            </a:r>
          </a:p>
        </p:txBody>
      </p:sp>
      <p:sp>
        <p:nvSpPr>
          <p:cNvPr id="8" name="TextBox 7"/>
          <p:cNvSpPr txBox="1"/>
          <p:nvPr/>
        </p:nvSpPr>
        <p:spPr>
          <a:xfrm>
            <a:off x="685800" y="5760720"/>
            <a:ext cx="5486400" cy="268224"/>
          </a:xfrm>
          <a:prstGeom prst="rect">
            <a:avLst/>
          </a:prstGeom>
          <a:noFill/>
        </p:spPr>
        <p:txBody>
          <a:bodyPr wrap="square" lIns="0" rIns="0" tIns="0" bIns="0" anchor="t">
            <a:noAutofit/>
          </a:bodyPr>
          <a:lstStyle/>
          <a:p>
            <a:pPr algn="l">
              <a:lnSpc>
                <a:spcPts val="2112"/>
              </a:lnSpc>
            </a:pPr>
            <a:r>
              <a:rPr sz="1600" b="1">
                <a:solidFill>
                  <a:srgbClr val="FFFFFF"/>
                </a:solidFill>
                <a:latin typeface="Kanit"/>
              </a:rPr>
              <a:t>Aug ’26</a:t>
            </a:r>
          </a:p>
        </p:txBody>
      </p:sp>
      <p:sp>
        <p:nvSpPr>
          <p:cNvPr id="9" name="TextBox 8"/>
          <p:cNvSpPr txBox="1"/>
          <p:nvPr/>
        </p:nvSpPr>
        <p:spPr>
          <a:xfrm>
            <a:off x="365760" y="6547104"/>
            <a:ext cx="6400800" cy="134112"/>
          </a:xfrm>
          <a:prstGeom prst="rect">
            <a:avLst/>
          </a:prstGeom>
          <a:noFill/>
        </p:spPr>
        <p:txBody>
          <a:bodyPr wrap="square" lIns="0" rIns="0" tIns="0" bIns="0" anchor="t">
            <a:noAutofit/>
          </a:bodyPr>
          <a:lstStyle/>
          <a:p>
            <a:pPr algn="l">
              <a:lnSpc>
                <a:spcPts val="1056"/>
              </a:lnSpc>
            </a:pPr>
            <a:r>
              <a:rPr sz="800" b="0">
                <a:solidFill>
                  <a:srgbClr val="FFFFFF"/>
                </a:solidFill>
                <a:latin typeface="Kanit"/>
              </a:rPr>
              <a:t>Restricted Data – Reproduction is prohibited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THE ANSWER FIRST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Four questions about the world outside the company.</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93700"/>
          </a:xfrm>
          <a:prstGeom prst="rect">
            <a:avLst/>
          </a:prstGeom>
          <a:noFill/>
        </p:spPr>
        <p:txBody>
          <a:bodyPr wrap="square" lIns="0" rIns="0" tIns="0" bIns="0" anchor="t">
            <a:noAutofit/>
          </a:bodyPr>
          <a:lstStyle/>
          <a:p>
            <a:pPr algn="l">
              <a:lnSpc>
                <a:spcPts val="1550"/>
              </a:lnSpc>
            </a:pPr>
            <a:r>
              <a:rPr sz="1150" b="0">
                <a:solidFill>
                  <a:srgbClr val="606060"/>
                </a:solidFill>
                <a:latin typeface="Kanit"/>
              </a:rPr>
              <a:t>Everything on this tab is external — published by an agency, a ministry or a market, none of it by us. Where a line says what an external move touches, that is one column of context, not the subject.</a:t>
            </a:r>
          </a:p>
        </p:txBody>
      </p:sp>
      <p:sp>
        <p:nvSpPr>
          <p:cNvPr id="10" name="TextBox 9"/>
          <p:cNvSpPr txBox="1"/>
          <p:nvPr/>
        </p:nvSpPr>
        <p:spPr>
          <a:xfrm>
            <a:off x="411480" y="1728724"/>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Is the economy the problem?</a:t>
            </a:r>
          </a:p>
        </p:txBody>
      </p:sp>
      <p:sp>
        <p:nvSpPr>
          <p:cNvPr id="11" name="TextBox 10"/>
          <p:cNvSpPr txBox="1"/>
          <p:nvPr/>
        </p:nvSpPr>
        <p:spPr>
          <a:xfrm>
            <a:off x="3703320" y="1728724"/>
            <a:ext cx="8074151" cy="612648"/>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No. Growth and inflation both came in above what the IMF projected for 2026 and the policy rate is 1.00%. But Thailand is projected to grow slowest in ASEAN-5 — 1.5% against Vietnam’s 7.1%, on the narrowest fiscal room in the group. Stable, not strong.</a:t>
            </a:r>
          </a:p>
        </p:txBody>
      </p:sp>
      <p:sp>
        <p:nvSpPr>
          <p:cNvPr id="12" name="Rectangle 11"/>
          <p:cNvSpPr/>
          <p:nvPr/>
        </p:nvSpPr>
        <p:spPr>
          <a:xfrm>
            <a:off x="411480" y="2460244"/>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11480" y="2579116"/>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Are crop prices the problem?</a:t>
            </a:r>
          </a:p>
        </p:txBody>
      </p:sp>
      <p:sp>
        <p:nvSpPr>
          <p:cNvPr id="14" name="TextBox 13"/>
          <p:cNvSpPr txBox="1"/>
          <p:nvPr/>
        </p:nvSpPr>
        <p:spPr>
          <a:xfrm>
            <a:off x="3703320" y="2579116"/>
            <a:ext cx="8074151" cy="612648"/>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Not on the world index — but that is the wrong instrument. On the measured Thai farm gate eight commodities are falling, beef by 6.1% while the world index reads +11.8%. And margin matters more than price: netted of cost, a price move of 25% becomes a swing of 80% in crop income.</a:t>
            </a:r>
          </a:p>
        </p:txBody>
      </p:sp>
      <p:sp>
        <p:nvSpPr>
          <p:cNvPr id="15" name="Rectangle 14"/>
          <p:cNvSpPr/>
          <p:nvPr/>
        </p:nvSpPr>
        <p:spPr>
          <a:xfrm>
            <a:off x="411480" y="3310636"/>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411480" y="3429508"/>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So what is deteriorating?</a:t>
            </a:r>
          </a:p>
        </p:txBody>
      </p:sp>
      <p:sp>
        <p:nvSpPr>
          <p:cNvPr id="17" name="TextBox 16"/>
          <p:cNvSpPr txBox="1"/>
          <p:nvPr/>
        </p:nvSpPr>
        <p:spPr>
          <a:xfrm>
            <a:off x="3703320" y="3429508"/>
            <a:ext cx="8074151" cy="612648"/>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The collateral. Used pickup values sit 50% below their peak and 33 points below their own 2015 base, new pickup registrations are down 15.3% on the year, and every pickup nameplate of any size is falling — Hilux Revo −21.5%, D-Max −23.0%, Ranger −30.0%. Pickups also turn over more slowly than any other class in every region.</a:t>
            </a:r>
          </a:p>
        </p:txBody>
      </p:sp>
      <p:sp>
        <p:nvSpPr>
          <p:cNvPr id="18" name="Rectangle 17"/>
          <p:cNvSpPr/>
          <p:nvPr/>
        </p:nvSpPr>
        <p:spPr>
          <a:xfrm>
            <a:off x="411480" y="4161028"/>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11480" y="4279900"/>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And the borrower?</a:t>
            </a:r>
          </a:p>
        </p:txBody>
      </p:sp>
      <p:sp>
        <p:nvSpPr>
          <p:cNvPr id="20" name="TextBox 19"/>
          <p:cNvSpPr txBox="1"/>
          <p:nvPr/>
        </p:nvSpPr>
        <p:spPr>
          <a:xfrm>
            <a:off x="3703320" y="4279900"/>
            <a:ext cx="8074151" cy="816864"/>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Thin before any of this. Farming pays ฿7,200–14,200 a month depending on region, against an employee wage of ฿13,700–17,700 in those same regions. Three of the five crops with full published economics do not cover their own cost, and 60% of households could not cover three months without income. System arrears have risen in three of the last four quarters.</a:t>
            </a:r>
          </a:p>
        </p:txBody>
      </p:sp>
      <p:sp>
        <p:nvSpPr>
          <p:cNvPr id="21" name="Rounded Rectangle 20"/>
          <p:cNvSpPr/>
          <p:nvPr/>
        </p:nvSpPr>
        <p:spPr>
          <a:xfrm>
            <a:off x="411480" y="5435092"/>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11480" y="5464352"/>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23" name="TextBox 22"/>
          <p:cNvSpPr txBox="1"/>
          <p:nvPr/>
        </p:nvSpPr>
        <p:spPr>
          <a:xfrm>
            <a:off x="1275385" y="5448808"/>
            <a:ext cx="10502086" cy="325755"/>
          </a:xfrm>
          <a:prstGeom prst="rect">
            <a:avLst/>
          </a:prstGeom>
          <a:noFill/>
        </p:spPr>
        <p:txBody>
          <a:bodyPr wrap="square" lIns="0" rIns="0" tIns="0" bIns="0" anchor="t">
            <a:noAutofit/>
          </a:bodyPr>
          <a:lstStyle/>
          <a:p>
            <a:pPr algn="l">
              <a:lnSpc>
                <a:spcPts val="1282"/>
              </a:lnSpc>
            </a:pPr>
            <a:r>
              <a:rPr sz="950" b="0">
                <a:solidFill>
                  <a:srgbClr val="606060"/>
                </a:solidFill>
                <a:latin typeface="Kanit"/>
              </a:rPr>
              <a:t>NESDC · TPSO · Bank of Thailand · BIS · ECB · IMF · World Bank · NABC · OAE · DLT · MOT · NSO · ThaiWater. Each page carries its own chip and vintage; where a figure is modelled rather than published it is labelled ESTIMATED.</a:t>
            </a:r>
          </a:p>
        </p:txBody>
      </p:sp>
      <p:sp>
        <p:nvSpPr>
          <p:cNvPr id="24" name="TextBox 23"/>
          <p:cNvSpPr txBox="1"/>
          <p:nvPr/>
        </p:nvSpPr>
        <p:spPr>
          <a:xfrm>
            <a:off x="411480" y="5998591"/>
            <a:ext cx="11365992" cy="167640"/>
          </a:xfrm>
          <a:prstGeom prst="rect">
            <a:avLst/>
          </a:prstGeom>
          <a:noFill/>
        </p:spPr>
        <p:txBody>
          <a:bodyPr wrap="square" lIns="0" rIns="0" tIns="0" bIns="0" anchor="t">
            <a:noAutofit/>
          </a:bodyPr>
          <a:lstStyle/>
          <a:p>
            <a:pPr algn="l">
              <a:lnSpc>
                <a:spcPts val="1320"/>
              </a:lnSpc>
            </a:pPr>
            <a:r>
              <a:rPr sz="1000" b="1">
                <a:solidFill>
                  <a:srgbClr val="1E2F5C"/>
                </a:solidFill>
                <a:latin typeface="Kanit"/>
              </a:rPr>
              <a:t>What follows</a:t>
            </a:r>
          </a:p>
        </p:txBody>
      </p:sp>
      <p:sp>
        <p:nvSpPr>
          <p:cNvPr id="25" name="TextBox 24"/>
          <p:cNvSpPr txBox="1"/>
          <p:nvPr/>
        </p:nvSpPr>
        <p:spPr>
          <a:xfrm>
            <a:off x="411480" y="6218047"/>
            <a:ext cx="11365992" cy="355600"/>
          </a:xfrm>
          <a:prstGeom prst="rect">
            <a:avLst/>
          </a:prstGeom>
          <a:noFill/>
        </p:spPr>
        <p:txBody>
          <a:bodyPr wrap="square" lIns="0" rIns="0" tIns="0" bIns="0" anchor="t">
            <a:noAutofit/>
          </a:bodyPr>
          <a:lstStyle/>
          <a:p>
            <a:pPr algn="l">
              <a:lnSpc>
                <a:spcPts val="1400"/>
              </a:lnSpc>
            </a:pPr>
            <a:r>
              <a:rPr sz="1000" b="0">
                <a:solidFill>
                  <a:srgbClr val="606060"/>
                </a:solidFill>
                <a:latin typeface="Kanit"/>
              </a:rPr>
              <a:t>01–02  the macro backdrop and the conditions underneath it        03–08  agriculture: prices, the belts, cost of production, income now, water        09  where to reach out first        10  collateral, in five parts        11  what it asks of 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01 · MACRO OVERLAY</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Benign at home, slowest in the region, and system arrears are turning.</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GDP growth</a:t>
            </a:r>
          </a:p>
        </p:txBody>
      </p:sp>
      <p:sp>
        <p:nvSpPr>
          <p:cNvPr id="11" name="TextBox 10"/>
          <p:cNvSpPr txBox="1"/>
          <p:nvPr/>
        </p:nvSpPr>
        <p:spPr>
          <a:xfrm>
            <a:off x="548640" y="1426464"/>
            <a:ext cx="1505711" cy="330200"/>
          </a:xfrm>
          <a:prstGeom prst="rect">
            <a:avLst/>
          </a:prstGeom>
          <a:noFill/>
        </p:spPr>
        <p:txBody>
          <a:bodyPr wrap="square" lIns="0" rIns="0" tIns="0" bIns="0" anchor="t">
            <a:noAutofit/>
          </a:bodyPr>
          <a:lstStyle/>
          <a:p>
            <a:pPr algn="l">
              <a:lnSpc>
                <a:spcPts val="2600"/>
              </a:lnSpc>
            </a:pPr>
            <a:r>
              <a:rPr sz="2100" b="1">
                <a:solidFill>
                  <a:srgbClr val="15795F"/>
                </a:solidFill>
                <a:latin typeface="Kanit"/>
              </a:rPr>
              <a:t>+2.8%</a:t>
            </a:r>
          </a:p>
        </p:txBody>
      </p:sp>
      <p:sp>
        <p:nvSpPr>
          <p:cNvPr id="12" name="TextBox 11"/>
          <p:cNvSpPr txBox="1"/>
          <p:nvPr/>
        </p:nvSpPr>
        <p:spPr>
          <a:xfrm>
            <a:off x="548640"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YoY · measured quarter, not a projection · NESDC 2026-Q1</a:t>
            </a:r>
          </a:p>
        </p:txBody>
      </p:sp>
      <p:sp>
        <p:nvSpPr>
          <p:cNvPr id="13" name="Rounded Rectangle 12"/>
          <p:cNvSpPr/>
          <p:nvPr/>
        </p:nvSpPr>
        <p:spPr>
          <a:xfrm>
            <a:off x="2328672"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2465832"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Inflation</a:t>
            </a:r>
          </a:p>
        </p:txBody>
      </p:sp>
      <p:sp>
        <p:nvSpPr>
          <p:cNvPr id="15" name="TextBox 14"/>
          <p:cNvSpPr txBox="1"/>
          <p:nvPr/>
        </p:nvSpPr>
        <p:spPr>
          <a:xfrm>
            <a:off x="2465832" y="1426464"/>
            <a:ext cx="1505711"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+2.79%</a:t>
            </a:r>
          </a:p>
        </p:txBody>
      </p:sp>
      <p:sp>
        <p:nvSpPr>
          <p:cNvPr id="16" name="TextBox 15"/>
          <p:cNvSpPr txBox="1"/>
          <p:nvPr/>
        </p:nvSpPr>
        <p:spPr>
          <a:xfrm>
            <a:off x="2465832"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headline CPI YoY · TPSO · 2026-05</a:t>
            </a:r>
          </a:p>
        </p:txBody>
      </p:sp>
      <p:sp>
        <p:nvSpPr>
          <p:cNvPr id="17" name="Rounded Rectangle 16"/>
          <p:cNvSpPr/>
          <p:nvPr/>
        </p:nvSpPr>
        <p:spPr>
          <a:xfrm>
            <a:off x="4245864"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383024"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Policy rate</a:t>
            </a:r>
          </a:p>
        </p:txBody>
      </p:sp>
      <p:sp>
        <p:nvSpPr>
          <p:cNvPr id="19" name="TextBox 18"/>
          <p:cNvSpPr txBox="1"/>
          <p:nvPr/>
        </p:nvSpPr>
        <p:spPr>
          <a:xfrm>
            <a:off x="4383024" y="1426464"/>
            <a:ext cx="1505711"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1.00%</a:t>
            </a:r>
          </a:p>
        </p:txBody>
      </p:sp>
      <p:sp>
        <p:nvSpPr>
          <p:cNvPr id="20" name="TextBox 19"/>
          <p:cNvSpPr txBox="1"/>
          <p:nvPr/>
        </p:nvSpPr>
        <p:spPr>
          <a:xfrm>
            <a:off x="4383024"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Bank of Thailand · 2026-06</a:t>
            </a:r>
          </a:p>
        </p:txBody>
      </p:sp>
      <p:sp>
        <p:nvSpPr>
          <p:cNvPr id="21" name="Rounded Rectangle 20"/>
          <p:cNvSpPr/>
          <p:nvPr/>
        </p:nvSpPr>
        <p:spPr>
          <a:xfrm>
            <a:off x="6163056"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300216"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USD / THB</a:t>
            </a:r>
          </a:p>
        </p:txBody>
      </p:sp>
      <p:sp>
        <p:nvSpPr>
          <p:cNvPr id="23" name="TextBox 22"/>
          <p:cNvSpPr txBox="1"/>
          <p:nvPr/>
        </p:nvSpPr>
        <p:spPr>
          <a:xfrm>
            <a:off x="6300216" y="1426464"/>
            <a:ext cx="1505711"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33.34</a:t>
            </a:r>
          </a:p>
        </p:txBody>
      </p:sp>
      <p:sp>
        <p:nvSpPr>
          <p:cNvPr id="24" name="TextBox 23"/>
          <p:cNvSpPr txBox="1"/>
          <p:nvPr/>
        </p:nvSpPr>
        <p:spPr>
          <a:xfrm>
            <a:off x="6300216"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ECB reference · 2026-08-03</a:t>
            </a:r>
          </a:p>
        </p:txBody>
      </p:sp>
      <p:sp>
        <p:nvSpPr>
          <p:cNvPr id="25" name="Rounded Rectangle 24"/>
          <p:cNvSpPr/>
          <p:nvPr/>
        </p:nvSpPr>
        <p:spPr>
          <a:xfrm>
            <a:off x="8080247"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8217408"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Household debt</a:t>
            </a:r>
          </a:p>
        </p:txBody>
      </p:sp>
      <p:sp>
        <p:nvSpPr>
          <p:cNvPr id="27" name="TextBox 26"/>
          <p:cNvSpPr txBox="1"/>
          <p:nvPr/>
        </p:nvSpPr>
        <p:spPr>
          <a:xfrm>
            <a:off x="8217408" y="1426464"/>
            <a:ext cx="1505711"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87.5%</a:t>
            </a:r>
          </a:p>
        </p:txBody>
      </p:sp>
      <p:sp>
        <p:nvSpPr>
          <p:cNvPr id="28" name="TextBox 27"/>
          <p:cNvSpPr txBox="1"/>
          <p:nvPr/>
        </p:nvSpPr>
        <p:spPr>
          <a:xfrm>
            <a:off x="8217408"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GDP · BIS · 2025-Q4</a:t>
            </a:r>
          </a:p>
        </p:txBody>
      </p:sp>
      <p:sp>
        <p:nvSpPr>
          <p:cNvPr id="29" name="Rounded Rectangle 28"/>
          <p:cNvSpPr/>
          <p:nvPr/>
        </p:nvSpPr>
        <p:spPr>
          <a:xfrm>
            <a:off x="9997440"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0134600"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Tourist arrivals</a:t>
            </a:r>
          </a:p>
        </p:txBody>
      </p:sp>
      <p:sp>
        <p:nvSpPr>
          <p:cNvPr id="31" name="TextBox 30"/>
          <p:cNvSpPr txBox="1"/>
          <p:nvPr/>
        </p:nvSpPr>
        <p:spPr>
          <a:xfrm>
            <a:off x="10134600" y="1426464"/>
            <a:ext cx="1505711"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32.2M</a:t>
            </a:r>
          </a:p>
        </p:txBody>
      </p:sp>
      <p:sp>
        <p:nvSpPr>
          <p:cNvPr id="32" name="TextBox 31"/>
          <p:cNvSpPr txBox="1"/>
          <p:nvPr/>
        </p:nvSpPr>
        <p:spPr>
          <a:xfrm>
            <a:off x="10134600"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trailing 12m · −6.6% YoY · BoT 2026-06</a:t>
            </a:r>
          </a:p>
        </p:txBody>
      </p:sp>
      <p:graphicFrame>
        <p:nvGraphicFramePr>
          <p:cNvPr id="33" name="Table 32"/>
          <p:cNvGraphicFramePr>
            <a:graphicFrameLocks noGrp="1"/>
          </p:cNvGraphicFramePr>
          <p:nvPr/>
        </p:nvGraphicFramePr>
        <p:xfrm>
          <a:off x="411480" y="2450591"/>
          <a:ext cx="5897880" cy="1623059"/>
        </p:xfrm>
        <a:graphic>
          <a:graphicData uri="http://schemas.openxmlformats.org/drawingml/2006/table">
            <a:tbl>
              <a:tblPr>
                <a:tableStyleId>{5C22544A-7EE6-4342-B048-85BDC9FD1C3A}</a:tableStyleId>
              </a:tblPr>
              <a:tblGrid>
                <a:gridCol w="1619026"/>
                <a:gridCol w="1002254"/>
                <a:gridCol w="886609"/>
                <a:gridCol w="1156447"/>
                <a:gridCol w="1233544"/>
              </a:tblGrid>
              <a:tr h="329184">
                <a:tc>
                  <a:txBody>
                    <a:bodyPr wrap="square"/>
                    <a:lstStyle/>
                    <a:p>
                      <a:pPr algn="l"/>
                      <a:r>
                        <a:rPr sz="1050" b="1">
                          <a:solidFill>
                            <a:srgbClr val="FFFFFF"/>
                          </a:solidFill>
                          <a:latin typeface="Kanit"/>
                        </a:rPr>
                        <a:t>IMF 2026 projection</a:t>
                      </a:r>
                    </a:p>
                  </a:txBody>
                  <a:tcPr marL="54864" marR="54864" marT="18288" marB="18288" anchor="ctr">
                    <a:solidFill>
                      <a:srgbClr val="1B2A6B"/>
                    </a:solidFill>
                  </a:tcPr>
                </a:tc>
                <a:tc>
                  <a:txBody>
                    <a:bodyPr wrap="square"/>
                    <a:lstStyle/>
                    <a:p>
                      <a:pPr algn="r"/>
                      <a:r>
                        <a:rPr sz="1050" b="1">
                          <a:solidFill>
                            <a:srgbClr val="FFFFFF"/>
                          </a:solidFill>
                          <a:latin typeface="Kanit"/>
                        </a:rPr>
                        <a:t>GDP growth</a:t>
                      </a:r>
                    </a:p>
                  </a:txBody>
                  <a:tcPr marL="54864" marR="54864" marT="18288" marB="18288" anchor="ctr">
                    <a:solidFill>
                      <a:srgbClr val="1B2A6B"/>
                    </a:solidFill>
                  </a:tcPr>
                </a:tc>
                <a:tc>
                  <a:txBody>
                    <a:bodyPr wrap="square"/>
                    <a:lstStyle/>
                    <a:p>
                      <a:pPr algn="r"/>
                      <a:r>
                        <a:rPr sz="1050" b="1">
                          <a:solidFill>
                            <a:srgbClr val="FFFFFF"/>
                          </a:solidFill>
                          <a:latin typeface="Kanit"/>
                        </a:rPr>
                        <a:t>Inflation</a:t>
                      </a:r>
                    </a:p>
                  </a:txBody>
                  <a:tcPr marL="54864" marR="54864" marT="18288" marB="18288" anchor="ctr">
                    <a:solidFill>
                      <a:srgbClr val="1B2A6B"/>
                    </a:solidFill>
                  </a:tcPr>
                </a:tc>
                <a:tc>
                  <a:txBody>
                    <a:bodyPr wrap="square"/>
                    <a:lstStyle/>
                    <a:p>
                      <a:pPr algn="r"/>
                      <a:r>
                        <a:rPr sz="1050" b="1">
                          <a:solidFill>
                            <a:srgbClr val="FFFFFF"/>
                          </a:solidFill>
                          <a:latin typeface="Kanit"/>
                        </a:rPr>
                        <a:t>Unemployment</a:t>
                      </a:r>
                    </a:p>
                  </a:txBody>
                  <a:tcPr marL="54864" marR="54864" marT="18288" marB="18288" anchor="ctr">
                    <a:solidFill>
                      <a:srgbClr val="1B2A6B"/>
                    </a:solidFill>
                  </a:tcPr>
                </a:tc>
                <a:tc>
                  <a:txBody>
                    <a:bodyPr wrap="square"/>
                    <a:lstStyle/>
                    <a:p>
                      <a:pPr algn="r"/>
                      <a:r>
                        <a:rPr sz="1050" b="1">
                          <a:solidFill>
                            <a:srgbClr val="FFFFFF"/>
                          </a:solidFill>
                          <a:latin typeface="Kanit"/>
                        </a:rPr>
                        <a:t>Govt debt/GDP</a:t>
                      </a:r>
                    </a:p>
                  </a:txBody>
                  <a:tcPr marL="54864" marR="54864" marT="18288" marB="18288" anchor="ctr">
                    <a:solidFill>
                      <a:srgbClr val="1B2A6B"/>
                    </a:solidFill>
                  </a:tcPr>
                </a:tc>
              </a:tr>
              <a:tr h="258775">
                <a:tc>
                  <a:txBody>
                    <a:bodyPr wrap="square"/>
                    <a:lstStyle/>
                    <a:p>
                      <a:pPr algn="l"/>
                      <a:r>
                        <a:rPr sz="1000" b="1">
                          <a:solidFill>
                            <a:srgbClr val="1E2F5C"/>
                          </a:solidFill>
                          <a:latin typeface="Kanit"/>
                        </a:rPr>
                        <a:t>Thailand</a:t>
                      </a:r>
                    </a:p>
                  </a:txBody>
                  <a:tcPr marL="54864" marR="54864" marT="18288" marB="18288" anchor="ctr">
                    <a:solidFill>
                      <a:srgbClr val="FFFFFF"/>
                    </a:solidFill>
                  </a:tcPr>
                </a:tc>
                <a:tc>
                  <a:txBody>
                    <a:bodyPr wrap="square"/>
                    <a:lstStyle/>
                    <a:p>
                      <a:pPr algn="r"/>
                      <a:r>
                        <a:rPr sz="1000" b="1">
                          <a:solidFill>
                            <a:srgbClr val="CC0000"/>
                          </a:solidFill>
                          <a:latin typeface="Kanit"/>
                        </a:rPr>
                        <a:t>1.5%</a:t>
                      </a:r>
                    </a:p>
                  </a:txBody>
                  <a:tcPr marL="54864" marR="54864" marT="18288" marB="18288" anchor="ctr">
                    <a:solidFill>
                      <a:srgbClr val="FFFFFF"/>
                    </a:solidFill>
                  </a:tcPr>
                </a:tc>
                <a:tc>
                  <a:txBody>
                    <a:bodyPr wrap="square"/>
                    <a:lstStyle/>
                    <a:p>
                      <a:pPr algn="r"/>
                      <a:r>
                        <a:rPr sz="1000" b="0">
                          <a:solidFill>
                            <a:srgbClr val="1E2F5C"/>
                          </a:solidFill>
                          <a:latin typeface="Kanit"/>
                        </a:rPr>
                        <a:t>0.9%</a:t>
                      </a:r>
                    </a:p>
                  </a:txBody>
                  <a:tcPr marL="54864" marR="54864" marT="18288" marB="18288" anchor="ctr">
                    <a:solidFill>
                      <a:srgbClr val="FFFFFF"/>
                    </a:solidFill>
                  </a:tcPr>
                </a:tc>
                <a:tc>
                  <a:txBody>
                    <a:bodyPr wrap="square"/>
                    <a:lstStyle/>
                    <a:p>
                      <a:pPr algn="r"/>
                      <a:r>
                        <a:rPr sz="1000" b="0">
                          <a:solidFill>
                            <a:srgbClr val="1E2F5C"/>
                          </a:solidFill>
                          <a:latin typeface="Kanit"/>
                        </a:rPr>
                        <a:t>1.0%</a:t>
                      </a:r>
                    </a:p>
                  </a:txBody>
                  <a:tcPr marL="54864" marR="54864" marT="18288" marB="18288" anchor="ctr">
                    <a:solidFill>
                      <a:srgbClr val="FFFFFF"/>
                    </a:solidFill>
                  </a:tcPr>
                </a:tc>
                <a:tc>
                  <a:txBody>
                    <a:bodyPr wrap="square"/>
                    <a:lstStyle/>
                    <a:p>
                      <a:pPr algn="r"/>
                      <a:r>
                        <a:rPr sz="1000" b="0">
                          <a:solidFill>
                            <a:srgbClr val="1E2F5C"/>
                          </a:solidFill>
                          <a:latin typeface="Kanit"/>
                        </a:rPr>
                        <a:t>66.8%</a:t>
                      </a:r>
                    </a:p>
                  </a:txBody>
                  <a:tcPr marL="54864" marR="54864" marT="18288" marB="18288" anchor="ctr">
                    <a:solidFill>
                      <a:srgbClr val="FFFFFF"/>
                    </a:solidFill>
                  </a:tcPr>
                </a:tc>
              </a:tr>
              <a:tr h="258775">
                <a:tc>
                  <a:txBody>
                    <a:bodyPr wrap="square"/>
                    <a:lstStyle/>
                    <a:p>
                      <a:pPr algn="l"/>
                      <a:r>
                        <a:rPr sz="1000" b="0">
                          <a:solidFill>
                            <a:srgbClr val="1E2F5C"/>
                          </a:solidFill>
                          <a:latin typeface="Kanit"/>
                        </a:rPr>
                        <a:t>Vietnam</a:t>
                      </a:r>
                    </a:p>
                  </a:txBody>
                  <a:tcPr marL="54864" marR="54864" marT="18288" marB="18288" anchor="ctr">
                    <a:solidFill>
                      <a:srgbClr val="F7F9FC"/>
                    </a:solidFill>
                  </a:tcPr>
                </a:tc>
                <a:tc>
                  <a:txBody>
                    <a:bodyPr wrap="square"/>
                    <a:lstStyle/>
                    <a:p>
                      <a:pPr algn="r"/>
                      <a:r>
                        <a:rPr sz="1000" b="1">
                          <a:solidFill>
                            <a:srgbClr val="1E2F5C"/>
                          </a:solidFill>
                          <a:latin typeface="Kanit"/>
                        </a:rPr>
                        <a:t>7.1%</a:t>
                      </a:r>
                    </a:p>
                  </a:txBody>
                  <a:tcPr marL="54864" marR="54864" marT="18288" marB="18288" anchor="ctr">
                    <a:solidFill>
                      <a:srgbClr val="F7F9FC"/>
                    </a:solidFill>
                  </a:tcPr>
                </a:tc>
                <a:tc>
                  <a:txBody>
                    <a:bodyPr wrap="square"/>
                    <a:lstStyle/>
                    <a:p>
                      <a:pPr algn="r"/>
                      <a:r>
                        <a:rPr sz="1000" b="0">
                          <a:solidFill>
                            <a:srgbClr val="1E2F5C"/>
                          </a:solidFill>
                          <a:latin typeface="Kanit"/>
                        </a:rPr>
                        <a:t>4.9%</a:t>
                      </a:r>
                    </a:p>
                  </a:txBody>
                  <a:tcPr marL="54864" marR="54864" marT="18288" marB="18288" anchor="ctr">
                    <a:solidFill>
                      <a:srgbClr val="F7F9FC"/>
                    </a:solidFill>
                  </a:tcPr>
                </a:tc>
                <a:tc>
                  <a:txBody>
                    <a:bodyPr wrap="square"/>
                    <a:lstStyle/>
                    <a:p>
                      <a:pPr algn="r"/>
                      <a:r>
                        <a:rPr sz="1000" b="0">
                          <a:solidFill>
                            <a:srgbClr val="1E2F5C"/>
                          </a:solidFill>
                          <a:latin typeface="Kanit"/>
                        </a:rPr>
                        <a:t>2.1%</a:t>
                      </a:r>
                    </a:p>
                  </a:txBody>
                  <a:tcPr marL="54864" marR="54864" marT="18288" marB="18288" anchor="ctr">
                    <a:solidFill>
                      <a:srgbClr val="F7F9FC"/>
                    </a:solidFill>
                  </a:tcPr>
                </a:tc>
                <a:tc>
                  <a:txBody>
                    <a:bodyPr wrap="square"/>
                    <a:lstStyle/>
                    <a:p>
                      <a:pPr algn="r"/>
                      <a:r>
                        <a:rPr sz="1000" b="0">
                          <a:solidFill>
                            <a:srgbClr val="1E2F5C"/>
                          </a:solidFill>
                          <a:latin typeface="Kanit"/>
                        </a:rPr>
                        <a:t>29.8%</a:t>
                      </a:r>
                    </a:p>
                  </a:txBody>
                  <a:tcPr marL="54864" marR="54864" marT="18288" marB="18288" anchor="ctr">
                    <a:solidFill>
                      <a:srgbClr val="F7F9FC"/>
                    </a:solidFill>
                  </a:tcPr>
                </a:tc>
              </a:tr>
              <a:tr h="258775">
                <a:tc>
                  <a:txBody>
                    <a:bodyPr wrap="square"/>
                    <a:lstStyle/>
                    <a:p>
                      <a:pPr algn="l"/>
                      <a:r>
                        <a:rPr sz="1000" b="0">
                          <a:solidFill>
                            <a:srgbClr val="1E2F5C"/>
                          </a:solidFill>
                          <a:latin typeface="Kanit"/>
                        </a:rPr>
                        <a:t>Indonesia</a:t>
                      </a:r>
                    </a:p>
                  </a:txBody>
                  <a:tcPr marL="54864" marR="54864" marT="18288" marB="18288" anchor="ctr">
                    <a:solidFill>
                      <a:srgbClr val="FFFFFF"/>
                    </a:solidFill>
                  </a:tcPr>
                </a:tc>
                <a:tc>
                  <a:txBody>
                    <a:bodyPr wrap="square"/>
                    <a:lstStyle/>
                    <a:p>
                      <a:pPr algn="r"/>
                      <a:r>
                        <a:rPr sz="1000" b="1">
                          <a:solidFill>
                            <a:srgbClr val="1E2F5C"/>
                          </a:solidFill>
                          <a:latin typeface="Kanit"/>
                        </a:rPr>
                        <a:t>5.0%</a:t>
                      </a:r>
                    </a:p>
                  </a:txBody>
                  <a:tcPr marL="54864" marR="54864" marT="18288" marB="18288" anchor="ctr">
                    <a:solidFill>
                      <a:srgbClr val="FFFFFF"/>
                    </a:solidFill>
                  </a:tcPr>
                </a:tc>
                <a:tc>
                  <a:txBody>
                    <a:bodyPr wrap="square"/>
                    <a:lstStyle/>
                    <a:p>
                      <a:pPr algn="r"/>
                      <a:r>
                        <a:rPr sz="1000" b="0">
                          <a:solidFill>
                            <a:srgbClr val="1E2F5C"/>
                          </a:solidFill>
                          <a:latin typeface="Kanit"/>
                        </a:rPr>
                        <a:t>3.0%</a:t>
                      </a:r>
                    </a:p>
                  </a:txBody>
                  <a:tcPr marL="54864" marR="54864" marT="18288" marB="18288" anchor="ctr">
                    <a:solidFill>
                      <a:srgbClr val="FFFFFF"/>
                    </a:solidFill>
                  </a:tcPr>
                </a:tc>
                <a:tc>
                  <a:txBody>
                    <a:bodyPr wrap="square"/>
                    <a:lstStyle/>
                    <a:p>
                      <a:pPr algn="r"/>
                      <a:r>
                        <a:rPr sz="1000" b="0">
                          <a:solidFill>
                            <a:srgbClr val="1E2F5C"/>
                          </a:solidFill>
                          <a:latin typeface="Kanit"/>
                        </a:rPr>
                        <a:t>4.9%</a:t>
                      </a:r>
                    </a:p>
                  </a:txBody>
                  <a:tcPr marL="54864" marR="54864" marT="18288" marB="18288" anchor="ctr">
                    <a:solidFill>
                      <a:srgbClr val="FFFFFF"/>
                    </a:solidFill>
                  </a:tcPr>
                </a:tc>
                <a:tc>
                  <a:txBody>
                    <a:bodyPr wrap="square"/>
                    <a:lstStyle/>
                    <a:p>
                      <a:pPr algn="r"/>
                      <a:r>
                        <a:rPr sz="1000" b="0">
                          <a:solidFill>
                            <a:srgbClr val="1E2F5C"/>
                          </a:solidFill>
                          <a:latin typeface="Kanit"/>
                        </a:rPr>
                        <a:t>41.5%</a:t>
                      </a:r>
                    </a:p>
                  </a:txBody>
                  <a:tcPr marL="54864" marR="54864" marT="18288" marB="18288" anchor="ctr">
                    <a:solidFill>
                      <a:srgbClr val="FFFFFF"/>
                    </a:solidFill>
                  </a:tcPr>
                </a:tc>
              </a:tr>
              <a:tr h="258775">
                <a:tc>
                  <a:txBody>
                    <a:bodyPr wrap="square"/>
                    <a:lstStyle/>
                    <a:p>
                      <a:pPr algn="l"/>
                      <a:r>
                        <a:rPr sz="1000" b="0">
                          <a:solidFill>
                            <a:srgbClr val="1E2F5C"/>
                          </a:solidFill>
                          <a:latin typeface="Kanit"/>
                        </a:rPr>
                        <a:t>Malaysia</a:t>
                      </a:r>
                    </a:p>
                  </a:txBody>
                  <a:tcPr marL="54864" marR="54864" marT="18288" marB="18288" anchor="ctr">
                    <a:solidFill>
                      <a:srgbClr val="F7F9FC"/>
                    </a:solidFill>
                  </a:tcPr>
                </a:tc>
                <a:tc>
                  <a:txBody>
                    <a:bodyPr wrap="square"/>
                    <a:lstStyle/>
                    <a:p>
                      <a:pPr algn="r"/>
                      <a:r>
                        <a:rPr sz="1000" b="1">
                          <a:solidFill>
                            <a:srgbClr val="1E2F5C"/>
                          </a:solidFill>
                          <a:latin typeface="Kanit"/>
                        </a:rPr>
                        <a:t>4.7%</a:t>
                      </a:r>
                    </a:p>
                  </a:txBody>
                  <a:tcPr marL="54864" marR="54864" marT="18288" marB="18288" anchor="ctr">
                    <a:solidFill>
                      <a:srgbClr val="F7F9FC"/>
                    </a:solidFill>
                  </a:tcPr>
                </a:tc>
                <a:tc>
                  <a:txBody>
                    <a:bodyPr wrap="square"/>
                    <a:lstStyle/>
                    <a:p>
                      <a:pPr algn="r"/>
                      <a:r>
                        <a:rPr sz="1000" b="0">
                          <a:solidFill>
                            <a:srgbClr val="1E2F5C"/>
                          </a:solidFill>
                          <a:latin typeface="Kanit"/>
                        </a:rPr>
                        <a:t>1.9%</a:t>
                      </a:r>
                    </a:p>
                  </a:txBody>
                  <a:tcPr marL="54864" marR="54864" marT="18288" marB="18288" anchor="ctr">
                    <a:solidFill>
                      <a:srgbClr val="F7F9FC"/>
                    </a:solidFill>
                  </a:tcPr>
                </a:tc>
                <a:tc>
                  <a:txBody>
                    <a:bodyPr wrap="square"/>
                    <a:lstStyle/>
                    <a:p>
                      <a:pPr algn="r"/>
                      <a:r>
                        <a:rPr sz="1000" b="0">
                          <a:solidFill>
                            <a:srgbClr val="1E2F5C"/>
                          </a:solidFill>
                          <a:latin typeface="Kanit"/>
                        </a:rPr>
                        <a:t>3.0%</a:t>
                      </a:r>
                    </a:p>
                  </a:txBody>
                  <a:tcPr marL="54864" marR="54864" marT="18288" marB="18288" anchor="ctr">
                    <a:solidFill>
                      <a:srgbClr val="F7F9FC"/>
                    </a:solidFill>
                  </a:tcPr>
                </a:tc>
                <a:tc>
                  <a:txBody>
                    <a:bodyPr wrap="square"/>
                    <a:lstStyle/>
                    <a:p>
                      <a:pPr algn="r"/>
                      <a:r>
                        <a:rPr sz="1000" b="0">
                          <a:solidFill>
                            <a:srgbClr val="1E2F5C"/>
                          </a:solidFill>
                          <a:latin typeface="Kanit"/>
                        </a:rPr>
                        <a:t>69.5%</a:t>
                      </a:r>
                    </a:p>
                  </a:txBody>
                  <a:tcPr marL="54864" marR="54864" marT="18288" marB="18288" anchor="ctr">
                    <a:solidFill>
                      <a:srgbClr val="F7F9FC"/>
                    </a:solidFill>
                  </a:tcPr>
                </a:tc>
              </a:tr>
              <a:tr h="258775">
                <a:tc>
                  <a:txBody>
                    <a:bodyPr wrap="square"/>
                    <a:lstStyle/>
                    <a:p>
                      <a:pPr algn="l"/>
                      <a:r>
                        <a:rPr sz="1000" b="0">
                          <a:solidFill>
                            <a:srgbClr val="1E2F5C"/>
                          </a:solidFill>
                          <a:latin typeface="Kanit"/>
                        </a:rPr>
                        <a:t>Philippines</a:t>
                      </a:r>
                    </a:p>
                  </a:txBody>
                  <a:tcPr marL="54864" marR="54864" marT="18288" marB="18288" anchor="ctr">
                    <a:solidFill>
                      <a:srgbClr val="FFFFFF"/>
                    </a:solidFill>
                  </a:tcPr>
                </a:tc>
                <a:tc>
                  <a:txBody>
                    <a:bodyPr wrap="square"/>
                    <a:lstStyle/>
                    <a:p>
                      <a:pPr algn="r"/>
                      <a:r>
                        <a:rPr sz="1000" b="1">
                          <a:solidFill>
                            <a:srgbClr val="1E2F5C"/>
                          </a:solidFill>
                          <a:latin typeface="Kanit"/>
                        </a:rPr>
                        <a:t>4.1%</a:t>
                      </a:r>
                    </a:p>
                  </a:txBody>
                  <a:tcPr marL="54864" marR="54864" marT="18288" marB="18288" anchor="ctr">
                    <a:solidFill>
                      <a:srgbClr val="FFFFFF"/>
                    </a:solidFill>
                  </a:tcPr>
                </a:tc>
                <a:tc>
                  <a:txBody>
                    <a:bodyPr wrap="square"/>
                    <a:lstStyle/>
                    <a:p>
                      <a:pPr algn="r"/>
                      <a:r>
                        <a:rPr sz="1000" b="0">
                          <a:solidFill>
                            <a:srgbClr val="1E2F5C"/>
                          </a:solidFill>
                          <a:latin typeface="Kanit"/>
                        </a:rPr>
                        <a:t>4.3%</a:t>
                      </a:r>
                    </a:p>
                  </a:txBody>
                  <a:tcPr marL="54864" marR="54864" marT="18288" marB="18288" anchor="ctr">
                    <a:solidFill>
                      <a:srgbClr val="FFFFFF"/>
                    </a:solidFill>
                  </a:tcPr>
                </a:tc>
                <a:tc>
                  <a:txBody>
                    <a:bodyPr wrap="square"/>
                    <a:lstStyle/>
                    <a:p>
                      <a:pPr algn="r"/>
                      <a:r>
                        <a:rPr sz="1000" b="0">
                          <a:solidFill>
                            <a:srgbClr val="1E2F5C"/>
                          </a:solidFill>
                          <a:latin typeface="Kanit"/>
                        </a:rPr>
                        <a:t>4.7%</a:t>
                      </a:r>
                    </a:p>
                  </a:txBody>
                  <a:tcPr marL="54864" marR="54864" marT="18288" marB="18288" anchor="ctr">
                    <a:solidFill>
                      <a:srgbClr val="FFFFFF"/>
                    </a:solidFill>
                  </a:tcPr>
                </a:tc>
                <a:tc>
                  <a:txBody>
                    <a:bodyPr wrap="square"/>
                    <a:lstStyle/>
                    <a:p>
                      <a:pPr algn="r"/>
                      <a:r>
                        <a:rPr sz="1000" b="0">
                          <a:solidFill>
                            <a:srgbClr val="1E2F5C"/>
                          </a:solidFill>
                          <a:latin typeface="Kanit"/>
                        </a:rPr>
                        <a:t>60.2%</a:t>
                      </a:r>
                    </a:p>
                  </a:txBody>
                  <a:tcPr marL="54864" marR="54864" marT="18288" marB="18288" anchor="ctr">
                    <a:solidFill>
                      <a:srgbClr val="FFFFFF"/>
                    </a:solidFill>
                  </a:tcPr>
                </a:tc>
              </a:tr>
            </a:tbl>
          </a:graphicData>
        </a:graphic>
      </p:graphicFrame>
      <p:sp>
        <p:nvSpPr>
          <p:cNvPr id="34" name="Rectangle 33"/>
          <p:cNvSpPr/>
          <p:nvPr/>
        </p:nvSpPr>
        <p:spPr>
          <a:xfrm>
            <a:off x="6583680" y="2450591"/>
            <a:ext cx="5193792" cy="155448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Rectangle 34"/>
          <p:cNvSpPr/>
          <p:nvPr/>
        </p:nvSpPr>
        <p:spPr>
          <a:xfrm>
            <a:off x="6967728" y="3730752"/>
            <a:ext cx="4718304"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601968" y="3662172"/>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2</a:t>
            </a:r>
          </a:p>
        </p:txBody>
      </p:sp>
      <p:sp>
        <p:nvSpPr>
          <p:cNvPr id="37" name="Rectangle 36"/>
          <p:cNvSpPr/>
          <p:nvPr/>
        </p:nvSpPr>
        <p:spPr>
          <a:xfrm>
            <a:off x="6967728" y="2596896"/>
            <a:ext cx="4718304"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601968" y="2528315"/>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6</a:t>
            </a:r>
          </a:p>
        </p:txBody>
      </p:sp>
      <p:sp>
        <p:nvSpPr>
          <p:cNvPr id="39" name="TextBox 38"/>
          <p:cNvSpPr txBox="1"/>
          <p:nvPr/>
        </p:nvSpPr>
        <p:spPr>
          <a:xfrm>
            <a:off x="11050079" y="2578608"/>
            <a:ext cx="544512" cy="134112"/>
          </a:xfrm>
          <a:prstGeom prst="rect">
            <a:avLst/>
          </a:prstGeom>
          <a:noFill/>
        </p:spPr>
        <p:txBody>
          <a:bodyPr wrap="square" lIns="0" rIns="0" tIns="0" bIns="0" anchor="t">
            <a:noAutofit/>
          </a:bodyPr>
          <a:lstStyle/>
          <a:p>
            <a:pPr algn="l">
              <a:lnSpc>
                <a:spcPts val="1056"/>
              </a:lnSpc>
            </a:pPr>
            <a:r>
              <a:rPr sz="800" b="1">
                <a:solidFill>
                  <a:srgbClr val="CC0000"/>
                </a:solidFill>
                <a:latin typeface="Kanit"/>
              </a:rPr>
              <a:t>System NPL</a:t>
            </a:r>
          </a:p>
        </p:txBody>
      </p:sp>
      <p:sp>
        <p:nvSpPr>
          <p:cNvPr id="40" name="Rectangle 39"/>
          <p:cNvSpPr/>
          <p:nvPr/>
        </p:nvSpPr>
        <p:spPr>
          <a:xfrm>
            <a:off x="10812335" y="2638044"/>
            <a:ext cx="164592" cy="256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Freeform 40"/>
          <p:cNvSpPr/>
          <p:nvPr/>
        </p:nvSpPr>
        <p:spPr>
          <a:xfrm>
            <a:off x="6967728" y="2667762"/>
            <a:ext cx="4718304" cy="756848"/>
          </a:xfrm>
          <a:custGeom>
            <a:avLst/>
            <a:gdLst/>
            <a:ahLst/>
            <a:cxnLst/>
            <a:rect l="l" t="t" r="r" b="b"/>
            <a:pathLst>
              <a:path w="4718304" h="756848">
                <a:moveTo>
                  <a:pt x="0" y="328818"/>
                </a:moveTo>
                <a:lnTo>
                  <a:pt x="120982" y="260786"/>
                </a:lnTo>
                <a:lnTo>
                  <a:pt x="241964" y="351495"/>
                </a:lnTo>
                <a:lnTo>
                  <a:pt x="362946" y="374172"/>
                </a:lnTo>
                <a:lnTo>
                  <a:pt x="483928" y="609447"/>
                </a:lnTo>
                <a:lnTo>
                  <a:pt x="604910" y="507400"/>
                </a:lnTo>
                <a:lnTo>
                  <a:pt x="725892" y="606612"/>
                </a:lnTo>
                <a:lnTo>
                  <a:pt x="846875" y="657636"/>
                </a:lnTo>
                <a:lnTo>
                  <a:pt x="967857" y="632124"/>
                </a:lnTo>
                <a:lnTo>
                  <a:pt x="1088839" y="572597"/>
                </a:lnTo>
                <a:lnTo>
                  <a:pt x="1209821" y="606612"/>
                </a:lnTo>
                <a:lnTo>
                  <a:pt x="1330803" y="615116"/>
                </a:lnTo>
                <a:lnTo>
                  <a:pt x="1451785" y="555589"/>
                </a:lnTo>
                <a:lnTo>
                  <a:pt x="1572768" y="515904"/>
                </a:lnTo>
                <a:lnTo>
                  <a:pt x="1693750" y="589605"/>
                </a:lnTo>
                <a:lnTo>
                  <a:pt x="1814732" y="527243"/>
                </a:lnTo>
                <a:lnTo>
                  <a:pt x="1935714" y="598109"/>
                </a:lnTo>
                <a:lnTo>
                  <a:pt x="2056696" y="620786"/>
                </a:lnTo>
                <a:lnTo>
                  <a:pt x="2177678" y="719998"/>
                </a:lnTo>
                <a:lnTo>
                  <a:pt x="2298660" y="756848"/>
                </a:lnTo>
                <a:lnTo>
                  <a:pt x="2419643" y="714329"/>
                </a:lnTo>
                <a:lnTo>
                  <a:pt x="2540625" y="640628"/>
                </a:lnTo>
                <a:lnTo>
                  <a:pt x="2661607" y="479054"/>
                </a:lnTo>
                <a:lnTo>
                  <a:pt x="2782589" y="476219"/>
                </a:lnTo>
                <a:lnTo>
                  <a:pt x="2903571" y="150235"/>
                </a:lnTo>
                <a:lnTo>
                  <a:pt x="3024553" y="0"/>
                </a:lnTo>
                <a:lnTo>
                  <a:pt x="3145536" y="323148"/>
                </a:lnTo>
                <a:lnTo>
                  <a:pt x="3266518" y="433699"/>
                </a:lnTo>
                <a:lnTo>
                  <a:pt x="3387500" y="371337"/>
                </a:lnTo>
                <a:lnTo>
                  <a:pt x="3508482" y="362833"/>
                </a:lnTo>
                <a:lnTo>
                  <a:pt x="3629464" y="583935"/>
                </a:lnTo>
                <a:lnTo>
                  <a:pt x="3750446" y="456377"/>
                </a:lnTo>
                <a:lnTo>
                  <a:pt x="3871428" y="286298"/>
                </a:lnTo>
                <a:lnTo>
                  <a:pt x="3992411" y="201259"/>
                </a:lnTo>
                <a:lnTo>
                  <a:pt x="4113393" y="328818"/>
                </a:lnTo>
                <a:lnTo>
                  <a:pt x="4234375" y="428030"/>
                </a:lnTo>
                <a:lnTo>
                  <a:pt x="4355357" y="379841"/>
                </a:lnTo>
                <a:lnTo>
                  <a:pt x="4476339" y="348660"/>
                </a:lnTo>
                <a:lnTo>
                  <a:pt x="4597321" y="402518"/>
                </a:lnTo>
                <a:lnTo>
                  <a:pt x="4718304" y="359999"/>
                </a:lnTo>
              </a:path>
            </a:pathLst>
          </a:custGeom>
          <a:noFill/>
          <a:ln w="2032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47794" y="3803904"/>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2017</a:t>
            </a:r>
          </a:p>
        </p:txBody>
      </p:sp>
      <p:sp>
        <p:nvSpPr>
          <p:cNvPr id="43" name="TextBox 42"/>
          <p:cNvSpPr txBox="1"/>
          <p:nvPr/>
        </p:nvSpPr>
        <p:spPr>
          <a:xfrm>
            <a:off x="8599580" y="3803904"/>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2020</a:t>
            </a:r>
          </a:p>
        </p:txBody>
      </p:sp>
      <p:sp>
        <p:nvSpPr>
          <p:cNvPr id="44" name="TextBox 43"/>
          <p:cNvSpPr txBox="1"/>
          <p:nvPr/>
        </p:nvSpPr>
        <p:spPr>
          <a:xfrm>
            <a:off x="10051366" y="3803904"/>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2023</a:t>
            </a:r>
          </a:p>
        </p:txBody>
      </p:sp>
      <p:sp>
        <p:nvSpPr>
          <p:cNvPr id="45" name="TextBox 44"/>
          <p:cNvSpPr txBox="1"/>
          <p:nvPr/>
        </p:nvSpPr>
        <p:spPr>
          <a:xfrm>
            <a:off x="11503152" y="3803904"/>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2026</a:t>
            </a:r>
          </a:p>
        </p:txBody>
      </p:sp>
      <p:sp>
        <p:nvSpPr>
          <p:cNvPr id="46" name="TextBox 45"/>
          <p:cNvSpPr txBox="1"/>
          <p:nvPr/>
        </p:nvSpPr>
        <p:spPr>
          <a:xfrm>
            <a:off x="6601968" y="2459735"/>
            <a:ext cx="5102352"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Thai banking-system NPL, % of loans · 40 quarters</a:t>
            </a:r>
          </a:p>
        </p:txBody>
      </p:sp>
      <p:sp>
        <p:nvSpPr>
          <p:cNvPr id="47" name="Rounded Rectangle 46"/>
          <p:cNvSpPr/>
          <p:nvPr/>
        </p:nvSpPr>
        <p:spPr>
          <a:xfrm>
            <a:off x="411480" y="4169663"/>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8" name="TextBox 47"/>
          <p:cNvSpPr txBox="1"/>
          <p:nvPr/>
        </p:nvSpPr>
        <p:spPr>
          <a:xfrm>
            <a:off x="411480" y="4198924"/>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49" name="TextBox 48"/>
          <p:cNvSpPr txBox="1"/>
          <p:nvPr/>
        </p:nvSpPr>
        <p:spPr>
          <a:xfrm>
            <a:off x="1275385" y="4183379"/>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NESDC · TPSO · Bank of Thailand · BIS · ECB, each pulled from the publishing agency. IMF World Economic Outlook 2026 for the peer projections; BoT published NPL ratio — 4.48% at 2026-Q1, from 4.33% the quarter before, +0.24 points on the year, against a 3.08% low in 2021-Q1.</a:t>
            </a:r>
          </a:p>
        </p:txBody>
      </p:sp>
      <p:sp>
        <p:nvSpPr>
          <p:cNvPr id="50" name="Rectangle 49"/>
          <p:cNvSpPr/>
          <p:nvPr/>
        </p:nvSpPr>
        <p:spPr>
          <a:xfrm>
            <a:off x="411480" y="4661154"/>
            <a:ext cx="5568696" cy="168833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Rectangle 50"/>
          <p:cNvSpPr/>
          <p:nvPr/>
        </p:nvSpPr>
        <p:spPr>
          <a:xfrm>
            <a:off x="411480" y="4661154"/>
            <a:ext cx="50292" cy="168833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630936" y="4807458"/>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Thailand has already overtaken the IMF’s own 2026 projection</a:t>
            </a:r>
          </a:p>
        </p:txBody>
      </p:sp>
      <p:sp>
        <p:nvSpPr>
          <p:cNvPr id="53" name="TextBox 52"/>
          <p:cNvSpPr txBox="1"/>
          <p:nvPr/>
        </p:nvSpPr>
        <p:spPr>
          <a:xfrm>
            <a:off x="630936" y="5011928"/>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The IMF projected 1.5% growth and 0.9% inflation. The measured outturns are +2.8% and +2.79% — 1.3 and 1.9 points higher. Where a Thai measurement exists we show it instead of the projection.
The one falling chip is tourism: arrivals −6.6% on a trailing-twelve-month basis. That income is a large part of the informal cash economy in the South and on the eastern seaboard, and it shows up in no crop or fleet series.</a:t>
            </a:r>
          </a:p>
        </p:txBody>
      </p:sp>
      <p:sp>
        <p:nvSpPr>
          <p:cNvPr id="54" name="Rectangle 53"/>
          <p:cNvSpPr/>
          <p:nvPr/>
        </p:nvSpPr>
        <p:spPr>
          <a:xfrm>
            <a:off x="6208776" y="4661154"/>
            <a:ext cx="5568696" cy="168833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5" name="Rectangle 54"/>
          <p:cNvSpPr/>
          <p:nvPr/>
        </p:nvSpPr>
        <p:spPr>
          <a:xfrm>
            <a:off x="6208776" y="4661154"/>
            <a:ext cx="50292" cy="168833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6" name="TextBox 55"/>
          <p:cNvSpPr txBox="1"/>
          <p:nvPr/>
        </p:nvSpPr>
        <p:spPr>
          <a:xfrm>
            <a:off x="6428232" y="4807458"/>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Slowest growth, narrowest room to cushion it</a:t>
            </a:r>
          </a:p>
        </p:txBody>
      </p:sp>
      <p:sp>
        <p:nvSpPr>
          <p:cNvPr id="57" name="TextBox 56"/>
          <p:cNvSpPr txBox="1"/>
          <p:nvPr/>
        </p:nvSpPr>
        <p:spPr>
          <a:xfrm>
            <a:off x="6428232" y="5011928"/>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Thailand grows at 1.5% while the region runs 4–7%, so the informal wage most of our borrowers are paid out of will not be lifted by the cycle. And government debt is 66.8% of GDP against Vietnam's 29.8% — the fiscal space for the household relief that carried people through 2020–21 is materially narrower this time.
System arrears have risen in three of the last four quarters. Read that line as a direction, not a benchmark: it is bank loans on a regulatory definition.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02 · CONDITIONS ON THE GROUND</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Five lenses, from the country down to a district.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Labour force</a:t>
            </a:r>
          </a:p>
        </p:txBody>
      </p:sp>
      <p:sp>
        <p:nvSpPr>
          <p:cNvPr id="11" name="TextBox 10"/>
          <p:cNvSpPr txBox="1"/>
          <p:nvPr/>
        </p:nvSpPr>
        <p:spPr>
          <a:xfrm>
            <a:off x="548640" y="1426464"/>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41.9M</a:t>
            </a:r>
          </a:p>
        </p:txBody>
      </p:sp>
      <p:sp>
        <p:nvSpPr>
          <p:cNvPr id="12" name="TextBox 11"/>
          <p:cNvSpPr txBox="1"/>
          <p:nvPr/>
        </p:nvSpPr>
        <p:spPr>
          <a:xfrm>
            <a:off x="548640"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unemployment 0.94% · seasonal idle 0.77% (325k waiting)</a:t>
            </a:r>
          </a:p>
        </p:txBody>
      </p:sp>
      <p:sp>
        <p:nvSpPr>
          <p:cNvPr id="13" name="Rounded Rectangle 12"/>
          <p:cNvSpPr/>
          <p:nvPr/>
        </p:nvSpPr>
        <p:spPr>
          <a:xfrm>
            <a:off x="4245864"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383024"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Informality</a:t>
            </a:r>
          </a:p>
        </p:txBody>
      </p:sp>
      <p:sp>
        <p:nvSpPr>
          <p:cNvPr id="15" name="TextBox 14"/>
          <p:cNvSpPr txBox="1"/>
          <p:nvPr/>
        </p:nvSpPr>
        <p:spPr>
          <a:xfrm>
            <a:off x="4383024" y="1426464"/>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63.2%</a:t>
            </a:r>
          </a:p>
        </p:txBody>
      </p:sp>
      <p:sp>
        <p:nvSpPr>
          <p:cNvPr id="16" name="TextBox 15"/>
          <p:cNvSpPr txBox="1"/>
          <p:nvPr/>
        </p:nvSpPr>
        <p:spPr>
          <a:xfrm>
            <a:off x="4383024"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employment has no payslip or social cover — our core demographic (2024)</a:t>
            </a:r>
          </a:p>
        </p:txBody>
      </p:sp>
      <p:sp>
        <p:nvSpPr>
          <p:cNvPr id="17" name="Rounded Rectangle 16"/>
          <p:cNvSpPr/>
          <p:nvPr/>
        </p:nvSpPr>
        <p:spPr>
          <a:xfrm>
            <a:off x="8080247"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217408"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Vehicle fleet</a:t>
            </a:r>
          </a:p>
        </p:txBody>
      </p:sp>
      <p:sp>
        <p:nvSpPr>
          <p:cNvPr id="19" name="TextBox 18"/>
          <p:cNvSpPr txBox="1"/>
          <p:nvPr/>
        </p:nvSpPr>
        <p:spPr>
          <a:xfrm>
            <a:off x="8217408" y="1426464"/>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44.3M</a:t>
            </a:r>
          </a:p>
        </p:txBody>
      </p:sp>
      <p:sp>
        <p:nvSpPr>
          <p:cNvPr id="20" name="TextBox 19"/>
          <p:cNvSpPr txBox="1"/>
          <p:nvPr/>
        </p:nvSpPr>
        <p:spPr>
          <a:xfrm>
            <a:off x="8217408"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diesel 56.3% · electrified 2.57% · BEV 0.95%</a:t>
            </a:r>
          </a:p>
        </p:txBody>
      </p:sp>
      <p:sp>
        <p:nvSpPr>
          <p:cNvPr id="21" name="Rounded Rectangle 20"/>
          <p:cNvSpPr/>
          <p:nvPr/>
        </p:nvSpPr>
        <p:spPr>
          <a:xfrm>
            <a:off x="411480"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548640"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Districts dry</a:t>
            </a:r>
          </a:p>
        </p:txBody>
      </p:sp>
      <p:sp>
        <p:nvSpPr>
          <p:cNvPr id="23" name="TextBox 22"/>
          <p:cNvSpPr txBox="1"/>
          <p:nvPr/>
        </p:nvSpPr>
        <p:spPr>
          <a:xfrm>
            <a:off x="548640" y="2624327"/>
            <a:ext cx="3422904"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36.4%</a:t>
            </a:r>
          </a:p>
        </p:txBody>
      </p:sp>
      <p:sp>
        <p:nvSpPr>
          <p:cNvPr id="24" name="TextBox 23"/>
          <p:cNvSpPr txBox="1"/>
          <p:nvPr/>
        </p:nvSpPr>
        <p:spPr>
          <a:xfrm>
            <a:off x="548640"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338 of 928 · 132 of 794 river stations above high mark</a:t>
            </a:r>
          </a:p>
        </p:txBody>
      </p:sp>
      <p:sp>
        <p:nvSpPr>
          <p:cNvPr id="25" name="Rounded Rectangle 24"/>
          <p:cNvSpPr/>
          <p:nvPr/>
        </p:nvSpPr>
        <p:spPr>
          <a:xfrm>
            <a:off x="4245864"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4383024"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Household debt</a:t>
            </a:r>
          </a:p>
        </p:txBody>
      </p:sp>
      <p:sp>
        <p:nvSpPr>
          <p:cNvPr id="27" name="TextBox 26"/>
          <p:cNvSpPr txBox="1"/>
          <p:nvPr/>
        </p:nvSpPr>
        <p:spPr>
          <a:xfrm>
            <a:off x="4383024" y="2624327"/>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฿163,930</a:t>
            </a:r>
          </a:p>
        </p:txBody>
      </p:sp>
      <p:sp>
        <p:nvSpPr>
          <p:cNvPr id="28" name="TextBox 27"/>
          <p:cNvSpPr txBox="1"/>
          <p:nvPr/>
        </p:nvSpPr>
        <p:spPr>
          <a:xfrm>
            <a:off x="4383024"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per indebted household · 45.0% carry debt · income ฿26,069/month</a:t>
            </a:r>
          </a:p>
        </p:txBody>
      </p:sp>
      <p:sp>
        <p:nvSpPr>
          <p:cNvPr id="29" name="Rounded Rectangle 28"/>
          <p:cNvSpPr/>
          <p:nvPr/>
        </p:nvSpPr>
        <p:spPr>
          <a:xfrm>
            <a:off x="8080247"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8217408"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No cushion</a:t>
            </a:r>
          </a:p>
        </p:txBody>
      </p:sp>
      <p:sp>
        <p:nvSpPr>
          <p:cNvPr id="31" name="TextBox 30"/>
          <p:cNvSpPr txBox="1"/>
          <p:nvPr/>
        </p:nvSpPr>
        <p:spPr>
          <a:xfrm>
            <a:off x="8217408" y="2624327"/>
            <a:ext cx="3422904"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60%</a:t>
            </a:r>
          </a:p>
        </p:txBody>
      </p:sp>
      <p:sp>
        <p:nvSpPr>
          <p:cNvPr id="32" name="TextBox 31"/>
          <p:cNvSpPr txBox="1"/>
          <p:nvPr/>
        </p:nvSpPr>
        <p:spPr>
          <a:xfrm>
            <a:off x="8217408"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could not cover three months without income · 10.0% classed vulnerable</a:t>
            </a:r>
          </a:p>
        </p:txBody>
      </p:sp>
      <p:graphicFrame>
        <p:nvGraphicFramePr>
          <p:cNvPr id="33" name="Table 32"/>
          <p:cNvGraphicFramePr>
            <a:graphicFrameLocks noGrp="1"/>
          </p:cNvGraphicFramePr>
          <p:nvPr/>
        </p:nvGraphicFramePr>
        <p:xfrm>
          <a:off x="411480" y="3593591"/>
          <a:ext cx="11365992" cy="1645919"/>
        </p:xfrm>
        <a:graphic>
          <a:graphicData uri="http://schemas.openxmlformats.org/drawingml/2006/table">
            <a:tbl>
              <a:tblPr>
                <a:tableStyleId>{5C22544A-7EE6-4342-B048-85BDC9FD1C3A}</a:tableStyleId>
              </a:tblPr>
              <a:tblGrid>
                <a:gridCol w="1280160"/>
                <a:gridCol w="1188720"/>
                <a:gridCol w="1280160"/>
                <a:gridCol w="1188720"/>
                <a:gridCol w="1097280"/>
                <a:gridCol w="822960"/>
                <a:gridCol w="1234440"/>
                <a:gridCol w="1051560"/>
                <a:gridCol w="1371600"/>
                <a:gridCol w="850392"/>
              </a:tblGrid>
              <a:tr h="329184">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labour force</a:t>
                      </a:r>
                    </a:p>
                  </a:txBody>
                  <a:tcPr marL="54864" marR="54864" marT="18288" marB="18288" anchor="ctr">
                    <a:solidFill>
                      <a:srgbClr val="1B2A6B"/>
                    </a:solidFill>
                  </a:tcPr>
                </a:tc>
                <a:tc>
                  <a:txBody>
                    <a:bodyPr wrap="square"/>
                    <a:lstStyle/>
                    <a:p>
                      <a:pPr algn="r"/>
                      <a:r>
                        <a:rPr sz="1050" b="1">
                          <a:solidFill>
                            <a:srgbClr val="FFFFFF"/>
                          </a:solidFill>
                          <a:latin typeface="Kanit"/>
                        </a:rPr>
                        <a:t>unemployment</a:t>
                      </a:r>
                    </a:p>
                  </a:txBody>
                  <a:tcPr marL="54864" marR="54864" marT="18288" marB="18288" anchor="ctr">
                    <a:solidFill>
                      <a:srgbClr val="1B2A6B"/>
                    </a:solidFill>
                  </a:tcPr>
                </a:tc>
                <a:tc>
                  <a:txBody>
                    <a:bodyPr wrap="square"/>
                    <a:lstStyle/>
                    <a:p>
                      <a:pPr algn="r"/>
                      <a:r>
                        <a:rPr sz="1050" b="1">
                          <a:solidFill>
                            <a:srgbClr val="FFFFFF"/>
                          </a:solidFill>
                          <a:latin typeface="Kanit"/>
                        </a:rPr>
                        <a:t>seasonal idle</a:t>
                      </a:r>
                    </a:p>
                  </a:txBody>
                  <a:tcPr marL="54864" marR="54864" marT="18288" marB="18288" anchor="ctr">
                    <a:solidFill>
                      <a:srgbClr val="1B2A6B"/>
                    </a:solidFill>
                  </a:tcPr>
                </a:tc>
                <a:tc>
                  <a:txBody>
                    <a:bodyPr wrap="square"/>
                    <a:lstStyle/>
                    <a:p>
                      <a:pPr algn="r"/>
                      <a:r>
                        <a:rPr sz="1050" b="1">
                          <a:solidFill>
                            <a:srgbClr val="FFFFFF"/>
                          </a:solidFill>
                          <a:latin typeface="Kanit"/>
                        </a:rPr>
                        <a:t>vehicle fleet</a:t>
                      </a:r>
                    </a:p>
                  </a:txBody>
                  <a:tcPr marL="54864" marR="54864" marT="18288" marB="18288" anchor="ctr">
                    <a:solidFill>
                      <a:srgbClr val="1B2A6B"/>
                    </a:solidFill>
                  </a:tcPr>
                </a:tc>
                <a:tc>
                  <a:txBody>
                    <a:bodyPr wrap="square"/>
                    <a:lstStyle/>
                    <a:p>
                      <a:pPr algn="r"/>
                      <a:r>
                        <a:rPr sz="1050" b="1">
                          <a:solidFill>
                            <a:srgbClr val="FFFFFF"/>
                          </a:solidFill>
                          <a:latin typeface="Kanit"/>
                        </a:rPr>
                        <a:t>diesel</a:t>
                      </a:r>
                    </a:p>
                  </a:txBody>
                  <a:tcPr marL="54864" marR="54864" marT="18288" marB="18288" anchor="ctr">
                    <a:solidFill>
                      <a:srgbClr val="1B2A6B"/>
                    </a:solidFill>
                  </a:tcPr>
                </a:tc>
                <a:tc>
                  <a:txBody>
                    <a:bodyPr wrap="square"/>
                    <a:lstStyle/>
                    <a:p>
                      <a:pPr algn="r"/>
                      <a:r>
                        <a:rPr sz="1050" b="1">
                          <a:solidFill>
                            <a:srgbClr val="FFFFFF"/>
                          </a:solidFill>
                          <a:latin typeface="Kanit"/>
                        </a:rPr>
                        <a:t>districts dry</a:t>
                      </a:r>
                    </a:p>
                  </a:txBody>
                  <a:tcPr marL="54864" marR="54864" marT="18288" marB="18288" anchor="ctr">
                    <a:solidFill>
                      <a:srgbClr val="1B2A6B"/>
                    </a:solidFill>
                  </a:tcPr>
                </a:tc>
                <a:tc>
                  <a:txBody>
                    <a:bodyPr wrap="square"/>
                    <a:lstStyle/>
                    <a:p>
                      <a:pPr algn="r"/>
                      <a:r>
                        <a:rPr sz="1050" b="1">
                          <a:solidFill>
                            <a:srgbClr val="FFFFFF"/>
                          </a:solidFill>
                          <a:latin typeface="Kanit"/>
                        </a:rPr>
                        <a:t>rivers high</a:t>
                      </a:r>
                    </a:p>
                  </a:txBody>
                  <a:tcPr marL="54864" marR="54864" marT="18288" marB="18288" anchor="ctr">
                    <a:solidFill>
                      <a:srgbClr val="1B2A6B"/>
                    </a:solidFill>
                  </a:tcPr>
                </a:tc>
                <a:tc>
                  <a:txBody>
                    <a:bodyPr wrap="square"/>
                    <a:lstStyle/>
                    <a:p>
                      <a:pPr algn="r"/>
                      <a:r>
                        <a:rPr sz="1050" b="1">
                          <a:solidFill>
                            <a:srgbClr val="FFFFFF"/>
                          </a:solidFill>
                          <a:latin typeface="Kanit"/>
                        </a:rPr>
                        <a:t>household debt</a:t>
                      </a:r>
                    </a:p>
                  </a:txBody>
                  <a:tcPr marL="54864" marR="54864" marT="18288" marB="18288" anchor="ctr">
                    <a:solidFill>
                      <a:srgbClr val="1B2A6B"/>
                    </a:solidFill>
                  </a:tcPr>
                </a:tc>
                <a:tc>
                  <a:txBody>
                    <a:bodyPr wrap="square"/>
                    <a:lstStyle/>
                    <a:p>
                      <a:pPr algn="r"/>
                      <a:r>
                        <a:rPr sz="1050" b="1">
                          <a:solidFill>
                            <a:srgbClr val="FFFFFF"/>
                          </a:solidFill>
                          <a:latin typeface="Kanit"/>
                        </a:rPr>
                        <a:t>new firms</a:t>
                      </a:r>
                    </a:p>
                  </a:txBody>
                  <a:tcPr marL="54864" marR="54864" marT="18288" marB="18288" anchor="ctr">
                    <a:solidFill>
                      <a:srgbClr val="1B2A6B"/>
                    </a:solidFill>
                  </a:tcPr>
                </a:tc>
              </a:tr>
              <a:tr h="263347">
                <a:tc>
                  <a:txBody>
                    <a:bodyPr wrap="square"/>
                    <a:lstStyle/>
                    <a:p>
                      <a:pPr algn="l"/>
                      <a:r>
                        <a:rPr sz="900" b="1">
                          <a:solidFill>
                            <a:srgbClr val="1E2F5C"/>
                          </a:solidFill>
                          <a:latin typeface="Kanit"/>
                        </a:rPr>
                        <a:t>Isan</a:t>
                      </a:r>
                    </a:p>
                  </a:txBody>
                  <a:tcPr marL="54864" marR="54864" marT="18288" marB="18288" anchor="ctr">
                    <a:solidFill>
                      <a:srgbClr val="FFFFFF"/>
                    </a:solidFill>
                  </a:tcPr>
                </a:tc>
                <a:tc>
                  <a:txBody>
                    <a:bodyPr wrap="square"/>
                    <a:lstStyle/>
                    <a:p>
                      <a:pPr algn="r"/>
                      <a:r>
                        <a:rPr sz="900" b="0">
                          <a:solidFill>
                            <a:srgbClr val="1E2F5C"/>
                          </a:solidFill>
                          <a:latin typeface="Kanit"/>
                        </a:rPr>
                        <a:t>9.7M</a:t>
                      </a:r>
                    </a:p>
                  </a:txBody>
                  <a:tcPr marL="54864" marR="54864" marT="18288" marB="18288" anchor="ctr">
                    <a:solidFill>
                      <a:srgbClr val="FFFFFF"/>
                    </a:solidFill>
                  </a:tcPr>
                </a:tc>
                <a:tc>
                  <a:txBody>
                    <a:bodyPr wrap="square"/>
                    <a:lstStyle/>
                    <a:p>
                      <a:pPr algn="r"/>
                      <a:r>
                        <a:rPr sz="900" b="0">
                          <a:solidFill>
                            <a:srgbClr val="1E2F5C"/>
                          </a:solidFill>
                          <a:latin typeface="Kanit"/>
                        </a:rPr>
                        <a:t>0.80%</a:t>
                      </a:r>
                    </a:p>
                  </a:txBody>
                  <a:tcPr marL="54864" marR="54864" marT="18288" marB="18288" anchor="ctr">
                    <a:solidFill>
                      <a:srgbClr val="FFFFFF"/>
                    </a:solidFill>
                  </a:tcPr>
                </a:tc>
                <a:tc>
                  <a:txBody>
                    <a:bodyPr wrap="square"/>
                    <a:lstStyle/>
                    <a:p>
                      <a:pPr algn="r"/>
                      <a:r>
                        <a:rPr sz="900" b="1">
                          <a:solidFill>
                            <a:srgbClr val="CC0000"/>
                          </a:solidFill>
                          <a:latin typeface="Kanit"/>
                        </a:rPr>
                        <a:t>256k</a:t>
                      </a:r>
                    </a:p>
                  </a:txBody>
                  <a:tcPr marL="54864" marR="54864" marT="18288" marB="18288" anchor="ctr">
                    <a:solidFill>
                      <a:srgbClr val="FFFFFF"/>
                    </a:solidFill>
                  </a:tcPr>
                </a:tc>
                <a:tc>
                  <a:txBody>
                    <a:bodyPr wrap="square"/>
                    <a:lstStyle/>
                    <a:p>
                      <a:pPr algn="r"/>
                      <a:r>
                        <a:rPr sz="900" b="0">
                          <a:solidFill>
                            <a:srgbClr val="1E2F5C"/>
                          </a:solidFill>
                          <a:latin typeface="Kanit"/>
                        </a:rPr>
                        <a:t>9.2M</a:t>
                      </a:r>
                    </a:p>
                  </a:txBody>
                  <a:tcPr marL="54864" marR="54864" marT="18288" marB="18288" anchor="ctr">
                    <a:solidFill>
                      <a:srgbClr val="FFFFFF"/>
                    </a:solidFill>
                  </a:tcPr>
                </a:tc>
                <a:tc>
                  <a:txBody>
                    <a:bodyPr wrap="square"/>
                    <a:lstStyle/>
                    <a:p>
                      <a:pPr algn="r"/>
                      <a:r>
                        <a:rPr sz="900" b="0">
                          <a:solidFill>
                            <a:srgbClr val="1E2F5C"/>
                          </a:solidFill>
                          <a:latin typeface="Kanit"/>
                        </a:rPr>
                        <a:t>66.9%</a:t>
                      </a:r>
                    </a:p>
                  </a:txBody>
                  <a:tcPr marL="54864" marR="54864" marT="18288" marB="18288" anchor="ctr">
                    <a:solidFill>
                      <a:srgbClr val="FFFFFF"/>
                    </a:solidFill>
                  </a:tcPr>
                </a:tc>
                <a:tc>
                  <a:txBody>
                    <a:bodyPr wrap="square"/>
                    <a:lstStyle/>
                    <a:p>
                      <a:pPr algn="r"/>
                      <a:r>
                        <a:rPr sz="900" b="1">
                          <a:solidFill>
                            <a:srgbClr val="CC0000"/>
                          </a:solidFill>
                          <a:latin typeface="Kanit"/>
                        </a:rPr>
                        <a:t>42%</a:t>
                      </a:r>
                    </a:p>
                  </a:txBody>
                  <a:tcPr marL="54864" marR="54864" marT="18288" marB="18288" anchor="ctr">
                    <a:solidFill>
                      <a:srgbClr val="FFFFFF"/>
                    </a:solidFill>
                  </a:tcPr>
                </a:tc>
                <a:tc>
                  <a:txBody>
                    <a:bodyPr wrap="square"/>
                    <a:lstStyle/>
                    <a:p>
                      <a:pPr algn="r"/>
                      <a:r>
                        <a:rPr sz="900" b="0">
                          <a:solidFill>
                            <a:srgbClr val="1E2F5C"/>
                          </a:solidFill>
                          <a:latin typeface="Kanit"/>
                        </a:rPr>
                        <a:t>31/158</a:t>
                      </a:r>
                    </a:p>
                  </a:txBody>
                  <a:tcPr marL="54864" marR="54864" marT="18288" marB="18288" anchor="ctr">
                    <a:solidFill>
                      <a:srgbClr val="FFFFFF"/>
                    </a:solidFill>
                  </a:tcPr>
                </a:tc>
                <a:tc>
                  <a:txBody>
                    <a:bodyPr wrap="square"/>
                    <a:lstStyle/>
                    <a:p>
                      <a:pPr algn="r"/>
                      <a:r>
                        <a:rPr sz="900" b="1">
                          <a:solidFill>
                            <a:srgbClr val="CC0000"/>
                          </a:solidFill>
                          <a:latin typeface="Kanit"/>
                        </a:rPr>
                        <a:t>฿200,540</a:t>
                      </a:r>
                    </a:p>
                  </a:txBody>
                  <a:tcPr marL="54864" marR="54864" marT="18288" marB="18288" anchor="ctr">
                    <a:solidFill>
                      <a:srgbClr val="FFFFFF"/>
                    </a:solidFill>
                  </a:tcPr>
                </a:tc>
                <a:tc>
                  <a:txBody>
                    <a:bodyPr wrap="square"/>
                    <a:lstStyle/>
                    <a:p>
                      <a:pPr algn="r"/>
                      <a:r>
                        <a:rPr sz="900" b="0">
                          <a:solidFill>
                            <a:srgbClr val="1E2F5C"/>
                          </a:solidFill>
                          <a:latin typeface="Kanit"/>
                        </a:rPr>
                        <a:t>0.10</a:t>
                      </a:r>
                    </a:p>
                  </a:txBody>
                  <a:tcPr marL="54864" marR="54864" marT="18288" marB="18288" anchor="ctr">
                    <a:solidFill>
                      <a:srgbClr val="FFFFFF"/>
                    </a:solidFill>
                  </a:tcPr>
                </a:tc>
              </a:tr>
              <a:tr h="263347">
                <a:tc>
                  <a:txBody>
                    <a:bodyPr wrap="square"/>
                    <a:lstStyle/>
                    <a:p>
                      <a:pPr algn="l"/>
                      <a:r>
                        <a:rPr sz="900" b="1">
                          <a:solidFill>
                            <a:srgbClr val="1E2F5C"/>
                          </a:solidFill>
                          <a:latin typeface="Kanit"/>
                        </a:rPr>
                        <a:t>North</a:t>
                      </a:r>
                    </a:p>
                  </a:txBody>
                  <a:tcPr marL="54864" marR="54864" marT="18288" marB="18288" anchor="ctr">
                    <a:solidFill>
                      <a:srgbClr val="F7F9FC"/>
                    </a:solidFill>
                  </a:tcPr>
                </a:tc>
                <a:tc>
                  <a:txBody>
                    <a:bodyPr wrap="square"/>
                    <a:lstStyle/>
                    <a:p>
                      <a:pPr algn="r"/>
                      <a:r>
                        <a:rPr sz="900" b="0">
                          <a:solidFill>
                            <a:srgbClr val="1E2F5C"/>
                          </a:solidFill>
                          <a:latin typeface="Kanit"/>
                        </a:rPr>
                        <a:t>6.4M</a:t>
                      </a:r>
                    </a:p>
                  </a:txBody>
                  <a:tcPr marL="54864" marR="54864" marT="18288" marB="18288" anchor="ctr">
                    <a:solidFill>
                      <a:srgbClr val="F7F9FC"/>
                    </a:solidFill>
                  </a:tcPr>
                </a:tc>
                <a:tc>
                  <a:txBody>
                    <a:bodyPr wrap="square"/>
                    <a:lstStyle/>
                    <a:p>
                      <a:pPr algn="r"/>
                      <a:r>
                        <a:rPr sz="900" b="0">
                          <a:solidFill>
                            <a:srgbClr val="1E2F5C"/>
                          </a:solidFill>
                          <a:latin typeface="Kanit"/>
                        </a:rPr>
                        <a:t>0.89%</a:t>
                      </a:r>
                    </a:p>
                  </a:txBody>
                  <a:tcPr marL="54864" marR="54864" marT="18288" marB="18288" anchor="ctr">
                    <a:solidFill>
                      <a:srgbClr val="F7F9FC"/>
                    </a:solidFill>
                  </a:tcPr>
                </a:tc>
                <a:tc>
                  <a:txBody>
                    <a:bodyPr wrap="square"/>
                    <a:lstStyle/>
                    <a:p>
                      <a:pPr algn="r"/>
                      <a:r>
                        <a:rPr sz="900" b="1">
                          <a:solidFill>
                            <a:srgbClr val="1E2F5C"/>
                          </a:solidFill>
                          <a:latin typeface="Kanit"/>
                        </a:rPr>
                        <a:t>53k</a:t>
                      </a:r>
                    </a:p>
                  </a:txBody>
                  <a:tcPr marL="54864" marR="54864" marT="18288" marB="18288" anchor="ctr">
                    <a:solidFill>
                      <a:srgbClr val="F7F9FC"/>
                    </a:solidFill>
                  </a:tcPr>
                </a:tc>
                <a:tc>
                  <a:txBody>
                    <a:bodyPr wrap="square"/>
                    <a:lstStyle/>
                    <a:p>
                      <a:pPr algn="r"/>
                      <a:r>
                        <a:rPr sz="900" b="0">
                          <a:solidFill>
                            <a:srgbClr val="1E2F5C"/>
                          </a:solidFill>
                          <a:latin typeface="Kanit"/>
                        </a:rPr>
                        <a:t>7.5M</a:t>
                      </a:r>
                    </a:p>
                  </a:txBody>
                  <a:tcPr marL="54864" marR="54864" marT="18288" marB="18288" anchor="ctr">
                    <a:solidFill>
                      <a:srgbClr val="F7F9FC"/>
                    </a:solidFill>
                  </a:tcPr>
                </a:tc>
                <a:tc>
                  <a:txBody>
                    <a:bodyPr wrap="square"/>
                    <a:lstStyle/>
                    <a:p>
                      <a:pPr algn="r"/>
                      <a:r>
                        <a:rPr sz="900" b="0">
                          <a:solidFill>
                            <a:srgbClr val="1E2F5C"/>
                          </a:solidFill>
                          <a:latin typeface="Kanit"/>
                        </a:rPr>
                        <a:t>62.0%</a:t>
                      </a:r>
                    </a:p>
                  </a:txBody>
                  <a:tcPr marL="54864" marR="54864" marT="18288" marB="18288" anchor="ctr">
                    <a:solidFill>
                      <a:srgbClr val="F7F9FC"/>
                    </a:solidFill>
                  </a:tcPr>
                </a:tc>
                <a:tc>
                  <a:txBody>
                    <a:bodyPr wrap="square"/>
                    <a:lstStyle/>
                    <a:p>
                      <a:pPr algn="r"/>
                      <a:r>
                        <a:rPr sz="900" b="1">
                          <a:solidFill>
                            <a:srgbClr val="1E2F5C"/>
                          </a:solidFill>
                          <a:latin typeface="Kanit"/>
                        </a:rPr>
                        <a:t>4%</a:t>
                      </a:r>
                    </a:p>
                  </a:txBody>
                  <a:tcPr marL="54864" marR="54864" marT="18288" marB="18288" anchor="ctr">
                    <a:solidFill>
                      <a:srgbClr val="F7F9FC"/>
                    </a:solidFill>
                  </a:tcPr>
                </a:tc>
                <a:tc>
                  <a:txBody>
                    <a:bodyPr wrap="square"/>
                    <a:lstStyle/>
                    <a:p>
                      <a:pPr algn="r"/>
                      <a:r>
                        <a:rPr sz="900" b="0">
                          <a:solidFill>
                            <a:srgbClr val="1E2F5C"/>
                          </a:solidFill>
                          <a:latin typeface="Kanit"/>
                        </a:rPr>
                        <a:t>26/274</a:t>
                      </a:r>
                    </a:p>
                  </a:txBody>
                  <a:tcPr marL="54864" marR="54864" marT="18288" marB="18288" anchor="ctr">
                    <a:solidFill>
                      <a:srgbClr val="F7F9FC"/>
                    </a:solidFill>
                  </a:tcPr>
                </a:tc>
                <a:tc>
                  <a:txBody>
                    <a:bodyPr wrap="square"/>
                    <a:lstStyle/>
                    <a:p>
                      <a:pPr algn="r"/>
                      <a:r>
                        <a:rPr sz="900" b="1">
                          <a:solidFill>
                            <a:srgbClr val="CC0000"/>
                          </a:solidFill>
                          <a:latin typeface="Kanit"/>
                        </a:rPr>
                        <a:t>฿182,968</a:t>
                      </a:r>
                    </a:p>
                  </a:txBody>
                  <a:tcPr marL="54864" marR="54864" marT="18288" marB="18288" anchor="ctr">
                    <a:solidFill>
                      <a:srgbClr val="F7F9FC"/>
                    </a:solidFill>
                  </a:tcPr>
                </a:tc>
                <a:tc>
                  <a:txBody>
                    <a:bodyPr wrap="square"/>
                    <a:lstStyle/>
                    <a:p>
                      <a:pPr algn="r"/>
                      <a:r>
                        <a:rPr sz="900" b="0">
                          <a:solidFill>
                            <a:srgbClr val="1E2F5C"/>
                          </a:solidFill>
                          <a:latin typeface="Kanit"/>
                        </a:rPr>
                        <a:t>0.14</a:t>
                      </a:r>
                    </a:p>
                  </a:txBody>
                  <a:tcPr marL="54864" marR="54864" marT="18288" marB="18288" anchor="ctr">
                    <a:solidFill>
                      <a:srgbClr val="F7F9FC"/>
                    </a:solidFill>
                  </a:tcPr>
                </a:tc>
              </a:tr>
              <a:tr h="263347">
                <a:tc>
                  <a:txBody>
                    <a:bodyPr wrap="square"/>
                    <a:lstStyle/>
                    <a:p>
                      <a:pPr algn="l"/>
                      <a:r>
                        <a:rPr sz="900" b="1">
                          <a:solidFill>
                            <a:srgbClr val="1E2F5C"/>
                          </a:solidFill>
                          <a:latin typeface="Kanit"/>
                        </a:rPr>
                        <a:t>South</a:t>
                      </a:r>
                    </a:p>
                  </a:txBody>
                  <a:tcPr marL="54864" marR="54864" marT="18288" marB="18288" anchor="ctr">
                    <a:solidFill>
                      <a:srgbClr val="FFFFFF"/>
                    </a:solidFill>
                  </a:tcPr>
                </a:tc>
                <a:tc>
                  <a:txBody>
                    <a:bodyPr wrap="square"/>
                    <a:lstStyle/>
                    <a:p>
                      <a:pPr algn="r"/>
                      <a:r>
                        <a:rPr sz="900" b="0">
                          <a:solidFill>
                            <a:srgbClr val="1E2F5C"/>
                          </a:solidFill>
                          <a:latin typeface="Kanit"/>
                        </a:rPr>
                        <a:t>5.7M</a:t>
                      </a:r>
                    </a:p>
                  </a:txBody>
                  <a:tcPr marL="54864" marR="54864" marT="18288" marB="18288" anchor="ctr">
                    <a:solidFill>
                      <a:srgbClr val="FFFFFF"/>
                    </a:solidFill>
                  </a:tcPr>
                </a:tc>
                <a:tc>
                  <a:txBody>
                    <a:bodyPr wrap="square"/>
                    <a:lstStyle/>
                    <a:p>
                      <a:pPr algn="r"/>
                      <a:r>
                        <a:rPr sz="900" b="0">
                          <a:solidFill>
                            <a:srgbClr val="1E2F5C"/>
                          </a:solidFill>
                          <a:latin typeface="Kanit"/>
                        </a:rPr>
                        <a:t>1.18%</a:t>
                      </a:r>
                    </a:p>
                  </a:txBody>
                  <a:tcPr marL="54864" marR="54864" marT="18288" marB="18288" anchor="ctr">
                    <a:solidFill>
                      <a:srgbClr val="FFFFFF"/>
                    </a:solidFill>
                  </a:tcPr>
                </a:tc>
                <a:tc>
                  <a:txBody>
                    <a:bodyPr wrap="square"/>
                    <a:lstStyle/>
                    <a:p>
                      <a:pPr algn="r"/>
                      <a:r>
                        <a:rPr sz="900" b="1">
                          <a:solidFill>
                            <a:srgbClr val="1E2F5C"/>
                          </a:solidFill>
                          <a:latin typeface="Kanit"/>
                        </a:rPr>
                        <a:t>3k</a:t>
                      </a:r>
                    </a:p>
                  </a:txBody>
                  <a:tcPr marL="54864" marR="54864" marT="18288" marB="18288" anchor="ctr">
                    <a:solidFill>
                      <a:srgbClr val="FFFFFF"/>
                    </a:solidFill>
                  </a:tcPr>
                </a:tc>
                <a:tc>
                  <a:txBody>
                    <a:bodyPr wrap="square"/>
                    <a:lstStyle/>
                    <a:p>
                      <a:pPr algn="r"/>
                      <a:r>
                        <a:rPr sz="900" b="0">
                          <a:solidFill>
                            <a:srgbClr val="1E2F5C"/>
                          </a:solidFill>
                          <a:latin typeface="Kanit"/>
                        </a:rPr>
                        <a:t>5.5M</a:t>
                      </a:r>
                    </a:p>
                  </a:txBody>
                  <a:tcPr marL="54864" marR="54864" marT="18288" marB="18288" anchor="ctr">
                    <a:solidFill>
                      <a:srgbClr val="FFFFFF"/>
                    </a:solidFill>
                  </a:tcPr>
                </a:tc>
                <a:tc>
                  <a:txBody>
                    <a:bodyPr wrap="square"/>
                    <a:lstStyle/>
                    <a:p>
                      <a:pPr algn="r"/>
                      <a:r>
                        <a:rPr sz="900" b="0">
                          <a:solidFill>
                            <a:srgbClr val="1E2F5C"/>
                          </a:solidFill>
                          <a:latin typeface="Kanit"/>
                        </a:rPr>
                        <a:t>59.1%</a:t>
                      </a:r>
                    </a:p>
                  </a:txBody>
                  <a:tcPr marL="54864" marR="54864" marT="18288" marB="18288" anchor="ctr">
                    <a:solidFill>
                      <a:srgbClr val="FFFFFF"/>
                    </a:solidFill>
                  </a:tcPr>
                </a:tc>
                <a:tc>
                  <a:txBody>
                    <a:bodyPr wrap="square"/>
                    <a:lstStyle/>
                    <a:p>
                      <a:pPr algn="r"/>
                      <a:r>
                        <a:rPr sz="900" b="1">
                          <a:solidFill>
                            <a:srgbClr val="1E2F5C"/>
                          </a:solidFill>
                          <a:latin typeface="Kanit"/>
                        </a:rPr>
                        <a:t>16%</a:t>
                      </a:r>
                    </a:p>
                  </a:txBody>
                  <a:tcPr marL="54864" marR="54864" marT="18288" marB="18288" anchor="ctr">
                    <a:solidFill>
                      <a:srgbClr val="FFFFFF"/>
                    </a:solidFill>
                  </a:tcPr>
                </a:tc>
                <a:tc>
                  <a:txBody>
                    <a:bodyPr wrap="square"/>
                    <a:lstStyle/>
                    <a:p>
                      <a:pPr algn="r"/>
                      <a:r>
                        <a:rPr sz="900" b="0">
                          <a:solidFill>
                            <a:srgbClr val="1E2F5C"/>
                          </a:solidFill>
                          <a:latin typeface="Kanit"/>
                        </a:rPr>
                        <a:t>29/168</a:t>
                      </a:r>
                    </a:p>
                  </a:txBody>
                  <a:tcPr marL="54864" marR="54864" marT="18288" marB="18288" anchor="ctr">
                    <a:solidFill>
                      <a:srgbClr val="FFFFFF"/>
                    </a:solidFill>
                  </a:tcPr>
                </a:tc>
                <a:tc>
                  <a:txBody>
                    <a:bodyPr wrap="square"/>
                    <a:lstStyle/>
                    <a:p>
                      <a:pPr algn="r"/>
                      <a:r>
                        <a:rPr sz="900" b="1">
                          <a:solidFill>
                            <a:srgbClr val="CC0000"/>
                          </a:solidFill>
                          <a:latin typeface="Kanit"/>
                        </a:rPr>
                        <a:t>฿217,176</a:t>
                      </a:r>
                    </a:p>
                  </a:txBody>
                  <a:tcPr marL="54864" marR="54864" marT="18288" marB="18288" anchor="ctr">
                    <a:solidFill>
                      <a:srgbClr val="FFFFFF"/>
                    </a:solidFill>
                  </a:tcPr>
                </a:tc>
                <a:tc>
                  <a:txBody>
                    <a:bodyPr wrap="square"/>
                    <a:lstStyle/>
                    <a:p>
                      <a:pPr algn="r"/>
                      <a:r>
                        <a:rPr sz="900" b="0">
                          <a:solidFill>
                            <a:srgbClr val="1E2F5C"/>
                          </a:solidFill>
                          <a:latin typeface="Kanit"/>
                        </a:rPr>
                        <a:t>0.13</a:t>
                      </a:r>
                    </a:p>
                  </a:txBody>
                  <a:tcPr marL="54864" marR="54864" marT="18288" marB="18288" anchor="ctr">
                    <a:solidFill>
                      <a:srgbClr val="FFFFFF"/>
                    </a:solidFill>
                  </a:tcPr>
                </a:tc>
              </a:tr>
              <a:tr h="263347">
                <a:tc>
                  <a:txBody>
                    <a:bodyPr wrap="square"/>
                    <a:lstStyle/>
                    <a:p>
                      <a:pPr algn="l"/>
                      <a:r>
                        <a:rPr sz="900" b="1">
                          <a:solidFill>
                            <a:srgbClr val="1E2F5C"/>
                          </a:solidFill>
                          <a:latin typeface="Kanit"/>
                        </a:rPr>
                        <a:t>East</a:t>
                      </a:r>
                    </a:p>
                  </a:txBody>
                  <a:tcPr marL="54864" marR="54864" marT="18288" marB="18288" anchor="ctr">
                    <a:solidFill>
                      <a:srgbClr val="F7F9FC"/>
                    </a:solidFill>
                  </a:tcPr>
                </a:tc>
                <a:tc>
                  <a:txBody>
                    <a:bodyPr wrap="square"/>
                    <a:lstStyle/>
                    <a:p>
                      <a:pPr algn="r"/>
                      <a:r>
                        <a:rPr sz="900" b="0">
                          <a:solidFill>
                            <a:srgbClr val="1E2F5C"/>
                          </a:solidFill>
                          <a:latin typeface="Kanit"/>
                        </a:rPr>
                        <a:t>4.1M</a:t>
                      </a:r>
                    </a:p>
                  </a:txBody>
                  <a:tcPr marL="54864" marR="54864" marT="18288" marB="18288" anchor="ctr">
                    <a:solidFill>
                      <a:srgbClr val="F7F9FC"/>
                    </a:solidFill>
                  </a:tcPr>
                </a:tc>
                <a:tc>
                  <a:txBody>
                    <a:bodyPr wrap="square"/>
                    <a:lstStyle/>
                    <a:p>
                      <a:pPr algn="r"/>
                      <a:r>
                        <a:rPr sz="900" b="0">
                          <a:solidFill>
                            <a:srgbClr val="1E2F5C"/>
                          </a:solidFill>
                          <a:latin typeface="Kanit"/>
                        </a:rPr>
                        <a:t>0.86%</a:t>
                      </a:r>
                    </a:p>
                  </a:txBody>
                  <a:tcPr marL="54864" marR="54864" marT="18288" marB="18288" anchor="ctr">
                    <a:solidFill>
                      <a:srgbClr val="F7F9FC"/>
                    </a:solidFill>
                  </a:tcPr>
                </a:tc>
                <a:tc>
                  <a:txBody>
                    <a:bodyPr wrap="square"/>
                    <a:lstStyle/>
                    <a:p>
                      <a:pPr algn="r"/>
                      <a:r>
                        <a:rPr sz="900" b="1">
                          <a:solidFill>
                            <a:srgbClr val="1E2F5C"/>
                          </a:solidFill>
                          <a:latin typeface="Kanit"/>
                        </a:rPr>
                        <a:t>3k</a:t>
                      </a:r>
                    </a:p>
                  </a:txBody>
                  <a:tcPr marL="54864" marR="54864" marT="18288" marB="18288" anchor="ctr">
                    <a:solidFill>
                      <a:srgbClr val="F7F9FC"/>
                    </a:solidFill>
                  </a:tcPr>
                </a:tc>
                <a:tc>
                  <a:txBody>
                    <a:bodyPr wrap="square"/>
                    <a:lstStyle/>
                    <a:p>
                      <a:pPr algn="r"/>
                      <a:r>
                        <a:rPr sz="900" b="0">
                          <a:solidFill>
                            <a:srgbClr val="1E2F5C"/>
                          </a:solidFill>
                          <a:latin typeface="Kanit"/>
                        </a:rPr>
                        <a:t>4.3M</a:t>
                      </a:r>
                    </a:p>
                  </a:txBody>
                  <a:tcPr marL="54864" marR="54864" marT="18288" marB="18288" anchor="ctr">
                    <a:solidFill>
                      <a:srgbClr val="F7F9FC"/>
                    </a:solidFill>
                  </a:tcPr>
                </a:tc>
                <a:tc>
                  <a:txBody>
                    <a:bodyPr wrap="square"/>
                    <a:lstStyle/>
                    <a:p>
                      <a:pPr algn="r"/>
                      <a:r>
                        <a:rPr sz="900" b="0">
                          <a:solidFill>
                            <a:srgbClr val="1E2F5C"/>
                          </a:solidFill>
                          <a:latin typeface="Kanit"/>
                        </a:rPr>
                        <a:t>62.4%</a:t>
                      </a:r>
                    </a:p>
                  </a:txBody>
                  <a:tcPr marL="54864" marR="54864" marT="18288" marB="18288" anchor="ctr">
                    <a:solidFill>
                      <a:srgbClr val="F7F9FC"/>
                    </a:solidFill>
                  </a:tcPr>
                </a:tc>
                <a:tc>
                  <a:txBody>
                    <a:bodyPr wrap="square"/>
                    <a:lstStyle/>
                    <a:p>
                      <a:pPr algn="r"/>
                      <a:r>
                        <a:rPr sz="900" b="1">
                          <a:solidFill>
                            <a:srgbClr val="CC0000"/>
                          </a:solidFill>
                          <a:latin typeface="Kanit"/>
                        </a:rPr>
                        <a:t>97%</a:t>
                      </a:r>
                    </a:p>
                  </a:txBody>
                  <a:tcPr marL="54864" marR="54864" marT="18288" marB="18288" anchor="ctr">
                    <a:solidFill>
                      <a:srgbClr val="F7F9FC"/>
                    </a:solidFill>
                  </a:tcPr>
                </a:tc>
                <a:tc>
                  <a:txBody>
                    <a:bodyPr wrap="square"/>
                    <a:lstStyle/>
                    <a:p>
                      <a:pPr algn="r"/>
                      <a:r>
                        <a:rPr sz="900" b="0">
                          <a:solidFill>
                            <a:srgbClr val="1E2F5C"/>
                          </a:solidFill>
                          <a:latin typeface="Kanit"/>
                        </a:rPr>
                        <a:t>7/52</a:t>
                      </a:r>
                    </a:p>
                  </a:txBody>
                  <a:tcPr marL="54864" marR="54864" marT="18288" marB="18288" anchor="ctr">
                    <a:solidFill>
                      <a:srgbClr val="F7F9FC"/>
                    </a:solidFill>
                  </a:tcPr>
                </a:tc>
                <a:tc>
                  <a:txBody>
                    <a:bodyPr wrap="square"/>
                    <a:lstStyle/>
                    <a:p>
                      <a:pPr algn="r"/>
                      <a:r>
                        <a:rPr sz="900" b="1">
                          <a:solidFill>
                            <a:srgbClr val="CC0000"/>
                          </a:solidFill>
                          <a:latin typeface="Kanit"/>
                        </a:rPr>
                        <a:t>฿194,835</a:t>
                      </a:r>
                    </a:p>
                  </a:txBody>
                  <a:tcPr marL="54864" marR="54864" marT="18288" marB="18288" anchor="ctr">
                    <a:solidFill>
                      <a:srgbClr val="F7F9FC"/>
                    </a:solidFill>
                  </a:tcPr>
                </a:tc>
                <a:tc>
                  <a:txBody>
                    <a:bodyPr wrap="square"/>
                    <a:lstStyle/>
                    <a:p>
                      <a:pPr algn="r"/>
                      <a:r>
                        <a:rPr sz="900" b="0">
                          <a:solidFill>
                            <a:srgbClr val="1E2F5C"/>
                          </a:solidFill>
                          <a:latin typeface="Kanit"/>
                        </a:rPr>
                        <a:t>0.25</a:t>
                      </a:r>
                    </a:p>
                  </a:txBody>
                  <a:tcPr marL="54864" marR="54864" marT="18288" marB="18288" anchor="ctr">
                    <a:solidFill>
                      <a:srgbClr val="F7F9FC"/>
                    </a:solidFill>
                  </a:tcPr>
                </a:tc>
              </a:tr>
              <a:tr h="263347">
                <a:tc>
                  <a:txBody>
                    <a:bodyPr wrap="square"/>
                    <a:lstStyle/>
                    <a:p>
                      <a:pPr algn="l"/>
                      <a:r>
                        <a:rPr sz="900" b="1">
                          <a:solidFill>
                            <a:srgbClr val="1E2F5C"/>
                          </a:solidFill>
                          <a:latin typeface="Kanit"/>
                        </a:rPr>
                        <a:t>Central&amp;BKK</a:t>
                      </a:r>
                    </a:p>
                  </a:txBody>
                  <a:tcPr marL="54864" marR="54864" marT="18288" marB="18288" anchor="ctr">
                    <a:solidFill>
                      <a:srgbClr val="FFFFFF"/>
                    </a:solidFill>
                  </a:tcPr>
                </a:tc>
                <a:tc>
                  <a:txBody>
                    <a:bodyPr wrap="square"/>
                    <a:lstStyle/>
                    <a:p>
                      <a:pPr algn="r"/>
                      <a:r>
                        <a:rPr sz="900" b="0">
                          <a:solidFill>
                            <a:srgbClr val="1E2F5C"/>
                          </a:solidFill>
                          <a:latin typeface="Kanit"/>
                        </a:rPr>
                        <a:t>16.0M</a:t>
                      </a:r>
                    </a:p>
                  </a:txBody>
                  <a:tcPr marL="54864" marR="54864" marT="18288" marB="18288" anchor="ctr">
                    <a:solidFill>
                      <a:srgbClr val="FFFFFF"/>
                    </a:solidFill>
                  </a:tcPr>
                </a:tc>
                <a:tc>
                  <a:txBody>
                    <a:bodyPr wrap="square"/>
                    <a:lstStyle/>
                    <a:p>
                      <a:pPr algn="r"/>
                      <a:r>
                        <a:rPr sz="900" b="0">
                          <a:solidFill>
                            <a:srgbClr val="1E2F5C"/>
                          </a:solidFill>
                          <a:latin typeface="Kanit"/>
                        </a:rPr>
                        <a:t>0.97%</a:t>
                      </a:r>
                    </a:p>
                  </a:txBody>
                  <a:tcPr marL="54864" marR="54864" marT="18288" marB="18288" anchor="ctr">
                    <a:solidFill>
                      <a:srgbClr val="FFFFFF"/>
                    </a:solidFill>
                  </a:tcPr>
                </a:tc>
                <a:tc>
                  <a:txBody>
                    <a:bodyPr wrap="square"/>
                    <a:lstStyle/>
                    <a:p>
                      <a:pPr algn="r"/>
                      <a:r>
                        <a:rPr sz="900" b="1">
                          <a:solidFill>
                            <a:srgbClr val="1E2F5C"/>
                          </a:solidFill>
                          <a:latin typeface="Kanit"/>
                        </a:rPr>
                        <a:t>9k</a:t>
                      </a:r>
                    </a:p>
                  </a:txBody>
                  <a:tcPr marL="54864" marR="54864" marT="18288" marB="18288" anchor="ctr">
                    <a:solidFill>
                      <a:srgbClr val="FFFFFF"/>
                    </a:solidFill>
                  </a:tcPr>
                </a:tc>
                <a:tc>
                  <a:txBody>
                    <a:bodyPr wrap="square"/>
                    <a:lstStyle/>
                    <a:p>
                      <a:pPr algn="r"/>
                      <a:r>
                        <a:rPr sz="900" b="0">
                          <a:solidFill>
                            <a:srgbClr val="1E2F5C"/>
                          </a:solidFill>
                          <a:latin typeface="Kanit"/>
                        </a:rPr>
                        <a:t>17.9M</a:t>
                      </a:r>
                    </a:p>
                  </a:txBody>
                  <a:tcPr marL="54864" marR="54864" marT="18288" marB="18288" anchor="ctr">
                    <a:solidFill>
                      <a:srgbClr val="FFFFFF"/>
                    </a:solidFill>
                  </a:tcPr>
                </a:tc>
                <a:tc>
                  <a:txBody>
                    <a:bodyPr wrap="square"/>
                    <a:lstStyle/>
                    <a:p>
                      <a:pPr algn="r"/>
                      <a:r>
                        <a:rPr sz="900" b="0">
                          <a:solidFill>
                            <a:srgbClr val="1E2F5C"/>
                          </a:solidFill>
                          <a:latin typeface="Kanit"/>
                        </a:rPr>
                        <a:t>46.1%</a:t>
                      </a:r>
                    </a:p>
                  </a:txBody>
                  <a:tcPr marL="54864" marR="54864" marT="18288" marB="18288" anchor="ctr">
                    <a:solidFill>
                      <a:srgbClr val="FFFFFF"/>
                    </a:solidFill>
                  </a:tcPr>
                </a:tc>
                <a:tc>
                  <a:txBody>
                    <a:bodyPr wrap="square"/>
                    <a:lstStyle/>
                    <a:p>
                      <a:pPr algn="r"/>
                      <a:r>
                        <a:rPr sz="900" b="1">
                          <a:solidFill>
                            <a:srgbClr val="CC0000"/>
                          </a:solidFill>
                          <a:latin typeface="Kanit"/>
                        </a:rPr>
                        <a:t>56%</a:t>
                      </a:r>
                    </a:p>
                  </a:txBody>
                  <a:tcPr marL="54864" marR="54864" marT="18288" marB="18288" anchor="ctr">
                    <a:solidFill>
                      <a:srgbClr val="FFFFFF"/>
                    </a:solidFill>
                  </a:tcPr>
                </a:tc>
                <a:tc>
                  <a:txBody>
                    <a:bodyPr wrap="square"/>
                    <a:lstStyle/>
                    <a:p>
                      <a:pPr algn="r"/>
                      <a:r>
                        <a:rPr sz="900" b="0">
                          <a:solidFill>
                            <a:srgbClr val="1E2F5C"/>
                          </a:solidFill>
                          <a:latin typeface="Kanit"/>
                        </a:rPr>
                        <a:t>39/142</a:t>
                      </a:r>
                    </a:p>
                  </a:txBody>
                  <a:tcPr marL="54864" marR="54864" marT="18288" marB="18288" anchor="ctr">
                    <a:solidFill>
                      <a:srgbClr val="FFFFFF"/>
                    </a:solidFill>
                  </a:tcPr>
                </a:tc>
                <a:tc>
                  <a:txBody>
                    <a:bodyPr wrap="square"/>
                    <a:lstStyle/>
                    <a:p>
                      <a:pPr algn="r"/>
                      <a:r>
                        <a:rPr sz="900" b="1">
                          <a:solidFill>
                            <a:srgbClr val="CC0000"/>
                          </a:solidFill>
                          <a:latin typeface="Kanit"/>
                        </a:rPr>
                        <a:t>฿194,835</a:t>
                      </a:r>
                    </a:p>
                  </a:txBody>
                  <a:tcPr marL="54864" marR="54864" marT="18288" marB="18288" anchor="ctr">
                    <a:solidFill>
                      <a:srgbClr val="FFFFFF"/>
                    </a:solidFill>
                  </a:tcPr>
                </a:tc>
                <a:tc>
                  <a:txBody>
                    <a:bodyPr wrap="square"/>
                    <a:lstStyle/>
                    <a:p>
                      <a:pPr algn="r"/>
                      <a:r>
                        <a:rPr sz="900" b="0">
                          <a:solidFill>
                            <a:srgbClr val="1E2F5C"/>
                          </a:solidFill>
                          <a:latin typeface="Kanit"/>
                        </a:rPr>
                        <a:t>0.27</a:t>
                      </a:r>
                    </a:p>
                  </a:txBody>
                  <a:tcPr marL="54864" marR="54864" marT="18288" marB="18288" anchor="ctr">
                    <a:solidFill>
                      <a:srgbClr val="FFFFFF"/>
                    </a:solidFill>
                  </a:tcPr>
                </a:tc>
              </a:tr>
            </a:tbl>
          </a:graphicData>
        </a:graphic>
      </p:graphicFrame>
      <p:sp>
        <p:nvSpPr>
          <p:cNvPr id="34" name="Rounded Rectangle 33"/>
          <p:cNvSpPr/>
          <p:nvPr/>
        </p:nvSpPr>
        <p:spPr>
          <a:xfrm>
            <a:off x="411480" y="5385816"/>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411480" y="5415076"/>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6" name="TextBox 35"/>
          <p:cNvSpPr txBox="1"/>
          <p:nvPr/>
        </p:nvSpPr>
        <p:spPr>
          <a:xfrm>
            <a:off x="1275385" y="5399531"/>
            <a:ext cx="10502086" cy="46291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NSO Labour Force Survey · ILOSTAT mirror of Thailand’s official submissions · DLT registry · MOT · DBD business registrations · ThaiWater telemetry · BoT/NSO household debt. Every lens rolls national → region → province → district on its own correct weight — labour force, fleet stock, district count. Never a plain average of provinces. The NSO four-region cut places the East inside Central for household debt, so those two carry the same figure.</a:t>
            </a:r>
          </a:p>
        </p:txBody>
      </p:sp>
      <p:sp>
        <p:nvSpPr>
          <p:cNvPr id="37" name="Rectangle 36"/>
          <p:cNvSpPr/>
          <p:nvPr/>
        </p:nvSpPr>
        <p:spPr>
          <a:xfrm>
            <a:off x="411480" y="6013323"/>
            <a:ext cx="11365992" cy="100761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Rectangle 37"/>
          <p:cNvSpPr/>
          <p:nvPr/>
        </p:nvSpPr>
        <p:spPr>
          <a:xfrm>
            <a:off x="411480" y="6013323"/>
            <a:ext cx="50292" cy="100761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630936" y="6159627"/>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Read 0.94% unemployment together with 63.2% informality, never instead of it</a:t>
            </a:r>
          </a:p>
        </p:txBody>
      </p:sp>
      <p:sp>
        <p:nvSpPr>
          <p:cNvPr id="40" name="TextBox 39"/>
          <p:cNvSpPr txBox="1"/>
          <p:nvPr/>
        </p:nvSpPr>
        <p:spPr>
          <a:xfrm>
            <a:off x="630936" y="6364097"/>
            <a:ext cx="11036808" cy="5105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Unemployment is structurally near zero here because informal work absorbs the slack: someone who loses formal work does not appear in that number, they appear in the informal count on a lower and less predictable income. Informality, the seasonal-idle share and the cushion figure are the stress signals. Isan carries 256,000 people idle between seasons against 53,000 in the North — five times the number on two thirds of the labour force.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03 · COMMODITY BOARD</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world index says tailwind. The Thai farm gate does not.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1905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The board carries 21 commodities. Seventeen have a measured Thai farm-gate price beside the world index, and eight of those seventeen are negative year on year.</a:t>
            </a:r>
          </a:p>
        </p:txBody>
      </p:sp>
      <p:graphicFrame>
        <p:nvGraphicFramePr>
          <p:cNvPr id="10" name="Table 9"/>
          <p:cNvGraphicFramePr>
            <a:graphicFrameLocks noGrp="1"/>
          </p:cNvGraphicFramePr>
          <p:nvPr/>
        </p:nvGraphicFramePr>
        <p:xfrm>
          <a:off x="411480" y="1488948"/>
          <a:ext cx="11365992" cy="2362808"/>
        </p:xfrm>
        <a:graphic>
          <a:graphicData uri="http://schemas.openxmlformats.org/drawingml/2006/table">
            <a:tbl>
              <a:tblPr>
                <a:tableStyleId>{5C22544A-7EE6-4342-B048-85BDC9FD1C3A}</a:tableStyleId>
              </a:tblPr>
              <a:tblGrid>
                <a:gridCol w="2377440"/>
                <a:gridCol w="1737360"/>
                <a:gridCol w="3108960"/>
                <a:gridCol w="2194560"/>
                <a:gridCol w="1947672"/>
              </a:tblGrid>
              <a:tr h="329184">
                <a:tc>
                  <a:txBody>
                    <a:bodyPr wrap="square"/>
                    <a:lstStyle/>
                    <a:p>
                      <a:pPr algn="l"/>
                      <a:r>
                        <a:rPr sz="1050" b="1">
                          <a:solidFill>
                            <a:srgbClr val="FFFFFF"/>
                          </a:solidFill>
                          <a:latin typeface="Kanit"/>
                        </a:rPr>
                        <a:t>Falling at the farm gate</a:t>
                      </a:r>
                    </a:p>
                  </a:txBody>
                  <a:tcPr marL="54864" marR="54864" marT="18288" marB="18288" anchor="ctr">
                    <a:solidFill>
                      <a:srgbClr val="1B2A6B"/>
                    </a:solidFill>
                  </a:tcPr>
                </a:tc>
                <a:tc>
                  <a:txBody>
                    <a:bodyPr wrap="square"/>
                    <a:lstStyle/>
                    <a:p>
                      <a:pPr algn="l"/>
                      <a:r>
                        <a:rPr sz="1050" b="1">
                          <a:solidFill>
                            <a:srgbClr val="FFFFFF"/>
                          </a:solidFill>
                          <a:latin typeface="Kanit"/>
                        </a:rPr>
                        <a:t>Segment</a:t>
                      </a:r>
                    </a:p>
                  </a:txBody>
                  <a:tcPr marL="54864" marR="54864" marT="18288" marB="18288" anchor="ctr">
                    <a:solidFill>
                      <a:srgbClr val="1B2A6B"/>
                    </a:solidFill>
                  </a:tcPr>
                </a:tc>
                <a:tc>
                  <a:txBody>
                    <a:bodyPr wrap="square"/>
                    <a:lstStyle/>
                    <a:p>
                      <a:pPr algn="l"/>
                      <a:r>
                        <a:rPr sz="1050" b="1">
                          <a:solidFill>
                            <a:srgbClr val="FFFFFF"/>
                          </a:solidFill>
                          <a:latin typeface="Kanit"/>
                        </a:rPr>
                        <a:t>Belt</a:t>
                      </a:r>
                    </a:p>
                  </a:txBody>
                  <a:tcPr marL="54864" marR="54864" marT="18288" marB="18288" anchor="ctr">
                    <a:solidFill>
                      <a:srgbClr val="1B2A6B"/>
                    </a:solidFill>
                  </a:tcPr>
                </a:tc>
                <a:tc>
                  <a:txBody>
                    <a:bodyPr wrap="square"/>
                    <a:lstStyle/>
                    <a:p>
                      <a:pPr algn="r"/>
                      <a:r>
                        <a:rPr sz="1050" b="1">
                          <a:solidFill>
                            <a:srgbClr val="FFFFFF"/>
                          </a:solidFill>
                          <a:latin typeface="Kanit"/>
                        </a:rPr>
                        <a:t>Thai farm-gate YoY</a:t>
                      </a:r>
                    </a:p>
                  </a:txBody>
                  <a:tcPr marL="54864" marR="54864" marT="18288" marB="18288" anchor="ctr">
                    <a:solidFill>
                      <a:srgbClr val="1B2A6B"/>
                    </a:solidFill>
                  </a:tcPr>
                </a:tc>
                <a:tc>
                  <a:txBody>
                    <a:bodyPr wrap="square"/>
                    <a:lstStyle/>
                    <a:p>
                      <a:pPr algn="r"/>
                      <a:r>
                        <a:rPr sz="1050" b="1">
                          <a:solidFill>
                            <a:srgbClr val="FFFFFF"/>
                          </a:solidFill>
                          <a:latin typeface="Kanit"/>
                        </a:rPr>
                        <a:t>World index YoY</a:t>
                      </a:r>
                    </a:p>
                  </a:txBody>
                  <a:tcPr marL="54864" marR="54864" marT="18288" marB="18288" anchor="ctr">
                    <a:solidFill>
                      <a:srgbClr val="1B2A6B"/>
                    </a:solidFill>
                  </a:tcPr>
                </a:tc>
              </a:tr>
              <a:tr h="254203">
                <a:tc>
                  <a:txBody>
                    <a:bodyPr wrap="square"/>
                    <a:lstStyle/>
                    <a:p>
                      <a:pPr algn="l"/>
                      <a:r>
                        <a:rPr sz="1000" b="1">
                          <a:solidFill>
                            <a:srgbClr val="1E2F5C"/>
                          </a:solidFill>
                          <a:latin typeface="Kanit"/>
                        </a:rPr>
                        <a:t>Coconut</a:t>
                      </a:r>
                    </a:p>
                  </a:txBody>
                  <a:tcPr marL="54864" marR="54864" marT="18288" marB="18288" anchor="ctr">
                    <a:solidFill>
                      <a:srgbClr val="FFFFFF"/>
                    </a:solidFill>
                  </a:tcPr>
                </a:tc>
                <a:tc>
                  <a:txBody>
                    <a:bodyPr wrap="square"/>
                    <a:lstStyle/>
                    <a:p>
                      <a:pPr algn="l"/>
                      <a:r>
                        <a:rPr sz="1000" b="0">
                          <a:solidFill>
                            <a:srgbClr val="1E2F5C"/>
                          </a:solidFill>
                          <a:latin typeface="Kanit"/>
                        </a:rPr>
                        <a:t>Crops</a:t>
                      </a:r>
                    </a:p>
                  </a:txBody>
                  <a:tcPr marL="54864" marR="54864" marT="18288" marB="18288" anchor="ctr">
                    <a:solidFill>
                      <a:srgbClr val="FFFFFF"/>
                    </a:solidFill>
                  </a:tcPr>
                </a:tc>
                <a:tc>
                  <a:txBody>
                    <a:bodyPr wrap="square"/>
                    <a:lstStyle/>
                    <a:p>
                      <a:pPr algn="l"/>
                      <a:r>
                        <a:rPr sz="1000" b="0">
                          <a:solidFill>
                            <a:srgbClr val="1E2F5C"/>
                          </a:solidFill>
                          <a:latin typeface="Kanit"/>
                        </a:rPr>
                        <a:t>S · E</a:t>
                      </a:r>
                    </a:p>
                  </a:txBody>
                  <a:tcPr marL="54864" marR="54864" marT="18288" marB="18288" anchor="ctr">
                    <a:solidFill>
                      <a:srgbClr val="FFFFFF"/>
                    </a:solidFill>
                  </a:tcPr>
                </a:tc>
                <a:tc>
                  <a:txBody>
                    <a:bodyPr wrap="square"/>
                    <a:lstStyle/>
                    <a:p>
                      <a:pPr algn="r"/>
                      <a:r>
                        <a:rPr sz="1000" b="1">
                          <a:solidFill>
                            <a:srgbClr val="CC0000"/>
                          </a:solidFill>
                          <a:latin typeface="Kanit"/>
                        </a:rPr>
                        <a:t>−69.7%</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Pineapple</a:t>
                      </a:r>
                    </a:p>
                  </a:txBody>
                  <a:tcPr marL="54864" marR="54864" marT="18288" marB="18288" anchor="ctr">
                    <a:solidFill>
                      <a:srgbClr val="F7F9FC"/>
                    </a:solidFill>
                  </a:tcPr>
                </a:tc>
                <a:tc>
                  <a:txBody>
                    <a:bodyPr wrap="square"/>
                    <a:lstStyle/>
                    <a:p>
                      <a:pPr algn="l"/>
                      <a:r>
                        <a:rPr sz="1000" b="0">
                          <a:solidFill>
                            <a:srgbClr val="1E2F5C"/>
                          </a:solidFill>
                          <a:latin typeface="Kanit"/>
                        </a:rPr>
                        <a:t>Crops</a:t>
                      </a:r>
                    </a:p>
                  </a:txBody>
                  <a:tcPr marL="54864" marR="54864" marT="18288" marB="18288" anchor="ctr">
                    <a:solidFill>
                      <a:srgbClr val="F7F9FC"/>
                    </a:solidFill>
                  </a:tcPr>
                </a:tc>
                <a:tc>
                  <a:txBody>
                    <a:bodyPr wrap="square"/>
                    <a:lstStyle/>
                    <a:p>
                      <a:pPr algn="l"/>
                      <a:r>
                        <a:rPr sz="1000" b="0">
                          <a:solidFill>
                            <a:srgbClr val="1E2F5C"/>
                          </a:solidFill>
                          <a:latin typeface="Kanit"/>
                        </a:rPr>
                        <a:t>E · W · N</a:t>
                      </a:r>
                    </a:p>
                  </a:txBody>
                  <a:tcPr marL="54864" marR="54864" marT="18288" marB="18288" anchor="ctr">
                    <a:solidFill>
                      <a:srgbClr val="F7F9FC"/>
                    </a:solidFill>
                  </a:tcPr>
                </a:tc>
                <a:tc>
                  <a:txBody>
                    <a:bodyPr wrap="square"/>
                    <a:lstStyle/>
                    <a:p>
                      <a:pPr algn="r"/>
                      <a:r>
                        <a:rPr sz="1000" b="1">
                          <a:solidFill>
                            <a:srgbClr val="CC0000"/>
                          </a:solidFill>
                          <a:latin typeface="Kanit"/>
                        </a:rPr>
                        <a:t>−18.4%</a:t>
                      </a:r>
                    </a:p>
                  </a:txBody>
                  <a:tcPr marL="54864" marR="54864" marT="18288" marB="18288" anchor="ctr">
                    <a:solidFill>
                      <a:srgbClr val="F7F9FC"/>
                    </a:solidFill>
                  </a:tcPr>
                </a:tc>
                <a:tc>
                  <a:txBody>
                    <a:bodyPr wrap="square"/>
                    <a:lstStyle/>
                    <a:p>
                      <a:pPr algn="r"/>
                      <a:r>
                        <a:rPr sz="1000" b="0">
                          <a:solidFill>
                            <a:srgbClr val="606060"/>
                          </a:solidFill>
                          <a:latin typeface="Kanit"/>
                        </a:rPr>
                        <a:t>—</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Sugar</a:t>
                      </a:r>
                    </a:p>
                  </a:txBody>
                  <a:tcPr marL="54864" marR="54864" marT="18288" marB="18288" anchor="ctr">
                    <a:solidFill>
                      <a:srgbClr val="FFFFFF"/>
                    </a:solidFill>
                  </a:tcPr>
                </a:tc>
                <a:tc>
                  <a:txBody>
                    <a:bodyPr wrap="square"/>
                    <a:lstStyle/>
                    <a:p>
                      <a:pPr algn="l"/>
                      <a:r>
                        <a:rPr sz="1000" b="0">
                          <a:solidFill>
                            <a:srgbClr val="1E2F5C"/>
                          </a:solidFill>
                          <a:latin typeface="Kanit"/>
                        </a:rPr>
                        <a:t>Crops</a:t>
                      </a:r>
                    </a:p>
                  </a:txBody>
                  <a:tcPr marL="54864" marR="54864" marT="18288" marB="18288" anchor="ctr">
                    <a:solidFill>
                      <a:srgbClr val="FFFFFF"/>
                    </a:solidFill>
                  </a:tcPr>
                </a:tc>
                <a:tc>
                  <a:txBody>
                    <a:bodyPr wrap="square"/>
                    <a:lstStyle/>
                    <a:p>
                      <a:pPr algn="l"/>
                      <a:r>
                        <a:rPr sz="1000" b="0">
                          <a:solidFill>
                            <a:srgbClr val="1E2F5C"/>
                          </a:solidFill>
                          <a:latin typeface="Kanit"/>
                        </a:rPr>
                        <a:t>Isan · C</a:t>
                      </a:r>
                    </a:p>
                  </a:txBody>
                  <a:tcPr marL="54864" marR="54864" marT="18288" marB="18288" anchor="ctr">
                    <a:solidFill>
                      <a:srgbClr val="FFFFFF"/>
                    </a:solidFill>
                  </a:tcPr>
                </a:tc>
                <a:tc>
                  <a:txBody>
                    <a:bodyPr wrap="square"/>
                    <a:lstStyle/>
                    <a:p>
                      <a:pPr algn="r"/>
                      <a:r>
                        <a:rPr sz="1000" b="1">
                          <a:solidFill>
                            <a:srgbClr val="CC0000"/>
                          </a:solidFill>
                          <a:latin typeface="Kanit"/>
                        </a:rPr>
                        <a:t>−17.9%</a:t>
                      </a:r>
                    </a:p>
                  </a:txBody>
                  <a:tcPr marL="54864" marR="54864" marT="18288" marB="18288" anchor="ctr">
                    <a:solidFill>
                      <a:srgbClr val="FFFFFF"/>
                    </a:solidFill>
                  </a:tcPr>
                </a:tc>
                <a:tc>
                  <a:txBody>
                    <a:bodyPr wrap="square"/>
                    <a:lstStyle/>
                    <a:p>
                      <a:pPr algn="r"/>
                      <a:r>
                        <a:rPr sz="1000" b="1">
                          <a:solidFill>
                            <a:srgbClr val="CC0000"/>
                          </a:solidFill>
                          <a:latin typeface="Kanit"/>
                        </a:rPr>
                        <a:t>−13.5%</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Rambutan</a:t>
                      </a:r>
                    </a:p>
                  </a:txBody>
                  <a:tcPr marL="54864" marR="54864" marT="18288" marB="18288" anchor="ctr">
                    <a:solidFill>
                      <a:srgbClr val="F7F9FC"/>
                    </a:solidFill>
                  </a:tcPr>
                </a:tc>
                <a:tc>
                  <a:txBody>
                    <a:bodyPr wrap="square"/>
                    <a:lstStyle/>
                    <a:p>
                      <a:pPr algn="l"/>
                      <a:r>
                        <a:rPr sz="1000" b="0">
                          <a:solidFill>
                            <a:srgbClr val="1E2F5C"/>
                          </a:solidFill>
                          <a:latin typeface="Kanit"/>
                        </a:rPr>
                        <a:t>Crops</a:t>
                      </a:r>
                    </a:p>
                  </a:txBody>
                  <a:tcPr marL="54864" marR="54864" marT="18288" marB="18288" anchor="ctr">
                    <a:solidFill>
                      <a:srgbClr val="F7F9FC"/>
                    </a:solidFill>
                  </a:tcPr>
                </a:tc>
                <a:tc>
                  <a:txBody>
                    <a:bodyPr wrap="square"/>
                    <a:lstStyle/>
                    <a:p>
                      <a:pPr algn="l"/>
                      <a:r>
                        <a:rPr sz="1000" b="0">
                          <a:solidFill>
                            <a:srgbClr val="1E2F5C"/>
                          </a:solidFill>
                          <a:latin typeface="Kanit"/>
                        </a:rPr>
                        <a:t>S · E</a:t>
                      </a:r>
                    </a:p>
                  </a:txBody>
                  <a:tcPr marL="54864" marR="54864" marT="18288" marB="18288" anchor="ctr">
                    <a:solidFill>
                      <a:srgbClr val="F7F9FC"/>
                    </a:solidFill>
                  </a:tcPr>
                </a:tc>
                <a:tc>
                  <a:txBody>
                    <a:bodyPr wrap="square"/>
                    <a:lstStyle/>
                    <a:p>
                      <a:pPr algn="r"/>
                      <a:r>
                        <a:rPr sz="1000" b="1">
                          <a:solidFill>
                            <a:srgbClr val="CC0000"/>
                          </a:solidFill>
                          <a:latin typeface="Kanit"/>
                        </a:rPr>
                        <a:t>−13.5%</a:t>
                      </a:r>
                    </a:p>
                  </a:txBody>
                  <a:tcPr marL="54864" marR="54864" marT="18288" marB="18288" anchor="ctr">
                    <a:solidFill>
                      <a:srgbClr val="F7F9FC"/>
                    </a:solidFill>
                  </a:tcPr>
                </a:tc>
                <a:tc>
                  <a:txBody>
                    <a:bodyPr wrap="square"/>
                    <a:lstStyle/>
                    <a:p>
                      <a:pPr algn="r"/>
                      <a:r>
                        <a:rPr sz="1000" b="0">
                          <a:solidFill>
                            <a:srgbClr val="606060"/>
                          </a:solidFill>
                          <a:latin typeface="Kanit"/>
                        </a:rPr>
                        <a:t>—</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Beef</a:t>
                      </a:r>
                    </a:p>
                  </a:txBody>
                  <a:tcPr marL="54864" marR="54864" marT="18288" marB="18288" anchor="ctr">
                    <a:solidFill>
                      <a:srgbClr val="FFFFFF"/>
                    </a:solidFill>
                  </a:tcPr>
                </a:tc>
                <a:tc>
                  <a:txBody>
                    <a:bodyPr wrap="square"/>
                    <a:lstStyle/>
                    <a:p>
                      <a:pPr algn="l"/>
                      <a:r>
                        <a:rPr sz="1000" b="0">
                          <a:solidFill>
                            <a:srgbClr val="1E2F5C"/>
                          </a:solidFill>
                          <a:latin typeface="Kanit"/>
                        </a:rPr>
                        <a:t>Livestock</a:t>
                      </a:r>
                    </a:p>
                  </a:txBody>
                  <a:tcPr marL="54864" marR="54864" marT="18288" marB="18288" anchor="ctr">
                    <a:solidFill>
                      <a:srgbClr val="FFFFFF"/>
                    </a:solidFill>
                  </a:tcPr>
                </a:tc>
                <a:tc>
                  <a:txBody>
                    <a:bodyPr wrap="square"/>
                    <a:lstStyle/>
                    <a:p>
                      <a:pPr algn="l"/>
                      <a:r>
                        <a:rPr sz="1000" b="0">
                          <a:solidFill>
                            <a:srgbClr val="1E2F5C"/>
                          </a:solidFill>
                          <a:latin typeface="Kanit"/>
                        </a:rPr>
                        <a:t>Isan</a:t>
                      </a:r>
                    </a:p>
                  </a:txBody>
                  <a:tcPr marL="54864" marR="54864" marT="18288" marB="18288" anchor="ctr">
                    <a:solidFill>
                      <a:srgbClr val="FFFFFF"/>
                    </a:solidFill>
                  </a:tcPr>
                </a:tc>
                <a:tc>
                  <a:txBody>
                    <a:bodyPr wrap="square"/>
                    <a:lstStyle/>
                    <a:p>
                      <a:pPr algn="r"/>
                      <a:r>
                        <a:rPr sz="1000" b="1">
                          <a:solidFill>
                            <a:srgbClr val="CC0000"/>
                          </a:solidFill>
                          <a:latin typeface="Kanit"/>
                        </a:rPr>
                        <a:t>−6.1%</a:t>
                      </a:r>
                    </a:p>
                  </a:txBody>
                  <a:tcPr marL="54864" marR="54864" marT="18288" marB="18288" anchor="ctr">
                    <a:solidFill>
                      <a:srgbClr val="FFFFFF"/>
                    </a:solidFill>
                  </a:tcPr>
                </a:tc>
                <a:tc>
                  <a:txBody>
                    <a:bodyPr wrap="square"/>
                    <a:lstStyle/>
                    <a:p>
                      <a:pPr algn="r"/>
                      <a:r>
                        <a:rPr sz="1000" b="1">
                          <a:solidFill>
                            <a:srgbClr val="15795F"/>
                          </a:solidFill>
                          <a:latin typeface="Kanit"/>
                        </a:rPr>
                        <a:t>+11.8%</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Pork</a:t>
                      </a:r>
                    </a:p>
                  </a:txBody>
                  <a:tcPr marL="54864" marR="54864" marT="18288" marB="18288" anchor="ctr">
                    <a:solidFill>
                      <a:srgbClr val="F7F9FC"/>
                    </a:solidFill>
                  </a:tcPr>
                </a:tc>
                <a:tc>
                  <a:txBody>
                    <a:bodyPr wrap="square"/>
                    <a:lstStyle/>
                    <a:p>
                      <a:pPr algn="l"/>
                      <a:r>
                        <a:rPr sz="1000" b="0">
                          <a:solidFill>
                            <a:srgbClr val="1E2F5C"/>
                          </a:solidFill>
                          <a:latin typeface="Kanit"/>
                        </a:rPr>
                        <a:t>Livestock</a:t>
                      </a:r>
                    </a:p>
                  </a:txBody>
                  <a:tcPr marL="54864" marR="54864" marT="18288" marB="18288" anchor="ctr">
                    <a:solidFill>
                      <a:srgbClr val="F7F9FC"/>
                    </a:solidFill>
                  </a:tcPr>
                </a:tc>
                <a:tc>
                  <a:txBody>
                    <a:bodyPr wrap="square"/>
                    <a:lstStyle/>
                    <a:p>
                      <a:pPr algn="l"/>
                      <a:r>
                        <a:rPr sz="1000" b="0">
                          <a:solidFill>
                            <a:srgbClr val="1E2F5C"/>
                          </a:solidFill>
                          <a:latin typeface="Kanit"/>
                        </a:rPr>
                        <a:t>C · W · E</a:t>
                      </a:r>
                    </a:p>
                  </a:txBody>
                  <a:tcPr marL="54864" marR="54864" marT="18288" marB="18288" anchor="ctr">
                    <a:solidFill>
                      <a:srgbClr val="F7F9FC"/>
                    </a:solidFill>
                  </a:tcPr>
                </a:tc>
                <a:tc>
                  <a:txBody>
                    <a:bodyPr wrap="square"/>
                    <a:lstStyle/>
                    <a:p>
                      <a:pPr algn="r"/>
                      <a:r>
                        <a:rPr sz="1000" b="1">
                          <a:solidFill>
                            <a:srgbClr val="CC0000"/>
                          </a:solidFill>
                          <a:latin typeface="Kanit"/>
                        </a:rPr>
                        <a:t>−3.5%</a:t>
                      </a:r>
                    </a:p>
                  </a:txBody>
                  <a:tcPr marL="54864" marR="54864" marT="18288" marB="18288" anchor="ctr">
                    <a:solidFill>
                      <a:srgbClr val="F7F9FC"/>
                    </a:solidFill>
                  </a:tcPr>
                </a:tc>
                <a:tc>
                  <a:txBody>
                    <a:bodyPr wrap="square"/>
                    <a:lstStyle/>
                    <a:p>
                      <a:pPr algn="r"/>
                      <a:r>
                        <a:rPr sz="1000" b="0">
                          <a:solidFill>
                            <a:srgbClr val="606060"/>
                          </a:solidFill>
                          <a:latin typeface="Kanit"/>
                        </a:rPr>
                        <a:t>—</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White shrimp</a:t>
                      </a:r>
                    </a:p>
                  </a:txBody>
                  <a:tcPr marL="54864" marR="54864" marT="18288" marB="18288" anchor="ctr">
                    <a:solidFill>
                      <a:srgbClr val="FFFFFF"/>
                    </a:solidFill>
                  </a:tcPr>
                </a:tc>
                <a:tc>
                  <a:txBody>
                    <a:bodyPr wrap="square"/>
                    <a:lstStyle/>
                    <a:p>
                      <a:pPr algn="l"/>
                      <a:r>
                        <a:rPr sz="1000" b="0">
                          <a:solidFill>
                            <a:srgbClr val="1E2F5C"/>
                          </a:solidFill>
                          <a:latin typeface="Kanit"/>
                        </a:rPr>
                        <a:t>Fisheries</a:t>
                      </a:r>
                    </a:p>
                  </a:txBody>
                  <a:tcPr marL="54864" marR="54864" marT="18288" marB="18288" anchor="ctr">
                    <a:solidFill>
                      <a:srgbClr val="FFFFFF"/>
                    </a:solidFill>
                  </a:tcPr>
                </a:tc>
                <a:tc>
                  <a:txBody>
                    <a:bodyPr wrap="square"/>
                    <a:lstStyle/>
                    <a:p>
                      <a:pPr algn="l"/>
                      <a:r>
                        <a:rPr sz="1000" b="0">
                          <a:solidFill>
                            <a:srgbClr val="1E2F5C"/>
                          </a:solidFill>
                          <a:latin typeface="Kanit"/>
                        </a:rPr>
                        <a:t>S · E coast</a:t>
                      </a:r>
                    </a:p>
                  </a:txBody>
                  <a:tcPr marL="54864" marR="54864" marT="18288" marB="18288" anchor="ctr">
                    <a:solidFill>
                      <a:srgbClr val="FFFFFF"/>
                    </a:solidFill>
                  </a:tcPr>
                </a:tc>
                <a:tc>
                  <a:txBody>
                    <a:bodyPr wrap="square"/>
                    <a:lstStyle/>
                    <a:p>
                      <a:pPr algn="r"/>
                      <a:r>
                        <a:rPr sz="1000" b="1">
                          <a:solidFill>
                            <a:srgbClr val="CC0000"/>
                          </a:solidFill>
                          <a:latin typeface="Kanit"/>
                        </a:rPr>
                        <a:t>−1.8%</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Chicken</a:t>
                      </a:r>
                    </a:p>
                  </a:txBody>
                  <a:tcPr marL="54864" marR="54864" marT="18288" marB="18288" anchor="ctr">
                    <a:solidFill>
                      <a:srgbClr val="F7F9FC"/>
                    </a:solidFill>
                  </a:tcPr>
                </a:tc>
                <a:tc>
                  <a:txBody>
                    <a:bodyPr wrap="square"/>
                    <a:lstStyle/>
                    <a:p>
                      <a:pPr algn="l"/>
                      <a:r>
                        <a:rPr sz="1000" b="0">
                          <a:solidFill>
                            <a:srgbClr val="1E2F5C"/>
                          </a:solidFill>
                          <a:latin typeface="Kanit"/>
                        </a:rPr>
                        <a:t>Livestock</a:t>
                      </a:r>
                    </a:p>
                  </a:txBody>
                  <a:tcPr marL="54864" marR="54864" marT="18288" marB="18288" anchor="ctr">
                    <a:solidFill>
                      <a:srgbClr val="F7F9FC"/>
                    </a:solidFill>
                  </a:tcPr>
                </a:tc>
                <a:tc>
                  <a:txBody>
                    <a:bodyPr wrap="square"/>
                    <a:lstStyle/>
                    <a:p>
                      <a:pPr algn="l"/>
                      <a:r>
                        <a:rPr sz="1000" b="0">
                          <a:solidFill>
                            <a:srgbClr val="1E2F5C"/>
                          </a:solidFill>
                          <a:latin typeface="Kanit"/>
                        </a:rPr>
                        <a:t>C · E</a:t>
                      </a:r>
                    </a:p>
                  </a:txBody>
                  <a:tcPr marL="54864" marR="54864" marT="18288" marB="18288" anchor="ctr">
                    <a:solidFill>
                      <a:srgbClr val="F7F9FC"/>
                    </a:solidFill>
                  </a:tcPr>
                </a:tc>
                <a:tc>
                  <a:txBody>
                    <a:bodyPr wrap="square"/>
                    <a:lstStyle/>
                    <a:p>
                      <a:pPr algn="r"/>
                      <a:r>
                        <a:rPr sz="1000" b="1">
                          <a:solidFill>
                            <a:srgbClr val="CC0000"/>
                          </a:solidFill>
                          <a:latin typeface="Kanit"/>
                        </a:rPr>
                        <a:t>−0.1%</a:t>
                      </a:r>
                    </a:p>
                  </a:txBody>
                  <a:tcPr marL="54864" marR="54864" marT="18288" marB="18288" anchor="ctr">
                    <a:solidFill>
                      <a:srgbClr val="F7F9FC"/>
                    </a:solidFill>
                  </a:tcPr>
                </a:tc>
                <a:tc>
                  <a:txBody>
                    <a:bodyPr wrap="square"/>
                    <a:lstStyle/>
                    <a:p>
                      <a:pPr algn="r"/>
                      <a:r>
                        <a:rPr sz="1000" b="1">
                          <a:solidFill>
                            <a:srgbClr val="CC0000"/>
                          </a:solidFill>
                          <a:latin typeface="Kanit"/>
                        </a:rPr>
                        <a:t>−0.6%</a:t>
                      </a:r>
                    </a:p>
                  </a:txBody>
                  <a:tcPr marL="54864" marR="54864" marT="18288" marB="18288" anchor="ctr">
                    <a:solidFill>
                      <a:srgbClr val="F7F9FC"/>
                    </a:solidFill>
                  </a:tcPr>
                </a:tc>
              </a:tr>
            </a:tbl>
          </a:graphicData>
        </a:graphic>
      </p:graphicFrame>
      <p:sp>
        <p:nvSpPr>
          <p:cNvPr id="11" name="Rounded Rectangle 10"/>
          <p:cNvSpPr/>
          <p:nvPr/>
        </p:nvSpPr>
        <p:spPr>
          <a:xfrm>
            <a:off x="411480" y="3979773"/>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4009034"/>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3" name="TextBox 12"/>
          <p:cNvSpPr txBox="1"/>
          <p:nvPr/>
        </p:nvSpPr>
        <p:spPr>
          <a:xfrm>
            <a:off x="1056955" y="3993489"/>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Prices MEASURED — NABC daily and monthly market feeds, Thai farm gate, OCSB announced cane price, World Bank Pink Sheet 2026M06; newest farm-gate quote 2026-08-03. The belt column is an ESTIMATED read of where each is produced, and the belts overlap — the same household often keeps poultry and grows rice.</a:t>
            </a:r>
          </a:p>
        </p:txBody>
      </p:sp>
      <p:sp>
        <p:nvSpPr>
          <p:cNvPr id="14" name="Rectangle 13"/>
          <p:cNvSpPr/>
          <p:nvPr/>
        </p:nvSpPr>
        <p:spPr>
          <a:xfrm>
            <a:off x="411480" y="4434687"/>
            <a:ext cx="11365992" cy="854456"/>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411480" y="4434687"/>
            <a:ext cx="50292" cy="854456"/>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30936" y="4580991"/>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Beef is the row that shows why the world index is the wrong instrument</a:t>
            </a:r>
          </a:p>
        </p:txBody>
      </p:sp>
      <p:sp>
        <p:nvSpPr>
          <p:cNvPr id="17" name="TextBox 16"/>
          <p:cNvSpPr txBox="1"/>
          <p:nvPr/>
        </p:nvSpPr>
        <p:spPr>
          <a:xfrm>
            <a:off x="630936" y="4785461"/>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The world beef index is +11.8%. The measured Thai farm-gate price is −6.1% — a 17.9 point divergence. A cattle household in Isan is not experiencing +11.8%. Rubber, palm and cassava run the other way and are genuinely up on both measures.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04 · FIVE YEARS OF PRICE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Sugar has not fallen for a year. It has fallen for four.</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ectangle 8"/>
          <p:cNvSpPr/>
          <p:nvPr/>
        </p:nvSpPr>
        <p:spPr>
          <a:xfrm>
            <a:off x="411480" y="1152144"/>
            <a:ext cx="6903720" cy="278892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795528" y="3666744"/>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429768" y="3598163"/>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40</a:t>
            </a:r>
          </a:p>
        </p:txBody>
      </p:sp>
      <p:sp>
        <p:nvSpPr>
          <p:cNvPr id="12" name="Rectangle 11"/>
          <p:cNvSpPr/>
          <p:nvPr/>
        </p:nvSpPr>
        <p:spPr>
          <a:xfrm>
            <a:off x="795528" y="2778633"/>
            <a:ext cx="6428232" cy="10972"/>
          </a:xfrm>
          <a:prstGeom prst="rect">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29768" y="2710052"/>
            <a:ext cx="329184" cy="125730"/>
          </a:xfrm>
          <a:prstGeom prst="rect">
            <a:avLst/>
          </a:prstGeom>
          <a:noFill/>
        </p:spPr>
        <p:txBody>
          <a:bodyPr wrap="square" lIns="0" rIns="0" tIns="0" bIns="0" anchor="t">
            <a:noAutofit/>
          </a:bodyPr>
          <a:lstStyle/>
          <a:p>
            <a:pPr algn="r">
              <a:lnSpc>
                <a:spcPts val="990"/>
              </a:lnSpc>
            </a:pPr>
            <a:r>
              <a:rPr sz="750" b="0">
                <a:solidFill>
                  <a:srgbClr val="606060"/>
                </a:solidFill>
                <a:latin typeface="Kanit"/>
              </a:rPr>
              <a:t>100</a:t>
            </a:r>
          </a:p>
        </p:txBody>
      </p:sp>
      <p:sp>
        <p:nvSpPr>
          <p:cNvPr id="14" name="Rectangle 13"/>
          <p:cNvSpPr/>
          <p:nvPr/>
        </p:nvSpPr>
        <p:spPr>
          <a:xfrm>
            <a:off x="795528" y="1298448"/>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29768" y="1229868"/>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200</a:t>
            </a:r>
          </a:p>
        </p:txBody>
      </p:sp>
      <p:sp>
        <p:nvSpPr>
          <p:cNvPr id="16" name="TextBox 15"/>
          <p:cNvSpPr txBox="1"/>
          <p:nvPr/>
        </p:nvSpPr>
        <p:spPr>
          <a:xfrm>
            <a:off x="6867405" y="1280160"/>
            <a:ext cx="264914" cy="134112"/>
          </a:xfrm>
          <a:prstGeom prst="rect">
            <a:avLst/>
          </a:prstGeom>
          <a:noFill/>
        </p:spPr>
        <p:txBody>
          <a:bodyPr wrap="square" lIns="0" rIns="0" tIns="0" bIns="0" anchor="t">
            <a:noAutofit/>
          </a:bodyPr>
          <a:lstStyle/>
          <a:p>
            <a:pPr algn="l">
              <a:lnSpc>
                <a:spcPts val="1056"/>
              </a:lnSpc>
            </a:pPr>
            <a:r>
              <a:rPr sz="800" b="1">
                <a:solidFill>
                  <a:srgbClr val="CC0000"/>
                </a:solidFill>
                <a:latin typeface="Kanit"/>
              </a:rPr>
              <a:t>Sugar</a:t>
            </a:r>
          </a:p>
        </p:txBody>
      </p:sp>
      <p:sp>
        <p:nvSpPr>
          <p:cNvPr id="17" name="Rectangle 16"/>
          <p:cNvSpPr/>
          <p:nvPr/>
        </p:nvSpPr>
        <p:spPr>
          <a:xfrm>
            <a:off x="6629661" y="1339596"/>
            <a:ext cx="164592" cy="256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105086" y="1280160"/>
            <a:ext cx="378271" cy="134112"/>
          </a:xfrm>
          <a:prstGeom prst="rect">
            <a:avLst/>
          </a:prstGeom>
          <a:noFill/>
        </p:spPr>
        <p:txBody>
          <a:bodyPr wrap="square" lIns="0" rIns="0" tIns="0" bIns="0" anchor="t">
            <a:noAutofit/>
          </a:bodyPr>
          <a:lstStyle/>
          <a:p>
            <a:pPr algn="l">
              <a:lnSpc>
                <a:spcPts val="1056"/>
              </a:lnSpc>
            </a:pPr>
            <a:r>
              <a:rPr sz="800" b="1">
                <a:solidFill>
                  <a:srgbClr val="F5C242"/>
                </a:solidFill>
                <a:latin typeface="Kanit"/>
              </a:rPr>
              <a:t>Palm oil</a:t>
            </a:r>
          </a:p>
        </p:txBody>
      </p:sp>
      <p:sp>
        <p:nvSpPr>
          <p:cNvPr id="19" name="Rectangle 18"/>
          <p:cNvSpPr/>
          <p:nvPr/>
        </p:nvSpPr>
        <p:spPr>
          <a:xfrm>
            <a:off x="5867342" y="1339596"/>
            <a:ext cx="164592" cy="25603"/>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5521112" y="1280160"/>
            <a:ext cx="199925" cy="134112"/>
          </a:xfrm>
          <a:prstGeom prst="rect">
            <a:avLst/>
          </a:prstGeom>
          <a:noFill/>
        </p:spPr>
        <p:txBody>
          <a:bodyPr wrap="square" lIns="0" rIns="0" tIns="0" bIns="0" anchor="t">
            <a:noAutofit/>
          </a:bodyPr>
          <a:lstStyle/>
          <a:p>
            <a:pPr algn="l">
              <a:lnSpc>
                <a:spcPts val="1056"/>
              </a:lnSpc>
            </a:pPr>
            <a:r>
              <a:rPr sz="800" b="1">
                <a:solidFill>
                  <a:srgbClr val="1E2F5C"/>
                </a:solidFill>
                <a:latin typeface="Kanit"/>
              </a:rPr>
              <a:t>Rice</a:t>
            </a:r>
          </a:p>
        </p:txBody>
      </p:sp>
      <p:sp>
        <p:nvSpPr>
          <p:cNvPr id="21" name="Rectangle 20"/>
          <p:cNvSpPr/>
          <p:nvPr/>
        </p:nvSpPr>
        <p:spPr>
          <a:xfrm>
            <a:off x="5283368" y="1339596"/>
            <a:ext cx="164592" cy="25603"/>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797488" y="1280160"/>
            <a:ext cx="339576" cy="134112"/>
          </a:xfrm>
          <a:prstGeom prst="rect">
            <a:avLst/>
          </a:prstGeom>
          <a:noFill/>
        </p:spPr>
        <p:txBody>
          <a:bodyPr wrap="square" lIns="0" rIns="0" tIns="0" bIns="0" anchor="t">
            <a:noAutofit/>
          </a:bodyPr>
          <a:lstStyle/>
          <a:p>
            <a:pPr algn="l">
              <a:lnSpc>
                <a:spcPts val="1056"/>
              </a:lnSpc>
            </a:pPr>
            <a:r>
              <a:rPr sz="800" b="1">
                <a:solidFill>
                  <a:srgbClr val="15795F"/>
                </a:solidFill>
                <a:latin typeface="Kanit"/>
              </a:rPr>
              <a:t>Rubber</a:t>
            </a:r>
          </a:p>
        </p:txBody>
      </p:sp>
      <p:sp>
        <p:nvSpPr>
          <p:cNvPr id="23" name="Rectangle 22"/>
          <p:cNvSpPr/>
          <p:nvPr/>
        </p:nvSpPr>
        <p:spPr>
          <a:xfrm>
            <a:off x="4559744" y="1339596"/>
            <a:ext cx="164592" cy="25603"/>
          </a:xfrm>
          <a:prstGeom prst="rect">
            <a:avLst/>
          </a:prstGeom>
          <a:solidFill>
            <a:srgbClr val="1579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Freeform 23"/>
          <p:cNvSpPr/>
          <p:nvPr/>
        </p:nvSpPr>
        <p:spPr>
          <a:xfrm>
            <a:off x="795528" y="1995005"/>
            <a:ext cx="6428232" cy="1131906"/>
          </a:xfrm>
          <a:custGeom>
            <a:avLst/>
            <a:gdLst/>
            <a:ahLst/>
            <a:cxnLst/>
            <a:rect l="l" t="t" r="r" b="b"/>
            <a:pathLst>
              <a:path w="6428232" h="1131906">
                <a:moveTo>
                  <a:pt x="0" y="783628"/>
                </a:moveTo>
                <a:lnTo>
                  <a:pt x="108953" y="759881"/>
                </a:lnTo>
                <a:lnTo>
                  <a:pt x="217906" y="846951"/>
                </a:lnTo>
                <a:lnTo>
                  <a:pt x="326859" y="783628"/>
                </a:lnTo>
                <a:lnTo>
                  <a:pt x="435812" y="736135"/>
                </a:lnTo>
                <a:lnTo>
                  <a:pt x="544765" y="744050"/>
                </a:lnTo>
                <a:lnTo>
                  <a:pt x="653718" y="704473"/>
                </a:lnTo>
                <a:lnTo>
                  <a:pt x="762671" y="593657"/>
                </a:lnTo>
                <a:lnTo>
                  <a:pt x="871624" y="585742"/>
                </a:lnTo>
                <a:lnTo>
                  <a:pt x="980577" y="609488"/>
                </a:lnTo>
                <a:lnTo>
                  <a:pt x="1089530" y="633234"/>
                </a:lnTo>
                <a:lnTo>
                  <a:pt x="1198483" y="656981"/>
                </a:lnTo>
                <a:lnTo>
                  <a:pt x="1307437" y="854866"/>
                </a:lnTo>
                <a:lnTo>
                  <a:pt x="1416390" y="989429"/>
                </a:lnTo>
                <a:lnTo>
                  <a:pt x="1525343" y="1092329"/>
                </a:lnTo>
                <a:lnTo>
                  <a:pt x="1634296" y="1076498"/>
                </a:lnTo>
                <a:lnTo>
                  <a:pt x="1743249" y="1131906"/>
                </a:lnTo>
                <a:lnTo>
                  <a:pt x="1852202" y="1044837"/>
                </a:lnTo>
                <a:lnTo>
                  <a:pt x="1961155" y="973598"/>
                </a:lnTo>
                <a:lnTo>
                  <a:pt x="2070108" y="981513"/>
                </a:lnTo>
                <a:lnTo>
                  <a:pt x="2179061" y="1013175"/>
                </a:lnTo>
                <a:lnTo>
                  <a:pt x="2288014" y="1044837"/>
                </a:lnTo>
                <a:lnTo>
                  <a:pt x="2396967" y="1029006"/>
                </a:lnTo>
                <a:lnTo>
                  <a:pt x="2505920" y="1052752"/>
                </a:lnTo>
                <a:lnTo>
                  <a:pt x="2614874" y="1084414"/>
                </a:lnTo>
                <a:lnTo>
                  <a:pt x="2723827" y="1100245"/>
                </a:lnTo>
                <a:lnTo>
                  <a:pt x="2832780" y="1036921"/>
                </a:lnTo>
                <a:lnTo>
                  <a:pt x="2941733" y="989429"/>
                </a:lnTo>
                <a:lnTo>
                  <a:pt x="3050686" y="941936"/>
                </a:lnTo>
                <a:lnTo>
                  <a:pt x="3159639" y="949851"/>
                </a:lnTo>
                <a:lnTo>
                  <a:pt x="3268592" y="839035"/>
                </a:lnTo>
                <a:lnTo>
                  <a:pt x="3377545" y="664896"/>
                </a:lnTo>
                <a:lnTo>
                  <a:pt x="3486498" y="372025"/>
                </a:lnTo>
                <a:lnTo>
                  <a:pt x="3595451" y="459095"/>
                </a:lnTo>
                <a:lnTo>
                  <a:pt x="3704404" y="561996"/>
                </a:lnTo>
                <a:lnTo>
                  <a:pt x="3813357" y="474926"/>
                </a:lnTo>
                <a:lnTo>
                  <a:pt x="3922311" y="633234"/>
                </a:lnTo>
                <a:lnTo>
                  <a:pt x="4031264" y="372025"/>
                </a:lnTo>
                <a:lnTo>
                  <a:pt x="4140217" y="166224"/>
                </a:lnTo>
                <a:lnTo>
                  <a:pt x="4249170" y="182055"/>
                </a:lnTo>
                <a:lnTo>
                  <a:pt x="4358123" y="451180"/>
                </a:lnTo>
                <a:lnTo>
                  <a:pt x="4467076" y="379941"/>
                </a:lnTo>
                <a:lnTo>
                  <a:pt x="4576029" y="387856"/>
                </a:lnTo>
                <a:lnTo>
                  <a:pt x="4684982" y="356194"/>
                </a:lnTo>
                <a:lnTo>
                  <a:pt x="4793935" y="395772"/>
                </a:lnTo>
                <a:lnTo>
                  <a:pt x="4902888" y="577826"/>
                </a:lnTo>
                <a:lnTo>
                  <a:pt x="5011841" y="530334"/>
                </a:lnTo>
                <a:lnTo>
                  <a:pt x="5120794" y="554080"/>
                </a:lnTo>
                <a:lnTo>
                  <a:pt x="5229748" y="498672"/>
                </a:lnTo>
                <a:lnTo>
                  <a:pt x="5338701" y="561996"/>
                </a:lnTo>
                <a:lnTo>
                  <a:pt x="5447654" y="593657"/>
                </a:lnTo>
                <a:lnTo>
                  <a:pt x="5556607" y="680727"/>
                </a:lnTo>
                <a:lnTo>
                  <a:pt x="5665560" y="656981"/>
                </a:lnTo>
                <a:lnTo>
                  <a:pt x="5774513" y="633234"/>
                </a:lnTo>
                <a:lnTo>
                  <a:pt x="5883466" y="569911"/>
                </a:lnTo>
                <a:lnTo>
                  <a:pt x="5992419" y="474926"/>
                </a:lnTo>
                <a:lnTo>
                  <a:pt x="6101372" y="372025"/>
                </a:lnTo>
                <a:lnTo>
                  <a:pt x="6210325" y="277040"/>
                </a:lnTo>
                <a:lnTo>
                  <a:pt x="6319278" y="134562"/>
                </a:lnTo>
                <a:lnTo>
                  <a:pt x="6428232" y="0"/>
                </a:lnTo>
              </a:path>
            </a:pathLst>
          </a:custGeom>
          <a:noFill/>
          <a:ln w="20320">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795528" y="1899102"/>
            <a:ext cx="6428232" cy="1086899"/>
          </a:xfrm>
          <a:custGeom>
            <a:avLst/>
            <a:gdLst/>
            <a:ahLst/>
            <a:cxnLst/>
            <a:rect l="l" t="t" r="r" b="b"/>
            <a:pathLst>
              <a:path w="6428232" h="1086899">
                <a:moveTo>
                  <a:pt x="0" y="879531"/>
                </a:moveTo>
                <a:lnTo>
                  <a:pt x="108953" y="918859"/>
                </a:lnTo>
                <a:lnTo>
                  <a:pt x="217906" y="929585"/>
                </a:lnTo>
                <a:lnTo>
                  <a:pt x="326859" y="926010"/>
                </a:lnTo>
                <a:lnTo>
                  <a:pt x="435812" y="929585"/>
                </a:lnTo>
                <a:lnTo>
                  <a:pt x="544765" y="929585"/>
                </a:lnTo>
                <a:lnTo>
                  <a:pt x="653718" y="833051"/>
                </a:lnTo>
                <a:lnTo>
                  <a:pt x="762671" y="833051"/>
                </a:lnTo>
                <a:lnTo>
                  <a:pt x="871624" y="850928"/>
                </a:lnTo>
                <a:lnTo>
                  <a:pt x="980577" y="818750"/>
                </a:lnTo>
                <a:lnTo>
                  <a:pt x="1089530" y="700764"/>
                </a:lnTo>
                <a:lnTo>
                  <a:pt x="1198483" y="772271"/>
                </a:lnTo>
                <a:lnTo>
                  <a:pt x="1307437" y="865229"/>
                </a:lnTo>
                <a:lnTo>
                  <a:pt x="1416390" y="818750"/>
                </a:lnTo>
                <a:lnTo>
                  <a:pt x="1525343" y="790147"/>
                </a:lnTo>
                <a:lnTo>
                  <a:pt x="1634296" y="818750"/>
                </a:lnTo>
                <a:lnTo>
                  <a:pt x="1743249" y="786572"/>
                </a:lnTo>
                <a:lnTo>
                  <a:pt x="1852202" y="690038"/>
                </a:lnTo>
                <a:lnTo>
                  <a:pt x="1961155" y="511272"/>
                </a:lnTo>
                <a:lnTo>
                  <a:pt x="2070108" y="600655"/>
                </a:lnTo>
                <a:lnTo>
                  <a:pt x="2179061" y="657860"/>
                </a:lnTo>
                <a:lnTo>
                  <a:pt x="2288014" y="568477"/>
                </a:lnTo>
                <a:lnTo>
                  <a:pt x="2396967" y="536299"/>
                </a:lnTo>
                <a:lnTo>
                  <a:pt x="2505920" y="521998"/>
                </a:lnTo>
                <a:lnTo>
                  <a:pt x="2614874" y="404012"/>
                </a:lnTo>
                <a:lnTo>
                  <a:pt x="2723827" y="89383"/>
                </a:lnTo>
                <a:lnTo>
                  <a:pt x="2832780" y="143013"/>
                </a:lnTo>
                <a:lnTo>
                  <a:pt x="2941733" y="250273"/>
                </a:lnTo>
                <a:lnTo>
                  <a:pt x="3050686" y="221670"/>
                </a:lnTo>
                <a:lnTo>
                  <a:pt x="3159639" y="57206"/>
                </a:lnTo>
                <a:lnTo>
                  <a:pt x="3268592" y="0"/>
                </a:lnTo>
                <a:lnTo>
                  <a:pt x="3377545" y="128712"/>
                </a:lnTo>
                <a:lnTo>
                  <a:pt x="3486498" y="168041"/>
                </a:lnTo>
                <a:lnTo>
                  <a:pt x="3595451" y="243122"/>
                </a:lnTo>
                <a:lnTo>
                  <a:pt x="3704404" y="114411"/>
                </a:lnTo>
                <a:lnTo>
                  <a:pt x="3813357" y="100109"/>
                </a:lnTo>
                <a:lnTo>
                  <a:pt x="3922311" y="250273"/>
                </a:lnTo>
                <a:lnTo>
                  <a:pt x="4031264" y="253848"/>
                </a:lnTo>
                <a:lnTo>
                  <a:pt x="4140217" y="286026"/>
                </a:lnTo>
                <a:lnTo>
                  <a:pt x="4249170" y="518423"/>
                </a:lnTo>
                <a:lnTo>
                  <a:pt x="4358123" y="532724"/>
                </a:lnTo>
                <a:lnTo>
                  <a:pt x="4467076" y="475519"/>
                </a:lnTo>
                <a:lnTo>
                  <a:pt x="4576029" y="650710"/>
                </a:lnTo>
                <a:lnTo>
                  <a:pt x="4684982" y="797298"/>
                </a:lnTo>
                <a:lnTo>
                  <a:pt x="4793935" y="840202"/>
                </a:lnTo>
                <a:lnTo>
                  <a:pt x="4902888" y="875955"/>
                </a:lnTo>
                <a:lnTo>
                  <a:pt x="5011841" y="818750"/>
                </a:lnTo>
                <a:lnTo>
                  <a:pt x="5120794" y="861654"/>
                </a:lnTo>
                <a:lnTo>
                  <a:pt x="5229748" y="958188"/>
                </a:lnTo>
                <a:lnTo>
                  <a:pt x="5338701" y="1018968"/>
                </a:lnTo>
                <a:lnTo>
                  <a:pt x="5447654" y="1022544"/>
                </a:lnTo>
                <a:lnTo>
                  <a:pt x="5556607" y="1086899"/>
                </a:lnTo>
                <a:lnTo>
                  <a:pt x="5665560" y="1043996"/>
                </a:lnTo>
                <a:lnTo>
                  <a:pt x="5774513" y="843777"/>
                </a:lnTo>
                <a:lnTo>
                  <a:pt x="5883466" y="900982"/>
                </a:lnTo>
                <a:lnTo>
                  <a:pt x="5992419" y="897407"/>
                </a:lnTo>
                <a:lnTo>
                  <a:pt x="6101372" y="997516"/>
                </a:lnTo>
                <a:lnTo>
                  <a:pt x="6210325" y="918859"/>
                </a:lnTo>
                <a:lnTo>
                  <a:pt x="6319278" y="786572"/>
                </a:lnTo>
                <a:lnTo>
                  <a:pt x="6428232" y="593504"/>
                </a:lnTo>
              </a:path>
            </a:pathLst>
          </a:custGeom>
          <a:noFill/>
          <a:ln w="20320">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795528" y="1784416"/>
            <a:ext cx="6428232" cy="1354864"/>
          </a:xfrm>
          <a:custGeom>
            <a:avLst/>
            <a:gdLst/>
            <a:ahLst/>
            <a:cxnLst/>
            <a:rect l="l" t="t" r="r" b="b"/>
            <a:pathLst>
              <a:path w="6428232" h="1354864">
                <a:moveTo>
                  <a:pt x="0" y="994217"/>
                </a:moveTo>
                <a:lnTo>
                  <a:pt x="108953" y="884212"/>
                </a:lnTo>
                <a:lnTo>
                  <a:pt x="217906" y="829906"/>
                </a:lnTo>
                <a:lnTo>
                  <a:pt x="326859" y="650279"/>
                </a:lnTo>
                <a:lnTo>
                  <a:pt x="435812" y="607113"/>
                </a:lnTo>
                <a:lnTo>
                  <a:pt x="544765" y="705977"/>
                </a:lnTo>
                <a:lnTo>
                  <a:pt x="653718" y="601543"/>
                </a:lnTo>
                <a:lnTo>
                  <a:pt x="762671" y="355077"/>
                </a:lnTo>
                <a:lnTo>
                  <a:pt x="871624" y="0"/>
                </a:lnTo>
                <a:lnTo>
                  <a:pt x="980577" y="130891"/>
                </a:lnTo>
                <a:lnTo>
                  <a:pt x="1089530" y="83548"/>
                </a:lnTo>
                <a:lnTo>
                  <a:pt x="1198483" y="384319"/>
                </a:lnTo>
                <a:lnTo>
                  <a:pt x="1307437" y="1002571"/>
                </a:lnTo>
                <a:lnTo>
                  <a:pt x="1416390" y="1045738"/>
                </a:lnTo>
                <a:lnTo>
                  <a:pt x="1525343" y="1208655"/>
                </a:lnTo>
                <a:lnTo>
                  <a:pt x="1634296" y="1236505"/>
                </a:lnTo>
                <a:lnTo>
                  <a:pt x="1743249" y="1157134"/>
                </a:lnTo>
                <a:lnTo>
                  <a:pt x="1852202" y="1165489"/>
                </a:lnTo>
                <a:lnTo>
                  <a:pt x="1961155" y="1162704"/>
                </a:lnTo>
                <a:lnTo>
                  <a:pt x="2070108" y="1151564"/>
                </a:lnTo>
                <a:lnTo>
                  <a:pt x="2179061" y="1120930"/>
                </a:lnTo>
                <a:lnTo>
                  <a:pt x="2288014" y="1074979"/>
                </a:lnTo>
                <a:lnTo>
                  <a:pt x="2396967" y="1173844"/>
                </a:lnTo>
                <a:lnTo>
                  <a:pt x="2505920" y="1336762"/>
                </a:lnTo>
                <a:lnTo>
                  <a:pt x="2614874" y="1250429"/>
                </a:lnTo>
                <a:lnTo>
                  <a:pt x="2723827" y="1275493"/>
                </a:lnTo>
                <a:lnTo>
                  <a:pt x="2832780" y="1318660"/>
                </a:lnTo>
                <a:lnTo>
                  <a:pt x="2941733" y="1354864"/>
                </a:lnTo>
                <a:lnTo>
                  <a:pt x="3050686" y="1318660"/>
                </a:lnTo>
                <a:lnTo>
                  <a:pt x="3159639" y="1340939"/>
                </a:lnTo>
                <a:lnTo>
                  <a:pt x="3268592" y="1297773"/>
                </a:lnTo>
                <a:lnTo>
                  <a:pt x="3377545" y="1281063"/>
                </a:lnTo>
                <a:lnTo>
                  <a:pt x="3486498" y="1161312"/>
                </a:lnTo>
                <a:lnTo>
                  <a:pt x="3595451" y="1171059"/>
                </a:lnTo>
                <a:lnTo>
                  <a:pt x="3704404" y="1278278"/>
                </a:lnTo>
                <a:lnTo>
                  <a:pt x="3813357" y="1257391"/>
                </a:lnTo>
                <a:lnTo>
                  <a:pt x="3922311" y="1226757"/>
                </a:lnTo>
                <a:lnTo>
                  <a:pt x="4031264" y="1175236"/>
                </a:lnTo>
                <a:lnTo>
                  <a:pt x="4140217" y="1105613"/>
                </a:lnTo>
                <a:lnTo>
                  <a:pt x="4249170" y="974722"/>
                </a:lnTo>
                <a:lnTo>
                  <a:pt x="4358123" y="846616"/>
                </a:lnTo>
                <a:lnTo>
                  <a:pt x="4467076" y="817374"/>
                </a:lnTo>
                <a:lnTo>
                  <a:pt x="4576029" y="984469"/>
                </a:lnTo>
                <a:lnTo>
                  <a:pt x="4684982" y="988647"/>
                </a:lnTo>
                <a:lnTo>
                  <a:pt x="4793935" y="987254"/>
                </a:lnTo>
                <a:lnTo>
                  <a:pt x="4902888" y="1090296"/>
                </a:lnTo>
                <a:lnTo>
                  <a:pt x="5011841" y="1210048"/>
                </a:lnTo>
                <a:lnTo>
                  <a:pt x="5120794" y="1172451"/>
                </a:lnTo>
                <a:lnTo>
                  <a:pt x="5229748" y="1115361"/>
                </a:lnTo>
                <a:lnTo>
                  <a:pt x="5338701" y="1045738"/>
                </a:lnTo>
                <a:lnTo>
                  <a:pt x="5447654" y="1030420"/>
                </a:lnTo>
                <a:lnTo>
                  <a:pt x="5556607" y="1029028"/>
                </a:lnTo>
                <a:lnTo>
                  <a:pt x="5665560" y="1105613"/>
                </a:lnTo>
                <a:lnTo>
                  <a:pt x="5774513" y="1109791"/>
                </a:lnTo>
                <a:lnTo>
                  <a:pt x="5883466" y="1074979"/>
                </a:lnTo>
                <a:lnTo>
                  <a:pt x="5992419" y="1027636"/>
                </a:lnTo>
                <a:lnTo>
                  <a:pt x="6101372" y="930163"/>
                </a:lnTo>
                <a:lnTo>
                  <a:pt x="6210325" y="878642"/>
                </a:lnTo>
                <a:lnTo>
                  <a:pt x="6319278" y="892567"/>
                </a:lnTo>
                <a:lnTo>
                  <a:pt x="6428232" y="935733"/>
                </a:lnTo>
              </a:path>
            </a:pathLst>
          </a:custGeom>
          <a:noFill/>
          <a:ln w="2032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795528" y="2057517"/>
            <a:ext cx="6428232" cy="1024743"/>
          </a:xfrm>
          <a:custGeom>
            <a:avLst/>
            <a:gdLst/>
            <a:ahLst/>
            <a:cxnLst/>
            <a:rect l="l" t="t" r="r" b="b"/>
            <a:pathLst>
              <a:path w="6428232" h="1024743">
                <a:moveTo>
                  <a:pt x="0" y="721116"/>
                </a:moveTo>
                <a:lnTo>
                  <a:pt x="108953" y="569302"/>
                </a:lnTo>
                <a:lnTo>
                  <a:pt x="217906" y="569302"/>
                </a:lnTo>
                <a:lnTo>
                  <a:pt x="326859" y="607255"/>
                </a:lnTo>
                <a:lnTo>
                  <a:pt x="435812" y="569302"/>
                </a:lnTo>
                <a:lnTo>
                  <a:pt x="544765" y="607255"/>
                </a:lnTo>
                <a:lnTo>
                  <a:pt x="653718" y="683162"/>
                </a:lnTo>
                <a:lnTo>
                  <a:pt x="762671" y="721116"/>
                </a:lnTo>
                <a:lnTo>
                  <a:pt x="871624" y="607255"/>
                </a:lnTo>
                <a:lnTo>
                  <a:pt x="980577" y="569302"/>
                </a:lnTo>
                <a:lnTo>
                  <a:pt x="1089530" y="569302"/>
                </a:lnTo>
                <a:lnTo>
                  <a:pt x="1198483" y="607255"/>
                </a:lnTo>
                <a:lnTo>
                  <a:pt x="1307437" y="683162"/>
                </a:lnTo>
                <a:lnTo>
                  <a:pt x="1416390" y="721116"/>
                </a:lnTo>
                <a:lnTo>
                  <a:pt x="1525343" y="721116"/>
                </a:lnTo>
                <a:lnTo>
                  <a:pt x="1634296" y="721116"/>
                </a:lnTo>
                <a:lnTo>
                  <a:pt x="1743249" y="645209"/>
                </a:lnTo>
                <a:lnTo>
                  <a:pt x="1852202" y="607255"/>
                </a:lnTo>
                <a:lnTo>
                  <a:pt x="1961155" y="607255"/>
                </a:lnTo>
                <a:lnTo>
                  <a:pt x="2070108" y="493395"/>
                </a:lnTo>
                <a:lnTo>
                  <a:pt x="2179061" y="493395"/>
                </a:lnTo>
                <a:lnTo>
                  <a:pt x="2288014" y="189767"/>
                </a:lnTo>
                <a:lnTo>
                  <a:pt x="2396967" y="75907"/>
                </a:lnTo>
                <a:lnTo>
                  <a:pt x="2505920" y="151814"/>
                </a:lnTo>
                <a:lnTo>
                  <a:pt x="2614874" y="227721"/>
                </a:lnTo>
                <a:lnTo>
                  <a:pt x="2723827" y="189767"/>
                </a:lnTo>
                <a:lnTo>
                  <a:pt x="2832780" y="0"/>
                </a:lnTo>
                <a:lnTo>
                  <a:pt x="2941733" y="37953"/>
                </a:lnTo>
                <a:lnTo>
                  <a:pt x="3050686" y="37953"/>
                </a:lnTo>
                <a:lnTo>
                  <a:pt x="3159639" y="379534"/>
                </a:lnTo>
                <a:lnTo>
                  <a:pt x="3268592" y="379534"/>
                </a:lnTo>
                <a:lnTo>
                  <a:pt x="3377545" y="303627"/>
                </a:lnTo>
                <a:lnTo>
                  <a:pt x="3486498" y="379534"/>
                </a:lnTo>
                <a:lnTo>
                  <a:pt x="3595451" y="493395"/>
                </a:lnTo>
                <a:lnTo>
                  <a:pt x="3704404" y="607255"/>
                </a:lnTo>
                <a:lnTo>
                  <a:pt x="3813357" y="569302"/>
                </a:lnTo>
                <a:lnTo>
                  <a:pt x="3922311" y="569302"/>
                </a:lnTo>
                <a:lnTo>
                  <a:pt x="4031264" y="645209"/>
                </a:lnTo>
                <a:lnTo>
                  <a:pt x="4140217" y="493395"/>
                </a:lnTo>
                <a:lnTo>
                  <a:pt x="4249170" y="455441"/>
                </a:lnTo>
                <a:lnTo>
                  <a:pt x="4358123" y="493395"/>
                </a:lnTo>
                <a:lnTo>
                  <a:pt x="4467076" y="531348"/>
                </a:lnTo>
                <a:lnTo>
                  <a:pt x="4576029" y="683162"/>
                </a:lnTo>
                <a:lnTo>
                  <a:pt x="4684982" y="607255"/>
                </a:lnTo>
                <a:lnTo>
                  <a:pt x="4793935" y="607255"/>
                </a:lnTo>
                <a:lnTo>
                  <a:pt x="4902888" y="683162"/>
                </a:lnTo>
                <a:lnTo>
                  <a:pt x="5011841" y="721116"/>
                </a:lnTo>
                <a:lnTo>
                  <a:pt x="5120794" y="797022"/>
                </a:lnTo>
                <a:lnTo>
                  <a:pt x="5229748" y="797022"/>
                </a:lnTo>
                <a:lnTo>
                  <a:pt x="5338701" y="797022"/>
                </a:lnTo>
                <a:lnTo>
                  <a:pt x="5447654" y="872929"/>
                </a:lnTo>
                <a:lnTo>
                  <a:pt x="5556607" y="910883"/>
                </a:lnTo>
                <a:lnTo>
                  <a:pt x="5665560" y="986790"/>
                </a:lnTo>
                <a:lnTo>
                  <a:pt x="5774513" y="986790"/>
                </a:lnTo>
                <a:lnTo>
                  <a:pt x="5883466" y="986790"/>
                </a:lnTo>
                <a:lnTo>
                  <a:pt x="5992419" y="1024743"/>
                </a:lnTo>
                <a:lnTo>
                  <a:pt x="6101372" y="948836"/>
                </a:lnTo>
                <a:lnTo>
                  <a:pt x="6210325" y="986790"/>
                </a:lnTo>
                <a:lnTo>
                  <a:pt x="6319278" y="910883"/>
                </a:lnTo>
                <a:lnTo>
                  <a:pt x="6428232" y="986790"/>
                </a:lnTo>
              </a:path>
            </a:pathLst>
          </a:custGeom>
          <a:noFill/>
          <a:ln w="2032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7"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2021</a:t>
            </a:r>
          </a:p>
        </p:txBody>
      </p:sp>
      <p:sp>
        <p:nvSpPr>
          <p:cNvPr id="29" name="TextBox 28"/>
          <p:cNvSpPr txBox="1"/>
          <p:nvPr/>
        </p:nvSpPr>
        <p:spPr>
          <a:xfrm>
            <a:off x="2573803"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2023</a:t>
            </a:r>
          </a:p>
        </p:txBody>
      </p:sp>
      <p:sp>
        <p:nvSpPr>
          <p:cNvPr id="30" name="TextBox 29"/>
          <p:cNvSpPr txBox="1"/>
          <p:nvPr/>
        </p:nvSpPr>
        <p:spPr>
          <a:xfrm>
            <a:off x="4534959"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2024</a:t>
            </a:r>
          </a:p>
        </p:txBody>
      </p:sp>
      <p:sp>
        <p:nvSpPr>
          <p:cNvPr id="31" name="TextBox 30"/>
          <p:cNvSpPr txBox="1"/>
          <p:nvPr/>
        </p:nvSpPr>
        <p:spPr>
          <a:xfrm>
            <a:off x="6496114"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2026</a:t>
            </a:r>
          </a:p>
        </p:txBody>
      </p:sp>
      <p:sp>
        <p:nvSpPr>
          <p:cNvPr id="32" name="TextBox 31"/>
          <p:cNvSpPr txBox="1"/>
          <p:nvPr/>
        </p:nvSpPr>
        <p:spPr>
          <a:xfrm>
            <a:off x="429768" y="1161288"/>
            <a:ext cx="681228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World price rebased to 100 at 2021-07 · 60 monthly observations</a:t>
            </a:r>
          </a:p>
        </p:txBody>
      </p:sp>
      <p:sp>
        <p:nvSpPr>
          <p:cNvPr id="33" name="Rectangle 32"/>
          <p:cNvSpPr/>
          <p:nvPr/>
        </p:nvSpPr>
        <p:spPr>
          <a:xfrm>
            <a:off x="7498079" y="1152144"/>
            <a:ext cx="4279392" cy="185851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7498079" y="1152144"/>
            <a:ext cx="50292" cy="185851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7717536" y="1298448"/>
            <a:ext cx="3950207"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A year-on-year number hides the shape</a:t>
            </a:r>
          </a:p>
        </p:txBody>
      </p:sp>
      <p:sp>
        <p:nvSpPr>
          <p:cNvPr id="36" name="TextBox 35"/>
          <p:cNvSpPr txBox="1"/>
          <p:nvPr/>
        </p:nvSpPr>
        <p:spPr>
          <a:xfrm>
            <a:off x="7717536" y="1502918"/>
            <a:ext cx="3950207" cy="13614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Sugar reads −13.5% on the year. Across five it has gone from a 0.58 $/kg peak to 0.32 — roughly 45% off, falling almost continuously since early 2023. A grower who planted against 2023 economics has had three bad years, not one.
Rubber is the mirror image: three years below its 2021 base, recovering only in the last eighteen months. Those households are repairing a balance sheet, not enjoying a windfall.</a:t>
            </a:r>
          </a:p>
        </p:txBody>
      </p:sp>
      <p:graphicFrame>
        <p:nvGraphicFramePr>
          <p:cNvPr id="37" name="Table 36"/>
          <p:cNvGraphicFramePr>
            <a:graphicFrameLocks noGrp="1"/>
          </p:cNvGraphicFramePr>
          <p:nvPr/>
        </p:nvGraphicFramePr>
        <p:xfrm>
          <a:off x="411480" y="4123944"/>
          <a:ext cx="7863840" cy="1345996"/>
        </p:xfrm>
        <a:graphic>
          <a:graphicData uri="http://schemas.openxmlformats.org/drawingml/2006/table">
            <a:tbl>
              <a:tblPr>
                <a:tableStyleId>{5C22544A-7EE6-4342-B048-85BDC9FD1C3A}</a:tableStyleId>
              </a:tblPr>
              <a:tblGrid>
                <a:gridCol w="2377440"/>
                <a:gridCol w="1188720"/>
                <a:gridCol w="1097280"/>
                <a:gridCol w="1005840"/>
                <a:gridCol w="1097280"/>
                <a:gridCol w="1097280"/>
              </a:tblGrid>
              <a:tr h="329184">
                <a:tc>
                  <a:txBody>
                    <a:bodyPr wrap="square"/>
                    <a:lstStyle/>
                    <a:p>
                      <a:pPr algn="l"/>
                      <a:r>
                        <a:rPr sz="1050" b="1">
                          <a:solidFill>
                            <a:srgbClr val="FFFFFF"/>
                          </a:solidFill>
                          <a:latin typeface="Kanit"/>
                        </a:rPr>
                        <a:t>World price, five years</a:t>
                      </a:r>
                    </a:p>
                  </a:txBody>
                  <a:tcPr marL="54864" marR="54864" marT="18288" marB="18288" anchor="ctr">
                    <a:solidFill>
                      <a:srgbClr val="1B2A6B"/>
                    </a:solidFill>
                  </a:tcPr>
                </a:tc>
                <a:tc>
                  <a:txBody>
                    <a:bodyPr wrap="square"/>
                    <a:lstStyle/>
                    <a:p>
                      <a:pPr algn="r"/>
                      <a:r>
                        <a:rPr sz="1050" b="1">
                          <a:solidFill>
                            <a:srgbClr val="FFFFFF"/>
                          </a:solidFill>
                          <a:latin typeface="Kanit"/>
                        </a:rPr>
                        <a:t>of planted area</a:t>
                      </a:r>
                    </a:p>
                  </a:txBody>
                  <a:tcPr marL="54864" marR="54864" marT="18288" marB="18288" anchor="ctr">
                    <a:solidFill>
                      <a:srgbClr val="1B2A6B"/>
                    </a:solidFill>
                  </a:tcPr>
                </a:tc>
                <a:tc>
                  <a:txBody>
                    <a:bodyPr wrap="square"/>
                    <a:lstStyle/>
                    <a:p>
                      <a:pPr algn="r"/>
                      <a:r>
                        <a:rPr sz="1050" b="1">
                          <a:solidFill>
                            <a:srgbClr val="FFFFFF"/>
                          </a:solidFill>
                          <a:latin typeface="Kanit"/>
                        </a:rPr>
                        <a:t>5-yr peak</a:t>
                      </a:r>
                    </a:p>
                  </a:txBody>
                  <a:tcPr marL="54864" marR="54864" marT="18288" marB="18288" anchor="ctr">
                    <a:solidFill>
                      <a:srgbClr val="1B2A6B"/>
                    </a:solidFill>
                  </a:tcPr>
                </a:tc>
                <a:tc>
                  <a:txBody>
                    <a:bodyPr wrap="square"/>
                    <a:lstStyle/>
                    <a:p>
                      <a:pPr algn="r"/>
                      <a:r>
                        <a:rPr sz="1050" b="1">
                          <a:solidFill>
                            <a:srgbClr val="FFFFFF"/>
                          </a:solidFill>
                          <a:latin typeface="Kanit"/>
                        </a:rPr>
                        <a:t>latest</a:t>
                      </a:r>
                    </a:p>
                  </a:txBody>
                  <a:tcPr marL="54864" marR="54864" marT="18288" marB="18288" anchor="ctr">
                    <a:solidFill>
                      <a:srgbClr val="1B2A6B"/>
                    </a:solidFill>
                  </a:tcPr>
                </a:tc>
                <a:tc>
                  <a:txBody>
                    <a:bodyPr wrap="square"/>
                    <a:lstStyle/>
                    <a:p>
                      <a:pPr algn="r"/>
                      <a:r>
                        <a:rPr sz="1050" b="1">
                          <a:solidFill>
                            <a:srgbClr val="FFFFFF"/>
                          </a:solidFill>
                          <a:latin typeface="Kanit"/>
                        </a:rPr>
                        <a:t>off peak</a:t>
                      </a:r>
                    </a:p>
                  </a:txBody>
                  <a:tcPr marL="54864" marR="54864" marT="18288" marB="18288" anchor="ctr">
                    <a:solidFill>
                      <a:srgbClr val="1B2A6B"/>
                    </a:solidFill>
                  </a:tcPr>
                </a:tc>
                <a:tc>
                  <a:txBody>
                    <a:bodyPr wrap="square"/>
                    <a:lstStyle/>
                    <a:p>
                      <a:pPr algn="r"/>
                      <a:r>
                        <a:rPr sz="1050" b="1">
                          <a:solidFill>
                            <a:srgbClr val="FFFFFF"/>
                          </a:solidFill>
                          <a:latin typeface="Kanit"/>
                        </a:rPr>
                        <a:t>vs 5 yrs ago</a:t>
                      </a:r>
                    </a:p>
                  </a:txBody>
                  <a:tcPr marL="54864" marR="54864" marT="18288" marB="18288" anchor="ctr">
                    <a:solidFill>
                      <a:srgbClr val="1B2A6B"/>
                    </a:solidFill>
                  </a:tcPr>
                </a:tc>
              </a:tr>
              <a:tr h="254203">
                <a:tc>
                  <a:txBody>
                    <a:bodyPr wrap="square"/>
                    <a:lstStyle/>
                    <a:p>
                      <a:pPr algn="l"/>
                      <a:r>
                        <a:rPr sz="1000" b="1">
                          <a:solidFill>
                            <a:srgbClr val="1E2F5C"/>
                          </a:solidFill>
                          <a:latin typeface="Kanit"/>
                        </a:rPr>
                        <a:t>Rubber ($/kg)</a:t>
                      </a:r>
                    </a:p>
                  </a:txBody>
                  <a:tcPr marL="54864" marR="54864" marT="18288" marB="18288" anchor="ctr">
                    <a:solidFill>
                      <a:srgbClr val="FFFFFF"/>
                    </a:solidFill>
                  </a:tcPr>
                </a:tc>
                <a:tc>
                  <a:txBody>
                    <a:bodyPr wrap="square"/>
                    <a:lstStyle/>
                    <a:p>
                      <a:pPr algn="r"/>
                      <a:r>
                        <a:rPr sz="1000" b="0">
                          <a:solidFill>
                            <a:srgbClr val="1E2F5C"/>
                          </a:solidFill>
                          <a:latin typeface="Kanit"/>
                        </a:rPr>
                        <a:t>20.4%</a:t>
                      </a:r>
                    </a:p>
                  </a:txBody>
                  <a:tcPr marL="54864" marR="54864" marT="18288" marB="18288" anchor="ctr">
                    <a:solidFill>
                      <a:srgbClr val="FFFFFF"/>
                    </a:solidFill>
                  </a:tcPr>
                </a:tc>
                <a:tc>
                  <a:txBody>
                    <a:bodyPr wrap="square"/>
                    <a:lstStyle/>
                    <a:p>
                      <a:pPr algn="r"/>
                      <a:r>
                        <a:rPr sz="1000" b="0">
                          <a:solidFill>
                            <a:srgbClr val="1E2F5C"/>
                          </a:solidFill>
                          <a:latin typeface="Kanit"/>
                        </a:rPr>
                        <a:t>2.86</a:t>
                      </a:r>
                    </a:p>
                  </a:txBody>
                  <a:tcPr marL="54864" marR="54864" marT="18288" marB="18288" anchor="ctr">
                    <a:solidFill>
                      <a:srgbClr val="FFFFFF"/>
                    </a:solidFill>
                  </a:tcPr>
                </a:tc>
                <a:tc>
                  <a:txBody>
                    <a:bodyPr wrap="square"/>
                    <a:lstStyle/>
                    <a:p>
                      <a:pPr algn="r"/>
                      <a:r>
                        <a:rPr sz="1000" b="1">
                          <a:solidFill>
                            <a:srgbClr val="1E2F5C"/>
                          </a:solidFill>
                          <a:latin typeface="Kanit"/>
                        </a:rPr>
                        <a:t>2.86</a:t>
                      </a:r>
                    </a:p>
                  </a:txBody>
                  <a:tcPr marL="54864" marR="54864" marT="18288" marB="18288" anchor="ctr">
                    <a:solidFill>
                      <a:srgbClr val="FFFFFF"/>
                    </a:solidFill>
                  </a:tcPr>
                </a:tc>
                <a:tc>
                  <a:txBody>
                    <a:bodyPr wrap="square"/>
                    <a:lstStyle/>
                    <a:p>
                      <a:pPr algn="r"/>
                      <a:r>
                        <a:rPr sz="1000" b="1">
                          <a:solidFill>
                            <a:srgbClr val="1E2F5C"/>
                          </a:solidFill>
                          <a:latin typeface="Kanit"/>
                        </a:rPr>
                        <a:t>+0.0%</a:t>
                      </a:r>
                    </a:p>
                  </a:txBody>
                  <a:tcPr marL="54864" marR="54864" marT="18288" marB="18288" anchor="ctr">
                    <a:solidFill>
                      <a:srgbClr val="FFFFFF"/>
                    </a:solidFill>
                  </a:tcPr>
                </a:tc>
                <a:tc>
                  <a:txBody>
                    <a:bodyPr wrap="square"/>
                    <a:lstStyle/>
                    <a:p>
                      <a:pPr algn="r"/>
                      <a:r>
                        <a:rPr sz="1000" b="1">
                          <a:solidFill>
                            <a:srgbClr val="15795F"/>
                          </a:solidFill>
                          <a:latin typeface="Kanit"/>
                        </a:rPr>
                        <a:t>+52.9%</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Rice ($/mt)</a:t>
                      </a:r>
                    </a:p>
                  </a:txBody>
                  <a:tcPr marL="54864" marR="54864" marT="18288" marB="18288" anchor="ctr">
                    <a:solidFill>
                      <a:srgbClr val="F7F9FC"/>
                    </a:solidFill>
                  </a:tcPr>
                </a:tc>
                <a:tc>
                  <a:txBody>
                    <a:bodyPr wrap="square"/>
                    <a:lstStyle/>
                    <a:p>
                      <a:pPr algn="r"/>
                      <a:r>
                        <a:rPr sz="1000" b="0">
                          <a:solidFill>
                            <a:srgbClr val="1E2F5C"/>
                          </a:solidFill>
                          <a:latin typeface="Kanit"/>
                        </a:rPr>
                        <a:t>54.9%</a:t>
                      </a:r>
                    </a:p>
                  </a:txBody>
                  <a:tcPr marL="54864" marR="54864" marT="18288" marB="18288" anchor="ctr">
                    <a:solidFill>
                      <a:srgbClr val="F7F9FC"/>
                    </a:solidFill>
                  </a:tcPr>
                </a:tc>
                <a:tc>
                  <a:txBody>
                    <a:bodyPr wrap="square"/>
                    <a:lstStyle/>
                    <a:p>
                      <a:pPr algn="r"/>
                      <a:r>
                        <a:rPr sz="1000" b="0">
                          <a:solidFill>
                            <a:srgbClr val="1E2F5C"/>
                          </a:solidFill>
                          <a:latin typeface="Kanit"/>
                        </a:rPr>
                        <a:t>660.00</a:t>
                      </a:r>
                    </a:p>
                  </a:txBody>
                  <a:tcPr marL="54864" marR="54864" marT="18288" marB="18288" anchor="ctr">
                    <a:solidFill>
                      <a:srgbClr val="F7F9FC"/>
                    </a:solidFill>
                  </a:tcPr>
                </a:tc>
                <a:tc>
                  <a:txBody>
                    <a:bodyPr wrap="square"/>
                    <a:lstStyle/>
                    <a:p>
                      <a:pPr algn="r"/>
                      <a:r>
                        <a:rPr sz="1000" b="1">
                          <a:solidFill>
                            <a:srgbClr val="1E2F5C"/>
                          </a:solidFill>
                          <a:latin typeface="Kanit"/>
                        </a:rPr>
                        <a:t>494.00</a:t>
                      </a:r>
                    </a:p>
                  </a:txBody>
                  <a:tcPr marL="54864" marR="54864" marT="18288" marB="18288" anchor="ctr">
                    <a:solidFill>
                      <a:srgbClr val="F7F9FC"/>
                    </a:solidFill>
                  </a:tcPr>
                </a:tc>
                <a:tc>
                  <a:txBody>
                    <a:bodyPr wrap="square"/>
                    <a:lstStyle/>
                    <a:p>
                      <a:pPr algn="r"/>
                      <a:r>
                        <a:rPr sz="1000" b="1">
                          <a:solidFill>
                            <a:srgbClr val="CC0000"/>
                          </a:solidFill>
                          <a:latin typeface="Kanit"/>
                        </a:rPr>
                        <a:t>-25.2%</a:t>
                      </a:r>
                    </a:p>
                  </a:txBody>
                  <a:tcPr marL="54864" marR="54864" marT="18288" marB="18288" anchor="ctr">
                    <a:solidFill>
                      <a:srgbClr val="F7F9FC"/>
                    </a:solidFill>
                  </a:tcPr>
                </a:tc>
                <a:tc>
                  <a:txBody>
                    <a:bodyPr wrap="square"/>
                    <a:lstStyle/>
                    <a:p>
                      <a:pPr algn="r"/>
                      <a:r>
                        <a:rPr sz="1000" b="1">
                          <a:solidFill>
                            <a:srgbClr val="15795F"/>
                          </a:solidFill>
                          <a:latin typeface="Kanit"/>
                        </a:rPr>
                        <a:t>+19.3%</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Palm oil ($/mt)</a:t>
                      </a:r>
                    </a:p>
                  </a:txBody>
                  <a:tcPr marL="54864" marR="54864" marT="18288" marB="18288" anchor="ctr">
                    <a:solidFill>
                      <a:srgbClr val="FFFFFF"/>
                    </a:solidFill>
                  </a:tcPr>
                </a:tc>
                <a:tc>
                  <a:txBody>
                    <a:bodyPr wrap="square"/>
                    <a:lstStyle/>
                    <a:p>
                      <a:pPr algn="r"/>
                      <a:r>
                        <a:rPr sz="1000" b="0">
                          <a:solidFill>
                            <a:srgbClr val="1E2F5C"/>
                          </a:solidFill>
                          <a:latin typeface="Kanit"/>
                        </a:rPr>
                        <a:t>5.7%</a:t>
                      </a:r>
                    </a:p>
                  </a:txBody>
                  <a:tcPr marL="54864" marR="54864" marT="18288" marB="18288" anchor="ctr">
                    <a:solidFill>
                      <a:srgbClr val="FFFFFF"/>
                    </a:solidFill>
                  </a:tcPr>
                </a:tc>
                <a:tc>
                  <a:txBody>
                    <a:bodyPr wrap="square"/>
                    <a:lstStyle/>
                    <a:p>
                      <a:pPr algn="r"/>
                      <a:r>
                        <a:rPr sz="1000" b="0">
                          <a:solidFill>
                            <a:srgbClr val="1E2F5C"/>
                          </a:solidFill>
                          <a:latin typeface="Kanit"/>
                        </a:rPr>
                        <a:t>1,777.00</a:t>
                      </a:r>
                    </a:p>
                  </a:txBody>
                  <a:tcPr marL="54864" marR="54864" marT="18288" marB="18288" anchor="ctr">
                    <a:solidFill>
                      <a:srgbClr val="FFFFFF"/>
                    </a:solidFill>
                  </a:tcPr>
                </a:tc>
                <a:tc>
                  <a:txBody>
                    <a:bodyPr wrap="square"/>
                    <a:lstStyle/>
                    <a:p>
                      <a:pPr algn="r"/>
                      <a:r>
                        <a:rPr sz="1000" b="1">
                          <a:solidFill>
                            <a:srgbClr val="1E2F5C"/>
                          </a:solidFill>
                          <a:latin typeface="Kanit"/>
                        </a:rPr>
                        <a:t>1,105.00</a:t>
                      </a:r>
                    </a:p>
                  </a:txBody>
                  <a:tcPr marL="54864" marR="54864" marT="18288" marB="18288" anchor="ctr">
                    <a:solidFill>
                      <a:srgbClr val="FFFFFF"/>
                    </a:solidFill>
                  </a:tcPr>
                </a:tc>
                <a:tc>
                  <a:txBody>
                    <a:bodyPr wrap="square"/>
                    <a:lstStyle/>
                    <a:p>
                      <a:pPr algn="r"/>
                      <a:r>
                        <a:rPr sz="1000" b="1">
                          <a:solidFill>
                            <a:srgbClr val="CC0000"/>
                          </a:solidFill>
                          <a:latin typeface="Kanit"/>
                        </a:rPr>
                        <a:t>-37.8%</a:t>
                      </a:r>
                    </a:p>
                  </a:txBody>
                  <a:tcPr marL="54864" marR="54864" marT="18288" marB="18288" anchor="ctr">
                    <a:solidFill>
                      <a:srgbClr val="FFFFFF"/>
                    </a:solidFill>
                  </a:tcPr>
                </a:tc>
                <a:tc>
                  <a:txBody>
                    <a:bodyPr wrap="square"/>
                    <a:lstStyle/>
                    <a:p>
                      <a:pPr algn="r"/>
                      <a:r>
                        <a:rPr sz="1000" b="1">
                          <a:solidFill>
                            <a:srgbClr val="15795F"/>
                          </a:solidFill>
                          <a:latin typeface="Kanit"/>
                        </a:rPr>
                        <a:t>+4.0%</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Sugar ($/kg)</a:t>
                      </a:r>
                    </a:p>
                  </a:txBody>
                  <a:tcPr marL="54864" marR="54864" marT="18288" marB="18288" anchor="ctr">
                    <a:solidFill>
                      <a:srgbClr val="F7F9FC"/>
                    </a:solidFill>
                  </a:tcPr>
                </a:tc>
                <a:tc>
                  <a:txBody>
                    <a:bodyPr wrap="square"/>
                    <a:lstStyle/>
                    <a:p>
                      <a:pPr algn="r"/>
                      <a:r>
                        <a:rPr sz="1000" b="0">
                          <a:solidFill>
                            <a:srgbClr val="1E2F5C"/>
                          </a:solidFill>
                          <a:latin typeface="Kanit"/>
                        </a:rPr>
                        <a:t>10.0%</a:t>
                      </a:r>
                    </a:p>
                  </a:txBody>
                  <a:tcPr marL="54864" marR="54864" marT="18288" marB="18288" anchor="ctr">
                    <a:solidFill>
                      <a:srgbClr val="F7F9FC"/>
                    </a:solidFill>
                  </a:tcPr>
                </a:tc>
                <a:tc>
                  <a:txBody>
                    <a:bodyPr wrap="square"/>
                    <a:lstStyle/>
                    <a:p>
                      <a:pPr algn="r"/>
                      <a:r>
                        <a:rPr sz="1000" b="0">
                          <a:solidFill>
                            <a:srgbClr val="1E2F5C"/>
                          </a:solidFill>
                          <a:latin typeface="Kanit"/>
                        </a:rPr>
                        <a:t>0.58</a:t>
                      </a:r>
                    </a:p>
                  </a:txBody>
                  <a:tcPr marL="54864" marR="54864" marT="18288" marB="18288" anchor="ctr">
                    <a:solidFill>
                      <a:srgbClr val="F7F9FC"/>
                    </a:solidFill>
                  </a:tcPr>
                </a:tc>
                <a:tc>
                  <a:txBody>
                    <a:bodyPr wrap="square"/>
                    <a:lstStyle/>
                    <a:p>
                      <a:pPr algn="r"/>
                      <a:r>
                        <a:rPr sz="1000" b="1">
                          <a:solidFill>
                            <a:srgbClr val="1E2F5C"/>
                          </a:solidFill>
                          <a:latin typeface="Kanit"/>
                        </a:rPr>
                        <a:t>0.32</a:t>
                      </a:r>
                    </a:p>
                  </a:txBody>
                  <a:tcPr marL="54864" marR="54864" marT="18288" marB="18288" anchor="ctr">
                    <a:solidFill>
                      <a:srgbClr val="F7F9FC"/>
                    </a:solidFill>
                  </a:tcPr>
                </a:tc>
                <a:tc>
                  <a:txBody>
                    <a:bodyPr wrap="square"/>
                    <a:lstStyle/>
                    <a:p>
                      <a:pPr algn="r"/>
                      <a:r>
                        <a:rPr sz="1000" b="1">
                          <a:solidFill>
                            <a:srgbClr val="CC0000"/>
                          </a:solidFill>
                          <a:latin typeface="Kanit"/>
                        </a:rPr>
                        <a:t>-44.8%</a:t>
                      </a:r>
                    </a:p>
                  </a:txBody>
                  <a:tcPr marL="54864" marR="54864" marT="18288" marB="18288" anchor="ctr">
                    <a:solidFill>
                      <a:srgbClr val="F7F9FC"/>
                    </a:solidFill>
                  </a:tcPr>
                </a:tc>
                <a:tc>
                  <a:txBody>
                    <a:bodyPr wrap="square"/>
                    <a:lstStyle/>
                    <a:p>
                      <a:pPr algn="r"/>
                      <a:r>
                        <a:rPr sz="1000" b="1">
                          <a:solidFill>
                            <a:srgbClr val="CC0000"/>
                          </a:solidFill>
                          <a:latin typeface="Kanit"/>
                        </a:rPr>
                        <a:t>-17.9%</a:t>
                      </a:r>
                    </a:p>
                  </a:txBody>
                  <a:tcPr marL="54864" marR="54864" marT="18288" marB="18288" anchor="ctr">
                    <a:solidFill>
                      <a:srgbClr val="F7F9FC"/>
                    </a:solidFill>
                  </a:tcPr>
                </a:tc>
              </a:tr>
            </a:tbl>
          </a:graphicData>
        </a:graphic>
      </p:graphicFrame>
      <p:sp>
        <p:nvSpPr>
          <p:cNvPr id="38" name="Rounded Rectangle 37"/>
          <p:cNvSpPr/>
          <p:nvPr/>
        </p:nvSpPr>
        <p:spPr>
          <a:xfrm>
            <a:off x="411480" y="5634532"/>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411480" y="5663793"/>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40" name="TextBox 39"/>
          <p:cNvSpPr txBox="1"/>
          <p:nvPr/>
        </p:nvSpPr>
        <p:spPr>
          <a:xfrm>
            <a:off x="1275385" y="5648248"/>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World Bank Pink Sheet nominal-USD monthly prices, last 60 observations per series, rebased to 100 at 2021-07 for the chart — the series are quoted in different units and cannot otherwise share an axis. The table is in each series’ own published unit. Nominal, not deflated: five years of Thai CPI sits under every ‘vs 5 yrs ago’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05 · THE CROP BELTS</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Which crop each region grows, and what the price round did to its income.</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Crops with a Thai farm-gate price</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8</a:t>
            </a:r>
          </a:p>
        </p:txBody>
      </p:sp>
      <p:sp>
        <p:nvSpPr>
          <p:cNvPr id="12" name="TextBox 11"/>
          <p:cNvSpPr txBox="1"/>
          <p:nvPr/>
        </p:nvSpPr>
        <p:spPr>
          <a:xfrm>
            <a:off x="548640"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rice, rubber, sugarcane, oil palm, cassava, maize, coconut, pineapple</a:t>
            </a:r>
          </a:p>
        </p:txBody>
      </p:sp>
      <p:sp>
        <p:nvSpPr>
          <p:cNvPr id="13" name="Rounded Rectangle 12"/>
          <p:cNvSpPr/>
          <p:nvPr/>
        </p:nvSpPr>
        <p:spPr>
          <a:xfrm>
            <a:off x="3287268"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Falling at the farm gate</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a:t>
            </a:r>
          </a:p>
        </p:txBody>
      </p:sp>
      <p:sp>
        <p:nvSpPr>
          <p:cNvPr id="16" name="TextBox 15"/>
          <p:cNvSpPr txBox="1"/>
          <p:nvPr/>
        </p:nvSpPr>
        <p:spPr>
          <a:xfrm>
            <a:off x="3424428"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coconut −69.7%, pineapple −18.4%, sugarcane −17.9% year on year</a:t>
            </a:r>
          </a:p>
        </p:txBody>
      </p:sp>
      <p:sp>
        <p:nvSpPr>
          <p:cNvPr id="17" name="Rounded Rectangle 16"/>
          <p:cNvSpPr/>
          <p:nvPr/>
        </p:nvSpPr>
        <p:spPr>
          <a:xfrm>
            <a:off x="6163056"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Median province crop-income shock</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15795F"/>
                </a:solidFill>
                <a:latin typeface="Kanit"/>
              </a:rPr>
              <a:t>+15.5%</a:t>
            </a:r>
          </a:p>
        </p:txBody>
      </p:sp>
      <p:sp>
        <p:nvSpPr>
          <p:cNvPr id="20" name="TextBox 19"/>
          <p:cNvSpPr txBox="1"/>
          <p:nvPr/>
        </p:nvSpPr>
        <p:spPr>
          <a:xfrm>
            <a:off x="6300216"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most of the country gained from this price round</a:t>
            </a:r>
          </a:p>
        </p:txBody>
      </p:sp>
      <p:sp>
        <p:nvSpPr>
          <p:cNvPr id="21" name="Rounded Rectangle 20"/>
          <p:cNvSpPr/>
          <p:nvPr/>
        </p:nvSpPr>
        <p:spPr>
          <a:xfrm>
            <a:off x="9038844"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Provinces where it went backwards</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4</a:t>
            </a:r>
          </a:p>
        </p:txBody>
      </p:sp>
      <p:sp>
        <p:nvSpPr>
          <p:cNvPr id="24" name="TextBox 23"/>
          <p:cNvSpPr txBox="1"/>
          <p:nvPr/>
        </p:nvSpPr>
        <p:spPr>
          <a:xfrm>
            <a:off x="9176004"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all four are coconut belts on the western gulf</a:t>
            </a:r>
          </a:p>
        </p:txBody>
      </p:sp>
      <p:graphicFrame>
        <p:nvGraphicFramePr>
          <p:cNvPr id="25" name="Table 24"/>
          <p:cNvGraphicFramePr>
            <a:graphicFrameLocks noGrp="1"/>
          </p:cNvGraphicFramePr>
          <p:nvPr/>
        </p:nvGraphicFramePr>
        <p:xfrm>
          <a:off x="411480" y="2377440"/>
          <a:ext cx="5532120" cy="1572764"/>
        </p:xfrm>
        <a:graphic>
          <a:graphicData uri="http://schemas.openxmlformats.org/drawingml/2006/table">
            <a:tbl>
              <a:tblPr>
                <a:tableStyleId>{5C22544A-7EE6-4342-B048-85BDC9FD1C3A}</a:tableStyleId>
              </a:tblPr>
              <a:tblGrid>
                <a:gridCol w="1143000"/>
                <a:gridCol w="685800"/>
                <a:gridCol w="1143000"/>
                <a:gridCol w="960120"/>
                <a:gridCol w="960120"/>
                <a:gridCol w="640080"/>
              </a:tblGrid>
              <a:tr h="329184">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provs</a:t>
                      </a:r>
                    </a:p>
                  </a:txBody>
                  <a:tcPr marL="54864" marR="54864" marT="18288" marB="18288" anchor="ctr">
                    <a:solidFill>
                      <a:srgbClr val="1B2A6B"/>
                    </a:solidFill>
                  </a:tcPr>
                </a:tc>
                <a:tc>
                  <a:txBody>
                    <a:bodyPr wrap="square"/>
                    <a:lstStyle/>
                    <a:p>
                      <a:pPr algn="r"/>
                      <a:r>
                        <a:rPr sz="1050" b="1">
                          <a:solidFill>
                            <a:srgbClr val="FFFFFF"/>
                          </a:solidFill>
                          <a:latin typeface="Kanit"/>
                        </a:rPr>
                        <a:t>income shock</a:t>
                      </a:r>
                    </a:p>
                  </a:txBody>
                  <a:tcPr marL="54864" marR="54864" marT="18288" marB="18288" anchor="ctr">
                    <a:solidFill>
                      <a:srgbClr val="1B2A6B"/>
                    </a:solidFill>
                  </a:tcPr>
                </a:tc>
                <a:tc>
                  <a:txBody>
                    <a:bodyPr wrap="square"/>
                    <a:lstStyle/>
                    <a:p>
                      <a:pPr algn="r"/>
                      <a:r>
                        <a:rPr sz="1050" b="1">
                          <a:solidFill>
                            <a:srgbClr val="FFFFFF"/>
                          </a:solidFill>
                          <a:latin typeface="Kanit"/>
                        </a:rPr>
                        <a:t>backwards</a:t>
                      </a:r>
                    </a:p>
                  </a:txBody>
                  <a:tcPr marL="54864" marR="54864" marT="18288" marB="18288" anchor="ctr">
                    <a:solidFill>
                      <a:srgbClr val="1B2A6B"/>
                    </a:solidFill>
                  </a:tcPr>
                </a:tc>
                <a:tc>
                  <a:txBody>
                    <a:bodyPr wrap="square"/>
                    <a:lstStyle/>
                    <a:p>
                      <a:pPr algn="l"/>
                      <a:r>
                        <a:rPr sz="1050" b="1">
                          <a:solidFill>
                            <a:srgbClr val="FFFFFF"/>
                          </a:solidFill>
                          <a:latin typeface="Kanit"/>
                        </a:rPr>
                        <a:t>weakest</a:t>
                      </a:r>
                    </a:p>
                  </a:txBody>
                  <a:tcPr marL="54864" marR="54864" marT="18288" marB="18288" anchor="ctr">
                    <a:solidFill>
                      <a:srgbClr val="1B2A6B"/>
                    </a:solidFill>
                  </a:tcPr>
                </a:tc>
                <a:tc>
                  <a:txBody>
                    <a:bodyPr wrap="square"/>
                    <a:lstStyle/>
                    <a:p>
                      <a:pPr algn="r"/>
                      <a:r>
                        <a:rPr sz="1050" b="1">
                          <a:solidFill>
                            <a:srgbClr val="FFFFFF"/>
                          </a:solidFill>
                          <a:latin typeface="Kanit"/>
                        </a:rPr>
                        <a:t/>
                      </a:r>
                    </a:p>
                  </a:txBody>
                  <a:tcPr marL="54864" marR="54864" marT="18288" marB="18288" anchor="ctr">
                    <a:solidFill>
                      <a:srgbClr val="1B2A6B"/>
                    </a:solidFill>
                  </a:tcPr>
                </a:tc>
              </a:tr>
              <a:tr h="248716">
                <a:tc>
                  <a:txBody>
                    <a:bodyPr wrap="square"/>
                    <a:lstStyle/>
                    <a:p>
                      <a:pPr algn="l"/>
                      <a:r>
                        <a:rPr sz="950" b="1">
                          <a:solidFill>
                            <a:srgbClr val="1E2F5C"/>
                          </a:solidFill>
                          <a:latin typeface="Kanit"/>
                        </a:rPr>
                        <a:t>Central&amp;BKK</a:t>
                      </a:r>
                    </a:p>
                  </a:txBody>
                  <a:tcPr marL="54864" marR="54864" marT="18288" marB="18288" anchor="ctr">
                    <a:solidFill>
                      <a:srgbClr val="FFFFFF"/>
                    </a:solidFill>
                  </a:tcPr>
                </a:tc>
                <a:tc>
                  <a:txBody>
                    <a:bodyPr wrap="square"/>
                    <a:lstStyle/>
                    <a:p>
                      <a:pPr algn="r"/>
                      <a:r>
                        <a:rPr sz="950" b="0">
                          <a:solidFill>
                            <a:srgbClr val="1E2F5C"/>
                          </a:solidFill>
                          <a:latin typeface="Kanit"/>
                        </a:rPr>
                        <a:t>19</a:t>
                      </a:r>
                    </a:p>
                  </a:txBody>
                  <a:tcPr marL="54864" marR="54864" marT="18288" marB="18288" anchor="ctr">
                    <a:solidFill>
                      <a:srgbClr val="FFFFFF"/>
                    </a:solidFill>
                  </a:tcPr>
                </a:tc>
                <a:tc>
                  <a:txBody>
                    <a:bodyPr wrap="square"/>
                    <a:lstStyle/>
                    <a:p>
                      <a:pPr algn="r"/>
                      <a:r>
                        <a:rPr sz="950" b="1">
                          <a:solidFill>
                            <a:srgbClr val="15795F"/>
                          </a:solidFill>
                          <a:latin typeface="Kanit"/>
                        </a:rPr>
                        <a:t>+5.8%</a:t>
                      </a:r>
                    </a:p>
                  </a:txBody>
                  <a:tcPr marL="54864" marR="54864" marT="18288" marB="18288" anchor="ctr">
                    <a:solidFill>
                      <a:srgbClr val="FFFFFF"/>
                    </a:solidFill>
                  </a:tcPr>
                </a:tc>
                <a:tc>
                  <a:txBody>
                    <a:bodyPr wrap="square"/>
                    <a:lstStyle/>
                    <a:p>
                      <a:pPr algn="r"/>
                      <a:r>
                        <a:rPr sz="950" b="1">
                          <a:solidFill>
                            <a:srgbClr val="CC0000"/>
                          </a:solidFill>
                          <a:latin typeface="Kanit"/>
                        </a:rPr>
                        <a:t>4</a:t>
                      </a:r>
                    </a:p>
                  </a:txBody>
                  <a:tcPr marL="54864" marR="54864" marT="18288" marB="18288" anchor="ctr">
                    <a:solidFill>
                      <a:srgbClr val="FFFFFF"/>
                    </a:solidFill>
                  </a:tcPr>
                </a:tc>
                <a:tc>
                  <a:txBody>
                    <a:bodyPr wrap="square"/>
                    <a:lstStyle/>
                    <a:p>
                      <a:pPr algn="l"/>
                      <a:r>
                        <a:rPr sz="950" b="0">
                          <a:solidFill>
                            <a:srgbClr val="1E2F5C"/>
                          </a:solidFill>
                          <a:latin typeface="Kanit"/>
                        </a:rPr>
                        <a:t>สมุทรสงคราม</a:t>
                      </a:r>
                    </a:p>
                  </a:txBody>
                  <a:tcPr marL="54864" marR="54864" marT="18288" marB="18288" anchor="ctr">
                    <a:solidFill>
                      <a:srgbClr val="FFFFFF"/>
                    </a:solidFill>
                  </a:tcPr>
                </a:tc>
                <a:tc>
                  <a:txBody>
                    <a:bodyPr wrap="square"/>
                    <a:lstStyle/>
                    <a:p>
                      <a:pPr algn="r"/>
                      <a:r>
                        <a:rPr sz="950" b="1">
                          <a:solidFill>
                            <a:srgbClr val="CC0000"/>
                          </a:solidFill>
                          <a:latin typeface="Kanit"/>
                        </a:rPr>
                        <a:t>-65.2%</a:t>
                      </a:r>
                    </a:p>
                  </a:txBody>
                  <a:tcPr marL="54864" marR="54864" marT="18288" marB="18288" anchor="ctr">
                    <a:solidFill>
                      <a:srgbClr val="FFFFFF"/>
                    </a:solidFill>
                  </a:tcPr>
                </a:tc>
              </a:tr>
              <a:tr h="248716">
                <a:tc>
                  <a:txBody>
                    <a:bodyPr wrap="square"/>
                    <a:lstStyle/>
                    <a:p>
                      <a:pPr algn="l"/>
                      <a:r>
                        <a:rPr sz="950" b="1">
                          <a:solidFill>
                            <a:srgbClr val="1E2F5C"/>
                          </a:solidFill>
                          <a:latin typeface="Kanit"/>
                        </a:rPr>
                        <a:t>North</a:t>
                      </a:r>
                    </a:p>
                  </a:txBody>
                  <a:tcPr marL="54864" marR="54864" marT="18288" marB="18288" anchor="ctr">
                    <a:solidFill>
                      <a:srgbClr val="F7F9FC"/>
                    </a:solidFill>
                  </a:tcPr>
                </a:tc>
                <a:tc>
                  <a:txBody>
                    <a:bodyPr wrap="square"/>
                    <a:lstStyle/>
                    <a:p>
                      <a:pPr algn="r"/>
                      <a:r>
                        <a:rPr sz="950" b="0">
                          <a:solidFill>
                            <a:srgbClr val="1E2F5C"/>
                          </a:solidFill>
                          <a:latin typeface="Kanit"/>
                        </a:rPr>
                        <a:t>17</a:t>
                      </a:r>
                    </a:p>
                  </a:txBody>
                  <a:tcPr marL="54864" marR="54864" marT="18288" marB="18288" anchor="ctr">
                    <a:solidFill>
                      <a:srgbClr val="F7F9FC"/>
                    </a:solidFill>
                  </a:tcPr>
                </a:tc>
                <a:tc>
                  <a:txBody>
                    <a:bodyPr wrap="square"/>
                    <a:lstStyle/>
                    <a:p>
                      <a:pPr algn="r"/>
                      <a:r>
                        <a:rPr sz="950" b="1">
                          <a:solidFill>
                            <a:srgbClr val="15795F"/>
                          </a:solidFill>
                          <a:latin typeface="Kanit"/>
                        </a:rPr>
                        <a:t>+14.3%</a:t>
                      </a:r>
                    </a:p>
                  </a:txBody>
                  <a:tcPr marL="54864" marR="54864" marT="18288" marB="18288" anchor="ctr">
                    <a:solidFill>
                      <a:srgbClr val="F7F9FC"/>
                    </a:solidFill>
                  </a:tcPr>
                </a:tc>
                <a:tc>
                  <a:txBody>
                    <a:bodyPr wrap="square"/>
                    <a:lstStyle/>
                    <a:p>
                      <a:pPr algn="r"/>
                      <a:r>
                        <a:rPr sz="950" b="1">
                          <a:solidFill>
                            <a:srgbClr val="1E2F5C"/>
                          </a:solidFill>
                          <a:latin typeface="Kanit"/>
                        </a:rPr>
                        <a:t>0</a:t>
                      </a:r>
                    </a:p>
                  </a:txBody>
                  <a:tcPr marL="54864" marR="54864" marT="18288" marB="18288" anchor="ctr">
                    <a:solidFill>
                      <a:srgbClr val="F7F9FC"/>
                    </a:solidFill>
                  </a:tcPr>
                </a:tc>
                <a:tc>
                  <a:txBody>
                    <a:bodyPr wrap="square"/>
                    <a:lstStyle/>
                    <a:p>
                      <a:pPr algn="l"/>
                      <a:r>
                        <a:rPr sz="950" b="0">
                          <a:solidFill>
                            <a:srgbClr val="1E2F5C"/>
                          </a:solidFill>
                          <a:latin typeface="Kanit"/>
                        </a:rPr>
                        <a:t>สุโขทัย</a:t>
                      </a:r>
                    </a:p>
                  </a:txBody>
                  <a:tcPr marL="54864" marR="54864" marT="18288" marB="18288" anchor="ctr">
                    <a:solidFill>
                      <a:srgbClr val="F7F9FC"/>
                    </a:solidFill>
                  </a:tcPr>
                </a:tc>
                <a:tc>
                  <a:txBody>
                    <a:bodyPr wrap="square"/>
                    <a:lstStyle/>
                    <a:p>
                      <a:pPr algn="r"/>
                      <a:r>
                        <a:rPr sz="950" b="1">
                          <a:solidFill>
                            <a:srgbClr val="15795F"/>
                          </a:solidFill>
                          <a:latin typeface="Kanit"/>
                        </a:rPr>
                        <a:t>+9.2%</a:t>
                      </a:r>
                    </a:p>
                  </a:txBody>
                  <a:tcPr marL="54864" marR="54864" marT="18288" marB="18288" anchor="ctr">
                    <a:solidFill>
                      <a:srgbClr val="F7F9FC"/>
                    </a:solidFill>
                  </a:tcPr>
                </a:tc>
              </a:tr>
              <a:tr h="248716">
                <a:tc>
                  <a:txBody>
                    <a:bodyPr wrap="square"/>
                    <a:lstStyle/>
                    <a:p>
                      <a:pPr algn="l"/>
                      <a:r>
                        <a:rPr sz="950" b="1">
                          <a:solidFill>
                            <a:srgbClr val="1E2F5C"/>
                          </a:solidFill>
                          <a:latin typeface="Kanit"/>
                        </a:rPr>
                        <a:t>Isan</a:t>
                      </a:r>
                    </a:p>
                  </a:txBody>
                  <a:tcPr marL="54864" marR="54864" marT="18288" marB="18288" anchor="ctr">
                    <a:solidFill>
                      <a:srgbClr val="FFFFFF"/>
                    </a:solidFill>
                  </a:tcPr>
                </a:tc>
                <a:tc>
                  <a:txBody>
                    <a:bodyPr wrap="square"/>
                    <a:lstStyle/>
                    <a:p>
                      <a:pPr algn="r"/>
                      <a:r>
                        <a:rPr sz="950" b="0">
                          <a:solidFill>
                            <a:srgbClr val="1E2F5C"/>
                          </a:solidFill>
                          <a:latin typeface="Kanit"/>
                        </a:rPr>
                        <a:t>20</a:t>
                      </a:r>
                    </a:p>
                  </a:txBody>
                  <a:tcPr marL="54864" marR="54864" marT="18288" marB="18288" anchor="ctr">
                    <a:solidFill>
                      <a:srgbClr val="FFFFFF"/>
                    </a:solidFill>
                  </a:tcPr>
                </a:tc>
                <a:tc>
                  <a:txBody>
                    <a:bodyPr wrap="square"/>
                    <a:lstStyle/>
                    <a:p>
                      <a:pPr algn="r"/>
                      <a:r>
                        <a:rPr sz="950" b="1">
                          <a:solidFill>
                            <a:srgbClr val="15795F"/>
                          </a:solidFill>
                          <a:latin typeface="Kanit"/>
                        </a:rPr>
                        <a:t>+15.7%</a:t>
                      </a:r>
                    </a:p>
                  </a:txBody>
                  <a:tcPr marL="54864" marR="54864" marT="18288" marB="18288" anchor="ctr">
                    <a:solidFill>
                      <a:srgbClr val="FFFFFF"/>
                    </a:solidFill>
                  </a:tcPr>
                </a:tc>
                <a:tc>
                  <a:txBody>
                    <a:bodyPr wrap="square"/>
                    <a:lstStyle/>
                    <a:p>
                      <a:pPr algn="r"/>
                      <a:r>
                        <a:rPr sz="950" b="1">
                          <a:solidFill>
                            <a:srgbClr val="1E2F5C"/>
                          </a:solidFill>
                          <a:latin typeface="Kanit"/>
                        </a:rPr>
                        <a:t>0</a:t>
                      </a:r>
                    </a:p>
                  </a:txBody>
                  <a:tcPr marL="54864" marR="54864" marT="18288" marB="18288" anchor="ctr">
                    <a:solidFill>
                      <a:srgbClr val="FFFFFF"/>
                    </a:solidFill>
                  </a:tcPr>
                </a:tc>
                <a:tc>
                  <a:txBody>
                    <a:bodyPr wrap="square"/>
                    <a:lstStyle/>
                    <a:p>
                      <a:pPr algn="l"/>
                      <a:r>
                        <a:rPr sz="950" b="0">
                          <a:solidFill>
                            <a:srgbClr val="1E2F5C"/>
                          </a:solidFill>
                          <a:latin typeface="Kanit"/>
                        </a:rPr>
                        <a:t>หนองบัวลำภู</a:t>
                      </a:r>
                    </a:p>
                  </a:txBody>
                  <a:tcPr marL="54864" marR="54864" marT="18288" marB="18288" anchor="ctr">
                    <a:solidFill>
                      <a:srgbClr val="FFFFFF"/>
                    </a:solidFill>
                  </a:tcPr>
                </a:tc>
                <a:tc>
                  <a:txBody>
                    <a:bodyPr wrap="square"/>
                    <a:lstStyle/>
                    <a:p>
                      <a:pPr algn="r"/>
                      <a:r>
                        <a:rPr sz="950" b="1">
                          <a:solidFill>
                            <a:srgbClr val="15795F"/>
                          </a:solidFill>
                          <a:latin typeface="Kanit"/>
                        </a:rPr>
                        <a:t>+8.0%</a:t>
                      </a:r>
                    </a:p>
                  </a:txBody>
                  <a:tcPr marL="54864" marR="54864" marT="18288" marB="18288" anchor="ctr">
                    <a:solidFill>
                      <a:srgbClr val="FFFFFF"/>
                    </a:solidFill>
                  </a:tcPr>
                </a:tc>
              </a:tr>
              <a:tr h="248716">
                <a:tc>
                  <a:txBody>
                    <a:bodyPr wrap="square"/>
                    <a:lstStyle/>
                    <a:p>
                      <a:pPr algn="l"/>
                      <a:r>
                        <a:rPr sz="950" b="1">
                          <a:solidFill>
                            <a:srgbClr val="1E2F5C"/>
                          </a:solidFill>
                          <a:latin typeface="Kanit"/>
                        </a:rPr>
                        <a:t>East</a:t>
                      </a:r>
                    </a:p>
                  </a:txBody>
                  <a:tcPr marL="54864" marR="54864" marT="18288" marB="18288" anchor="ctr">
                    <a:solidFill>
                      <a:srgbClr val="F7F9FC"/>
                    </a:solidFill>
                  </a:tcPr>
                </a:tc>
                <a:tc>
                  <a:txBody>
                    <a:bodyPr wrap="square"/>
                    <a:lstStyle/>
                    <a:p>
                      <a:pPr algn="r"/>
                      <a:r>
                        <a:rPr sz="950" b="0">
                          <a:solidFill>
                            <a:srgbClr val="1E2F5C"/>
                          </a:solidFill>
                          <a:latin typeface="Kanit"/>
                        </a:rPr>
                        <a:t>7</a:t>
                      </a:r>
                    </a:p>
                  </a:txBody>
                  <a:tcPr marL="54864" marR="54864" marT="18288" marB="18288" anchor="ctr">
                    <a:solidFill>
                      <a:srgbClr val="F7F9FC"/>
                    </a:solidFill>
                  </a:tcPr>
                </a:tc>
                <a:tc>
                  <a:txBody>
                    <a:bodyPr wrap="square"/>
                    <a:lstStyle/>
                    <a:p>
                      <a:pPr algn="r"/>
                      <a:r>
                        <a:rPr sz="950" b="1">
                          <a:solidFill>
                            <a:srgbClr val="15795F"/>
                          </a:solidFill>
                          <a:latin typeface="Kanit"/>
                        </a:rPr>
                        <a:t>+25.3%</a:t>
                      </a:r>
                    </a:p>
                  </a:txBody>
                  <a:tcPr marL="54864" marR="54864" marT="18288" marB="18288" anchor="ctr">
                    <a:solidFill>
                      <a:srgbClr val="F7F9FC"/>
                    </a:solidFill>
                  </a:tcPr>
                </a:tc>
                <a:tc>
                  <a:txBody>
                    <a:bodyPr wrap="square"/>
                    <a:lstStyle/>
                    <a:p>
                      <a:pPr algn="r"/>
                      <a:r>
                        <a:rPr sz="950" b="1">
                          <a:solidFill>
                            <a:srgbClr val="1E2F5C"/>
                          </a:solidFill>
                          <a:latin typeface="Kanit"/>
                        </a:rPr>
                        <a:t>0</a:t>
                      </a:r>
                    </a:p>
                  </a:txBody>
                  <a:tcPr marL="54864" marR="54864" marT="18288" marB="18288" anchor="ctr">
                    <a:solidFill>
                      <a:srgbClr val="F7F9FC"/>
                    </a:solidFill>
                  </a:tcPr>
                </a:tc>
                <a:tc>
                  <a:txBody>
                    <a:bodyPr wrap="square"/>
                    <a:lstStyle/>
                    <a:p>
                      <a:pPr algn="l"/>
                      <a:r>
                        <a:rPr sz="950" b="0">
                          <a:solidFill>
                            <a:srgbClr val="1E2F5C"/>
                          </a:solidFill>
                          <a:latin typeface="Kanit"/>
                        </a:rPr>
                        <a:t>สระแก้ว</a:t>
                      </a:r>
                    </a:p>
                  </a:txBody>
                  <a:tcPr marL="54864" marR="54864" marT="18288" marB="18288" anchor="ctr">
                    <a:solidFill>
                      <a:srgbClr val="F7F9FC"/>
                    </a:solidFill>
                  </a:tcPr>
                </a:tc>
                <a:tc>
                  <a:txBody>
                    <a:bodyPr wrap="square"/>
                    <a:lstStyle/>
                    <a:p>
                      <a:pPr algn="r"/>
                      <a:r>
                        <a:rPr sz="950" b="1">
                          <a:solidFill>
                            <a:srgbClr val="15795F"/>
                          </a:solidFill>
                          <a:latin typeface="Kanit"/>
                        </a:rPr>
                        <a:t>+9.8%</a:t>
                      </a:r>
                    </a:p>
                  </a:txBody>
                  <a:tcPr marL="54864" marR="54864" marT="18288" marB="18288" anchor="ctr">
                    <a:solidFill>
                      <a:srgbClr val="F7F9FC"/>
                    </a:solidFill>
                  </a:tcPr>
                </a:tc>
              </a:tr>
              <a:tr h="248716">
                <a:tc>
                  <a:txBody>
                    <a:bodyPr wrap="square"/>
                    <a:lstStyle/>
                    <a:p>
                      <a:pPr algn="l"/>
                      <a:r>
                        <a:rPr sz="950" b="1">
                          <a:solidFill>
                            <a:srgbClr val="1E2F5C"/>
                          </a:solidFill>
                          <a:latin typeface="Kanit"/>
                        </a:rPr>
                        <a:t>South</a:t>
                      </a:r>
                    </a:p>
                  </a:txBody>
                  <a:tcPr marL="54864" marR="54864" marT="18288" marB="18288" anchor="ctr">
                    <a:solidFill>
                      <a:srgbClr val="FFFFFF"/>
                    </a:solidFill>
                  </a:tcPr>
                </a:tc>
                <a:tc>
                  <a:txBody>
                    <a:bodyPr wrap="square"/>
                    <a:lstStyle/>
                    <a:p>
                      <a:pPr algn="r"/>
                      <a:r>
                        <a:rPr sz="950" b="0">
                          <a:solidFill>
                            <a:srgbClr val="1E2F5C"/>
                          </a:solidFill>
                          <a:latin typeface="Kanit"/>
                        </a:rPr>
                        <a:t>14</a:t>
                      </a:r>
                    </a:p>
                  </a:txBody>
                  <a:tcPr marL="54864" marR="54864" marT="18288" marB="18288" anchor="ctr">
                    <a:solidFill>
                      <a:srgbClr val="FFFFFF"/>
                    </a:solidFill>
                  </a:tcPr>
                </a:tc>
                <a:tc>
                  <a:txBody>
                    <a:bodyPr wrap="square"/>
                    <a:lstStyle/>
                    <a:p>
                      <a:pPr algn="r"/>
                      <a:r>
                        <a:rPr sz="950" b="1">
                          <a:solidFill>
                            <a:srgbClr val="15795F"/>
                          </a:solidFill>
                          <a:latin typeface="Kanit"/>
                        </a:rPr>
                        <a:t>+36.4%</a:t>
                      </a:r>
                    </a:p>
                  </a:txBody>
                  <a:tcPr marL="54864" marR="54864" marT="18288" marB="18288" anchor="ctr">
                    <a:solidFill>
                      <a:srgbClr val="FFFFFF"/>
                    </a:solidFill>
                  </a:tcPr>
                </a:tc>
                <a:tc>
                  <a:txBody>
                    <a:bodyPr wrap="square"/>
                    <a:lstStyle/>
                    <a:p>
                      <a:pPr algn="r"/>
                      <a:r>
                        <a:rPr sz="950" b="1">
                          <a:solidFill>
                            <a:srgbClr val="1E2F5C"/>
                          </a:solidFill>
                          <a:latin typeface="Kanit"/>
                        </a:rPr>
                        <a:t>0</a:t>
                      </a:r>
                    </a:p>
                  </a:txBody>
                  <a:tcPr marL="54864" marR="54864" marT="18288" marB="18288" anchor="ctr">
                    <a:solidFill>
                      <a:srgbClr val="FFFFFF"/>
                    </a:solidFill>
                  </a:tcPr>
                </a:tc>
                <a:tc>
                  <a:txBody>
                    <a:bodyPr wrap="square"/>
                    <a:lstStyle/>
                    <a:p>
                      <a:pPr algn="l"/>
                      <a:r>
                        <a:rPr sz="950" b="0">
                          <a:solidFill>
                            <a:srgbClr val="1E2F5C"/>
                          </a:solidFill>
                          <a:latin typeface="Kanit"/>
                        </a:rPr>
                        <a:t>ชุมพร</a:t>
                      </a:r>
                    </a:p>
                  </a:txBody>
                  <a:tcPr marL="54864" marR="54864" marT="18288" marB="18288" anchor="ctr">
                    <a:solidFill>
                      <a:srgbClr val="FFFFFF"/>
                    </a:solidFill>
                  </a:tcPr>
                </a:tc>
                <a:tc>
                  <a:txBody>
                    <a:bodyPr wrap="square"/>
                    <a:lstStyle/>
                    <a:p>
                      <a:pPr algn="r"/>
                      <a:r>
                        <a:rPr sz="950" b="1">
                          <a:solidFill>
                            <a:srgbClr val="15795F"/>
                          </a:solidFill>
                          <a:latin typeface="Kanit"/>
                        </a:rPr>
                        <a:t>+29.9%</a:t>
                      </a:r>
                    </a:p>
                  </a:txBody>
                  <a:tcPr marL="54864" marR="54864" marT="18288" marB="18288" anchor="ctr">
                    <a:solidFill>
                      <a:srgbClr val="FFFFFF"/>
                    </a:solidFill>
                  </a:tcPr>
                </a:tc>
              </a:tr>
            </a:tbl>
          </a:graphicData>
        </a:graphic>
      </p:graphicFrame>
      <p:sp>
        <p:nvSpPr>
          <p:cNvPr id="26" name="Rectangle 25"/>
          <p:cNvSpPr/>
          <p:nvPr/>
        </p:nvSpPr>
        <p:spPr>
          <a:xfrm>
            <a:off x="6172200" y="2331720"/>
            <a:ext cx="5605272" cy="236905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172200" y="2331720"/>
            <a:ext cx="50292" cy="236905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6391656" y="2478024"/>
            <a:ext cx="527608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The price round was good for farming almost everywhere</a:t>
            </a:r>
          </a:p>
        </p:txBody>
      </p:sp>
      <p:sp>
        <p:nvSpPr>
          <p:cNvPr id="29" name="TextBox 28"/>
          <p:cNvSpPr txBox="1"/>
          <p:nvPr/>
        </p:nvSpPr>
        <p:spPr>
          <a:xfrm>
            <a:off x="6391656" y="2682494"/>
            <a:ext cx="5276088" cy="187198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Rubber +41%, cassava +59%, palm +28% and rice +13% at the farm gate lifted crop income in every region — the South by 36.4%, the East by 25.3%. On a mix basis this is the best crop year in several.
The exception is narrow and worth naming: four provinces on the western gulf — สมุทรสงคราม, สมุทรสาคร, ราชบุรี and ประจวบคีรีขันธ์ — all coconut, all negative, the worst at −65.2%. A single crop collapsing 69.7% is enough to take a whole province backwards while the national picture improves.
And a gain on a mix basis is not cash in hand: the next slide nets these same prices against cost of production.</a:t>
            </a:r>
          </a:p>
        </p:txBody>
      </p:sp>
      <p:graphicFrame>
        <p:nvGraphicFramePr>
          <p:cNvPr id="30" name="Table 29"/>
          <p:cNvGraphicFramePr>
            <a:graphicFrameLocks noGrp="1"/>
          </p:cNvGraphicFramePr>
          <p:nvPr/>
        </p:nvGraphicFramePr>
        <p:xfrm>
          <a:off x="411480" y="4069080"/>
          <a:ext cx="11365992" cy="1799538"/>
        </p:xfrm>
        <a:graphic>
          <a:graphicData uri="http://schemas.openxmlformats.org/drawingml/2006/table">
            <a:tbl>
              <a:tblPr>
                <a:tableStyleId>{5C22544A-7EE6-4342-B048-85BDC9FD1C3A}</a:tableStyleId>
              </a:tblPr>
              <a:tblGrid>
                <a:gridCol w="1667266"/>
                <a:gridCol w="1000360"/>
                <a:gridCol w="1047996"/>
                <a:gridCol w="2619990"/>
                <a:gridCol w="1619630"/>
                <a:gridCol w="857451"/>
                <a:gridCol w="1000360"/>
                <a:gridCol w="905087"/>
                <a:gridCol w="647852"/>
              </a:tblGrid>
              <a:tr h="329184">
                <a:tc>
                  <a:txBody>
                    <a:bodyPr wrap="square"/>
                    <a:lstStyle/>
                    <a:p>
                      <a:pPr algn="l"/>
                      <a:r>
                        <a:rPr sz="1050" b="1">
                          <a:solidFill>
                            <a:srgbClr val="FFFFFF"/>
                          </a:solidFill>
                          <a:latin typeface="Kanit"/>
                        </a:rPr>
                        <a:t>Largest planted areas</a:t>
                      </a:r>
                    </a:p>
                  </a:txBody>
                  <a:tcPr marL="54864" marR="54864" marT="18288" marB="18288" anchor="ctr">
                    <a:solidFill>
                      <a:srgbClr val="1B2A6B"/>
                    </a:solidFill>
                  </a:tcPr>
                </a:tc>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planted rai</a:t>
                      </a:r>
                    </a:p>
                  </a:txBody>
                  <a:tcPr marL="54864" marR="54864" marT="18288" marB="18288" anchor="ctr">
                    <a:solidFill>
                      <a:srgbClr val="1B2A6B"/>
                    </a:solidFill>
                  </a:tcPr>
                </a:tc>
                <a:tc>
                  <a:txBody>
                    <a:bodyPr wrap="square"/>
                    <a:lstStyle/>
                    <a:p>
                      <a:pPr algn="l"/>
                      <a:r>
                        <a:rPr sz="1050" b="1">
                          <a:solidFill>
                            <a:srgbClr val="FFFFFF"/>
                          </a:solidFill>
                          <a:latin typeface="Kanit"/>
                        </a:rPr>
                        <a:t>lead crop, share, YoY</a:t>
                      </a:r>
                    </a:p>
                  </a:txBody>
                  <a:tcPr marL="54864" marR="54864" marT="18288" marB="18288" anchor="ctr">
                    <a:solidFill>
                      <a:srgbClr val="1B2A6B"/>
                    </a:solidFill>
                  </a:tcPr>
                </a:tc>
                <a:tc>
                  <a:txBody>
                    <a:bodyPr wrap="square"/>
                    <a:lstStyle/>
                    <a:p>
                      <a:pPr algn="l"/>
                      <a:r>
                        <a:rPr sz="1050" b="1">
                          <a:solidFill>
                            <a:srgbClr val="FFFFFF"/>
                          </a:solidFill>
                          <a:latin typeface="Kanit"/>
                        </a:rPr>
                        <a:t>the drag</a:t>
                      </a:r>
                    </a:p>
                  </a:txBody>
                  <a:tcPr marL="54864" marR="54864" marT="18288" marB="18288" anchor="ctr">
                    <a:solidFill>
                      <a:srgbClr val="1B2A6B"/>
                    </a:solidFill>
                  </a:tcPr>
                </a:tc>
                <a:tc>
                  <a:txBody>
                    <a:bodyPr wrap="square"/>
                    <a:lstStyle/>
                    <a:p>
                      <a:pPr algn="r"/>
                      <a:r>
                        <a:rPr sz="1050" b="1">
                          <a:solidFill>
                            <a:srgbClr val="FFFFFF"/>
                          </a:solidFill>
                          <a:latin typeface="Kanit"/>
                        </a:rPr>
                        <a:t>shock</a:t>
                      </a:r>
                    </a:p>
                  </a:txBody>
                  <a:tcPr marL="54864" marR="54864" marT="18288" marB="18288" anchor="ctr">
                    <a:solidFill>
                      <a:srgbClr val="1B2A6B"/>
                    </a:solidFill>
                  </a:tcPr>
                </a:tc>
                <a:tc>
                  <a:txBody>
                    <a:bodyPr wrap="square"/>
                    <a:lstStyle/>
                    <a:p>
                      <a:pPr algn="r"/>
                      <a:r>
                        <a:rPr sz="1050" b="1">
                          <a:solidFill>
                            <a:srgbClr val="FFFFFF"/>
                          </a:solidFill>
                          <a:latin typeface="Kanit"/>
                        </a:rPr>
                        <a:t>farm ฿/mo</a:t>
                      </a:r>
                    </a:p>
                  </a:txBody>
                  <a:tcPr marL="54864" marR="54864" marT="18288" marB="18288" anchor="ctr">
                    <a:solidFill>
                      <a:srgbClr val="1B2A6B"/>
                    </a:solidFill>
                  </a:tcPr>
                </a:tc>
                <a:tc>
                  <a:txBody>
                    <a:bodyPr wrap="square"/>
                    <a:lstStyle/>
                    <a:p>
                      <a:pPr algn="r"/>
                      <a:r>
                        <a:rPr sz="1050" b="1">
                          <a:solidFill>
                            <a:srgbClr val="FFFFFF"/>
                          </a:solidFill>
                          <a:latin typeface="Kanit"/>
                        </a:rPr>
                        <a:t>in baht</a:t>
                      </a:r>
                    </a:p>
                  </a:txBody>
                  <a:tcPr marL="54864" marR="54864" marT="18288" marB="18288" anchor="ctr">
                    <a:solidFill>
                      <a:srgbClr val="1B2A6B"/>
                    </a:solidFill>
                  </a:tcPr>
                </a:tc>
                <a:tc>
                  <a:txBody>
                    <a:bodyPr wrap="square"/>
                    <a:lstStyle/>
                    <a:p>
                      <a:pPr algn="r"/>
                      <a:r>
                        <a:rPr sz="1050" b="1">
                          <a:solidFill>
                            <a:srgbClr val="FFFFFF"/>
                          </a:solidFill>
                          <a:latin typeface="Kanit"/>
                        </a:rPr>
                        <a:t>rain</a:t>
                      </a:r>
                    </a:p>
                  </a:txBody>
                  <a:tcPr marL="54864" marR="54864" marT="18288" marB="18288" anchor="ctr">
                    <a:solidFill>
                      <a:srgbClr val="1B2A6B"/>
                    </a:solidFill>
                  </a:tcPr>
                </a:tc>
              </a:tr>
              <a:tr h="245059">
                <a:tc>
                  <a:txBody>
                    <a:bodyPr wrap="square"/>
                    <a:lstStyle/>
                    <a:p>
                      <a:pPr algn="l"/>
                      <a:r>
                        <a:rPr sz="900" b="1">
                          <a:solidFill>
                            <a:srgbClr val="1E2F5C"/>
                          </a:solidFill>
                          <a:latin typeface="Kanit"/>
                        </a:rPr>
                        <a:t>นครราชสีมา</a:t>
                      </a:r>
                    </a:p>
                  </a:txBody>
                  <a:tcPr marL="54864" marR="54864" marT="18288" marB="18288" anchor="ctr">
                    <a:solidFill>
                      <a:srgbClr val="FFFFFF"/>
                    </a:solidFill>
                  </a:tcPr>
                </a:tc>
                <a:tc>
                  <a:txBody>
                    <a:bodyPr wrap="square"/>
                    <a:lstStyle/>
                    <a:p>
                      <a:pPr algn="l"/>
                      <a:r>
                        <a:rPr sz="900" b="0">
                          <a:solidFill>
                            <a:srgbClr val="606060"/>
                          </a:solidFill>
                          <a:latin typeface="Kanit"/>
                        </a:rPr>
                        <a:t>Isan</a:t>
                      </a:r>
                    </a:p>
                  </a:txBody>
                  <a:tcPr marL="54864" marR="54864" marT="18288" marB="18288" anchor="ctr">
                    <a:solidFill>
                      <a:srgbClr val="FFFFFF"/>
                    </a:solidFill>
                  </a:tcPr>
                </a:tc>
                <a:tc>
                  <a:txBody>
                    <a:bodyPr wrap="square"/>
                    <a:lstStyle/>
                    <a:p>
                      <a:pPr algn="r"/>
                      <a:r>
                        <a:rPr sz="900" b="0">
                          <a:solidFill>
                            <a:srgbClr val="1E2F5C"/>
                          </a:solidFill>
                          <a:latin typeface="Kanit"/>
                        </a:rPr>
                        <a:t>5.25M</a:t>
                      </a:r>
                    </a:p>
                  </a:txBody>
                  <a:tcPr marL="54864" marR="54864" marT="18288" marB="18288" anchor="ctr">
                    <a:solidFill>
                      <a:srgbClr val="FFFFFF"/>
                    </a:solidFill>
                  </a:tcPr>
                </a:tc>
                <a:tc>
                  <a:txBody>
                    <a:bodyPr wrap="square"/>
                    <a:lstStyle/>
                    <a:p>
                      <a:pPr algn="l"/>
                      <a:r>
                        <a:rPr sz="900" b="0">
                          <a:solidFill>
                            <a:srgbClr val="15795F"/>
                          </a:solidFill>
                          <a:latin typeface="Kanit"/>
                        </a:rPr>
                        <a:t>Rice 67% (+13%)</a:t>
                      </a:r>
                    </a:p>
                  </a:txBody>
                  <a:tcPr marL="54864" marR="54864" marT="18288" marB="18288" anchor="ctr">
                    <a:solidFill>
                      <a:srgbClr val="FFFFFF"/>
                    </a:solidFill>
                  </a:tcPr>
                </a:tc>
                <a:tc>
                  <a:txBody>
                    <a:bodyPr wrap="square"/>
                    <a:lstStyle/>
                    <a:p>
                      <a:pPr algn="l"/>
                      <a:r>
                        <a:rPr sz="900" b="0">
                          <a:solidFill>
                            <a:srgbClr val="CC0000"/>
                          </a:solidFill>
                          <a:latin typeface="Kanit"/>
                        </a:rPr>
                        <a:t>Sugarcane (-18%)</a:t>
                      </a:r>
                    </a:p>
                  </a:txBody>
                  <a:tcPr marL="54864" marR="54864" marT="18288" marB="18288" anchor="ctr">
                    <a:solidFill>
                      <a:srgbClr val="FFFFFF"/>
                    </a:solidFill>
                  </a:tcPr>
                </a:tc>
                <a:tc>
                  <a:txBody>
                    <a:bodyPr wrap="square"/>
                    <a:lstStyle/>
                    <a:p>
                      <a:pPr algn="r"/>
                      <a:r>
                        <a:rPr sz="900" b="1">
                          <a:solidFill>
                            <a:srgbClr val="15795F"/>
                          </a:solidFill>
                          <a:latin typeface="Kanit"/>
                        </a:rPr>
                        <a:t>+15.5%</a:t>
                      </a:r>
                    </a:p>
                  </a:txBody>
                  <a:tcPr marL="54864" marR="54864" marT="18288" marB="18288" anchor="ctr">
                    <a:solidFill>
                      <a:srgbClr val="FFFFFF"/>
                    </a:solidFill>
                  </a:tcPr>
                </a:tc>
                <a:tc>
                  <a:txBody>
                    <a:bodyPr wrap="square"/>
                    <a:lstStyle/>
                    <a:p>
                      <a:pPr algn="r"/>
                      <a:r>
                        <a:rPr sz="900" b="0">
                          <a:solidFill>
                            <a:srgbClr val="1E2F5C"/>
                          </a:solidFill>
                          <a:latin typeface="Kanit"/>
                        </a:rPr>
                        <a:t>8,982</a:t>
                      </a:r>
                    </a:p>
                  </a:txBody>
                  <a:tcPr marL="54864" marR="54864" marT="18288" marB="18288" anchor="ctr">
                    <a:solidFill>
                      <a:srgbClr val="FFFFFF"/>
                    </a:solidFill>
                  </a:tcPr>
                </a:tc>
                <a:tc>
                  <a:txBody>
                    <a:bodyPr wrap="square"/>
                    <a:lstStyle/>
                    <a:p>
                      <a:pPr algn="r"/>
                      <a:r>
                        <a:rPr sz="900" b="1">
                          <a:solidFill>
                            <a:srgbClr val="15795F"/>
                          </a:solidFill>
                          <a:latin typeface="Kanit"/>
                        </a:rPr>
                        <a:t>+764</a:t>
                      </a:r>
                    </a:p>
                  </a:txBody>
                  <a:tcPr marL="54864" marR="54864" marT="18288" marB="18288" anchor="ctr">
                    <a:solidFill>
                      <a:srgbClr val="FFFFFF"/>
                    </a:solidFill>
                  </a:tcPr>
                </a:tc>
                <a:tc>
                  <a:txBody>
                    <a:bodyPr wrap="square"/>
                    <a:lstStyle/>
                    <a:p>
                      <a:pPr algn="r"/>
                      <a:r>
                        <a:rPr sz="900" b="1">
                          <a:solidFill>
                            <a:srgbClr val="1E2F5C"/>
                          </a:solidFill>
                          <a:latin typeface="Kanit"/>
                        </a:rPr>
                        <a:t>96%</a:t>
                      </a:r>
                    </a:p>
                  </a:txBody>
                  <a:tcPr marL="54864" marR="54864" marT="18288" marB="18288" anchor="ctr">
                    <a:solidFill>
                      <a:srgbClr val="FFFFFF"/>
                    </a:solidFill>
                  </a:tcPr>
                </a:tc>
              </a:tr>
              <a:tr h="245059">
                <a:tc>
                  <a:txBody>
                    <a:bodyPr wrap="square"/>
                    <a:lstStyle/>
                    <a:p>
                      <a:pPr algn="l"/>
                      <a:r>
                        <a:rPr sz="900" b="1">
                          <a:solidFill>
                            <a:srgbClr val="1E2F5C"/>
                          </a:solidFill>
                          <a:latin typeface="Kanit"/>
                        </a:rPr>
                        <a:t>อุบลราชธานี</a:t>
                      </a:r>
                    </a:p>
                  </a:txBody>
                  <a:tcPr marL="54864" marR="54864" marT="18288" marB="18288" anchor="ctr">
                    <a:solidFill>
                      <a:srgbClr val="F7F9FC"/>
                    </a:solidFill>
                  </a:tcPr>
                </a:tc>
                <a:tc>
                  <a:txBody>
                    <a:bodyPr wrap="square"/>
                    <a:lstStyle/>
                    <a:p>
                      <a:pPr algn="l"/>
                      <a:r>
                        <a:rPr sz="900" b="0">
                          <a:solidFill>
                            <a:srgbClr val="606060"/>
                          </a:solidFill>
                          <a:latin typeface="Kanit"/>
                        </a:rPr>
                        <a:t>Isan</a:t>
                      </a:r>
                    </a:p>
                  </a:txBody>
                  <a:tcPr marL="54864" marR="54864" marT="18288" marB="18288" anchor="ctr">
                    <a:solidFill>
                      <a:srgbClr val="F7F9FC"/>
                    </a:solidFill>
                  </a:tcPr>
                </a:tc>
                <a:tc>
                  <a:txBody>
                    <a:bodyPr wrap="square"/>
                    <a:lstStyle/>
                    <a:p>
                      <a:pPr algn="r"/>
                      <a:r>
                        <a:rPr sz="900" b="0">
                          <a:solidFill>
                            <a:srgbClr val="1E2F5C"/>
                          </a:solidFill>
                          <a:latin typeface="Kanit"/>
                        </a:rPr>
                        <a:t>5.21M</a:t>
                      </a:r>
                    </a:p>
                  </a:txBody>
                  <a:tcPr marL="54864" marR="54864" marT="18288" marB="18288" anchor="ctr">
                    <a:solidFill>
                      <a:srgbClr val="F7F9FC"/>
                    </a:solidFill>
                  </a:tcPr>
                </a:tc>
                <a:tc>
                  <a:txBody>
                    <a:bodyPr wrap="square"/>
                    <a:lstStyle/>
                    <a:p>
                      <a:pPr algn="l"/>
                      <a:r>
                        <a:rPr sz="900" b="0">
                          <a:solidFill>
                            <a:srgbClr val="15795F"/>
                          </a:solidFill>
                          <a:latin typeface="Kanit"/>
                        </a:rPr>
                        <a:t>Rice 79% (+13%)</a:t>
                      </a:r>
                    </a:p>
                  </a:txBody>
                  <a:tcPr marL="54864" marR="54864" marT="18288" marB="18288" anchor="ctr">
                    <a:solidFill>
                      <a:srgbClr val="F7F9FC"/>
                    </a:solidFill>
                  </a:tcPr>
                </a:tc>
                <a:tc>
                  <a:txBody>
                    <a:bodyPr wrap="square"/>
                    <a:lstStyle/>
                    <a:p>
                      <a:pPr algn="l"/>
                      <a:r>
                        <a:rPr sz="900" b="0">
                          <a:solidFill>
                            <a:srgbClr val="CC0000"/>
                          </a:solidFill>
                          <a:latin typeface="Kanit"/>
                        </a:rPr>
                        <a:t>Coconut (-70%)</a:t>
                      </a:r>
                    </a:p>
                  </a:txBody>
                  <a:tcPr marL="54864" marR="54864" marT="18288" marB="18288" anchor="ctr">
                    <a:solidFill>
                      <a:srgbClr val="F7F9FC"/>
                    </a:solidFill>
                  </a:tcPr>
                </a:tc>
                <a:tc>
                  <a:txBody>
                    <a:bodyPr wrap="square"/>
                    <a:lstStyle/>
                    <a:p>
                      <a:pPr algn="r"/>
                      <a:r>
                        <a:rPr sz="900" b="1">
                          <a:solidFill>
                            <a:srgbClr val="15795F"/>
                          </a:solidFill>
                          <a:latin typeface="Kanit"/>
                        </a:rPr>
                        <a:t>+20.1%</a:t>
                      </a:r>
                    </a:p>
                  </a:txBody>
                  <a:tcPr marL="54864" marR="54864" marT="18288" marB="18288" anchor="ctr">
                    <a:solidFill>
                      <a:srgbClr val="F7F9FC"/>
                    </a:solidFill>
                  </a:tcPr>
                </a:tc>
                <a:tc>
                  <a:txBody>
                    <a:bodyPr wrap="square"/>
                    <a:lstStyle/>
                    <a:p>
                      <a:pPr algn="r"/>
                      <a:r>
                        <a:rPr sz="900" b="0">
                          <a:solidFill>
                            <a:srgbClr val="1E2F5C"/>
                          </a:solidFill>
                          <a:latin typeface="Kanit"/>
                        </a:rPr>
                        <a:t>7,763</a:t>
                      </a:r>
                    </a:p>
                  </a:txBody>
                  <a:tcPr marL="54864" marR="54864" marT="18288" marB="18288" anchor="ctr">
                    <a:solidFill>
                      <a:srgbClr val="F7F9FC"/>
                    </a:solidFill>
                  </a:tcPr>
                </a:tc>
                <a:tc>
                  <a:txBody>
                    <a:bodyPr wrap="square"/>
                    <a:lstStyle/>
                    <a:p>
                      <a:pPr algn="r"/>
                      <a:r>
                        <a:rPr sz="900" b="1">
                          <a:solidFill>
                            <a:srgbClr val="15795F"/>
                          </a:solidFill>
                          <a:latin typeface="Kanit"/>
                        </a:rPr>
                        <a:t>+857</a:t>
                      </a:r>
                    </a:p>
                  </a:txBody>
                  <a:tcPr marL="54864" marR="54864" marT="18288" marB="18288" anchor="ctr">
                    <a:solidFill>
                      <a:srgbClr val="F7F9FC"/>
                    </a:solidFill>
                  </a:tcPr>
                </a:tc>
                <a:tc>
                  <a:txBody>
                    <a:bodyPr wrap="square"/>
                    <a:lstStyle/>
                    <a:p>
                      <a:pPr algn="r"/>
                      <a:r>
                        <a:rPr sz="900" b="1">
                          <a:solidFill>
                            <a:srgbClr val="CC0000"/>
                          </a:solidFill>
                          <a:latin typeface="Kanit"/>
                        </a:rPr>
                        <a:t>79%</a:t>
                      </a:r>
                    </a:p>
                  </a:txBody>
                  <a:tcPr marL="54864" marR="54864" marT="18288" marB="18288" anchor="ctr">
                    <a:solidFill>
                      <a:srgbClr val="F7F9FC"/>
                    </a:solidFill>
                  </a:tcPr>
                </a:tc>
              </a:tr>
              <a:tr h="245059">
                <a:tc>
                  <a:txBody>
                    <a:bodyPr wrap="square"/>
                    <a:lstStyle/>
                    <a:p>
                      <a:pPr algn="l"/>
                      <a:r>
                        <a:rPr sz="900" b="1">
                          <a:solidFill>
                            <a:srgbClr val="1E2F5C"/>
                          </a:solidFill>
                          <a:latin typeface="Kanit"/>
                        </a:rPr>
                        <a:t>นครสวรรค์</a:t>
                      </a:r>
                    </a:p>
                  </a:txBody>
                  <a:tcPr marL="54864" marR="54864" marT="18288" marB="18288" anchor="ctr">
                    <a:solidFill>
                      <a:srgbClr val="FFFFFF"/>
                    </a:solidFill>
                  </a:tcPr>
                </a:tc>
                <a:tc>
                  <a:txBody>
                    <a:bodyPr wrap="square"/>
                    <a:lstStyle/>
                    <a:p>
                      <a:pPr algn="l"/>
                      <a:r>
                        <a:rPr sz="900" b="0">
                          <a:solidFill>
                            <a:srgbClr val="606060"/>
                          </a:solidFill>
                          <a:latin typeface="Kanit"/>
                        </a:rPr>
                        <a:t>North</a:t>
                      </a:r>
                    </a:p>
                  </a:txBody>
                  <a:tcPr marL="54864" marR="54864" marT="18288" marB="18288" anchor="ctr">
                    <a:solidFill>
                      <a:srgbClr val="FFFFFF"/>
                    </a:solidFill>
                  </a:tcPr>
                </a:tc>
                <a:tc>
                  <a:txBody>
                    <a:bodyPr wrap="square"/>
                    <a:lstStyle/>
                    <a:p>
                      <a:pPr algn="r"/>
                      <a:r>
                        <a:rPr sz="900" b="0">
                          <a:solidFill>
                            <a:srgbClr val="1E2F5C"/>
                          </a:solidFill>
                          <a:latin typeface="Kanit"/>
                        </a:rPr>
                        <a:t>3.97M</a:t>
                      </a:r>
                    </a:p>
                  </a:txBody>
                  <a:tcPr marL="54864" marR="54864" marT="18288" marB="18288" anchor="ctr">
                    <a:solidFill>
                      <a:srgbClr val="FFFFFF"/>
                    </a:solidFill>
                  </a:tcPr>
                </a:tc>
                <a:tc>
                  <a:txBody>
                    <a:bodyPr wrap="square"/>
                    <a:lstStyle/>
                    <a:p>
                      <a:pPr algn="l"/>
                      <a:r>
                        <a:rPr sz="900" b="0">
                          <a:solidFill>
                            <a:srgbClr val="15795F"/>
                          </a:solidFill>
                          <a:latin typeface="Kanit"/>
                        </a:rPr>
                        <a:t>Rice 65% (+13%)</a:t>
                      </a:r>
                    </a:p>
                  </a:txBody>
                  <a:tcPr marL="54864" marR="54864" marT="18288" marB="18288" anchor="ctr">
                    <a:solidFill>
                      <a:srgbClr val="FFFFFF"/>
                    </a:solidFill>
                  </a:tcPr>
                </a:tc>
                <a:tc>
                  <a:txBody>
                    <a:bodyPr wrap="square"/>
                    <a:lstStyle/>
                    <a:p>
                      <a:pPr algn="l"/>
                      <a:r>
                        <a:rPr sz="900" b="0">
                          <a:solidFill>
                            <a:srgbClr val="CC0000"/>
                          </a:solidFill>
                          <a:latin typeface="Kanit"/>
                        </a:rPr>
                        <a:t>Sugarcane (-18%)</a:t>
                      </a:r>
                    </a:p>
                  </a:txBody>
                  <a:tcPr marL="54864" marR="54864" marT="18288" marB="18288" anchor="ctr">
                    <a:solidFill>
                      <a:srgbClr val="FFFFFF"/>
                    </a:solidFill>
                  </a:tcPr>
                </a:tc>
                <a:tc>
                  <a:txBody>
                    <a:bodyPr wrap="square"/>
                    <a:lstStyle/>
                    <a:p>
                      <a:pPr algn="r"/>
                      <a:r>
                        <a:rPr sz="900" b="1">
                          <a:solidFill>
                            <a:srgbClr val="15795F"/>
                          </a:solidFill>
                          <a:latin typeface="Kanit"/>
                        </a:rPr>
                        <a:t>+10.0%</a:t>
                      </a:r>
                    </a:p>
                  </a:txBody>
                  <a:tcPr marL="54864" marR="54864" marT="18288" marB="18288" anchor="ctr">
                    <a:solidFill>
                      <a:srgbClr val="FFFFFF"/>
                    </a:solidFill>
                  </a:tcPr>
                </a:tc>
                <a:tc>
                  <a:txBody>
                    <a:bodyPr wrap="square"/>
                    <a:lstStyle/>
                    <a:p>
                      <a:pPr algn="r"/>
                      <a:r>
                        <a:rPr sz="900" b="0">
                          <a:solidFill>
                            <a:srgbClr val="1E2F5C"/>
                          </a:solidFill>
                          <a:latin typeface="Kanit"/>
                        </a:rPr>
                        <a:t>10,777</a:t>
                      </a:r>
                    </a:p>
                  </a:txBody>
                  <a:tcPr marL="54864" marR="54864" marT="18288" marB="18288" anchor="ctr">
                    <a:solidFill>
                      <a:srgbClr val="FFFFFF"/>
                    </a:solidFill>
                  </a:tcPr>
                </a:tc>
                <a:tc>
                  <a:txBody>
                    <a:bodyPr wrap="square"/>
                    <a:lstStyle/>
                    <a:p>
                      <a:pPr algn="r"/>
                      <a:r>
                        <a:rPr sz="900" b="1">
                          <a:solidFill>
                            <a:srgbClr val="15795F"/>
                          </a:solidFill>
                          <a:latin typeface="Kanit"/>
                        </a:rPr>
                        <a:t>+593</a:t>
                      </a:r>
                    </a:p>
                  </a:txBody>
                  <a:tcPr marL="54864" marR="54864" marT="18288" marB="18288" anchor="ctr">
                    <a:solidFill>
                      <a:srgbClr val="FFFFFF"/>
                    </a:solidFill>
                  </a:tcPr>
                </a:tc>
                <a:tc>
                  <a:txBody>
                    <a:bodyPr wrap="square"/>
                    <a:lstStyle/>
                    <a:p>
                      <a:pPr algn="r"/>
                      <a:r>
                        <a:rPr sz="900" b="1">
                          <a:solidFill>
                            <a:srgbClr val="CC0000"/>
                          </a:solidFill>
                          <a:latin typeface="Kanit"/>
                        </a:rPr>
                        <a:t>81%</a:t>
                      </a:r>
                    </a:p>
                  </a:txBody>
                  <a:tcPr marL="54864" marR="54864" marT="18288" marB="18288" anchor="ctr">
                    <a:solidFill>
                      <a:srgbClr val="FFFFFF"/>
                    </a:solidFill>
                  </a:tcPr>
                </a:tc>
              </a:tr>
              <a:tr h="245059">
                <a:tc>
                  <a:txBody>
                    <a:bodyPr wrap="square"/>
                    <a:lstStyle/>
                    <a:p>
                      <a:pPr algn="l"/>
                      <a:r>
                        <a:rPr sz="900" b="1">
                          <a:solidFill>
                            <a:srgbClr val="1E2F5C"/>
                          </a:solidFill>
                          <a:latin typeface="Kanit"/>
                        </a:rPr>
                        <a:t>สุราษฎร์ธานี</a:t>
                      </a:r>
                    </a:p>
                  </a:txBody>
                  <a:tcPr marL="54864" marR="54864" marT="18288" marB="18288" anchor="ctr">
                    <a:solidFill>
                      <a:srgbClr val="F7F9FC"/>
                    </a:solidFill>
                  </a:tcPr>
                </a:tc>
                <a:tc>
                  <a:txBody>
                    <a:bodyPr wrap="square"/>
                    <a:lstStyle/>
                    <a:p>
                      <a:pPr algn="l"/>
                      <a:r>
                        <a:rPr sz="900" b="0">
                          <a:solidFill>
                            <a:srgbClr val="606060"/>
                          </a:solidFill>
                          <a:latin typeface="Kanit"/>
                        </a:rPr>
                        <a:t>South</a:t>
                      </a:r>
                    </a:p>
                  </a:txBody>
                  <a:tcPr marL="54864" marR="54864" marT="18288" marB="18288" anchor="ctr">
                    <a:solidFill>
                      <a:srgbClr val="F7F9FC"/>
                    </a:solidFill>
                  </a:tcPr>
                </a:tc>
                <a:tc>
                  <a:txBody>
                    <a:bodyPr wrap="square"/>
                    <a:lstStyle/>
                    <a:p>
                      <a:pPr algn="r"/>
                      <a:r>
                        <a:rPr sz="900" b="0">
                          <a:solidFill>
                            <a:srgbClr val="1E2F5C"/>
                          </a:solidFill>
                          <a:latin typeface="Kanit"/>
                        </a:rPr>
                        <a:t>3.80M</a:t>
                      </a:r>
                    </a:p>
                  </a:txBody>
                  <a:tcPr marL="54864" marR="54864" marT="18288" marB="18288" anchor="ctr">
                    <a:solidFill>
                      <a:srgbClr val="F7F9FC"/>
                    </a:solidFill>
                  </a:tcPr>
                </a:tc>
                <a:tc>
                  <a:txBody>
                    <a:bodyPr wrap="square"/>
                    <a:lstStyle/>
                    <a:p>
                      <a:pPr algn="l"/>
                      <a:r>
                        <a:rPr sz="900" b="0">
                          <a:solidFill>
                            <a:srgbClr val="15795F"/>
                          </a:solidFill>
                          <a:latin typeface="Kanit"/>
                        </a:rPr>
                        <a:t>Rubber 60% (+41%)</a:t>
                      </a:r>
                    </a:p>
                  </a:txBody>
                  <a:tcPr marL="54864" marR="54864" marT="18288" marB="18288" anchor="ctr">
                    <a:solidFill>
                      <a:srgbClr val="F7F9FC"/>
                    </a:solidFill>
                  </a:tcPr>
                </a:tc>
                <a:tc>
                  <a:txBody>
                    <a:bodyPr wrap="square"/>
                    <a:lstStyle/>
                    <a:p>
                      <a:pPr algn="l"/>
                      <a:r>
                        <a:rPr sz="900" b="0">
                          <a:solidFill>
                            <a:srgbClr val="CC0000"/>
                          </a:solidFill>
                          <a:latin typeface="Kanit"/>
                        </a:rPr>
                        <a:t>Coconut (-70%)</a:t>
                      </a:r>
                    </a:p>
                  </a:txBody>
                  <a:tcPr marL="54864" marR="54864" marT="18288" marB="18288" anchor="ctr">
                    <a:solidFill>
                      <a:srgbClr val="F7F9FC"/>
                    </a:solidFill>
                  </a:tcPr>
                </a:tc>
                <a:tc>
                  <a:txBody>
                    <a:bodyPr wrap="square"/>
                    <a:lstStyle/>
                    <a:p>
                      <a:pPr algn="r"/>
                      <a:r>
                        <a:rPr sz="900" b="1">
                          <a:solidFill>
                            <a:srgbClr val="15795F"/>
                          </a:solidFill>
                          <a:latin typeface="Kanit"/>
                        </a:rPr>
                        <a:t>+34.9%</a:t>
                      </a:r>
                    </a:p>
                  </a:txBody>
                  <a:tcPr marL="54864" marR="54864" marT="18288" marB="18288" anchor="ctr">
                    <a:solidFill>
                      <a:srgbClr val="F7F9FC"/>
                    </a:solidFill>
                  </a:tcPr>
                </a:tc>
                <a:tc>
                  <a:txBody>
                    <a:bodyPr wrap="square"/>
                    <a:lstStyle/>
                    <a:p>
                      <a:pPr algn="r"/>
                      <a:r>
                        <a:rPr sz="900" b="0">
                          <a:solidFill>
                            <a:srgbClr val="1E2F5C"/>
                          </a:solidFill>
                          <a:latin typeface="Kanit"/>
                        </a:rPr>
                        <a:t>11,426</a:t>
                      </a:r>
                    </a:p>
                  </a:txBody>
                  <a:tcPr marL="54864" marR="54864" marT="18288" marB="18288" anchor="ctr">
                    <a:solidFill>
                      <a:srgbClr val="F7F9FC"/>
                    </a:solidFill>
                  </a:tcPr>
                </a:tc>
                <a:tc>
                  <a:txBody>
                    <a:bodyPr wrap="square"/>
                    <a:lstStyle/>
                    <a:p>
                      <a:pPr algn="r"/>
                      <a:r>
                        <a:rPr sz="900" b="1">
                          <a:solidFill>
                            <a:srgbClr val="15795F"/>
                          </a:solidFill>
                          <a:latin typeface="Kanit"/>
                        </a:rPr>
                        <a:t>+2,192</a:t>
                      </a:r>
                    </a:p>
                  </a:txBody>
                  <a:tcPr marL="54864" marR="54864" marT="18288" marB="18288" anchor="ctr">
                    <a:solidFill>
                      <a:srgbClr val="F7F9FC"/>
                    </a:solidFill>
                  </a:tcPr>
                </a:tc>
                <a:tc>
                  <a:txBody>
                    <a:bodyPr wrap="square"/>
                    <a:lstStyle/>
                    <a:p>
                      <a:pPr algn="r"/>
                      <a:r>
                        <a:rPr sz="900" b="1">
                          <a:solidFill>
                            <a:srgbClr val="1E2F5C"/>
                          </a:solidFill>
                          <a:latin typeface="Kanit"/>
                        </a:rPr>
                        <a:t>99%</a:t>
                      </a:r>
                    </a:p>
                  </a:txBody>
                  <a:tcPr marL="54864" marR="54864" marT="18288" marB="18288" anchor="ctr">
                    <a:solidFill>
                      <a:srgbClr val="F7F9FC"/>
                    </a:solidFill>
                  </a:tcPr>
                </a:tc>
              </a:tr>
              <a:tr h="245059">
                <a:tc>
                  <a:txBody>
                    <a:bodyPr wrap="square"/>
                    <a:lstStyle/>
                    <a:p>
                      <a:pPr algn="l"/>
                      <a:r>
                        <a:rPr sz="900" b="1">
                          <a:solidFill>
                            <a:srgbClr val="1E2F5C"/>
                          </a:solidFill>
                          <a:latin typeface="Kanit"/>
                        </a:rPr>
                        <a:t>บุรีรัมย์</a:t>
                      </a:r>
                    </a:p>
                  </a:txBody>
                  <a:tcPr marL="54864" marR="54864" marT="18288" marB="18288" anchor="ctr">
                    <a:solidFill>
                      <a:srgbClr val="FFFFFF"/>
                    </a:solidFill>
                  </a:tcPr>
                </a:tc>
                <a:tc>
                  <a:txBody>
                    <a:bodyPr wrap="square"/>
                    <a:lstStyle/>
                    <a:p>
                      <a:pPr algn="l"/>
                      <a:r>
                        <a:rPr sz="900" b="0">
                          <a:solidFill>
                            <a:srgbClr val="606060"/>
                          </a:solidFill>
                          <a:latin typeface="Kanit"/>
                        </a:rPr>
                        <a:t>Isan</a:t>
                      </a:r>
                    </a:p>
                  </a:txBody>
                  <a:tcPr marL="54864" marR="54864" marT="18288" marB="18288" anchor="ctr">
                    <a:solidFill>
                      <a:srgbClr val="FFFFFF"/>
                    </a:solidFill>
                  </a:tcPr>
                </a:tc>
                <a:tc>
                  <a:txBody>
                    <a:bodyPr wrap="square"/>
                    <a:lstStyle/>
                    <a:p>
                      <a:pPr algn="r"/>
                      <a:r>
                        <a:rPr sz="900" b="0">
                          <a:solidFill>
                            <a:srgbClr val="1E2F5C"/>
                          </a:solidFill>
                          <a:latin typeface="Kanit"/>
                        </a:rPr>
                        <a:t>3.65M</a:t>
                      </a:r>
                    </a:p>
                  </a:txBody>
                  <a:tcPr marL="54864" marR="54864" marT="18288" marB="18288" anchor="ctr">
                    <a:solidFill>
                      <a:srgbClr val="FFFFFF"/>
                    </a:solidFill>
                  </a:tcPr>
                </a:tc>
                <a:tc>
                  <a:txBody>
                    <a:bodyPr wrap="square"/>
                    <a:lstStyle/>
                    <a:p>
                      <a:pPr algn="l"/>
                      <a:r>
                        <a:rPr sz="900" b="0">
                          <a:solidFill>
                            <a:srgbClr val="15795F"/>
                          </a:solidFill>
                          <a:latin typeface="Kanit"/>
                        </a:rPr>
                        <a:t>Rice 82% (+13%)</a:t>
                      </a:r>
                    </a:p>
                  </a:txBody>
                  <a:tcPr marL="54864" marR="54864" marT="18288" marB="18288" anchor="ctr">
                    <a:solidFill>
                      <a:srgbClr val="FFFFFF"/>
                    </a:solidFill>
                  </a:tcPr>
                </a:tc>
                <a:tc>
                  <a:txBody>
                    <a:bodyPr wrap="square"/>
                    <a:lstStyle/>
                    <a:p>
                      <a:pPr algn="l"/>
                      <a:r>
                        <a:rPr sz="900" b="0">
                          <a:solidFill>
                            <a:srgbClr val="CC0000"/>
                          </a:solidFill>
                          <a:latin typeface="Kanit"/>
                        </a:rPr>
                        <a:t>Sugarcane (-18%)</a:t>
                      </a:r>
                    </a:p>
                  </a:txBody>
                  <a:tcPr marL="54864" marR="54864" marT="18288" marB="18288" anchor="ctr">
                    <a:solidFill>
                      <a:srgbClr val="FFFFFF"/>
                    </a:solidFill>
                  </a:tcPr>
                </a:tc>
                <a:tc>
                  <a:txBody>
                    <a:bodyPr wrap="square"/>
                    <a:lstStyle/>
                    <a:p>
                      <a:pPr algn="r"/>
                      <a:r>
                        <a:rPr sz="900" b="1">
                          <a:solidFill>
                            <a:srgbClr val="15795F"/>
                          </a:solidFill>
                          <a:latin typeface="Kanit"/>
                        </a:rPr>
                        <a:t>+15.9%</a:t>
                      </a:r>
                    </a:p>
                  </a:txBody>
                  <a:tcPr marL="54864" marR="54864" marT="18288" marB="18288" anchor="ctr">
                    <a:solidFill>
                      <a:srgbClr val="FFFFFF"/>
                    </a:solidFill>
                  </a:tcPr>
                </a:tc>
                <a:tc>
                  <a:txBody>
                    <a:bodyPr wrap="square"/>
                    <a:lstStyle/>
                    <a:p>
                      <a:pPr algn="r"/>
                      <a:r>
                        <a:rPr sz="900" b="0">
                          <a:solidFill>
                            <a:srgbClr val="1E2F5C"/>
                          </a:solidFill>
                          <a:latin typeface="Kanit"/>
                        </a:rPr>
                        <a:t>7,557</a:t>
                      </a:r>
                    </a:p>
                  </a:txBody>
                  <a:tcPr marL="54864" marR="54864" marT="18288" marB="18288" anchor="ctr">
                    <a:solidFill>
                      <a:srgbClr val="FFFFFF"/>
                    </a:solidFill>
                  </a:tcPr>
                </a:tc>
                <a:tc>
                  <a:txBody>
                    <a:bodyPr wrap="square"/>
                    <a:lstStyle/>
                    <a:p>
                      <a:pPr algn="r"/>
                      <a:r>
                        <a:rPr sz="900" b="1">
                          <a:solidFill>
                            <a:srgbClr val="15795F"/>
                          </a:solidFill>
                          <a:latin typeface="Kanit"/>
                        </a:rPr>
                        <a:t>+662</a:t>
                      </a:r>
                    </a:p>
                  </a:txBody>
                  <a:tcPr marL="54864" marR="54864" marT="18288" marB="18288" anchor="ctr">
                    <a:solidFill>
                      <a:srgbClr val="FFFFFF"/>
                    </a:solidFill>
                  </a:tcPr>
                </a:tc>
                <a:tc>
                  <a:txBody>
                    <a:bodyPr wrap="square"/>
                    <a:lstStyle/>
                    <a:p>
                      <a:pPr algn="r"/>
                      <a:r>
                        <a:rPr sz="900" b="1">
                          <a:solidFill>
                            <a:srgbClr val="CC0000"/>
                          </a:solidFill>
                          <a:latin typeface="Kanit"/>
                        </a:rPr>
                        <a:t>84%</a:t>
                      </a:r>
                    </a:p>
                  </a:txBody>
                  <a:tcPr marL="54864" marR="54864" marT="18288" marB="18288" anchor="ctr">
                    <a:solidFill>
                      <a:srgbClr val="FFFFFF"/>
                    </a:solidFill>
                  </a:tcPr>
                </a:tc>
              </a:tr>
              <a:tr h="245059">
                <a:tc>
                  <a:txBody>
                    <a:bodyPr wrap="square"/>
                    <a:lstStyle/>
                    <a:p>
                      <a:pPr algn="l"/>
                      <a:r>
                        <a:rPr sz="900" b="1">
                          <a:solidFill>
                            <a:srgbClr val="1E2F5C"/>
                          </a:solidFill>
                          <a:latin typeface="Kanit"/>
                        </a:rPr>
                        <a:t>สุรินทร์</a:t>
                      </a:r>
                    </a:p>
                  </a:txBody>
                  <a:tcPr marL="54864" marR="54864" marT="18288" marB="18288" anchor="ctr">
                    <a:solidFill>
                      <a:srgbClr val="F7F9FC"/>
                    </a:solidFill>
                  </a:tcPr>
                </a:tc>
                <a:tc>
                  <a:txBody>
                    <a:bodyPr wrap="square"/>
                    <a:lstStyle/>
                    <a:p>
                      <a:pPr algn="l"/>
                      <a:r>
                        <a:rPr sz="900" b="0">
                          <a:solidFill>
                            <a:srgbClr val="606060"/>
                          </a:solidFill>
                          <a:latin typeface="Kanit"/>
                        </a:rPr>
                        <a:t>Isan</a:t>
                      </a:r>
                    </a:p>
                  </a:txBody>
                  <a:tcPr marL="54864" marR="54864" marT="18288" marB="18288" anchor="ctr">
                    <a:solidFill>
                      <a:srgbClr val="F7F9FC"/>
                    </a:solidFill>
                  </a:tcPr>
                </a:tc>
                <a:tc>
                  <a:txBody>
                    <a:bodyPr wrap="square"/>
                    <a:lstStyle/>
                    <a:p>
                      <a:pPr algn="r"/>
                      <a:r>
                        <a:rPr sz="900" b="0">
                          <a:solidFill>
                            <a:srgbClr val="1E2F5C"/>
                          </a:solidFill>
                          <a:latin typeface="Kanit"/>
                        </a:rPr>
                        <a:t>3.57M</a:t>
                      </a:r>
                    </a:p>
                  </a:txBody>
                  <a:tcPr marL="54864" marR="54864" marT="18288" marB="18288" anchor="ctr">
                    <a:solidFill>
                      <a:srgbClr val="F7F9FC"/>
                    </a:solidFill>
                  </a:tcPr>
                </a:tc>
                <a:tc>
                  <a:txBody>
                    <a:bodyPr wrap="square"/>
                    <a:lstStyle/>
                    <a:p>
                      <a:pPr algn="l"/>
                      <a:r>
                        <a:rPr sz="900" b="0">
                          <a:solidFill>
                            <a:srgbClr val="15795F"/>
                          </a:solidFill>
                          <a:latin typeface="Kanit"/>
                        </a:rPr>
                        <a:t>Rice 88% (+13%)</a:t>
                      </a:r>
                    </a:p>
                  </a:txBody>
                  <a:tcPr marL="54864" marR="54864" marT="18288" marB="18288" anchor="ctr">
                    <a:solidFill>
                      <a:srgbClr val="F7F9FC"/>
                    </a:solidFill>
                  </a:tcPr>
                </a:tc>
                <a:tc>
                  <a:txBody>
                    <a:bodyPr wrap="square"/>
                    <a:lstStyle/>
                    <a:p>
                      <a:pPr algn="l"/>
                      <a:r>
                        <a:rPr sz="900" b="0">
                          <a:solidFill>
                            <a:srgbClr val="CC0000"/>
                          </a:solidFill>
                          <a:latin typeface="Kanit"/>
                        </a:rPr>
                        <a:t>Sugarcane (-18%)</a:t>
                      </a:r>
                    </a:p>
                  </a:txBody>
                  <a:tcPr marL="54864" marR="54864" marT="18288" marB="18288" anchor="ctr">
                    <a:solidFill>
                      <a:srgbClr val="F7F9FC"/>
                    </a:solidFill>
                  </a:tcPr>
                </a:tc>
                <a:tc>
                  <a:txBody>
                    <a:bodyPr wrap="square"/>
                    <a:lstStyle/>
                    <a:p>
                      <a:pPr algn="r"/>
                      <a:r>
                        <a:rPr sz="900" b="1">
                          <a:solidFill>
                            <a:srgbClr val="15795F"/>
                          </a:solidFill>
                          <a:latin typeface="Kanit"/>
                        </a:rPr>
                        <a:t>+14.8%</a:t>
                      </a:r>
                    </a:p>
                  </a:txBody>
                  <a:tcPr marL="54864" marR="54864" marT="18288" marB="18288" anchor="ctr">
                    <a:solidFill>
                      <a:srgbClr val="F7F9FC"/>
                    </a:solidFill>
                  </a:tcPr>
                </a:tc>
                <a:tc>
                  <a:txBody>
                    <a:bodyPr wrap="square"/>
                    <a:lstStyle/>
                    <a:p>
                      <a:pPr algn="r"/>
                      <a:r>
                        <a:rPr sz="900" b="0">
                          <a:solidFill>
                            <a:srgbClr val="1E2F5C"/>
                          </a:solidFill>
                          <a:latin typeface="Kanit"/>
                        </a:rPr>
                        <a:t>6,510</a:t>
                      </a:r>
                    </a:p>
                  </a:txBody>
                  <a:tcPr marL="54864" marR="54864" marT="18288" marB="18288" anchor="ctr">
                    <a:solidFill>
                      <a:srgbClr val="F7F9FC"/>
                    </a:solidFill>
                  </a:tcPr>
                </a:tc>
                <a:tc>
                  <a:txBody>
                    <a:bodyPr wrap="square"/>
                    <a:lstStyle/>
                    <a:p>
                      <a:pPr algn="r"/>
                      <a:r>
                        <a:rPr sz="900" b="1">
                          <a:solidFill>
                            <a:srgbClr val="15795F"/>
                          </a:solidFill>
                          <a:latin typeface="Kanit"/>
                        </a:rPr>
                        <a:t>+529</a:t>
                      </a:r>
                    </a:p>
                  </a:txBody>
                  <a:tcPr marL="54864" marR="54864" marT="18288" marB="18288" anchor="ctr">
                    <a:solidFill>
                      <a:srgbClr val="F7F9FC"/>
                    </a:solidFill>
                  </a:tcPr>
                </a:tc>
                <a:tc>
                  <a:txBody>
                    <a:bodyPr wrap="square"/>
                    <a:lstStyle/>
                    <a:p>
                      <a:pPr algn="r"/>
                      <a:r>
                        <a:rPr sz="900" b="1">
                          <a:solidFill>
                            <a:srgbClr val="CC0000"/>
                          </a:solidFill>
                          <a:latin typeface="Kanit"/>
                        </a:rPr>
                        <a:t>76%</a:t>
                      </a:r>
                    </a:p>
                  </a:txBody>
                  <a:tcPr marL="54864" marR="54864" marT="18288" marB="18288" anchor="ctr">
                    <a:solidFill>
                      <a:srgbClr val="F7F9FC"/>
                    </a:solidFill>
                  </a:tcPr>
                </a:tc>
              </a:tr>
            </a:tbl>
          </a:graphicData>
        </a:graphic>
      </p:graphicFrame>
      <p:sp>
        <p:nvSpPr>
          <p:cNvPr id="31" name="Rounded Rectangle 30"/>
          <p:cNvSpPr/>
          <p:nvPr/>
        </p:nvSpPr>
        <p:spPr>
          <a:xfrm>
            <a:off x="411480" y="5996635"/>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411480" y="6025896"/>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33" name="TextBox 32"/>
          <p:cNvSpPr txBox="1"/>
          <p:nvPr/>
        </p:nvSpPr>
        <p:spPr>
          <a:xfrm>
            <a:off x="1056955" y="6010351"/>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Planted area and crop mix MEASURED (OAE, by province); farm-gate price moves MEASURED (NABC/OCSB); farm income level MEASURED (NSO/OAE, baht per month). The income shock is ESTIMATED — each province's crop mix weighted by the measured price move, expressed as a percentage of its measured farm income and as the baht that implies. Six of 77 provinces shown, ordered by planted area.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06 · MARGIN AND COST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There are two published prices for every crop. Only one is what the grower gets.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OAE publishes, on one consistent basis, what a crop yields, what it sells for at the farm gate and what it costs to produce. Netted out per household and divided by the people in it, this is what a month of farming is actually worth.</a:t>
            </a:r>
          </a:p>
        </p:txBody>
      </p:sp>
      <p:graphicFrame>
        <p:nvGraphicFramePr>
          <p:cNvPr id="10" name="Table 9"/>
          <p:cNvGraphicFramePr>
            <a:graphicFrameLocks noGrp="1"/>
          </p:cNvGraphicFramePr>
          <p:nvPr/>
        </p:nvGraphicFramePr>
        <p:xfrm>
          <a:off x="411480" y="1679448"/>
          <a:ext cx="11365991" cy="1677924"/>
        </p:xfrm>
        <a:graphic>
          <a:graphicData uri="http://schemas.openxmlformats.org/drawingml/2006/table">
            <a:tbl>
              <a:tblPr>
                <a:tableStyleId>{5C22544A-7EE6-4342-B048-85BDC9FD1C3A}</a:tableStyleId>
              </a:tblPr>
              <a:tblGrid>
                <a:gridCol w="1269470"/>
                <a:gridCol w="761682"/>
                <a:gridCol w="1100208"/>
                <a:gridCol w="1269470"/>
                <a:gridCol w="1227155"/>
                <a:gridCol w="1184839"/>
                <a:gridCol w="1015576"/>
                <a:gridCol w="1354102"/>
                <a:gridCol w="1100208"/>
                <a:gridCol w="1083281"/>
              </a:tblGrid>
              <a:tr h="329184">
                <a:tc>
                  <a:txBody>
                    <a:bodyPr wrap="square"/>
                    <a:lstStyle/>
                    <a:p>
                      <a:pPr algn="l"/>
                      <a:r>
                        <a:rPr sz="1050" b="1">
                          <a:solidFill>
                            <a:srgbClr val="FFFFFF"/>
                          </a:solidFill>
                          <a:latin typeface="Kanit"/>
                        </a:rPr>
                        <a:t>Crop</a:t>
                      </a:r>
                    </a:p>
                  </a:txBody>
                  <a:tcPr marL="54864" marR="54864" marT="18288" marB="18288" anchor="ctr">
                    <a:solidFill>
                      <a:srgbClr val="1B2A6B"/>
                    </a:solidFill>
                  </a:tcPr>
                </a:tc>
                <a:tc>
                  <a:txBody>
                    <a:bodyPr wrap="square"/>
                    <a:lstStyle/>
                    <a:p>
                      <a:pPr algn="r"/>
                      <a:r>
                        <a:rPr sz="1050" b="1">
                          <a:solidFill>
                            <a:srgbClr val="FFFFFF"/>
                          </a:solidFill>
                          <a:latin typeface="Kanit"/>
                        </a:rPr>
                        <a:t>area (rai)</a:t>
                      </a:r>
                    </a:p>
                  </a:txBody>
                  <a:tcPr marL="54864" marR="54864" marT="18288" marB="18288" anchor="ctr">
                    <a:solidFill>
                      <a:srgbClr val="1B2A6B"/>
                    </a:solidFill>
                  </a:tcPr>
                </a:tc>
                <a:tc>
                  <a:txBody>
                    <a:bodyPr wrap="square"/>
                    <a:lstStyle/>
                    <a:p>
                      <a:pPr algn="r"/>
                      <a:r>
                        <a:rPr sz="1050" b="1">
                          <a:solidFill>
                            <a:srgbClr val="FFFFFF"/>
                          </a:solidFill>
                          <a:latin typeface="Kanit"/>
                        </a:rPr>
                        <a:t>households</a:t>
                      </a:r>
                    </a:p>
                  </a:txBody>
                  <a:tcPr marL="54864" marR="54864" marT="18288" marB="18288" anchor="ctr">
                    <a:solidFill>
                      <a:srgbClr val="1B2A6B"/>
                    </a:solidFill>
                  </a:tcPr>
                </a:tc>
                <a:tc>
                  <a:txBody>
                    <a:bodyPr wrap="square"/>
                    <a:lstStyle/>
                    <a:p>
                      <a:pPr algn="r"/>
                      <a:r>
                        <a:rPr sz="1050" b="1">
                          <a:solidFill>
                            <a:srgbClr val="FFFFFF"/>
                          </a:solidFill>
                          <a:latin typeface="Kanit"/>
                        </a:rPr>
                        <a:t>farm-gate YoY</a:t>
                      </a:r>
                    </a:p>
                  </a:txBody>
                  <a:tcPr marL="54864" marR="54864" marT="18288" marB="18288" anchor="ctr">
                    <a:solidFill>
                      <a:srgbClr val="1B2A6B"/>
                    </a:solidFill>
                  </a:tcPr>
                </a:tc>
                <a:tc>
                  <a:txBody>
                    <a:bodyPr wrap="square"/>
                    <a:lstStyle/>
                    <a:p>
                      <a:pPr algn="r"/>
                      <a:r>
                        <a:rPr sz="1050" b="1">
                          <a:solidFill>
                            <a:srgbClr val="FFFFFF"/>
                          </a:solidFill>
                          <a:latin typeface="Kanit"/>
                        </a:rPr>
                        <a:t>OAE gate ฿/kg</a:t>
                      </a:r>
                    </a:p>
                  </a:txBody>
                  <a:tcPr marL="54864" marR="54864" marT="18288" marB="18288" anchor="ctr">
                    <a:solidFill>
                      <a:srgbClr val="1B2A6B"/>
                    </a:solidFill>
                  </a:tcPr>
                </a:tc>
                <a:tc>
                  <a:txBody>
                    <a:bodyPr wrap="square"/>
                    <a:lstStyle/>
                    <a:p>
                      <a:pPr algn="r"/>
                      <a:r>
                        <a:rPr sz="1050" b="1">
                          <a:solidFill>
                            <a:srgbClr val="FFFFFF"/>
                          </a:solidFill>
                          <a:latin typeface="Kanit"/>
                        </a:rPr>
                        <a:t>OAE cost ฿/kg</a:t>
                      </a:r>
                    </a:p>
                  </a:txBody>
                  <a:tcPr marL="54864" marR="54864" marT="18288" marB="18288" anchor="ctr">
                    <a:solidFill>
                      <a:srgbClr val="1B2A6B"/>
                    </a:solidFill>
                  </a:tcPr>
                </a:tc>
                <a:tc>
                  <a:txBody>
                    <a:bodyPr wrap="square"/>
                    <a:lstStyle/>
                    <a:p>
                      <a:pPr algn="r"/>
                      <a:r>
                        <a:rPr sz="1050" b="1">
                          <a:solidFill>
                            <a:srgbClr val="FFFFFF"/>
                          </a:solidFill>
                          <a:latin typeface="Kanit"/>
                        </a:rPr>
                        <a:t>net ฿/tonne</a:t>
                      </a:r>
                    </a:p>
                  </a:txBody>
                  <a:tcPr marL="54864" marR="54864" marT="18288" marB="18288" anchor="ctr">
                    <a:solidFill>
                      <a:srgbClr val="1B2A6B"/>
                    </a:solidFill>
                  </a:tcPr>
                </a:tc>
                <a:tc>
                  <a:txBody>
                    <a:bodyPr wrap="square"/>
                    <a:lstStyle/>
                    <a:p>
                      <a:pPr algn="r"/>
                      <a:r>
                        <a:rPr sz="1050" b="1">
                          <a:solidFill>
                            <a:srgbClr val="FFFFFF"/>
                          </a:solidFill>
                          <a:latin typeface="Kanit"/>
                        </a:rPr>
                        <a:t>net ฿/person/mo</a:t>
                      </a:r>
                    </a:p>
                  </a:txBody>
                  <a:tcPr marL="54864" marR="54864" marT="18288" marB="18288" anchor="ctr">
                    <a:solidFill>
                      <a:srgbClr val="1B2A6B"/>
                    </a:solidFill>
                  </a:tcPr>
                </a:tc>
                <a:tc>
                  <a:txBody>
                    <a:bodyPr wrap="square"/>
                    <a:lstStyle/>
                    <a:p>
                      <a:pPr algn="l"/>
                      <a:r>
                        <a:rPr sz="1050" b="1">
                          <a:solidFill>
                            <a:srgbClr val="FFFFFF"/>
                          </a:solidFill>
                          <a:latin typeface="Kanit"/>
                        </a:rPr>
                        <a:t>verdict</a:t>
                      </a:r>
                    </a:p>
                  </a:txBody>
                  <a:tcPr marL="54864" marR="54864" marT="18288" marB="18288" anchor="ctr">
                    <a:solidFill>
                      <a:srgbClr val="1B2A6B"/>
                    </a:solidFill>
                  </a:tcPr>
                </a:tc>
                <a:tc>
                  <a:txBody>
                    <a:bodyPr wrap="square"/>
                    <a:lstStyle/>
                    <a:p>
                      <a:pPr algn="r"/>
                      <a:r>
                        <a:rPr sz="1050" b="1">
                          <a:solidFill>
                            <a:srgbClr val="FFFFFF"/>
                          </a:solidFill>
                          <a:latin typeface="Kanit"/>
                        </a:rPr>
                        <a:t>market</a:t>
                      </a:r>
                    </a:p>
                  </a:txBody>
                  <a:tcPr marL="54864" marR="54864" marT="18288" marB="18288" anchor="ctr">
                    <a:solidFill>
                      <a:srgbClr val="1B2A6B"/>
                    </a:solidFill>
                  </a:tcPr>
                </a:tc>
              </a:tr>
              <a:tr h="269748">
                <a:tc>
                  <a:txBody>
                    <a:bodyPr wrap="square"/>
                    <a:lstStyle/>
                    <a:p>
                      <a:pPr algn="l"/>
                      <a:r>
                        <a:rPr sz="950" b="1">
                          <a:solidFill>
                            <a:srgbClr val="1E2F5C"/>
                          </a:solidFill>
                          <a:latin typeface="Kanit"/>
                        </a:rPr>
                        <a:t>Cassava</a:t>
                      </a:r>
                    </a:p>
                  </a:txBody>
                  <a:tcPr marL="54864" marR="54864" marT="18288" marB="18288" anchor="ctr">
                    <a:solidFill>
                      <a:srgbClr val="FFFFFF"/>
                    </a:solidFill>
                  </a:tcPr>
                </a:tc>
                <a:tc>
                  <a:txBody>
                    <a:bodyPr wrap="square"/>
                    <a:lstStyle/>
                    <a:p>
                      <a:pPr algn="r"/>
                      <a:r>
                        <a:rPr sz="950" b="0">
                          <a:solidFill>
                            <a:srgbClr val="1E2F5C"/>
                          </a:solidFill>
                          <a:latin typeface="Kanit"/>
                        </a:rPr>
                        <a:t>8.5M</a:t>
                      </a:r>
                    </a:p>
                  </a:txBody>
                  <a:tcPr marL="54864" marR="54864" marT="18288" marB="18288" anchor="ctr">
                    <a:solidFill>
                      <a:srgbClr val="FFFFFF"/>
                    </a:solidFill>
                  </a:tcPr>
                </a:tc>
                <a:tc>
                  <a:txBody>
                    <a:bodyPr wrap="square"/>
                    <a:lstStyle/>
                    <a:p>
                      <a:pPr algn="r"/>
                      <a:r>
                        <a:rPr sz="950" b="0">
                          <a:solidFill>
                            <a:srgbClr val="1E2F5C"/>
                          </a:solidFill>
                          <a:latin typeface="Kanit"/>
                        </a:rPr>
                        <a:t>639,648</a:t>
                      </a:r>
                    </a:p>
                  </a:txBody>
                  <a:tcPr marL="54864" marR="54864" marT="18288" marB="18288" anchor="ctr">
                    <a:solidFill>
                      <a:srgbClr val="FFFFFF"/>
                    </a:solidFill>
                  </a:tcPr>
                </a:tc>
                <a:tc>
                  <a:txBody>
                    <a:bodyPr wrap="square"/>
                    <a:lstStyle/>
                    <a:p>
                      <a:pPr algn="r"/>
                      <a:r>
                        <a:rPr sz="950" b="1">
                          <a:solidFill>
                            <a:srgbClr val="15795F"/>
                          </a:solidFill>
                          <a:latin typeface="Kanit"/>
                        </a:rPr>
                        <a:t>+58.8%</a:t>
                      </a:r>
                    </a:p>
                  </a:txBody>
                  <a:tcPr marL="54864" marR="54864" marT="18288" marB="18288" anchor="ctr">
                    <a:solidFill>
                      <a:srgbClr val="FFFFFF"/>
                    </a:solidFill>
                  </a:tcPr>
                </a:tc>
                <a:tc>
                  <a:txBody>
                    <a:bodyPr wrap="square"/>
                    <a:lstStyle/>
                    <a:p>
                      <a:pPr algn="r"/>
                      <a:r>
                        <a:rPr sz="950" b="1">
                          <a:solidFill>
                            <a:srgbClr val="1E2F5C"/>
                          </a:solidFill>
                          <a:latin typeface="Kanit"/>
                        </a:rPr>
                        <a:t>2.22</a:t>
                      </a:r>
                    </a:p>
                  </a:txBody>
                  <a:tcPr marL="54864" marR="54864" marT="18288" marB="18288" anchor="ctr">
                    <a:solidFill>
                      <a:srgbClr val="FFFFFF"/>
                    </a:solidFill>
                  </a:tcPr>
                </a:tc>
                <a:tc>
                  <a:txBody>
                    <a:bodyPr wrap="square"/>
                    <a:lstStyle/>
                    <a:p>
                      <a:pPr algn="r"/>
                      <a:r>
                        <a:rPr sz="950" b="0">
                          <a:solidFill>
                            <a:srgbClr val="1E2F5C"/>
                          </a:solidFill>
                          <a:latin typeface="Kanit"/>
                        </a:rPr>
                        <a:t>2.54</a:t>
                      </a:r>
                    </a:p>
                  </a:txBody>
                  <a:tcPr marL="54864" marR="54864" marT="18288" marB="18288" anchor="ctr">
                    <a:solidFill>
                      <a:srgbClr val="FFFFFF"/>
                    </a:solidFill>
                  </a:tcPr>
                </a:tc>
                <a:tc>
                  <a:txBody>
                    <a:bodyPr wrap="square"/>
                    <a:lstStyle/>
                    <a:p>
                      <a:pPr algn="r"/>
                      <a:r>
                        <a:rPr sz="950" b="1">
                          <a:solidFill>
                            <a:srgbClr val="CC0000"/>
                          </a:solidFill>
                          <a:latin typeface="Kanit"/>
                        </a:rPr>
                        <a:t>-320</a:t>
                      </a:r>
                    </a:p>
                  </a:txBody>
                  <a:tcPr marL="54864" marR="54864" marT="18288" marB="18288" anchor="ctr">
                    <a:solidFill>
                      <a:srgbClr val="FFFFFF"/>
                    </a:solidFill>
                  </a:tcPr>
                </a:tc>
                <a:tc>
                  <a:txBody>
                    <a:bodyPr wrap="square"/>
                    <a:lstStyle/>
                    <a:p>
                      <a:pPr algn="r"/>
                      <a:r>
                        <a:rPr sz="950" b="1">
                          <a:solidFill>
                            <a:srgbClr val="CC0000"/>
                          </a:solidFill>
                          <a:latin typeface="Kanit"/>
                        </a:rPr>
                        <a:t>-702</a:t>
                      </a:r>
                    </a:p>
                  </a:txBody>
                  <a:tcPr marL="54864" marR="54864" marT="18288" marB="18288" anchor="ctr">
                    <a:solidFill>
                      <a:srgbClr val="FFFFFF"/>
                    </a:solidFill>
                  </a:tcPr>
                </a:tc>
                <a:tc>
                  <a:txBody>
                    <a:bodyPr wrap="square"/>
                    <a:lstStyle/>
                    <a:p>
                      <a:pPr algn="l"/>
                      <a:r>
                        <a:rPr sz="950" b="1">
                          <a:solidFill>
                            <a:srgbClr val="CC0000"/>
                          </a:solidFill>
                          <a:latin typeface="Kanit"/>
                        </a:rPr>
                        <a:t>below cost</a:t>
                      </a:r>
                    </a:p>
                  </a:txBody>
                  <a:tcPr marL="54864" marR="54864" marT="18288" marB="18288" anchor="ctr">
                    <a:solidFill>
                      <a:srgbClr val="FFFFFF"/>
                    </a:solidFill>
                  </a:tcPr>
                </a:tc>
                <a:tc>
                  <a:txBody>
                    <a:bodyPr wrap="square"/>
                    <a:lstStyle/>
                    <a:p>
                      <a:pPr algn="r"/>
                      <a:r>
                        <a:rPr sz="950" b="0">
                          <a:solidFill>
                            <a:srgbClr val="606060"/>
                          </a:solidFill>
                          <a:latin typeface="Kanit"/>
                        </a:rPr>
                        <a:t>3.75</a:t>
                      </a:r>
                    </a:p>
                  </a:txBody>
                  <a:tcPr marL="54864" marR="54864" marT="18288" marB="18288" anchor="ctr">
                    <a:solidFill>
                      <a:srgbClr val="FFFFFF"/>
                    </a:solidFill>
                  </a:tcPr>
                </a:tc>
              </a:tr>
              <a:tr h="269748">
                <a:tc>
                  <a:txBody>
                    <a:bodyPr wrap="square"/>
                    <a:lstStyle/>
                    <a:p>
                      <a:pPr algn="l"/>
                      <a:r>
                        <a:rPr sz="950" b="1">
                          <a:solidFill>
                            <a:srgbClr val="1E2F5C"/>
                          </a:solidFill>
                          <a:latin typeface="Kanit"/>
                        </a:rPr>
                        <a:t>Rice</a:t>
                      </a:r>
                    </a:p>
                  </a:txBody>
                  <a:tcPr marL="54864" marR="54864" marT="18288" marB="18288" anchor="ctr">
                    <a:solidFill>
                      <a:srgbClr val="F7F9FC"/>
                    </a:solidFill>
                  </a:tcPr>
                </a:tc>
                <a:tc>
                  <a:txBody>
                    <a:bodyPr wrap="square"/>
                    <a:lstStyle/>
                    <a:p>
                      <a:pPr algn="r"/>
                      <a:r>
                        <a:rPr sz="950" b="0">
                          <a:solidFill>
                            <a:srgbClr val="1E2F5C"/>
                          </a:solidFill>
                          <a:latin typeface="Kanit"/>
                        </a:rPr>
                        <a:t>61.3M</a:t>
                      </a:r>
                    </a:p>
                  </a:txBody>
                  <a:tcPr marL="54864" marR="54864" marT="18288" marB="18288" anchor="ctr">
                    <a:solidFill>
                      <a:srgbClr val="F7F9FC"/>
                    </a:solidFill>
                  </a:tcPr>
                </a:tc>
                <a:tc>
                  <a:txBody>
                    <a:bodyPr wrap="square"/>
                    <a:lstStyle/>
                    <a:p>
                      <a:pPr algn="r"/>
                      <a:r>
                        <a:rPr sz="950" b="0">
                          <a:solidFill>
                            <a:srgbClr val="1E2F5C"/>
                          </a:solidFill>
                          <a:latin typeface="Kanit"/>
                        </a:rPr>
                        <a:t>4,532,663</a:t>
                      </a:r>
                    </a:p>
                  </a:txBody>
                  <a:tcPr marL="54864" marR="54864" marT="18288" marB="18288" anchor="ctr">
                    <a:solidFill>
                      <a:srgbClr val="F7F9FC"/>
                    </a:solidFill>
                  </a:tcPr>
                </a:tc>
                <a:tc>
                  <a:txBody>
                    <a:bodyPr wrap="square"/>
                    <a:lstStyle/>
                    <a:p>
                      <a:pPr algn="r"/>
                      <a:r>
                        <a:rPr sz="950" b="1">
                          <a:solidFill>
                            <a:srgbClr val="15795F"/>
                          </a:solidFill>
                          <a:latin typeface="Kanit"/>
                        </a:rPr>
                        <a:t>+13.2%</a:t>
                      </a:r>
                    </a:p>
                  </a:txBody>
                  <a:tcPr marL="54864" marR="54864" marT="18288" marB="18288" anchor="ctr">
                    <a:solidFill>
                      <a:srgbClr val="F7F9FC"/>
                    </a:solidFill>
                  </a:tcPr>
                </a:tc>
                <a:tc>
                  <a:txBody>
                    <a:bodyPr wrap="square"/>
                    <a:lstStyle/>
                    <a:p>
                      <a:pPr algn="r"/>
                      <a:r>
                        <a:rPr sz="950" b="1">
                          <a:solidFill>
                            <a:srgbClr val="1E2F5C"/>
                          </a:solidFill>
                          <a:latin typeface="Kanit"/>
                        </a:rPr>
                        <a:t>8.11</a:t>
                      </a:r>
                    </a:p>
                  </a:txBody>
                  <a:tcPr marL="54864" marR="54864" marT="18288" marB="18288" anchor="ctr">
                    <a:solidFill>
                      <a:srgbClr val="F7F9FC"/>
                    </a:solidFill>
                  </a:tcPr>
                </a:tc>
                <a:tc>
                  <a:txBody>
                    <a:bodyPr wrap="square"/>
                    <a:lstStyle/>
                    <a:p>
                      <a:pPr algn="r"/>
                      <a:r>
                        <a:rPr sz="950" b="0">
                          <a:solidFill>
                            <a:srgbClr val="1E2F5C"/>
                          </a:solidFill>
                          <a:latin typeface="Kanit"/>
                        </a:rPr>
                        <a:t>9.54</a:t>
                      </a:r>
                    </a:p>
                  </a:txBody>
                  <a:tcPr marL="54864" marR="54864" marT="18288" marB="18288" anchor="ctr">
                    <a:solidFill>
                      <a:srgbClr val="F7F9FC"/>
                    </a:solidFill>
                  </a:tcPr>
                </a:tc>
                <a:tc>
                  <a:txBody>
                    <a:bodyPr wrap="square"/>
                    <a:lstStyle/>
                    <a:p>
                      <a:pPr algn="r"/>
                      <a:r>
                        <a:rPr sz="950" b="1">
                          <a:solidFill>
                            <a:srgbClr val="CC0000"/>
                          </a:solidFill>
                          <a:latin typeface="Kanit"/>
                        </a:rPr>
                        <a:t>-1,433</a:t>
                      </a:r>
                    </a:p>
                  </a:txBody>
                  <a:tcPr marL="54864" marR="54864" marT="18288" marB="18288" anchor="ctr">
                    <a:solidFill>
                      <a:srgbClr val="F7F9FC"/>
                    </a:solidFill>
                  </a:tcPr>
                </a:tc>
                <a:tc>
                  <a:txBody>
                    <a:bodyPr wrap="square"/>
                    <a:lstStyle/>
                    <a:p>
                      <a:pPr algn="r"/>
                      <a:r>
                        <a:rPr sz="950" b="1">
                          <a:solidFill>
                            <a:srgbClr val="CC0000"/>
                          </a:solidFill>
                          <a:latin typeface="Kanit"/>
                        </a:rPr>
                        <a:t>-444</a:t>
                      </a:r>
                    </a:p>
                  </a:txBody>
                  <a:tcPr marL="54864" marR="54864" marT="18288" marB="18288" anchor="ctr">
                    <a:solidFill>
                      <a:srgbClr val="F7F9FC"/>
                    </a:solidFill>
                  </a:tcPr>
                </a:tc>
                <a:tc>
                  <a:txBody>
                    <a:bodyPr wrap="square"/>
                    <a:lstStyle/>
                    <a:p>
                      <a:pPr algn="l"/>
                      <a:r>
                        <a:rPr sz="950" b="1">
                          <a:solidFill>
                            <a:srgbClr val="CC0000"/>
                          </a:solidFill>
                          <a:latin typeface="Kanit"/>
                        </a:rPr>
                        <a:t>below cost</a:t>
                      </a:r>
                    </a:p>
                  </a:txBody>
                  <a:tcPr marL="54864" marR="54864" marT="18288" marB="18288" anchor="ctr">
                    <a:solidFill>
                      <a:srgbClr val="F7F9FC"/>
                    </a:solidFill>
                  </a:tcPr>
                </a:tc>
                <a:tc>
                  <a:txBody>
                    <a:bodyPr wrap="square"/>
                    <a:lstStyle/>
                    <a:p>
                      <a:pPr algn="r"/>
                      <a:r>
                        <a:rPr sz="950" b="0">
                          <a:solidFill>
                            <a:srgbClr val="606060"/>
                          </a:solidFill>
                          <a:latin typeface="Kanit"/>
                        </a:rPr>
                        <a:t>17.74</a:t>
                      </a:r>
                    </a:p>
                  </a:txBody>
                  <a:tcPr marL="54864" marR="54864" marT="18288" marB="18288" anchor="ctr">
                    <a:solidFill>
                      <a:srgbClr val="F7F9FC"/>
                    </a:solidFill>
                  </a:tcPr>
                </a:tc>
              </a:tr>
              <a:tr h="269748">
                <a:tc>
                  <a:txBody>
                    <a:bodyPr wrap="square"/>
                    <a:lstStyle/>
                    <a:p>
                      <a:pPr algn="l"/>
                      <a:r>
                        <a:rPr sz="950" b="1">
                          <a:solidFill>
                            <a:srgbClr val="1E2F5C"/>
                          </a:solidFill>
                          <a:latin typeface="Kanit"/>
                        </a:rPr>
                        <a:t>Rubber</a:t>
                      </a:r>
                    </a:p>
                  </a:txBody>
                  <a:tcPr marL="54864" marR="54864" marT="18288" marB="18288" anchor="ctr">
                    <a:solidFill>
                      <a:srgbClr val="FFFFFF"/>
                    </a:solidFill>
                  </a:tcPr>
                </a:tc>
                <a:tc>
                  <a:txBody>
                    <a:bodyPr wrap="square"/>
                    <a:lstStyle/>
                    <a:p>
                      <a:pPr algn="r"/>
                      <a:r>
                        <a:rPr sz="950" b="0">
                          <a:solidFill>
                            <a:srgbClr val="1E2F5C"/>
                          </a:solidFill>
                          <a:latin typeface="Kanit"/>
                        </a:rPr>
                        <a:t>22.4M</a:t>
                      </a:r>
                    </a:p>
                  </a:txBody>
                  <a:tcPr marL="54864" marR="54864" marT="18288" marB="18288" anchor="ctr">
                    <a:solidFill>
                      <a:srgbClr val="FFFFFF"/>
                    </a:solidFill>
                  </a:tcPr>
                </a:tc>
                <a:tc>
                  <a:txBody>
                    <a:bodyPr wrap="square"/>
                    <a:lstStyle/>
                    <a:p>
                      <a:pPr algn="r"/>
                      <a:r>
                        <a:rPr sz="950" b="0">
                          <a:solidFill>
                            <a:srgbClr val="1E2F5C"/>
                          </a:solidFill>
                          <a:latin typeface="Kanit"/>
                        </a:rPr>
                        <a:t>1,633,782</a:t>
                      </a:r>
                    </a:p>
                  </a:txBody>
                  <a:tcPr marL="54864" marR="54864" marT="18288" marB="18288" anchor="ctr">
                    <a:solidFill>
                      <a:srgbClr val="FFFFFF"/>
                    </a:solidFill>
                  </a:tcPr>
                </a:tc>
                <a:tc>
                  <a:txBody>
                    <a:bodyPr wrap="square"/>
                    <a:lstStyle/>
                    <a:p>
                      <a:pPr algn="r"/>
                      <a:r>
                        <a:rPr sz="950" b="1">
                          <a:solidFill>
                            <a:srgbClr val="15795F"/>
                          </a:solidFill>
                          <a:latin typeface="Kanit"/>
                        </a:rPr>
                        <a:t>+41.2%</a:t>
                      </a:r>
                    </a:p>
                  </a:txBody>
                  <a:tcPr marL="54864" marR="54864" marT="18288" marB="18288" anchor="ctr">
                    <a:solidFill>
                      <a:srgbClr val="FFFFFF"/>
                    </a:solidFill>
                  </a:tcPr>
                </a:tc>
                <a:tc>
                  <a:txBody>
                    <a:bodyPr wrap="square"/>
                    <a:lstStyle/>
                    <a:p>
                      <a:pPr algn="r"/>
                      <a:r>
                        <a:rPr sz="950" b="1">
                          <a:solidFill>
                            <a:srgbClr val="1E2F5C"/>
                          </a:solidFill>
                          <a:latin typeface="Kanit"/>
                        </a:rPr>
                        <a:t>60.72</a:t>
                      </a:r>
                    </a:p>
                  </a:txBody>
                  <a:tcPr marL="54864" marR="54864" marT="18288" marB="18288" anchor="ctr">
                    <a:solidFill>
                      <a:srgbClr val="FFFFFF"/>
                    </a:solidFill>
                  </a:tcPr>
                </a:tc>
                <a:tc>
                  <a:txBody>
                    <a:bodyPr wrap="square"/>
                    <a:lstStyle/>
                    <a:p>
                      <a:pPr algn="r"/>
                      <a:r>
                        <a:rPr sz="950" b="0">
                          <a:solidFill>
                            <a:srgbClr val="1E2F5C"/>
                          </a:solidFill>
                          <a:latin typeface="Kanit"/>
                        </a:rPr>
                        <a:t>63.18</a:t>
                      </a:r>
                    </a:p>
                  </a:txBody>
                  <a:tcPr marL="54864" marR="54864" marT="18288" marB="18288" anchor="ctr">
                    <a:solidFill>
                      <a:srgbClr val="FFFFFF"/>
                    </a:solidFill>
                  </a:tcPr>
                </a:tc>
                <a:tc>
                  <a:txBody>
                    <a:bodyPr wrap="square"/>
                    <a:lstStyle/>
                    <a:p>
                      <a:pPr algn="r"/>
                      <a:r>
                        <a:rPr sz="950" b="1">
                          <a:solidFill>
                            <a:srgbClr val="CC0000"/>
                          </a:solidFill>
                          <a:latin typeface="Kanit"/>
                        </a:rPr>
                        <a:t>-2,460</a:t>
                      </a:r>
                    </a:p>
                  </a:txBody>
                  <a:tcPr marL="54864" marR="54864" marT="18288" marB="18288" anchor="ctr">
                    <a:solidFill>
                      <a:srgbClr val="FFFFFF"/>
                    </a:solidFill>
                  </a:tcPr>
                </a:tc>
                <a:tc>
                  <a:txBody>
                    <a:bodyPr wrap="square"/>
                    <a:lstStyle/>
                    <a:p>
                      <a:pPr algn="r"/>
                      <a:r>
                        <a:rPr sz="950" b="1">
                          <a:solidFill>
                            <a:srgbClr val="CC0000"/>
                          </a:solidFill>
                          <a:latin typeface="Kanit"/>
                        </a:rPr>
                        <a:t>-379</a:t>
                      </a:r>
                    </a:p>
                  </a:txBody>
                  <a:tcPr marL="54864" marR="54864" marT="18288" marB="18288" anchor="ctr">
                    <a:solidFill>
                      <a:srgbClr val="FFFFFF"/>
                    </a:solidFill>
                  </a:tcPr>
                </a:tc>
                <a:tc>
                  <a:txBody>
                    <a:bodyPr wrap="square"/>
                    <a:lstStyle/>
                    <a:p>
                      <a:pPr algn="l"/>
                      <a:r>
                        <a:rPr sz="950" b="1">
                          <a:solidFill>
                            <a:srgbClr val="CC0000"/>
                          </a:solidFill>
                          <a:latin typeface="Kanit"/>
                        </a:rPr>
                        <a:t>below cost</a:t>
                      </a:r>
                    </a:p>
                  </a:txBody>
                  <a:tcPr marL="54864" marR="54864" marT="18288" marB="18288" anchor="ctr">
                    <a:solidFill>
                      <a:srgbClr val="FFFFFF"/>
                    </a:solidFill>
                  </a:tcPr>
                </a:tc>
                <a:tc>
                  <a:txBody>
                    <a:bodyPr wrap="square"/>
                    <a:lstStyle/>
                    <a:p>
                      <a:pPr algn="r"/>
                      <a:r>
                        <a:rPr sz="950" b="0">
                          <a:solidFill>
                            <a:srgbClr val="606060"/>
                          </a:solidFill>
                          <a:latin typeface="Kanit"/>
                        </a:rPr>
                        <a:t>82.20</a:t>
                      </a:r>
                    </a:p>
                  </a:txBody>
                  <a:tcPr marL="54864" marR="54864" marT="18288" marB="18288" anchor="ctr">
                    <a:solidFill>
                      <a:srgbClr val="FFFFFF"/>
                    </a:solidFill>
                  </a:tcPr>
                </a:tc>
              </a:tr>
              <a:tr h="269748">
                <a:tc>
                  <a:txBody>
                    <a:bodyPr wrap="square"/>
                    <a:lstStyle/>
                    <a:p>
                      <a:pPr algn="l"/>
                      <a:r>
                        <a:rPr sz="950" b="1">
                          <a:solidFill>
                            <a:srgbClr val="1E2F5C"/>
                          </a:solidFill>
                          <a:latin typeface="Kanit"/>
                        </a:rPr>
                        <a:t>Maize</a:t>
                      </a:r>
                    </a:p>
                  </a:txBody>
                  <a:tcPr marL="54864" marR="54864" marT="18288" marB="18288" anchor="ctr">
                    <a:solidFill>
                      <a:srgbClr val="F7F9FC"/>
                    </a:solidFill>
                  </a:tcPr>
                </a:tc>
                <a:tc>
                  <a:txBody>
                    <a:bodyPr wrap="square"/>
                    <a:lstStyle/>
                    <a:p>
                      <a:pPr algn="r"/>
                      <a:r>
                        <a:rPr sz="950" b="0">
                          <a:solidFill>
                            <a:srgbClr val="1E2F5C"/>
                          </a:solidFill>
                          <a:latin typeface="Kanit"/>
                        </a:rPr>
                        <a:t>6.3M</a:t>
                      </a:r>
                    </a:p>
                  </a:txBody>
                  <a:tcPr marL="54864" marR="54864" marT="18288" marB="18288" anchor="ctr">
                    <a:solidFill>
                      <a:srgbClr val="F7F9FC"/>
                    </a:solidFill>
                  </a:tcPr>
                </a:tc>
                <a:tc>
                  <a:txBody>
                    <a:bodyPr wrap="square"/>
                    <a:lstStyle/>
                    <a:p>
                      <a:pPr algn="r"/>
                      <a:r>
                        <a:rPr sz="950" b="0">
                          <a:solidFill>
                            <a:srgbClr val="1E2F5C"/>
                          </a:solidFill>
                          <a:latin typeface="Kanit"/>
                        </a:rPr>
                        <a:t>406,092</a:t>
                      </a:r>
                    </a:p>
                  </a:txBody>
                  <a:tcPr marL="54864" marR="54864" marT="18288" marB="18288" anchor="ctr">
                    <a:solidFill>
                      <a:srgbClr val="F7F9FC"/>
                    </a:solidFill>
                  </a:tcPr>
                </a:tc>
                <a:tc>
                  <a:txBody>
                    <a:bodyPr wrap="square"/>
                    <a:lstStyle/>
                    <a:p>
                      <a:pPr algn="r"/>
                      <a:r>
                        <a:rPr sz="950" b="1">
                          <a:solidFill>
                            <a:srgbClr val="15795F"/>
                          </a:solidFill>
                          <a:latin typeface="Kanit"/>
                        </a:rPr>
                        <a:t>+13.4%</a:t>
                      </a:r>
                    </a:p>
                  </a:txBody>
                  <a:tcPr marL="54864" marR="54864" marT="18288" marB="18288" anchor="ctr">
                    <a:solidFill>
                      <a:srgbClr val="F7F9FC"/>
                    </a:solidFill>
                  </a:tcPr>
                </a:tc>
                <a:tc>
                  <a:txBody>
                    <a:bodyPr wrap="square"/>
                    <a:lstStyle/>
                    <a:p>
                      <a:pPr algn="r"/>
                      <a:r>
                        <a:rPr sz="950" b="1">
                          <a:solidFill>
                            <a:srgbClr val="1E2F5C"/>
                          </a:solidFill>
                          <a:latin typeface="Kanit"/>
                        </a:rPr>
                        <a:t>7.69</a:t>
                      </a:r>
                    </a:p>
                  </a:txBody>
                  <a:tcPr marL="54864" marR="54864" marT="18288" marB="18288" anchor="ctr">
                    <a:solidFill>
                      <a:srgbClr val="F7F9FC"/>
                    </a:solidFill>
                  </a:tcPr>
                </a:tc>
                <a:tc>
                  <a:txBody>
                    <a:bodyPr wrap="square"/>
                    <a:lstStyle/>
                    <a:p>
                      <a:pPr algn="r"/>
                      <a:r>
                        <a:rPr sz="950" b="0">
                          <a:solidFill>
                            <a:srgbClr val="1E2F5C"/>
                          </a:solidFill>
                          <a:latin typeface="Kanit"/>
                        </a:rPr>
                        <a:t>6.76</a:t>
                      </a:r>
                    </a:p>
                  </a:txBody>
                  <a:tcPr marL="54864" marR="54864" marT="18288" marB="18288" anchor="ctr">
                    <a:solidFill>
                      <a:srgbClr val="F7F9FC"/>
                    </a:solidFill>
                  </a:tcPr>
                </a:tc>
                <a:tc>
                  <a:txBody>
                    <a:bodyPr wrap="square"/>
                    <a:lstStyle/>
                    <a:p>
                      <a:pPr algn="r"/>
                      <a:r>
                        <a:rPr sz="950" b="1">
                          <a:solidFill>
                            <a:srgbClr val="15795F"/>
                          </a:solidFill>
                          <a:latin typeface="Kanit"/>
                        </a:rPr>
                        <a:t>+930</a:t>
                      </a:r>
                    </a:p>
                  </a:txBody>
                  <a:tcPr marL="54864" marR="54864" marT="18288" marB="18288" anchor="ctr">
                    <a:solidFill>
                      <a:srgbClr val="F7F9FC"/>
                    </a:solidFill>
                  </a:tcPr>
                </a:tc>
                <a:tc>
                  <a:txBody>
                    <a:bodyPr wrap="square"/>
                    <a:lstStyle/>
                    <a:p>
                      <a:pPr algn="r"/>
                      <a:r>
                        <a:rPr sz="950" b="1">
                          <a:solidFill>
                            <a:srgbClr val="15795F"/>
                          </a:solidFill>
                          <a:latin typeface="Kanit"/>
                        </a:rPr>
                        <a:t>+603</a:t>
                      </a:r>
                    </a:p>
                  </a:txBody>
                  <a:tcPr marL="54864" marR="54864" marT="18288" marB="18288" anchor="ctr">
                    <a:solidFill>
                      <a:srgbClr val="F7F9FC"/>
                    </a:solidFill>
                  </a:tcPr>
                </a:tc>
                <a:tc>
                  <a:txBody>
                    <a:bodyPr wrap="square"/>
                    <a:lstStyle/>
                    <a:p>
                      <a:pPr algn="l"/>
                      <a:r>
                        <a:rPr sz="950" b="1">
                          <a:solidFill>
                            <a:srgbClr val="15795F"/>
                          </a:solidFill>
                          <a:latin typeface="Kanit"/>
                        </a:rPr>
                        <a:t>covers cost</a:t>
                      </a:r>
                    </a:p>
                  </a:txBody>
                  <a:tcPr marL="54864" marR="54864" marT="18288" marB="18288" anchor="ctr">
                    <a:solidFill>
                      <a:srgbClr val="F7F9FC"/>
                    </a:solidFill>
                  </a:tcPr>
                </a:tc>
                <a:tc>
                  <a:txBody>
                    <a:bodyPr wrap="square"/>
                    <a:lstStyle/>
                    <a:p>
                      <a:pPr algn="r"/>
                      <a:r>
                        <a:rPr sz="950" b="0">
                          <a:solidFill>
                            <a:srgbClr val="606060"/>
                          </a:solidFill>
                          <a:latin typeface="Kanit"/>
                        </a:rPr>
                        <a:t>10.20</a:t>
                      </a:r>
                    </a:p>
                  </a:txBody>
                  <a:tcPr marL="54864" marR="54864" marT="18288" marB="18288" anchor="ctr">
                    <a:solidFill>
                      <a:srgbClr val="F7F9FC"/>
                    </a:solidFill>
                  </a:tcPr>
                </a:tc>
              </a:tr>
              <a:tr h="269748">
                <a:tc>
                  <a:txBody>
                    <a:bodyPr wrap="square"/>
                    <a:lstStyle/>
                    <a:p>
                      <a:pPr algn="l"/>
                      <a:r>
                        <a:rPr sz="950" b="1">
                          <a:solidFill>
                            <a:srgbClr val="1E2F5C"/>
                          </a:solidFill>
                          <a:latin typeface="Kanit"/>
                        </a:rPr>
                        <a:t>Oil palm</a:t>
                      </a:r>
                    </a:p>
                  </a:txBody>
                  <a:tcPr marL="54864" marR="54864" marT="18288" marB="18288" anchor="ctr">
                    <a:solidFill>
                      <a:srgbClr val="FFFFFF"/>
                    </a:solidFill>
                  </a:tcPr>
                </a:tc>
                <a:tc>
                  <a:txBody>
                    <a:bodyPr wrap="square"/>
                    <a:lstStyle/>
                    <a:p>
                      <a:pPr algn="r"/>
                      <a:r>
                        <a:rPr sz="950" b="0">
                          <a:solidFill>
                            <a:srgbClr val="1E2F5C"/>
                          </a:solidFill>
                          <a:latin typeface="Kanit"/>
                        </a:rPr>
                        <a:t>6.4M</a:t>
                      </a:r>
                    </a:p>
                  </a:txBody>
                  <a:tcPr marL="54864" marR="54864" marT="18288" marB="18288" anchor="ctr">
                    <a:solidFill>
                      <a:srgbClr val="FFFFFF"/>
                    </a:solidFill>
                  </a:tcPr>
                </a:tc>
                <a:tc>
                  <a:txBody>
                    <a:bodyPr wrap="square"/>
                    <a:lstStyle/>
                    <a:p>
                      <a:pPr algn="r"/>
                      <a:r>
                        <a:rPr sz="950" b="0">
                          <a:solidFill>
                            <a:srgbClr val="1E2F5C"/>
                          </a:solidFill>
                          <a:latin typeface="Kanit"/>
                        </a:rPr>
                        <a:t>452,988</a:t>
                      </a:r>
                    </a:p>
                  </a:txBody>
                  <a:tcPr marL="54864" marR="54864" marT="18288" marB="18288" anchor="ctr">
                    <a:solidFill>
                      <a:srgbClr val="FFFFFF"/>
                    </a:solidFill>
                  </a:tcPr>
                </a:tc>
                <a:tc>
                  <a:txBody>
                    <a:bodyPr wrap="square"/>
                    <a:lstStyle/>
                    <a:p>
                      <a:pPr algn="r"/>
                      <a:r>
                        <a:rPr sz="950" b="1">
                          <a:solidFill>
                            <a:srgbClr val="15795F"/>
                          </a:solidFill>
                          <a:latin typeface="Kanit"/>
                        </a:rPr>
                        <a:t>+27.5%</a:t>
                      </a:r>
                    </a:p>
                  </a:txBody>
                  <a:tcPr marL="54864" marR="54864" marT="18288" marB="18288" anchor="ctr">
                    <a:solidFill>
                      <a:srgbClr val="FFFFFF"/>
                    </a:solidFill>
                  </a:tcPr>
                </a:tc>
                <a:tc>
                  <a:txBody>
                    <a:bodyPr wrap="square"/>
                    <a:lstStyle/>
                    <a:p>
                      <a:pPr algn="r"/>
                      <a:r>
                        <a:rPr sz="950" b="1">
                          <a:solidFill>
                            <a:srgbClr val="1E2F5C"/>
                          </a:solidFill>
                          <a:latin typeface="Kanit"/>
                        </a:rPr>
                        <a:t>6.09</a:t>
                      </a:r>
                    </a:p>
                  </a:txBody>
                  <a:tcPr marL="54864" marR="54864" marT="18288" marB="18288" anchor="ctr">
                    <a:solidFill>
                      <a:srgbClr val="FFFFFF"/>
                    </a:solidFill>
                  </a:tcPr>
                </a:tc>
                <a:tc>
                  <a:txBody>
                    <a:bodyPr wrap="square"/>
                    <a:lstStyle/>
                    <a:p>
                      <a:pPr algn="r"/>
                      <a:r>
                        <a:rPr sz="950" b="0">
                          <a:solidFill>
                            <a:srgbClr val="1E2F5C"/>
                          </a:solidFill>
                          <a:latin typeface="Kanit"/>
                        </a:rPr>
                        <a:t>3.01</a:t>
                      </a:r>
                    </a:p>
                  </a:txBody>
                  <a:tcPr marL="54864" marR="54864" marT="18288" marB="18288" anchor="ctr">
                    <a:solidFill>
                      <a:srgbClr val="FFFFFF"/>
                    </a:solidFill>
                  </a:tcPr>
                </a:tc>
                <a:tc>
                  <a:txBody>
                    <a:bodyPr wrap="square"/>
                    <a:lstStyle/>
                    <a:p>
                      <a:pPr algn="r"/>
                      <a:r>
                        <a:rPr sz="950" b="1">
                          <a:solidFill>
                            <a:srgbClr val="15795F"/>
                          </a:solidFill>
                          <a:latin typeface="Kanit"/>
                        </a:rPr>
                        <a:t>+3,080</a:t>
                      </a:r>
                    </a:p>
                  </a:txBody>
                  <a:tcPr marL="54864" marR="54864" marT="18288" marB="18288" anchor="ctr">
                    <a:solidFill>
                      <a:srgbClr val="FFFFFF"/>
                    </a:solidFill>
                  </a:tcPr>
                </a:tc>
                <a:tc>
                  <a:txBody>
                    <a:bodyPr wrap="square"/>
                    <a:lstStyle/>
                    <a:p>
                      <a:pPr algn="r"/>
                      <a:r>
                        <a:rPr sz="950" b="1">
                          <a:solidFill>
                            <a:srgbClr val="15795F"/>
                          </a:solidFill>
                          <a:latin typeface="Kanit"/>
                        </a:rPr>
                        <a:t>+7,486</a:t>
                      </a:r>
                    </a:p>
                  </a:txBody>
                  <a:tcPr marL="54864" marR="54864" marT="18288" marB="18288" anchor="ctr">
                    <a:solidFill>
                      <a:srgbClr val="FFFFFF"/>
                    </a:solidFill>
                  </a:tcPr>
                </a:tc>
                <a:tc>
                  <a:txBody>
                    <a:bodyPr wrap="square"/>
                    <a:lstStyle/>
                    <a:p>
                      <a:pPr algn="l"/>
                      <a:r>
                        <a:rPr sz="950" b="1">
                          <a:solidFill>
                            <a:srgbClr val="15795F"/>
                          </a:solidFill>
                          <a:latin typeface="Kanit"/>
                        </a:rPr>
                        <a:t>covers cost</a:t>
                      </a:r>
                    </a:p>
                  </a:txBody>
                  <a:tcPr marL="54864" marR="54864" marT="18288" marB="18288" anchor="ctr">
                    <a:solidFill>
                      <a:srgbClr val="FFFFFF"/>
                    </a:solidFill>
                  </a:tcPr>
                </a:tc>
                <a:tc>
                  <a:txBody>
                    <a:bodyPr wrap="square"/>
                    <a:lstStyle/>
                    <a:p>
                      <a:pPr algn="r"/>
                      <a:r>
                        <a:rPr sz="950" b="0">
                          <a:solidFill>
                            <a:srgbClr val="606060"/>
                          </a:solidFill>
                          <a:latin typeface="Kanit"/>
                        </a:rPr>
                        <a:t>8.88</a:t>
                      </a:r>
                    </a:p>
                  </a:txBody>
                  <a:tcPr marL="54864" marR="54864" marT="18288" marB="18288" anchor="ctr">
                    <a:solidFill>
                      <a:srgbClr val="FFFFFF"/>
                    </a:solidFill>
                  </a:tcPr>
                </a:tc>
              </a:tr>
            </a:tbl>
          </a:graphicData>
        </a:graphic>
      </p:graphicFrame>
      <p:sp>
        <p:nvSpPr>
          <p:cNvPr id="11" name="Rounded Rectangle 10"/>
          <p:cNvSpPr/>
          <p:nvPr/>
        </p:nvSpPr>
        <p:spPr>
          <a:xfrm>
            <a:off x="411480" y="3485388"/>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3514648"/>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3" name="TextBox 12"/>
          <p:cNvSpPr txBox="1"/>
          <p:nvPr/>
        </p:nvSpPr>
        <p:spPr>
          <a:xfrm>
            <a:off x="1056955" y="3499104"/>
            <a:ext cx="10720516" cy="46291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OAE Cai-up 2568 (crop year 2568/69, OAE forecast Mar 2569) — households, planted area, yield, farm-gate price, cost of production and NET RETURN PER TONNE all MEASURED and all on one basis; the ฿/kg cost column is OAE's own net return read back off its own price. Net per person per month is our arithmetic on those measured inputs (ESTIMATED — it assumes 1.6 working adults per farm household). The last column is the NABC daily MARKET quote, a different point in the chain, shown for contrast and never netted against the cost. Sugarcane, coconut and pineapple have no OAE cost series and are absent.</a:t>
            </a:r>
          </a:p>
        </p:txBody>
      </p:sp>
      <p:sp>
        <p:nvSpPr>
          <p:cNvPr id="14" name="TextBox 13"/>
          <p:cNvSpPr txBox="1"/>
          <p:nvPr/>
        </p:nvSpPr>
        <p:spPr>
          <a:xfrm>
            <a:off x="411480" y="4112895"/>
            <a:ext cx="11365992" cy="330200"/>
          </a:xfrm>
          <a:prstGeom prst="rect">
            <a:avLst/>
          </a:prstGeom>
          <a:noFill/>
        </p:spPr>
        <p:txBody>
          <a:bodyPr wrap="square" lIns="0" rIns="0" tIns="0" bIns="0" anchor="t">
            <a:noAutofit/>
          </a:bodyPr>
          <a:lstStyle/>
          <a:p>
            <a:pPr algn="l">
              <a:lnSpc>
                <a:spcPts val="1300"/>
              </a:lnSpc>
            </a:pPr>
            <a:r>
              <a:rPr sz="950" b="0">
                <a:solidFill>
                  <a:srgbClr val="606060"/>
                </a:solidFill>
                <a:latin typeface="Kanit"/>
              </a:rPr>
              <a:t>The three crops whose farm-gate prices are FALLING — coconut −69.7%, pineapple −18.4%, sugarcane −17.9%, together 10.7% of the country’s planted area — are exactly the three with no OAE cost series, which is why they are not on this table. We can see the price move and cannot see whether it has taken the grower under.</a:t>
            </a:r>
          </a:p>
        </p:txBody>
      </p:sp>
      <p:sp>
        <p:nvSpPr>
          <p:cNvPr id="15" name="Rectangle 14"/>
          <p:cNvSpPr/>
          <p:nvPr/>
        </p:nvSpPr>
        <p:spPr>
          <a:xfrm>
            <a:off x="411480" y="4589399"/>
            <a:ext cx="5568696" cy="151815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411480" y="4589399"/>
            <a:ext cx="50292" cy="151815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630936" y="4735703"/>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Rice: the price is up 13.2% and the crop still loses money</a:t>
            </a:r>
          </a:p>
        </p:txBody>
      </p:sp>
      <p:sp>
        <p:nvSpPr>
          <p:cNvPr id="18" name="TextBox 17"/>
          <p:cNvSpPr txBox="1"/>
          <p:nvPr/>
        </p:nvSpPr>
        <p:spPr>
          <a:xfrm>
            <a:off x="630936" y="4940172"/>
            <a:ext cx="5239512" cy="102108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4.53 million households — by far the largest farming population in the country — on a crop that returns −฿1,433 a tonne, or −฿444 per person per month, after cost of production.
Rubber (−฿379) and cassava (−฿702) are in the same position. Only maize (+฿603) and oil palm (+฿7,486) clear their cost, and palm is 453,000 households in the South against rice's 4.5 million everywhere else. That is the geography of who is under water.</a:t>
            </a:r>
          </a:p>
        </p:txBody>
      </p:sp>
      <p:sp>
        <p:nvSpPr>
          <p:cNvPr id="19" name="Rectangle 18"/>
          <p:cNvSpPr/>
          <p:nvPr/>
        </p:nvSpPr>
        <p:spPr>
          <a:xfrm>
            <a:off x="6208776" y="4589399"/>
            <a:ext cx="5568696" cy="202869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208776" y="4589399"/>
            <a:ext cx="50292" cy="202869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6428232" y="4735703"/>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Why a “margin” table can say the opposite</a:t>
            </a:r>
          </a:p>
        </p:txBody>
      </p:sp>
      <p:sp>
        <p:nvSpPr>
          <p:cNvPr id="22" name="TextBox 21"/>
          <p:cNvSpPr txBox="1"/>
          <p:nvPr/>
        </p:nvSpPr>
        <p:spPr>
          <a:xfrm>
            <a:off x="6428232" y="4940172"/>
            <a:ext cx="5239512" cy="153162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Read the last two ฿/kg columns together. OAE's farm gate for rice is ฿8.11; the daily market quote is ฿17.74 for the same crop — 2.2× — because the market number is a milled, graded product several steps past the field.
Net the market price against a field cost and rice reads +51% margin. Net OAE’s own price against OAE’s own cost and it reads −฿1,433 a tonne. Both sides take cost from the same OAE returns — rubber is ฿63.18 on either — so the price basis is the entire difference. Everything on this table is on OAE’s basis, which is the one the grower is paid on. The gap between the two ฿/kg columns is the marketing chain, and the grower does not own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07 · INCOME RIGHT NOW, BY REGION</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What each occupation earns, where the floor is, and which way it moved.</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The annual farm survey is a national mean two crop years old. This is the current monthly picture: measured income by region and occupation, the province where farming pays least, and each region's own employee wage to read it against.</a:t>
            </a:r>
          </a:p>
        </p:txBody>
      </p:sp>
      <p:graphicFrame>
        <p:nvGraphicFramePr>
          <p:cNvPr id="10" name="Table 9"/>
          <p:cNvGraphicFramePr>
            <a:graphicFrameLocks noGrp="1"/>
          </p:cNvGraphicFramePr>
          <p:nvPr/>
        </p:nvGraphicFramePr>
        <p:xfrm>
          <a:off x="411480" y="1679448"/>
          <a:ext cx="11365992" cy="1700784"/>
        </p:xfrm>
        <a:graphic>
          <a:graphicData uri="http://schemas.openxmlformats.org/drawingml/2006/table">
            <a:tbl>
              <a:tblPr>
                <a:tableStyleId>{5C22544A-7EE6-4342-B048-85BDC9FD1C3A}</a:tableStyleId>
              </a:tblPr>
              <a:tblGrid>
                <a:gridCol w="1188720"/>
                <a:gridCol w="1143000"/>
                <a:gridCol w="822960"/>
                <a:gridCol w="2148840"/>
                <a:gridCol w="914400"/>
                <a:gridCol w="1051560"/>
                <a:gridCol w="868680"/>
                <a:gridCol w="868680"/>
                <a:gridCol w="1280160"/>
                <a:gridCol w="1078992"/>
              </a:tblGrid>
              <a:tr h="329184">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Farming ฿/mo</a:t>
                      </a:r>
                    </a:p>
                  </a:txBody>
                  <a:tcPr marL="54864" marR="54864" marT="18288" marB="18288" anchor="ctr">
                    <a:solidFill>
                      <a:srgbClr val="1B2A6B"/>
                    </a:solidFill>
                  </a:tcPr>
                </a:tc>
                <a:tc>
                  <a:txBody>
                    <a:bodyPr wrap="square"/>
                    <a:lstStyle/>
                    <a:p>
                      <a:pPr algn="r"/>
                      <a:r>
                        <a:rPr sz="1050" b="1">
                          <a:solidFill>
                            <a:srgbClr val="FFFFFF"/>
                          </a:solidFill>
                          <a:latin typeface="Kanit"/>
                        </a:rPr>
                        <a:t>move</a:t>
                      </a:r>
                    </a:p>
                  </a:txBody>
                  <a:tcPr marL="54864" marR="54864" marT="18288" marB="18288" anchor="ctr">
                    <a:solidFill>
                      <a:srgbClr val="1B2A6B"/>
                    </a:solidFill>
                  </a:tcPr>
                </a:tc>
                <a:tc>
                  <a:txBody>
                    <a:bodyPr wrap="square"/>
                    <a:lstStyle/>
                    <a:p>
                      <a:pPr algn="l"/>
                      <a:r>
                        <a:rPr sz="1050" b="1">
                          <a:solidFill>
                            <a:srgbClr val="FFFFFF"/>
                          </a:solidFill>
                          <a:latin typeface="Kanit"/>
                        </a:rPr>
                        <a:t>weakest farming province</a:t>
                      </a:r>
                    </a:p>
                  </a:txBody>
                  <a:tcPr marL="54864" marR="54864" marT="18288" marB="18288" anchor="ctr">
                    <a:solidFill>
                      <a:srgbClr val="1B2A6B"/>
                    </a:solidFill>
                  </a:tcPr>
                </a:tc>
                <a:tc>
                  <a:txBody>
                    <a:bodyPr wrap="square"/>
                    <a:lstStyle/>
                    <a:p>
                      <a:pPr algn="r"/>
                      <a:r>
                        <a:rPr sz="1050" b="1">
                          <a:solidFill>
                            <a:srgbClr val="FFFFFF"/>
                          </a:solidFill>
                          <a:latin typeface="Kanit"/>
                        </a:rPr>
                        <a:t>Factory</a:t>
                      </a:r>
                    </a:p>
                  </a:txBody>
                  <a:tcPr marL="54864" marR="54864" marT="18288" marB="18288" anchor="ctr">
                    <a:solidFill>
                      <a:srgbClr val="1B2A6B"/>
                    </a:solidFill>
                  </a:tcPr>
                </a:tc>
                <a:tc>
                  <a:txBody>
                    <a:bodyPr wrap="square"/>
                    <a:lstStyle/>
                    <a:p>
                      <a:pPr algn="r"/>
                      <a:r>
                        <a:rPr sz="1050" b="1">
                          <a:solidFill>
                            <a:srgbClr val="FFFFFF"/>
                          </a:solidFill>
                          <a:latin typeface="Kanit"/>
                        </a:rPr>
                        <a:t>Transport</a:t>
                      </a:r>
                    </a:p>
                  </a:txBody>
                  <a:tcPr marL="54864" marR="54864" marT="18288" marB="18288" anchor="ctr">
                    <a:solidFill>
                      <a:srgbClr val="1B2A6B"/>
                    </a:solidFill>
                  </a:tcPr>
                </a:tc>
                <a:tc>
                  <a:txBody>
                    <a:bodyPr wrap="square"/>
                    <a:lstStyle/>
                    <a:p>
                      <a:pPr algn="r"/>
                      <a:r>
                        <a:rPr sz="1050" b="1">
                          <a:solidFill>
                            <a:srgbClr val="FFFFFF"/>
                          </a:solidFill>
                          <a:latin typeface="Kanit"/>
                        </a:rPr>
                        <a:t>SME</a:t>
                      </a:r>
                    </a:p>
                  </a:txBody>
                  <a:tcPr marL="54864" marR="54864" marT="18288" marB="18288" anchor="ctr">
                    <a:solidFill>
                      <a:srgbClr val="1B2A6B"/>
                    </a:solidFill>
                  </a:tcPr>
                </a:tc>
                <a:tc>
                  <a:txBody>
                    <a:bodyPr wrap="square"/>
                    <a:lstStyle/>
                    <a:p>
                      <a:pPr algn="r"/>
                      <a:r>
                        <a:rPr sz="1050" b="1">
                          <a:solidFill>
                            <a:srgbClr val="FFFFFF"/>
                          </a:solidFill>
                          <a:latin typeface="Kanit"/>
                        </a:rPr>
                        <a:t>Office</a:t>
                      </a:r>
                    </a:p>
                  </a:txBody>
                  <a:tcPr marL="54864" marR="54864" marT="18288" marB="18288" anchor="ctr">
                    <a:solidFill>
                      <a:srgbClr val="1B2A6B"/>
                    </a:solidFill>
                  </a:tcPr>
                </a:tc>
                <a:tc>
                  <a:txBody>
                    <a:bodyPr wrap="square"/>
                    <a:lstStyle/>
                    <a:p>
                      <a:pPr algn="r"/>
                      <a:r>
                        <a:rPr sz="1050" b="1">
                          <a:solidFill>
                            <a:srgbClr val="FFFFFF"/>
                          </a:solidFill>
                          <a:latin typeface="Kanit"/>
                        </a:rPr>
                        <a:t>employee wage</a:t>
                      </a:r>
                    </a:p>
                  </a:txBody>
                  <a:tcPr marL="54864" marR="54864" marT="18288" marB="18288" anchor="ctr">
                    <a:solidFill>
                      <a:srgbClr val="1B2A6B"/>
                    </a:solidFill>
                  </a:tcPr>
                </a:tc>
                <a:tc>
                  <a:txBody>
                    <a:bodyPr wrap="square"/>
                    <a:lstStyle/>
                    <a:p>
                      <a:pPr algn="r"/>
                      <a:r>
                        <a:rPr sz="1050" b="1">
                          <a:solidFill>
                            <a:srgbClr val="FFFFFF"/>
                          </a:solidFill>
                          <a:latin typeface="Kanit"/>
                        </a:rPr>
                        <a:t>farm vs wage</a:t>
                      </a:r>
                    </a:p>
                  </a:txBody>
                  <a:tcPr marL="54864" marR="54864" marT="18288" marB="18288" anchor="ctr">
                    <a:solidFill>
                      <a:srgbClr val="1B2A6B"/>
                    </a:solidFill>
                  </a:tcPr>
                </a:tc>
              </a:tr>
              <a:tr h="274320">
                <a:tc>
                  <a:txBody>
                    <a:bodyPr wrap="square"/>
                    <a:lstStyle/>
                    <a:p>
                      <a:pPr algn="l"/>
                      <a:r>
                        <a:rPr sz="900" b="1">
                          <a:solidFill>
                            <a:srgbClr val="1E2F5C"/>
                          </a:solidFill>
                          <a:latin typeface="Kanit"/>
                        </a:rPr>
                        <a:t>Central&amp;BKK</a:t>
                      </a:r>
                    </a:p>
                  </a:txBody>
                  <a:tcPr marL="54864" marR="54864" marT="18288" marB="18288" anchor="ctr">
                    <a:solidFill>
                      <a:srgbClr val="FFFFFF"/>
                    </a:solidFill>
                  </a:tcPr>
                </a:tc>
                <a:tc>
                  <a:txBody>
                    <a:bodyPr wrap="square"/>
                    <a:lstStyle/>
                    <a:p>
                      <a:pPr algn="r"/>
                      <a:r>
                        <a:rPr sz="900" b="1">
                          <a:solidFill>
                            <a:srgbClr val="1E2F5C"/>
                          </a:solidFill>
                          <a:latin typeface="Kanit"/>
                        </a:rPr>
                        <a:t>9,559</a:t>
                      </a:r>
                    </a:p>
                  </a:txBody>
                  <a:tcPr marL="54864" marR="54864" marT="18288" marB="18288" anchor="ctr">
                    <a:solidFill>
                      <a:srgbClr val="FFFFFF"/>
                    </a:solidFill>
                  </a:tcPr>
                </a:tc>
                <a:tc>
                  <a:txBody>
                    <a:bodyPr wrap="square"/>
                    <a:lstStyle/>
                    <a:p>
                      <a:pPr algn="r"/>
                      <a:r>
                        <a:rPr sz="900" b="1">
                          <a:solidFill>
                            <a:srgbClr val="15795F"/>
                          </a:solidFill>
                          <a:latin typeface="Kanit"/>
                        </a:rPr>
                        <a:t>+8.9%</a:t>
                      </a:r>
                    </a:p>
                  </a:txBody>
                  <a:tcPr marL="54864" marR="54864" marT="18288" marB="18288" anchor="ctr">
                    <a:solidFill>
                      <a:srgbClr val="FFFFFF"/>
                    </a:solidFill>
                  </a:tcPr>
                </a:tc>
                <a:tc>
                  <a:txBody>
                    <a:bodyPr wrap="square"/>
                    <a:lstStyle/>
                    <a:p>
                      <a:pPr algn="l"/>
                      <a:r>
                        <a:rPr sz="900" b="0">
                          <a:solidFill>
                            <a:srgbClr val="CC0000"/>
                          </a:solidFill>
                          <a:latin typeface="Kanit"/>
                        </a:rPr>
                        <a:t>นครนายก 5,763</a:t>
                      </a:r>
                    </a:p>
                  </a:txBody>
                  <a:tcPr marL="54864" marR="54864" marT="18288" marB="18288" anchor="ctr">
                    <a:solidFill>
                      <a:srgbClr val="FFFFFF"/>
                    </a:solidFill>
                  </a:tcPr>
                </a:tc>
                <a:tc>
                  <a:txBody>
                    <a:bodyPr wrap="square"/>
                    <a:lstStyle/>
                    <a:p>
                      <a:pPr algn="r"/>
                      <a:r>
                        <a:rPr sz="900" b="0">
                          <a:solidFill>
                            <a:srgbClr val="1E2F5C"/>
                          </a:solidFill>
                          <a:latin typeface="Kanit"/>
                        </a:rPr>
                        <a:t>17,309</a:t>
                      </a:r>
                    </a:p>
                  </a:txBody>
                  <a:tcPr marL="54864" marR="54864" marT="18288" marB="18288" anchor="ctr">
                    <a:solidFill>
                      <a:srgbClr val="FFFFFF"/>
                    </a:solidFill>
                  </a:tcPr>
                </a:tc>
                <a:tc>
                  <a:txBody>
                    <a:bodyPr wrap="square"/>
                    <a:lstStyle/>
                    <a:p>
                      <a:pPr algn="r"/>
                      <a:r>
                        <a:rPr sz="900" b="0">
                          <a:solidFill>
                            <a:srgbClr val="1E2F5C"/>
                          </a:solidFill>
                          <a:latin typeface="Kanit"/>
                        </a:rPr>
                        <a:t>16,040</a:t>
                      </a:r>
                    </a:p>
                  </a:txBody>
                  <a:tcPr marL="54864" marR="54864" marT="18288" marB="18288" anchor="ctr">
                    <a:solidFill>
                      <a:srgbClr val="FFFFFF"/>
                    </a:solidFill>
                  </a:tcPr>
                </a:tc>
                <a:tc>
                  <a:txBody>
                    <a:bodyPr wrap="square"/>
                    <a:lstStyle/>
                    <a:p>
                      <a:pPr algn="r"/>
                      <a:r>
                        <a:rPr sz="900" b="0">
                          <a:solidFill>
                            <a:srgbClr val="1E2F5C"/>
                          </a:solidFill>
                          <a:latin typeface="Kanit"/>
                        </a:rPr>
                        <a:t>16,168</a:t>
                      </a:r>
                    </a:p>
                  </a:txBody>
                  <a:tcPr marL="54864" marR="54864" marT="18288" marB="18288" anchor="ctr">
                    <a:solidFill>
                      <a:srgbClr val="FFFFFF"/>
                    </a:solidFill>
                  </a:tcPr>
                </a:tc>
                <a:tc>
                  <a:txBody>
                    <a:bodyPr wrap="square"/>
                    <a:lstStyle/>
                    <a:p>
                      <a:pPr algn="r"/>
                      <a:r>
                        <a:rPr sz="900" b="0">
                          <a:solidFill>
                            <a:srgbClr val="1E2F5C"/>
                          </a:solidFill>
                          <a:latin typeface="Kanit"/>
                        </a:rPr>
                        <a:t>18,380</a:t>
                      </a:r>
                    </a:p>
                  </a:txBody>
                  <a:tcPr marL="54864" marR="54864" marT="18288" marB="18288" anchor="ctr">
                    <a:solidFill>
                      <a:srgbClr val="FFFFFF"/>
                    </a:solidFill>
                  </a:tcPr>
                </a:tc>
                <a:tc>
                  <a:txBody>
                    <a:bodyPr wrap="square"/>
                    <a:lstStyle/>
                    <a:p>
                      <a:pPr algn="r"/>
                      <a:r>
                        <a:rPr sz="900" b="1">
                          <a:solidFill>
                            <a:srgbClr val="1E2F5C"/>
                          </a:solidFill>
                          <a:latin typeface="Kanit"/>
                        </a:rPr>
                        <a:t>17,723</a:t>
                      </a:r>
                    </a:p>
                  </a:txBody>
                  <a:tcPr marL="54864" marR="54864" marT="18288" marB="18288" anchor="ctr">
                    <a:solidFill>
                      <a:srgbClr val="FFFFFF"/>
                    </a:solidFill>
                  </a:tcPr>
                </a:tc>
                <a:tc>
                  <a:txBody>
                    <a:bodyPr wrap="square"/>
                    <a:lstStyle/>
                    <a:p>
                      <a:pPr algn="r"/>
                      <a:r>
                        <a:rPr sz="900" b="1">
                          <a:solidFill>
                            <a:srgbClr val="CC0000"/>
                          </a:solidFill>
                          <a:latin typeface="Kanit"/>
                        </a:rPr>
                        <a:t>54%</a:t>
                      </a:r>
                    </a:p>
                  </a:txBody>
                  <a:tcPr marL="54864" marR="54864" marT="18288" marB="18288" anchor="ctr">
                    <a:solidFill>
                      <a:srgbClr val="FFFFFF"/>
                    </a:solidFill>
                  </a:tcPr>
                </a:tc>
              </a:tr>
              <a:tr h="274320">
                <a:tc>
                  <a:txBody>
                    <a:bodyPr wrap="square"/>
                    <a:lstStyle/>
                    <a:p>
                      <a:pPr algn="l"/>
                      <a:r>
                        <a:rPr sz="900" b="1">
                          <a:solidFill>
                            <a:srgbClr val="1E2F5C"/>
                          </a:solidFill>
                          <a:latin typeface="Kanit"/>
                        </a:rPr>
                        <a:t>East</a:t>
                      </a:r>
                    </a:p>
                  </a:txBody>
                  <a:tcPr marL="54864" marR="54864" marT="18288" marB="18288" anchor="ctr">
                    <a:solidFill>
                      <a:srgbClr val="F7F9FC"/>
                    </a:solidFill>
                  </a:tcPr>
                </a:tc>
                <a:tc>
                  <a:txBody>
                    <a:bodyPr wrap="square"/>
                    <a:lstStyle/>
                    <a:p>
                      <a:pPr algn="r"/>
                      <a:r>
                        <a:rPr sz="900" b="1">
                          <a:solidFill>
                            <a:srgbClr val="1E2F5C"/>
                          </a:solidFill>
                          <a:latin typeface="Kanit"/>
                        </a:rPr>
                        <a:t>14,213</a:t>
                      </a:r>
                    </a:p>
                  </a:txBody>
                  <a:tcPr marL="54864" marR="54864" marT="18288" marB="18288" anchor="ctr">
                    <a:solidFill>
                      <a:srgbClr val="F7F9FC"/>
                    </a:solidFill>
                  </a:tcPr>
                </a:tc>
                <a:tc>
                  <a:txBody>
                    <a:bodyPr wrap="square"/>
                    <a:lstStyle/>
                    <a:p>
                      <a:pPr algn="r"/>
                      <a:r>
                        <a:rPr sz="900" b="1">
                          <a:solidFill>
                            <a:srgbClr val="15795F"/>
                          </a:solidFill>
                          <a:latin typeface="Kanit"/>
                        </a:rPr>
                        <a:t>+12.5%</a:t>
                      </a:r>
                    </a:p>
                  </a:txBody>
                  <a:tcPr marL="54864" marR="54864" marT="18288" marB="18288" anchor="ctr">
                    <a:solidFill>
                      <a:srgbClr val="F7F9FC"/>
                    </a:solidFill>
                  </a:tcPr>
                </a:tc>
                <a:tc>
                  <a:txBody>
                    <a:bodyPr wrap="square"/>
                    <a:lstStyle/>
                    <a:p>
                      <a:pPr algn="l"/>
                      <a:r>
                        <a:rPr sz="900" b="0">
                          <a:solidFill>
                            <a:srgbClr val="CC0000"/>
                          </a:solidFill>
                          <a:latin typeface="Kanit"/>
                        </a:rPr>
                        <a:t>ปราจีนบุรี 6,926</a:t>
                      </a:r>
                    </a:p>
                  </a:txBody>
                  <a:tcPr marL="54864" marR="54864" marT="18288" marB="18288" anchor="ctr">
                    <a:solidFill>
                      <a:srgbClr val="F7F9FC"/>
                    </a:solidFill>
                  </a:tcPr>
                </a:tc>
                <a:tc>
                  <a:txBody>
                    <a:bodyPr wrap="square"/>
                    <a:lstStyle/>
                    <a:p>
                      <a:pPr algn="r"/>
                      <a:r>
                        <a:rPr sz="900" b="0">
                          <a:solidFill>
                            <a:srgbClr val="1E2F5C"/>
                          </a:solidFill>
                          <a:latin typeface="Kanit"/>
                        </a:rPr>
                        <a:t>17,883</a:t>
                      </a:r>
                    </a:p>
                  </a:txBody>
                  <a:tcPr marL="54864" marR="54864" marT="18288" marB="18288" anchor="ctr">
                    <a:solidFill>
                      <a:srgbClr val="F7F9FC"/>
                    </a:solidFill>
                  </a:tcPr>
                </a:tc>
                <a:tc>
                  <a:txBody>
                    <a:bodyPr wrap="square"/>
                    <a:lstStyle/>
                    <a:p>
                      <a:pPr algn="r"/>
                      <a:r>
                        <a:rPr sz="900" b="0">
                          <a:solidFill>
                            <a:srgbClr val="1E2F5C"/>
                          </a:solidFill>
                          <a:latin typeface="Kanit"/>
                        </a:rPr>
                        <a:t>16,595</a:t>
                      </a:r>
                    </a:p>
                  </a:txBody>
                  <a:tcPr marL="54864" marR="54864" marT="18288" marB="18288" anchor="ctr">
                    <a:solidFill>
                      <a:srgbClr val="F7F9FC"/>
                    </a:solidFill>
                  </a:tcPr>
                </a:tc>
                <a:tc>
                  <a:txBody>
                    <a:bodyPr wrap="square"/>
                    <a:lstStyle/>
                    <a:p>
                      <a:pPr algn="r"/>
                      <a:r>
                        <a:rPr sz="900" b="0">
                          <a:solidFill>
                            <a:srgbClr val="1E2F5C"/>
                          </a:solidFill>
                          <a:latin typeface="Kanit"/>
                        </a:rPr>
                        <a:t>12,393</a:t>
                      </a:r>
                    </a:p>
                  </a:txBody>
                  <a:tcPr marL="54864" marR="54864" marT="18288" marB="18288" anchor="ctr">
                    <a:solidFill>
                      <a:srgbClr val="F7F9FC"/>
                    </a:solidFill>
                  </a:tcPr>
                </a:tc>
                <a:tc>
                  <a:txBody>
                    <a:bodyPr wrap="square"/>
                    <a:lstStyle/>
                    <a:p>
                      <a:pPr algn="r"/>
                      <a:r>
                        <a:rPr sz="900" b="0">
                          <a:solidFill>
                            <a:srgbClr val="1E2F5C"/>
                          </a:solidFill>
                          <a:latin typeface="Kanit"/>
                        </a:rPr>
                        <a:t>15,958</a:t>
                      </a:r>
                    </a:p>
                  </a:txBody>
                  <a:tcPr marL="54864" marR="54864" marT="18288" marB="18288" anchor="ctr">
                    <a:solidFill>
                      <a:srgbClr val="F7F9FC"/>
                    </a:solidFill>
                  </a:tcPr>
                </a:tc>
                <a:tc>
                  <a:txBody>
                    <a:bodyPr wrap="square"/>
                    <a:lstStyle/>
                    <a:p>
                      <a:pPr algn="r"/>
                      <a:r>
                        <a:rPr sz="900" b="1">
                          <a:solidFill>
                            <a:srgbClr val="1E2F5C"/>
                          </a:solidFill>
                          <a:latin typeface="Kanit"/>
                        </a:rPr>
                        <a:t>15,210</a:t>
                      </a:r>
                    </a:p>
                  </a:txBody>
                  <a:tcPr marL="54864" marR="54864" marT="18288" marB="18288" anchor="ctr">
                    <a:solidFill>
                      <a:srgbClr val="F7F9FC"/>
                    </a:solidFill>
                  </a:tcPr>
                </a:tc>
                <a:tc>
                  <a:txBody>
                    <a:bodyPr wrap="square"/>
                    <a:lstStyle/>
                    <a:p>
                      <a:pPr algn="r"/>
                      <a:r>
                        <a:rPr sz="900" b="1">
                          <a:solidFill>
                            <a:srgbClr val="1E2F5C"/>
                          </a:solidFill>
                          <a:latin typeface="Kanit"/>
                        </a:rPr>
                        <a:t>93%</a:t>
                      </a:r>
                    </a:p>
                  </a:txBody>
                  <a:tcPr marL="54864" marR="54864" marT="18288" marB="18288" anchor="ctr">
                    <a:solidFill>
                      <a:srgbClr val="F7F9FC"/>
                    </a:solidFill>
                  </a:tcPr>
                </a:tc>
              </a:tr>
              <a:tr h="274320">
                <a:tc>
                  <a:txBody>
                    <a:bodyPr wrap="square"/>
                    <a:lstStyle/>
                    <a:p>
                      <a:pPr algn="l"/>
                      <a:r>
                        <a:rPr sz="900" b="1">
                          <a:solidFill>
                            <a:srgbClr val="1E2F5C"/>
                          </a:solidFill>
                          <a:latin typeface="Kanit"/>
                        </a:rPr>
                        <a:t>North</a:t>
                      </a:r>
                    </a:p>
                  </a:txBody>
                  <a:tcPr marL="54864" marR="54864" marT="18288" marB="18288" anchor="ctr">
                    <a:solidFill>
                      <a:srgbClr val="FFFFFF"/>
                    </a:solidFill>
                  </a:tcPr>
                </a:tc>
                <a:tc>
                  <a:txBody>
                    <a:bodyPr wrap="square"/>
                    <a:lstStyle/>
                    <a:p>
                      <a:pPr algn="r"/>
                      <a:r>
                        <a:rPr sz="900" b="1">
                          <a:solidFill>
                            <a:srgbClr val="1E2F5C"/>
                          </a:solidFill>
                          <a:latin typeface="Kanit"/>
                        </a:rPr>
                        <a:t>7,157</a:t>
                      </a:r>
                    </a:p>
                  </a:txBody>
                  <a:tcPr marL="54864" marR="54864" marT="18288" marB="18288" anchor="ctr">
                    <a:solidFill>
                      <a:srgbClr val="FFFFFF"/>
                    </a:solidFill>
                  </a:tcPr>
                </a:tc>
                <a:tc>
                  <a:txBody>
                    <a:bodyPr wrap="square"/>
                    <a:lstStyle/>
                    <a:p>
                      <a:pPr algn="r"/>
                      <a:r>
                        <a:rPr sz="900" b="1">
                          <a:solidFill>
                            <a:srgbClr val="15795F"/>
                          </a:solidFill>
                          <a:latin typeface="Kanit"/>
                        </a:rPr>
                        <a:t>+9.2%</a:t>
                      </a:r>
                    </a:p>
                  </a:txBody>
                  <a:tcPr marL="54864" marR="54864" marT="18288" marB="18288" anchor="ctr">
                    <a:solidFill>
                      <a:srgbClr val="FFFFFF"/>
                    </a:solidFill>
                  </a:tcPr>
                </a:tc>
                <a:tc>
                  <a:txBody>
                    <a:bodyPr wrap="square"/>
                    <a:lstStyle/>
                    <a:p>
                      <a:pPr algn="l"/>
                      <a:r>
                        <a:rPr sz="900" b="0">
                          <a:solidFill>
                            <a:srgbClr val="CC0000"/>
                          </a:solidFill>
                          <a:latin typeface="Kanit"/>
                        </a:rPr>
                        <a:t>แม่ฮ่องสอน 4,641</a:t>
                      </a:r>
                    </a:p>
                  </a:txBody>
                  <a:tcPr marL="54864" marR="54864" marT="18288" marB="18288" anchor="ctr">
                    <a:solidFill>
                      <a:srgbClr val="FFFFFF"/>
                    </a:solidFill>
                  </a:tcPr>
                </a:tc>
                <a:tc>
                  <a:txBody>
                    <a:bodyPr wrap="square"/>
                    <a:lstStyle/>
                    <a:p>
                      <a:pPr algn="r"/>
                      <a:r>
                        <a:rPr sz="900" b="0">
                          <a:solidFill>
                            <a:srgbClr val="1E2F5C"/>
                          </a:solidFill>
                          <a:latin typeface="Kanit"/>
                        </a:rPr>
                        <a:t>13,147</a:t>
                      </a:r>
                    </a:p>
                  </a:txBody>
                  <a:tcPr marL="54864" marR="54864" marT="18288" marB="18288" anchor="ctr">
                    <a:solidFill>
                      <a:srgbClr val="FFFFFF"/>
                    </a:solidFill>
                  </a:tcPr>
                </a:tc>
                <a:tc>
                  <a:txBody>
                    <a:bodyPr wrap="square"/>
                    <a:lstStyle/>
                    <a:p>
                      <a:pPr algn="r"/>
                      <a:r>
                        <a:rPr sz="900" b="0">
                          <a:solidFill>
                            <a:srgbClr val="1E2F5C"/>
                          </a:solidFill>
                          <a:latin typeface="Kanit"/>
                        </a:rPr>
                        <a:t>13,772</a:t>
                      </a:r>
                    </a:p>
                  </a:txBody>
                  <a:tcPr marL="54864" marR="54864" marT="18288" marB="18288" anchor="ctr">
                    <a:solidFill>
                      <a:srgbClr val="FFFFFF"/>
                    </a:solidFill>
                  </a:tcPr>
                </a:tc>
                <a:tc>
                  <a:txBody>
                    <a:bodyPr wrap="square"/>
                    <a:lstStyle/>
                    <a:p>
                      <a:pPr algn="r"/>
                      <a:r>
                        <a:rPr sz="900" b="0">
                          <a:solidFill>
                            <a:srgbClr val="1E2F5C"/>
                          </a:solidFill>
                          <a:latin typeface="Kanit"/>
                        </a:rPr>
                        <a:t>11,285</a:t>
                      </a:r>
                    </a:p>
                  </a:txBody>
                  <a:tcPr marL="54864" marR="54864" marT="18288" marB="18288" anchor="ctr">
                    <a:solidFill>
                      <a:srgbClr val="FFFFFF"/>
                    </a:solidFill>
                  </a:tcPr>
                </a:tc>
                <a:tc>
                  <a:txBody>
                    <a:bodyPr wrap="square"/>
                    <a:lstStyle/>
                    <a:p>
                      <a:pPr algn="r"/>
                      <a:r>
                        <a:rPr sz="900" b="0">
                          <a:solidFill>
                            <a:srgbClr val="1E2F5C"/>
                          </a:solidFill>
                          <a:latin typeface="Kanit"/>
                        </a:rPr>
                        <a:t>16,169</a:t>
                      </a:r>
                    </a:p>
                  </a:txBody>
                  <a:tcPr marL="54864" marR="54864" marT="18288" marB="18288" anchor="ctr">
                    <a:solidFill>
                      <a:srgbClr val="FFFFFF"/>
                    </a:solidFill>
                  </a:tcPr>
                </a:tc>
                <a:tc>
                  <a:txBody>
                    <a:bodyPr wrap="square"/>
                    <a:lstStyle/>
                    <a:p>
                      <a:pPr algn="r"/>
                      <a:r>
                        <a:rPr sz="900" b="1">
                          <a:solidFill>
                            <a:srgbClr val="1E2F5C"/>
                          </a:solidFill>
                          <a:latin typeface="Kanit"/>
                        </a:rPr>
                        <a:t>15,407</a:t>
                      </a:r>
                    </a:p>
                  </a:txBody>
                  <a:tcPr marL="54864" marR="54864" marT="18288" marB="18288" anchor="ctr">
                    <a:solidFill>
                      <a:srgbClr val="FFFFFF"/>
                    </a:solidFill>
                  </a:tcPr>
                </a:tc>
                <a:tc>
                  <a:txBody>
                    <a:bodyPr wrap="square"/>
                    <a:lstStyle/>
                    <a:p>
                      <a:pPr algn="r"/>
                      <a:r>
                        <a:rPr sz="900" b="1">
                          <a:solidFill>
                            <a:srgbClr val="CC0000"/>
                          </a:solidFill>
                          <a:latin typeface="Kanit"/>
                        </a:rPr>
                        <a:t>46%</a:t>
                      </a:r>
                    </a:p>
                  </a:txBody>
                  <a:tcPr marL="54864" marR="54864" marT="18288" marB="18288" anchor="ctr">
                    <a:solidFill>
                      <a:srgbClr val="FFFFFF"/>
                    </a:solidFill>
                  </a:tcPr>
                </a:tc>
              </a:tr>
              <a:tr h="274320">
                <a:tc>
                  <a:txBody>
                    <a:bodyPr wrap="square"/>
                    <a:lstStyle/>
                    <a:p>
                      <a:pPr algn="l"/>
                      <a:r>
                        <a:rPr sz="900" b="1">
                          <a:solidFill>
                            <a:srgbClr val="1E2F5C"/>
                          </a:solidFill>
                          <a:latin typeface="Kanit"/>
                        </a:rPr>
                        <a:t>Isan</a:t>
                      </a:r>
                    </a:p>
                  </a:txBody>
                  <a:tcPr marL="54864" marR="54864" marT="18288" marB="18288" anchor="ctr">
                    <a:solidFill>
                      <a:srgbClr val="F7F9FC"/>
                    </a:solidFill>
                  </a:tcPr>
                </a:tc>
                <a:tc>
                  <a:txBody>
                    <a:bodyPr wrap="square"/>
                    <a:lstStyle/>
                    <a:p>
                      <a:pPr algn="r"/>
                      <a:r>
                        <a:rPr sz="900" b="1">
                          <a:solidFill>
                            <a:srgbClr val="1E2F5C"/>
                          </a:solidFill>
                          <a:latin typeface="Kanit"/>
                        </a:rPr>
                        <a:t>8,030</a:t>
                      </a:r>
                    </a:p>
                  </a:txBody>
                  <a:tcPr marL="54864" marR="54864" marT="18288" marB="18288" anchor="ctr">
                    <a:solidFill>
                      <a:srgbClr val="F7F9FC"/>
                    </a:solidFill>
                  </a:tcPr>
                </a:tc>
                <a:tc>
                  <a:txBody>
                    <a:bodyPr wrap="square"/>
                    <a:lstStyle/>
                    <a:p>
                      <a:pPr algn="r"/>
                      <a:r>
                        <a:rPr sz="900" b="1">
                          <a:solidFill>
                            <a:srgbClr val="15795F"/>
                          </a:solidFill>
                          <a:latin typeface="Kanit"/>
                        </a:rPr>
                        <a:t>+9.1%</a:t>
                      </a:r>
                    </a:p>
                  </a:txBody>
                  <a:tcPr marL="54864" marR="54864" marT="18288" marB="18288" anchor="ctr">
                    <a:solidFill>
                      <a:srgbClr val="F7F9FC"/>
                    </a:solidFill>
                  </a:tcPr>
                </a:tc>
                <a:tc>
                  <a:txBody>
                    <a:bodyPr wrap="square"/>
                    <a:lstStyle/>
                    <a:p>
                      <a:pPr algn="l"/>
                      <a:r>
                        <a:rPr sz="900" b="0">
                          <a:solidFill>
                            <a:srgbClr val="CC0000"/>
                          </a:solidFill>
                          <a:latin typeface="Kanit"/>
                        </a:rPr>
                        <a:t>ขอนแก่น 4,762</a:t>
                      </a:r>
                    </a:p>
                  </a:txBody>
                  <a:tcPr marL="54864" marR="54864" marT="18288" marB="18288" anchor="ctr">
                    <a:solidFill>
                      <a:srgbClr val="F7F9FC"/>
                    </a:solidFill>
                  </a:tcPr>
                </a:tc>
                <a:tc>
                  <a:txBody>
                    <a:bodyPr wrap="square"/>
                    <a:lstStyle/>
                    <a:p>
                      <a:pPr algn="r"/>
                      <a:r>
                        <a:rPr sz="900" b="0">
                          <a:solidFill>
                            <a:srgbClr val="1E2F5C"/>
                          </a:solidFill>
                          <a:latin typeface="Kanit"/>
                        </a:rPr>
                        <a:t>12,406</a:t>
                      </a:r>
                    </a:p>
                  </a:txBody>
                  <a:tcPr marL="54864" marR="54864" marT="18288" marB="18288" anchor="ctr">
                    <a:solidFill>
                      <a:srgbClr val="F7F9FC"/>
                    </a:solidFill>
                  </a:tcPr>
                </a:tc>
                <a:tc>
                  <a:txBody>
                    <a:bodyPr wrap="square"/>
                    <a:lstStyle/>
                    <a:p>
                      <a:pPr algn="r"/>
                      <a:r>
                        <a:rPr sz="900" b="0">
                          <a:solidFill>
                            <a:srgbClr val="1E2F5C"/>
                          </a:solidFill>
                          <a:latin typeface="Kanit"/>
                        </a:rPr>
                        <a:t>13,670</a:t>
                      </a:r>
                    </a:p>
                  </a:txBody>
                  <a:tcPr marL="54864" marR="54864" marT="18288" marB="18288" anchor="ctr">
                    <a:solidFill>
                      <a:srgbClr val="F7F9FC"/>
                    </a:solidFill>
                  </a:tcPr>
                </a:tc>
                <a:tc>
                  <a:txBody>
                    <a:bodyPr wrap="square"/>
                    <a:lstStyle/>
                    <a:p>
                      <a:pPr algn="r"/>
                      <a:r>
                        <a:rPr sz="900" b="0">
                          <a:solidFill>
                            <a:srgbClr val="1E2F5C"/>
                          </a:solidFill>
                          <a:latin typeface="Kanit"/>
                        </a:rPr>
                        <a:t>11,137</a:t>
                      </a:r>
                    </a:p>
                  </a:txBody>
                  <a:tcPr marL="54864" marR="54864" marT="18288" marB="18288" anchor="ctr">
                    <a:solidFill>
                      <a:srgbClr val="F7F9FC"/>
                    </a:solidFill>
                  </a:tcPr>
                </a:tc>
                <a:tc>
                  <a:txBody>
                    <a:bodyPr wrap="square"/>
                    <a:lstStyle/>
                    <a:p>
                      <a:pPr algn="r"/>
                      <a:r>
                        <a:rPr sz="900" b="0">
                          <a:solidFill>
                            <a:srgbClr val="1E2F5C"/>
                          </a:solidFill>
                          <a:latin typeface="Kanit"/>
                        </a:rPr>
                        <a:t>17,141</a:t>
                      </a:r>
                    </a:p>
                  </a:txBody>
                  <a:tcPr marL="54864" marR="54864" marT="18288" marB="18288" anchor="ctr">
                    <a:solidFill>
                      <a:srgbClr val="F7F9FC"/>
                    </a:solidFill>
                  </a:tcPr>
                </a:tc>
                <a:tc>
                  <a:txBody>
                    <a:bodyPr wrap="square"/>
                    <a:lstStyle/>
                    <a:p>
                      <a:pPr algn="r"/>
                      <a:r>
                        <a:rPr sz="900" b="1">
                          <a:solidFill>
                            <a:srgbClr val="1E2F5C"/>
                          </a:solidFill>
                          <a:latin typeface="Kanit"/>
                        </a:rPr>
                        <a:t>14,805</a:t>
                      </a:r>
                    </a:p>
                  </a:txBody>
                  <a:tcPr marL="54864" marR="54864" marT="18288" marB="18288" anchor="ctr">
                    <a:solidFill>
                      <a:srgbClr val="F7F9FC"/>
                    </a:solidFill>
                  </a:tcPr>
                </a:tc>
                <a:tc>
                  <a:txBody>
                    <a:bodyPr wrap="square"/>
                    <a:lstStyle/>
                    <a:p>
                      <a:pPr algn="r"/>
                      <a:r>
                        <a:rPr sz="900" b="1">
                          <a:solidFill>
                            <a:srgbClr val="CC0000"/>
                          </a:solidFill>
                          <a:latin typeface="Kanit"/>
                        </a:rPr>
                        <a:t>54%</a:t>
                      </a:r>
                    </a:p>
                  </a:txBody>
                  <a:tcPr marL="54864" marR="54864" marT="18288" marB="18288" anchor="ctr">
                    <a:solidFill>
                      <a:srgbClr val="F7F9FC"/>
                    </a:solidFill>
                  </a:tcPr>
                </a:tc>
              </a:tr>
              <a:tr h="274320">
                <a:tc>
                  <a:txBody>
                    <a:bodyPr wrap="square"/>
                    <a:lstStyle/>
                    <a:p>
                      <a:pPr algn="l"/>
                      <a:r>
                        <a:rPr sz="900" b="1">
                          <a:solidFill>
                            <a:srgbClr val="1E2F5C"/>
                          </a:solidFill>
                          <a:latin typeface="Kanit"/>
                        </a:rPr>
                        <a:t>South</a:t>
                      </a:r>
                    </a:p>
                  </a:txBody>
                  <a:tcPr marL="54864" marR="54864" marT="18288" marB="18288" anchor="ctr">
                    <a:solidFill>
                      <a:srgbClr val="FFFFFF"/>
                    </a:solidFill>
                  </a:tcPr>
                </a:tc>
                <a:tc>
                  <a:txBody>
                    <a:bodyPr wrap="square"/>
                    <a:lstStyle/>
                    <a:p>
                      <a:pPr algn="r"/>
                      <a:r>
                        <a:rPr sz="900" b="1">
                          <a:solidFill>
                            <a:srgbClr val="1E2F5C"/>
                          </a:solidFill>
                          <a:latin typeface="Kanit"/>
                        </a:rPr>
                        <a:t>7,972</a:t>
                      </a:r>
                    </a:p>
                  </a:txBody>
                  <a:tcPr marL="54864" marR="54864" marT="18288" marB="18288" anchor="ctr">
                    <a:solidFill>
                      <a:srgbClr val="FFFFFF"/>
                    </a:solidFill>
                  </a:tcPr>
                </a:tc>
                <a:tc>
                  <a:txBody>
                    <a:bodyPr wrap="square"/>
                    <a:lstStyle/>
                    <a:p>
                      <a:pPr algn="r"/>
                      <a:r>
                        <a:rPr sz="900" b="1">
                          <a:solidFill>
                            <a:srgbClr val="15795F"/>
                          </a:solidFill>
                          <a:latin typeface="Kanit"/>
                        </a:rPr>
                        <a:t>+14.3%</a:t>
                      </a:r>
                    </a:p>
                  </a:txBody>
                  <a:tcPr marL="54864" marR="54864" marT="18288" marB="18288" anchor="ctr">
                    <a:solidFill>
                      <a:srgbClr val="FFFFFF"/>
                    </a:solidFill>
                  </a:tcPr>
                </a:tc>
                <a:tc>
                  <a:txBody>
                    <a:bodyPr wrap="square"/>
                    <a:lstStyle/>
                    <a:p>
                      <a:pPr algn="l"/>
                      <a:r>
                        <a:rPr sz="900" b="0">
                          <a:solidFill>
                            <a:srgbClr val="CC0000"/>
                          </a:solidFill>
                          <a:latin typeface="Kanit"/>
                        </a:rPr>
                        <a:t>นราธิวาส 2,742</a:t>
                      </a:r>
                    </a:p>
                  </a:txBody>
                  <a:tcPr marL="54864" marR="54864" marT="18288" marB="18288" anchor="ctr">
                    <a:solidFill>
                      <a:srgbClr val="FFFFFF"/>
                    </a:solidFill>
                  </a:tcPr>
                </a:tc>
                <a:tc>
                  <a:txBody>
                    <a:bodyPr wrap="square"/>
                    <a:lstStyle/>
                    <a:p>
                      <a:pPr algn="r"/>
                      <a:r>
                        <a:rPr sz="900" b="0">
                          <a:solidFill>
                            <a:srgbClr val="1E2F5C"/>
                          </a:solidFill>
                          <a:latin typeface="Kanit"/>
                        </a:rPr>
                        <a:t>14,133</a:t>
                      </a:r>
                    </a:p>
                  </a:txBody>
                  <a:tcPr marL="54864" marR="54864" marT="18288" marB="18288" anchor="ctr">
                    <a:solidFill>
                      <a:srgbClr val="FFFFFF"/>
                    </a:solidFill>
                  </a:tcPr>
                </a:tc>
                <a:tc>
                  <a:txBody>
                    <a:bodyPr wrap="square"/>
                    <a:lstStyle/>
                    <a:p>
                      <a:pPr algn="r"/>
                      <a:r>
                        <a:rPr sz="900" b="0">
                          <a:solidFill>
                            <a:srgbClr val="1E2F5C"/>
                          </a:solidFill>
                          <a:latin typeface="Kanit"/>
                        </a:rPr>
                        <a:t>13,933</a:t>
                      </a:r>
                    </a:p>
                  </a:txBody>
                  <a:tcPr marL="54864" marR="54864" marT="18288" marB="18288" anchor="ctr">
                    <a:solidFill>
                      <a:srgbClr val="FFFFFF"/>
                    </a:solidFill>
                  </a:tcPr>
                </a:tc>
                <a:tc>
                  <a:txBody>
                    <a:bodyPr wrap="square"/>
                    <a:lstStyle/>
                    <a:p>
                      <a:pPr algn="r"/>
                      <a:r>
                        <a:rPr sz="900" b="0">
                          <a:solidFill>
                            <a:srgbClr val="1E2F5C"/>
                          </a:solidFill>
                          <a:latin typeface="Kanit"/>
                        </a:rPr>
                        <a:t>10,711</a:t>
                      </a:r>
                    </a:p>
                  </a:txBody>
                  <a:tcPr marL="54864" marR="54864" marT="18288" marB="18288" anchor="ctr">
                    <a:solidFill>
                      <a:srgbClr val="FFFFFF"/>
                    </a:solidFill>
                  </a:tcPr>
                </a:tc>
                <a:tc>
                  <a:txBody>
                    <a:bodyPr wrap="square"/>
                    <a:lstStyle/>
                    <a:p>
                      <a:pPr algn="r"/>
                      <a:r>
                        <a:rPr sz="900" b="0">
                          <a:solidFill>
                            <a:srgbClr val="1E2F5C"/>
                          </a:solidFill>
                          <a:latin typeface="Kanit"/>
                        </a:rPr>
                        <a:t>16,841</a:t>
                      </a:r>
                    </a:p>
                  </a:txBody>
                  <a:tcPr marL="54864" marR="54864" marT="18288" marB="18288" anchor="ctr">
                    <a:solidFill>
                      <a:srgbClr val="FFFFFF"/>
                    </a:solidFill>
                  </a:tcPr>
                </a:tc>
                <a:tc>
                  <a:txBody>
                    <a:bodyPr wrap="square"/>
                    <a:lstStyle/>
                    <a:p>
                      <a:pPr algn="r"/>
                      <a:r>
                        <a:rPr sz="900" b="1">
                          <a:solidFill>
                            <a:srgbClr val="1E2F5C"/>
                          </a:solidFill>
                          <a:latin typeface="Kanit"/>
                        </a:rPr>
                        <a:t>13,676</a:t>
                      </a:r>
                    </a:p>
                  </a:txBody>
                  <a:tcPr marL="54864" marR="54864" marT="18288" marB="18288" anchor="ctr">
                    <a:solidFill>
                      <a:srgbClr val="FFFFFF"/>
                    </a:solidFill>
                  </a:tcPr>
                </a:tc>
                <a:tc>
                  <a:txBody>
                    <a:bodyPr wrap="square"/>
                    <a:lstStyle/>
                    <a:p>
                      <a:pPr algn="r"/>
                      <a:r>
                        <a:rPr sz="900" b="1">
                          <a:solidFill>
                            <a:srgbClr val="CC0000"/>
                          </a:solidFill>
                          <a:latin typeface="Kanit"/>
                        </a:rPr>
                        <a:t>58%</a:t>
                      </a:r>
                    </a:p>
                  </a:txBody>
                  <a:tcPr marL="54864" marR="54864" marT="18288" marB="18288" anchor="ctr">
                    <a:solidFill>
                      <a:srgbClr val="FFFFFF"/>
                    </a:solidFill>
                  </a:tcPr>
                </a:tc>
              </a:tr>
            </a:tbl>
          </a:graphicData>
        </a:graphic>
      </p:graphicFrame>
      <p:sp>
        <p:nvSpPr>
          <p:cNvPr id="11" name="TextBox 10"/>
          <p:cNvSpPr txBox="1"/>
          <p:nvPr/>
        </p:nvSpPr>
        <p:spPr>
          <a:xfrm>
            <a:off x="411480" y="3471672"/>
            <a:ext cx="11365992" cy="317500"/>
          </a:xfrm>
          <a:prstGeom prst="rect">
            <a:avLst/>
          </a:prstGeom>
          <a:noFill/>
        </p:spPr>
        <p:txBody>
          <a:bodyPr wrap="square" lIns="0" rIns="0" tIns="0" bIns="0" anchor="t">
            <a:noAutofit/>
          </a:bodyPr>
          <a:lstStyle/>
          <a:p>
            <a:pPr algn="l">
              <a:lnSpc>
                <a:spcPts val="1250"/>
              </a:lnSpc>
            </a:pPr>
            <a:r>
              <a:rPr sz="900" b="0">
                <a:solidFill>
                  <a:srgbClr val="606060"/>
                </a:solidFill>
                <a:latin typeface="Kanit"/>
              </a:rPr>
              <a:t>Only farming and SME carry a per-province driver, so only farming’s move is shown. The other three move by one national assumption applied everywhere — factory -0.55%, transport -3.28%, office +0.00% — printed once here rather than repeated as four identical columns. Office’s zero means no channel is modelled for it, not that nothing changed.</a:t>
            </a:r>
          </a:p>
        </p:txBody>
      </p:sp>
      <p:sp>
        <p:nvSpPr>
          <p:cNvPr id="12" name="Rounded Rectangle 11"/>
          <p:cNvSpPr/>
          <p:nvPr/>
        </p:nvSpPr>
        <p:spPr>
          <a:xfrm>
            <a:off x="411480" y="3935476"/>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11480" y="3964736"/>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4" name="TextBox 13"/>
          <p:cNvSpPr txBox="1"/>
          <p:nvPr/>
        </p:nvSpPr>
        <p:spPr>
          <a:xfrm>
            <a:off x="1056955" y="3949192"/>
            <a:ext cx="10720516" cy="46291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Income levels MEASURED — NSO SES province income and NSO Labour Force Survey wages, in baht per month; the region figure is the unweighted mean of its provinces, so a small province counts the same as Bangkok. The employee-wage column is that region’s own measured LFS headline, not a national one. The move is ESTIMATED — a first-order model of what the measured price and fuel round does to each occupation, at coefficients we chose and documented rather than fitted.</a:t>
            </a:r>
          </a:p>
        </p:txBody>
      </p:sp>
      <p:sp>
        <p:nvSpPr>
          <p:cNvPr id="15" name="Rectangle 14"/>
          <p:cNvSpPr/>
          <p:nvPr/>
        </p:nvSpPr>
        <p:spPr>
          <a:xfrm>
            <a:off x="411480" y="4581271"/>
            <a:ext cx="5568696" cy="185851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411480" y="4581271"/>
            <a:ext cx="50292" cy="185851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630936" y="4727575"/>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Farming is rising, and it is still the floor</a:t>
            </a:r>
          </a:p>
        </p:txBody>
      </p:sp>
      <p:sp>
        <p:nvSpPr>
          <p:cNvPr id="18" name="TextBox 17"/>
          <p:cNvSpPr txBox="1"/>
          <p:nvPr/>
        </p:nvSpPr>
        <p:spPr>
          <a:xfrm>
            <a:off x="630936" y="4932045"/>
            <a:ext cx="5239512" cy="13614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Agriculture is the best-moving occupation in every region — the price round has been kind to it. It is also the lowest-paid: ฿7,157 a month in the North and ฿8,030 in Isan, against employee wages of ฿15,400 and ฿14,800 in those same regions. Under half.
The East’s ฿14,213 is the outlier and it is real — จันทบุรี fruit at ฿29,157 pulls a seven-province mean. Read the weakest-province column instead: นราธิวาส farms on ฿2,742 a month, แม่ฮ่องสอน on ฿4,641, ขอนแก่น on ฿4,762. That is the floor a pre-emptive programme should be sized against.</a:t>
            </a:r>
          </a:p>
        </p:txBody>
      </p:sp>
      <p:sp>
        <p:nvSpPr>
          <p:cNvPr id="19" name="Rectangle 18"/>
          <p:cNvSpPr/>
          <p:nvPr/>
        </p:nvSpPr>
        <p:spPr>
          <a:xfrm>
            <a:off x="6208776" y="4581271"/>
            <a:ext cx="5568696" cy="202869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208776" y="4581271"/>
            <a:ext cx="50292" cy="202869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6428232" y="4727575"/>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Transport is falling — but say what that number is</a:t>
            </a:r>
          </a:p>
        </p:txBody>
      </p:sp>
      <p:sp>
        <p:nvSpPr>
          <p:cNvPr id="22" name="TextBox 21"/>
          <p:cNvSpPr txBox="1"/>
          <p:nvPr/>
        </p:nvSpPr>
        <p:spPr>
          <a:xfrm>
            <a:off x="6428232" y="4932045"/>
            <a:ext cx="5239512" cy="153162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Transport carries −3.28% in every region, and it is one number, not five findings: the model passes a single measured crude-oil move through one chosen coefficient. There is no province-level fuel or freight series behind it. Treat it as a direction with a real driver, not a measurement.
The direction still matters, because transport is the occupation where the vehicle IS the income. The asset cannot be surrendered without ending the earning, which is exactly the population where an early conversation beats a late collection. A measured Thai diesel and freight-rate series would turn this from an assumption into a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08 · WATER</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One hazard, three clocks: the season, this week, and the ground itself.</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Districts in drought</a:t>
            </a:r>
          </a:p>
        </p:txBody>
      </p:sp>
      <p:sp>
        <p:nvSpPr>
          <p:cNvPr id="11" name="TextBox 10"/>
          <p:cNvSpPr txBox="1"/>
          <p:nvPr/>
        </p:nvSpPr>
        <p:spPr>
          <a:xfrm>
            <a:off x="548640" y="1426464"/>
            <a:ext cx="1505711"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338</a:t>
            </a:r>
          </a:p>
        </p:txBody>
      </p:sp>
      <p:sp>
        <p:nvSpPr>
          <p:cNvPr id="12" name="TextBox 11"/>
          <p:cNvSpPr txBox="1"/>
          <p:nvPr/>
        </p:nvSpPr>
        <p:spPr>
          <a:xfrm>
            <a:off x="548640"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928 (36.4%) · SPEI mean -0.84</a:t>
            </a:r>
          </a:p>
        </p:txBody>
      </p:sp>
      <p:sp>
        <p:nvSpPr>
          <p:cNvPr id="13" name="Rounded Rectangle 12"/>
          <p:cNvSpPr/>
          <p:nvPr/>
        </p:nvSpPr>
        <p:spPr>
          <a:xfrm>
            <a:off x="2328672"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2465832"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Extreme band</a:t>
            </a:r>
          </a:p>
        </p:txBody>
      </p:sp>
      <p:sp>
        <p:nvSpPr>
          <p:cNvPr id="15" name="TextBox 14"/>
          <p:cNvSpPr txBox="1"/>
          <p:nvPr/>
        </p:nvSpPr>
        <p:spPr>
          <a:xfrm>
            <a:off x="2465832" y="1426464"/>
            <a:ext cx="1505711"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2</a:t>
            </a:r>
          </a:p>
        </p:txBody>
      </p:sp>
      <p:sp>
        <p:nvSpPr>
          <p:cNvPr id="16" name="TextBox 15"/>
          <p:cNvSpPr txBox="1"/>
          <p:nvPr/>
        </p:nvSpPr>
        <p:spPr>
          <a:xfrm>
            <a:off x="2465832"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districts at the extreme drought band</a:t>
            </a:r>
          </a:p>
        </p:txBody>
      </p:sp>
      <p:sp>
        <p:nvSpPr>
          <p:cNvPr id="17" name="Rounded Rectangle 16"/>
          <p:cNvSpPr/>
          <p:nvPr/>
        </p:nvSpPr>
        <p:spPr>
          <a:xfrm>
            <a:off x="4245864"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383024"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District-crop cells</a:t>
            </a:r>
          </a:p>
        </p:txBody>
      </p:sp>
      <p:sp>
        <p:nvSpPr>
          <p:cNvPr id="19" name="TextBox 18"/>
          <p:cNvSpPr txBox="1"/>
          <p:nvPr/>
        </p:nvSpPr>
        <p:spPr>
          <a:xfrm>
            <a:off x="4383024" y="1426464"/>
            <a:ext cx="1505711"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318</a:t>
            </a:r>
          </a:p>
        </p:txBody>
      </p:sp>
      <p:sp>
        <p:nvSpPr>
          <p:cNvPr id="20" name="TextBox 19"/>
          <p:cNvSpPr txBox="1"/>
          <p:nvPr/>
        </p:nvSpPr>
        <p:spPr>
          <a:xfrm>
            <a:off x="4383024"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3,295 measured cells at severe drought or worse</a:t>
            </a:r>
          </a:p>
        </p:txBody>
      </p:sp>
      <p:sp>
        <p:nvSpPr>
          <p:cNvPr id="21" name="Rounded Rectangle 20"/>
          <p:cNvSpPr/>
          <p:nvPr/>
        </p:nvSpPr>
        <p:spPr>
          <a:xfrm>
            <a:off x="6163056"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300216"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Stations above high mark</a:t>
            </a:r>
          </a:p>
        </p:txBody>
      </p:sp>
      <p:sp>
        <p:nvSpPr>
          <p:cNvPr id="23" name="TextBox 22"/>
          <p:cNvSpPr txBox="1"/>
          <p:nvPr/>
        </p:nvSpPr>
        <p:spPr>
          <a:xfrm>
            <a:off x="6300216" y="1426464"/>
            <a:ext cx="1505711"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132</a:t>
            </a:r>
          </a:p>
        </p:txBody>
      </p:sp>
      <p:sp>
        <p:nvSpPr>
          <p:cNvPr id="24" name="TextBox 23"/>
          <p:cNvSpPr txBox="1"/>
          <p:nvPr/>
        </p:nvSpPr>
        <p:spPr>
          <a:xfrm>
            <a:off x="6300216"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794 (16.6%) · up from 84 on 11 July · live</a:t>
            </a:r>
          </a:p>
        </p:txBody>
      </p:sp>
      <p:sp>
        <p:nvSpPr>
          <p:cNvPr id="25" name="Rounded Rectangle 24"/>
          <p:cNvSpPr/>
          <p:nvPr/>
        </p:nvSpPr>
        <p:spPr>
          <a:xfrm>
            <a:off x="8080247"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8217408"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Provinces with heavy rain</a:t>
            </a:r>
          </a:p>
        </p:txBody>
      </p:sp>
      <p:sp>
        <p:nvSpPr>
          <p:cNvPr id="27" name="TextBox 26"/>
          <p:cNvSpPr txBox="1"/>
          <p:nvPr/>
        </p:nvSpPr>
        <p:spPr>
          <a:xfrm>
            <a:off x="8217408" y="1426464"/>
            <a:ext cx="1505711"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41</a:t>
            </a:r>
          </a:p>
        </p:txBody>
      </p:sp>
      <p:sp>
        <p:nvSpPr>
          <p:cNvPr id="28" name="TextBox 27"/>
          <p:cNvSpPr txBox="1"/>
          <p:nvPr/>
        </p:nvSpPr>
        <p:spPr>
          <a:xfrm>
            <a:off x="8217408"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latest daily reading · 2026-08-04</a:t>
            </a:r>
          </a:p>
        </p:txBody>
      </p:sp>
      <p:sp>
        <p:nvSpPr>
          <p:cNvPr id="29" name="Rounded Rectangle 28"/>
          <p:cNvSpPr/>
          <p:nvPr/>
        </p:nvSpPr>
        <p:spPr>
          <a:xfrm>
            <a:off x="9997440"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0134600"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Ground that floods anyway</a:t>
            </a:r>
          </a:p>
        </p:txBody>
      </p:sp>
      <p:sp>
        <p:nvSpPr>
          <p:cNvPr id="31" name="TextBox 30"/>
          <p:cNvSpPr txBox="1"/>
          <p:nvPr/>
        </p:nvSpPr>
        <p:spPr>
          <a:xfrm>
            <a:off x="10134600" y="1426464"/>
            <a:ext cx="1505711"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34%</a:t>
            </a:r>
          </a:p>
        </p:txBody>
      </p:sp>
      <p:sp>
        <p:nvSpPr>
          <p:cNvPr id="32" name="TextBox 31"/>
          <p:cNvSpPr txBox="1"/>
          <p:nvPr/>
        </p:nvSpPr>
        <p:spPr>
          <a:xfrm>
            <a:off x="10134600"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685 of 2,015 branch locations flooded in 7+ of 12 years</a:t>
            </a:r>
          </a:p>
        </p:txBody>
      </p:sp>
      <p:graphicFrame>
        <p:nvGraphicFramePr>
          <p:cNvPr id="33" name="Table 32"/>
          <p:cNvGraphicFramePr>
            <a:graphicFrameLocks noGrp="1"/>
          </p:cNvGraphicFramePr>
          <p:nvPr/>
        </p:nvGraphicFramePr>
        <p:xfrm>
          <a:off x="411480" y="2450591"/>
          <a:ext cx="6675120" cy="1821480"/>
        </p:xfrm>
        <a:graphic>
          <a:graphicData uri="http://schemas.openxmlformats.org/drawingml/2006/table">
            <a:tbl>
              <a:tblPr>
                <a:tableStyleId>{5C22544A-7EE6-4342-B048-85BDC9FD1C3A}</a:tableStyleId>
              </a:tblPr>
              <a:tblGrid>
                <a:gridCol w="1234440"/>
                <a:gridCol w="1188720"/>
                <a:gridCol w="1417320"/>
                <a:gridCol w="1097280"/>
                <a:gridCol w="777240"/>
                <a:gridCol w="960120"/>
              </a:tblGrid>
              <a:tr h="329184">
                <a:tc>
                  <a:txBody>
                    <a:bodyPr wrap="square"/>
                    <a:lstStyle/>
                    <a:p>
                      <a:pPr algn="l"/>
                      <a:r>
                        <a:rPr sz="1050" b="1">
                          <a:solidFill>
                            <a:srgbClr val="FFFFFF"/>
                          </a:solidFill>
                          <a:latin typeface="Kanit"/>
                        </a:rPr>
                        <a:t>Driest cells</a:t>
                      </a:r>
                    </a:p>
                  </a:txBody>
                  <a:tcPr marL="54864" marR="54864" marT="18288" marB="18288" anchor="ctr">
                    <a:solidFill>
                      <a:srgbClr val="1B2A6B"/>
                    </a:solidFill>
                  </a:tcPr>
                </a:tc>
                <a:tc>
                  <a:txBody>
                    <a:bodyPr wrap="square"/>
                    <a:lstStyle/>
                    <a:p>
                      <a:pPr algn="l"/>
                      <a:r>
                        <a:rPr sz="1050" b="1">
                          <a:solidFill>
                            <a:srgbClr val="FFFFFF"/>
                          </a:solidFill>
                          <a:latin typeface="Kanit"/>
                        </a:rPr>
                        <a:t>District</a:t>
                      </a:r>
                    </a:p>
                  </a:txBody>
                  <a:tcPr marL="54864" marR="54864" marT="18288" marB="18288" anchor="ctr">
                    <a:solidFill>
                      <a:srgbClr val="1B2A6B"/>
                    </a:solidFill>
                  </a:tcPr>
                </a:tc>
                <a:tc>
                  <a:txBody>
                    <a:bodyPr wrap="square"/>
                    <a:lstStyle/>
                    <a:p>
                      <a:pPr algn="l"/>
                      <a:r>
                        <a:rPr sz="1050" b="1">
                          <a:solidFill>
                            <a:srgbClr val="FFFFFF"/>
                          </a:solidFill>
                          <a:latin typeface="Kanit"/>
                        </a:rPr>
                        <a:t>Crop</a:t>
                      </a:r>
                    </a:p>
                  </a:txBody>
                  <a:tcPr marL="54864" marR="54864" marT="18288" marB="18288" anchor="ctr">
                    <a:solidFill>
                      <a:srgbClr val="1B2A6B"/>
                    </a:solidFill>
                  </a:tcPr>
                </a:tc>
                <a:tc>
                  <a:txBody>
                    <a:bodyPr wrap="square"/>
                    <a:lstStyle/>
                    <a:p>
                      <a:pPr algn="r"/>
                      <a:r>
                        <a:rPr sz="1050" b="1">
                          <a:solidFill>
                            <a:srgbClr val="FFFFFF"/>
                          </a:solidFill>
                          <a:latin typeface="Kanit"/>
                        </a:rPr>
                        <a:t>Planted (rai)</a:t>
                      </a:r>
                    </a:p>
                  </a:txBody>
                  <a:tcPr marL="54864" marR="54864" marT="18288" marB="18288" anchor="ctr">
                    <a:solidFill>
                      <a:srgbClr val="1B2A6B"/>
                    </a:solidFill>
                  </a:tcPr>
                </a:tc>
                <a:tc>
                  <a:txBody>
                    <a:bodyPr wrap="square"/>
                    <a:lstStyle/>
                    <a:p>
                      <a:pPr algn="r"/>
                      <a:r>
                        <a:rPr sz="1050" b="1">
                          <a:solidFill>
                            <a:srgbClr val="FFFFFF"/>
                          </a:solidFill>
                          <a:latin typeface="Kanit"/>
                        </a:rPr>
                        <a:t>SPEI</a:t>
                      </a:r>
                    </a:p>
                  </a:txBody>
                  <a:tcPr marL="54864" marR="54864" marT="18288" marB="18288" anchor="ctr">
                    <a:solidFill>
                      <a:srgbClr val="1B2A6B"/>
                    </a:solidFill>
                  </a:tcPr>
                </a:tc>
                <a:tc>
                  <a:txBody>
                    <a:bodyPr wrap="square"/>
                    <a:lstStyle/>
                    <a:p>
                      <a:pPr algn="l"/>
                      <a:r>
                        <a:rPr sz="1050" b="1">
                          <a:solidFill>
                            <a:srgbClr val="FFFFFF"/>
                          </a:solidFill>
                          <a:latin typeface="Kanit"/>
                        </a:rPr>
                        <a:t>Band</a:t>
                      </a:r>
                    </a:p>
                  </a:txBody>
                  <a:tcPr marL="54864" marR="54864" marT="18288" marB="18288" anchor="ctr">
                    <a:solidFill>
                      <a:srgbClr val="1B2A6B"/>
                    </a:solidFill>
                  </a:tcPr>
                </a:tc>
              </a:tr>
              <a:tr h="248716">
                <a:tc>
                  <a:txBody>
                    <a:bodyPr wrap="square"/>
                    <a:lstStyle/>
                    <a:p>
                      <a:pPr algn="l"/>
                      <a:r>
                        <a:rPr sz="900" b="1">
                          <a:solidFill>
                            <a:srgbClr val="1E2F5C"/>
                          </a:solidFill>
                          <a:latin typeface="Kanit"/>
                        </a:rPr>
                        <a:t>สระแก้ว</a:t>
                      </a:r>
                    </a:p>
                  </a:txBody>
                  <a:tcPr marL="54864" marR="54864" marT="18288" marB="18288" anchor="ctr">
                    <a:solidFill>
                      <a:srgbClr val="FFFFFF"/>
                    </a:solidFill>
                  </a:tcPr>
                </a:tc>
                <a:tc>
                  <a:txBody>
                    <a:bodyPr wrap="square"/>
                    <a:lstStyle/>
                    <a:p>
                      <a:pPr algn="l"/>
                      <a:r>
                        <a:rPr sz="900" b="0">
                          <a:solidFill>
                            <a:srgbClr val="1E2F5C"/>
                          </a:solidFill>
                          <a:latin typeface="Kanit"/>
                        </a:rPr>
                        <a:t>ตาพระยา</a:t>
                      </a:r>
                    </a:p>
                  </a:txBody>
                  <a:tcPr marL="54864" marR="54864" marT="18288" marB="18288" anchor="ctr">
                    <a:solidFill>
                      <a:srgbClr val="FFFFFF"/>
                    </a:solidFill>
                  </a:tcPr>
                </a:tc>
                <a:tc>
                  <a:txBody>
                    <a:bodyPr wrap="square"/>
                    <a:lstStyle/>
                    <a:p>
                      <a:pPr algn="l"/>
                      <a:r>
                        <a:rPr sz="900" b="0">
                          <a:solidFill>
                            <a:srgbClr val="1E2F5C"/>
                          </a:solidFill>
                          <a:latin typeface="Kanit"/>
                        </a:rPr>
                        <a:t>ข้าวนาปี</a:t>
                      </a:r>
                    </a:p>
                  </a:txBody>
                  <a:tcPr marL="54864" marR="54864" marT="18288" marB="18288" anchor="ctr">
                    <a:solidFill>
                      <a:srgbClr val="FFFFFF"/>
                    </a:solidFill>
                  </a:tcPr>
                </a:tc>
                <a:tc>
                  <a:txBody>
                    <a:bodyPr wrap="square"/>
                    <a:lstStyle/>
                    <a:p>
                      <a:pPr algn="r"/>
                      <a:r>
                        <a:rPr sz="900" b="0">
                          <a:solidFill>
                            <a:srgbClr val="1E2F5C"/>
                          </a:solidFill>
                          <a:latin typeface="Kanit"/>
                        </a:rPr>
                        <a:t>213,392</a:t>
                      </a:r>
                    </a:p>
                  </a:txBody>
                  <a:tcPr marL="54864" marR="54864" marT="18288" marB="18288" anchor="ctr">
                    <a:solidFill>
                      <a:srgbClr val="FFFFFF"/>
                    </a:solidFill>
                  </a:tcPr>
                </a:tc>
                <a:tc>
                  <a:txBody>
                    <a:bodyPr wrap="square"/>
                    <a:lstStyle/>
                    <a:p>
                      <a:pPr algn="r"/>
                      <a:r>
                        <a:rPr sz="900" b="1">
                          <a:solidFill>
                            <a:srgbClr val="CC0000"/>
                          </a:solidFill>
                          <a:latin typeface="Kanit"/>
                        </a:rPr>
                        <a:t>-1.70</a:t>
                      </a:r>
                    </a:p>
                  </a:txBody>
                  <a:tcPr marL="54864" marR="54864" marT="18288" marB="18288" anchor="ctr">
                    <a:solidFill>
                      <a:srgbClr val="FFFFFF"/>
                    </a:solidFill>
                  </a:tcPr>
                </a:tc>
                <a:tc>
                  <a:txBody>
                    <a:bodyPr wrap="square"/>
                    <a:lstStyle/>
                    <a:p>
                      <a:pPr algn="l"/>
                      <a:r>
                        <a:rPr sz="900" b="0">
                          <a:solidFill>
                            <a:srgbClr val="CC0000"/>
                          </a:solidFill>
                          <a:latin typeface="Kanit"/>
                        </a:rPr>
                        <a:t>severe</a:t>
                      </a:r>
                    </a:p>
                  </a:txBody>
                  <a:tcPr marL="54864" marR="54864" marT="18288" marB="18288" anchor="ctr">
                    <a:solidFill>
                      <a:srgbClr val="FFFFFF"/>
                    </a:solidFill>
                  </a:tcPr>
                </a:tc>
              </a:tr>
              <a:tr h="248716">
                <a:tc>
                  <a:txBody>
                    <a:bodyPr wrap="square"/>
                    <a:lstStyle/>
                    <a:p>
                      <a:pPr algn="l"/>
                      <a:r>
                        <a:rPr sz="900" b="1">
                          <a:solidFill>
                            <a:srgbClr val="1E2F5C"/>
                          </a:solidFill>
                          <a:latin typeface="Kanit"/>
                        </a:rPr>
                        <a:t>สระแก้ว</a:t>
                      </a:r>
                    </a:p>
                  </a:txBody>
                  <a:tcPr marL="54864" marR="54864" marT="18288" marB="18288" anchor="ctr">
                    <a:solidFill>
                      <a:srgbClr val="F7F9FC"/>
                    </a:solidFill>
                  </a:tcPr>
                </a:tc>
                <a:tc>
                  <a:txBody>
                    <a:bodyPr wrap="square"/>
                    <a:lstStyle/>
                    <a:p>
                      <a:pPr algn="l"/>
                      <a:r>
                        <a:rPr sz="900" b="0">
                          <a:solidFill>
                            <a:srgbClr val="1E2F5C"/>
                          </a:solidFill>
                          <a:latin typeface="Kanit"/>
                        </a:rPr>
                        <a:t>อรัญประเทศ</a:t>
                      </a:r>
                    </a:p>
                  </a:txBody>
                  <a:tcPr marL="54864" marR="54864" marT="18288" marB="18288" anchor="ctr">
                    <a:solidFill>
                      <a:srgbClr val="F7F9FC"/>
                    </a:solidFill>
                  </a:tcPr>
                </a:tc>
                <a:tc>
                  <a:txBody>
                    <a:bodyPr wrap="square"/>
                    <a:lstStyle/>
                    <a:p>
                      <a:pPr algn="l"/>
                      <a:r>
                        <a:rPr sz="900" b="0">
                          <a:solidFill>
                            <a:srgbClr val="1E2F5C"/>
                          </a:solidFill>
                          <a:latin typeface="Kanit"/>
                        </a:rPr>
                        <a:t>ข้าวนาปี</a:t>
                      </a:r>
                    </a:p>
                  </a:txBody>
                  <a:tcPr marL="54864" marR="54864" marT="18288" marB="18288" anchor="ctr">
                    <a:solidFill>
                      <a:srgbClr val="F7F9FC"/>
                    </a:solidFill>
                  </a:tcPr>
                </a:tc>
                <a:tc>
                  <a:txBody>
                    <a:bodyPr wrap="square"/>
                    <a:lstStyle/>
                    <a:p>
                      <a:pPr algn="r"/>
                      <a:r>
                        <a:rPr sz="900" b="0">
                          <a:solidFill>
                            <a:srgbClr val="1E2F5C"/>
                          </a:solidFill>
                          <a:latin typeface="Kanit"/>
                        </a:rPr>
                        <a:t>158,047</a:t>
                      </a:r>
                    </a:p>
                  </a:txBody>
                  <a:tcPr marL="54864" marR="54864" marT="18288" marB="18288" anchor="ctr">
                    <a:solidFill>
                      <a:srgbClr val="F7F9FC"/>
                    </a:solidFill>
                  </a:tcPr>
                </a:tc>
                <a:tc>
                  <a:txBody>
                    <a:bodyPr wrap="square"/>
                    <a:lstStyle/>
                    <a:p>
                      <a:pPr algn="r"/>
                      <a:r>
                        <a:rPr sz="900" b="1">
                          <a:solidFill>
                            <a:srgbClr val="CC0000"/>
                          </a:solidFill>
                          <a:latin typeface="Kanit"/>
                        </a:rPr>
                        <a:t>-1.51</a:t>
                      </a:r>
                    </a:p>
                  </a:txBody>
                  <a:tcPr marL="54864" marR="54864" marT="18288" marB="18288" anchor="ctr">
                    <a:solidFill>
                      <a:srgbClr val="F7F9FC"/>
                    </a:solidFill>
                  </a:tcPr>
                </a:tc>
                <a:tc>
                  <a:txBody>
                    <a:bodyPr wrap="square"/>
                    <a:lstStyle/>
                    <a:p>
                      <a:pPr algn="l"/>
                      <a:r>
                        <a:rPr sz="900" b="0">
                          <a:solidFill>
                            <a:srgbClr val="CC0000"/>
                          </a:solidFill>
                          <a:latin typeface="Kanit"/>
                        </a:rPr>
                        <a:t>severe</a:t>
                      </a:r>
                    </a:p>
                  </a:txBody>
                  <a:tcPr marL="54864" marR="54864" marT="18288" marB="18288" anchor="ctr">
                    <a:solidFill>
                      <a:srgbClr val="F7F9FC"/>
                    </a:solidFill>
                  </a:tcPr>
                </a:tc>
              </a:tr>
              <a:tr h="248716">
                <a:tc>
                  <a:txBody>
                    <a:bodyPr wrap="square"/>
                    <a:lstStyle/>
                    <a:p>
                      <a:pPr algn="l"/>
                      <a:r>
                        <a:rPr sz="900" b="1">
                          <a:solidFill>
                            <a:srgbClr val="1E2F5C"/>
                          </a:solidFill>
                          <a:latin typeface="Kanit"/>
                        </a:rPr>
                        <a:t>นครราชสีมา</a:t>
                      </a:r>
                    </a:p>
                  </a:txBody>
                  <a:tcPr marL="54864" marR="54864" marT="18288" marB="18288" anchor="ctr">
                    <a:solidFill>
                      <a:srgbClr val="FFFFFF"/>
                    </a:solidFill>
                  </a:tcPr>
                </a:tc>
                <a:tc>
                  <a:txBody>
                    <a:bodyPr wrap="square"/>
                    <a:lstStyle/>
                    <a:p>
                      <a:pPr algn="l"/>
                      <a:r>
                        <a:rPr sz="900" b="0">
                          <a:solidFill>
                            <a:srgbClr val="1E2F5C"/>
                          </a:solidFill>
                          <a:latin typeface="Kanit"/>
                        </a:rPr>
                        <a:t>หนองบุญมาก</a:t>
                      </a:r>
                    </a:p>
                  </a:txBody>
                  <a:tcPr marL="54864" marR="54864" marT="18288" marB="18288" anchor="ctr">
                    <a:solidFill>
                      <a:srgbClr val="FFFFFF"/>
                    </a:solidFill>
                  </a:tcPr>
                </a:tc>
                <a:tc>
                  <a:txBody>
                    <a:bodyPr wrap="square"/>
                    <a:lstStyle/>
                    <a:p>
                      <a:pPr algn="l"/>
                      <a:r>
                        <a:rPr sz="900" b="0">
                          <a:solidFill>
                            <a:srgbClr val="1E2F5C"/>
                          </a:solidFill>
                          <a:latin typeface="Kanit"/>
                        </a:rPr>
                        <a:t>มันสำปะหลังโรงงาน</a:t>
                      </a:r>
                    </a:p>
                  </a:txBody>
                  <a:tcPr marL="54864" marR="54864" marT="18288" marB="18288" anchor="ctr">
                    <a:solidFill>
                      <a:srgbClr val="FFFFFF"/>
                    </a:solidFill>
                  </a:tcPr>
                </a:tc>
                <a:tc>
                  <a:txBody>
                    <a:bodyPr wrap="square"/>
                    <a:lstStyle/>
                    <a:p>
                      <a:pPr algn="r"/>
                      <a:r>
                        <a:rPr sz="900" b="0">
                          <a:solidFill>
                            <a:srgbClr val="1E2F5C"/>
                          </a:solidFill>
                          <a:latin typeface="Kanit"/>
                        </a:rPr>
                        <a:t>150,409</a:t>
                      </a:r>
                    </a:p>
                  </a:txBody>
                  <a:tcPr marL="54864" marR="54864" marT="18288" marB="18288" anchor="ctr">
                    <a:solidFill>
                      <a:srgbClr val="FFFFFF"/>
                    </a:solidFill>
                  </a:tcPr>
                </a:tc>
                <a:tc>
                  <a:txBody>
                    <a:bodyPr wrap="square"/>
                    <a:lstStyle/>
                    <a:p>
                      <a:pPr algn="r"/>
                      <a:r>
                        <a:rPr sz="900" b="1">
                          <a:solidFill>
                            <a:srgbClr val="CC0000"/>
                          </a:solidFill>
                          <a:latin typeface="Kanit"/>
                        </a:rPr>
                        <a:t>-1.62</a:t>
                      </a:r>
                    </a:p>
                  </a:txBody>
                  <a:tcPr marL="54864" marR="54864" marT="18288" marB="18288" anchor="ctr">
                    <a:solidFill>
                      <a:srgbClr val="FFFFFF"/>
                    </a:solidFill>
                  </a:tcPr>
                </a:tc>
                <a:tc>
                  <a:txBody>
                    <a:bodyPr wrap="square"/>
                    <a:lstStyle/>
                    <a:p>
                      <a:pPr algn="l"/>
                      <a:r>
                        <a:rPr sz="900" b="0">
                          <a:solidFill>
                            <a:srgbClr val="CC0000"/>
                          </a:solidFill>
                          <a:latin typeface="Kanit"/>
                        </a:rPr>
                        <a:t>severe</a:t>
                      </a:r>
                    </a:p>
                  </a:txBody>
                  <a:tcPr marL="54864" marR="54864" marT="18288" marB="18288" anchor="ctr">
                    <a:solidFill>
                      <a:srgbClr val="FFFFFF"/>
                    </a:solidFill>
                  </a:tcPr>
                </a:tc>
              </a:tr>
              <a:tr h="248716">
                <a:tc>
                  <a:txBody>
                    <a:bodyPr wrap="square"/>
                    <a:lstStyle/>
                    <a:p>
                      <a:pPr algn="l"/>
                      <a:r>
                        <a:rPr sz="900" b="1">
                          <a:solidFill>
                            <a:srgbClr val="1E2F5C"/>
                          </a:solidFill>
                          <a:latin typeface="Kanit"/>
                        </a:rPr>
                        <a:t>ชัยภูมิ</a:t>
                      </a:r>
                    </a:p>
                  </a:txBody>
                  <a:tcPr marL="54864" marR="54864" marT="18288" marB="18288" anchor="ctr">
                    <a:solidFill>
                      <a:srgbClr val="F7F9FC"/>
                    </a:solidFill>
                  </a:tcPr>
                </a:tc>
                <a:tc>
                  <a:txBody>
                    <a:bodyPr wrap="square"/>
                    <a:lstStyle/>
                    <a:p>
                      <a:pPr algn="l"/>
                      <a:r>
                        <a:rPr sz="900" b="0">
                          <a:solidFill>
                            <a:srgbClr val="1E2F5C"/>
                          </a:solidFill>
                          <a:latin typeface="Kanit"/>
                        </a:rPr>
                        <a:t>คอนสวรรค์</a:t>
                      </a:r>
                    </a:p>
                  </a:txBody>
                  <a:tcPr marL="54864" marR="54864" marT="18288" marB="18288" anchor="ctr">
                    <a:solidFill>
                      <a:srgbClr val="F7F9FC"/>
                    </a:solidFill>
                  </a:tcPr>
                </a:tc>
                <a:tc>
                  <a:txBody>
                    <a:bodyPr wrap="square"/>
                    <a:lstStyle/>
                    <a:p>
                      <a:pPr algn="l"/>
                      <a:r>
                        <a:rPr sz="900" b="0">
                          <a:solidFill>
                            <a:srgbClr val="1E2F5C"/>
                          </a:solidFill>
                          <a:latin typeface="Kanit"/>
                        </a:rPr>
                        <a:t>ข้าวนาปี</a:t>
                      </a:r>
                    </a:p>
                  </a:txBody>
                  <a:tcPr marL="54864" marR="54864" marT="18288" marB="18288" anchor="ctr">
                    <a:solidFill>
                      <a:srgbClr val="F7F9FC"/>
                    </a:solidFill>
                  </a:tcPr>
                </a:tc>
                <a:tc>
                  <a:txBody>
                    <a:bodyPr wrap="square"/>
                    <a:lstStyle/>
                    <a:p>
                      <a:pPr algn="r"/>
                      <a:r>
                        <a:rPr sz="900" b="0">
                          <a:solidFill>
                            <a:srgbClr val="1E2F5C"/>
                          </a:solidFill>
                          <a:latin typeface="Kanit"/>
                        </a:rPr>
                        <a:t>143,322</a:t>
                      </a:r>
                    </a:p>
                  </a:txBody>
                  <a:tcPr marL="54864" marR="54864" marT="18288" marB="18288" anchor="ctr">
                    <a:solidFill>
                      <a:srgbClr val="F7F9FC"/>
                    </a:solidFill>
                  </a:tcPr>
                </a:tc>
                <a:tc>
                  <a:txBody>
                    <a:bodyPr wrap="square"/>
                    <a:lstStyle/>
                    <a:p>
                      <a:pPr algn="r"/>
                      <a:r>
                        <a:rPr sz="900" b="1">
                          <a:solidFill>
                            <a:srgbClr val="CC0000"/>
                          </a:solidFill>
                          <a:latin typeface="Kanit"/>
                        </a:rPr>
                        <a:t>-1.51</a:t>
                      </a:r>
                    </a:p>
                  </a:txBody>
                  <a:tcPr marL="54864" marR="54864" marT="18288" marB="18288" anchor="ctr">
                    <a:solidFill>
                      <a:srgbClr val="F7F9FC"/>
                    </a:solidFill>
                  </a:tcPr>
                </a:tc>
                <a:tc>
                  <a:txBody>
                    <a:bodyPr wrap="square"/>
                    <a:lstStyle/>
                    <a:p>
                      <a:pPr algn="l"/>
                      <a:r>
                        <a:rPr sz="900" b="0">
                          <a:solidFill>
                            <a:srgbClr val="CC0000"/>
                          </a:solidFill>
                          <a:latin typeface="Kanit"/>
                        </a:rPr>
                        <a:t>severe</a:t>
                      </a:r>
                    </a:p>
                  </a:txBody>
                  <a:tcPr marL="54864" marR="54864" marT="18288" marB="18288" anchor="ctr">
                    <a:solidFill>
                      <a:srgbClr val="F7F9FC"/>
                    </a:solidFill>
                  </a:tcPr>
                </a:tc>
              </a:tr>
              <a:tr h="248716">
                <a:tc>
                  <a:txBody>
                    <a:bodyPr wrap="square"/>
                    <a:lstStyle/>
                    <a:p>
                      <a:pPr algn="l"/>
                      <a:r>
                        <a:rPr sz="900" b="1">
                          <a:solidFill>
                            <a:srgbClr val="1E2F5C"/>
                          </a:solidFill>
                          <a:latin typeface="Kanit"/>
                        </a:rPr>
                        <a:t>ระยอง</a:t>
                      </a:r>
                    </a:p>
                  </a:txBody>
                  <a:tcPr marL="54864" marR="54864" marT="18288" marB="18288" anchor="ctr">
                    <a:solidFill>
                      <a:srgbClr val="FFFFFF"/>
                    </a:solidFill>
                  </a:tcPr>
                </a:tc>
                <a:tc>
                  <a:txBody>
                    <a:bodyPr wrap="square"/>
                    <a:lstStyle/>
                    <a:p>
                      <a:pPr algn="l"/>
                      <a:r>
                        <a:rPr sz="900" b="0">
                          <a:solidFill>
                            <a:srgbClr val="1E2F5C"/>
                          </a:solidFill>
                          <a:latin typeface="Kanit"/>
                        </a:rPr>
                        <a:t>แกลง</a:t>
                      </a:r>
                    </a:p>
                  </a:txBody>
                  <a:tcPr marL="54864" marR="54864" marT="18288" marB="18288" anchor="ctr">
                    <a:solidFill>
                      <a:srgbClr val="FFFFFF"/>
                    </a:solidFill>
                  </a:tcPr>
                </a:tc>
                <a:tc>
                  <a:txBody>
                    <a:bodyPr wrap="square"/>
                    <a:lstStyle/>
                    <a:p>
                      <a:pPr algn="l"/>
                      <a:r>
                        <a:rPr sz="900" b="0">
                          <a:solidFill>
                            <a:srgbClr val="1E2F5C"/>
                          </a:solidFill>
                          <a:latin typeface="Kanit"/>
                        </a:rPr>
                        <a:t>ยางพารา</a:t>
                      </a:r>
                    </a:p>
                  </a:txBody>
                  <a:tcPr marL="54864" marR="54864" marT="18288" marB="18288" anchor="ctr">
                    <a:solidFill>
                      <a:srgbClr val="FFFFFF"/>
                    </a:solidFill>
                  </a:tcPr>
                </a:tc>
                <a:tc>
                  <a:txBody>
                    <a:bodyPr wrap="square"/>
                    <a:lstStyle/>
                    <a:p>
                      <a:pPr algn="r"/>
                      <a:r>
                        <a:rPr sz="900" b="0">
                          <a:solidFill>
                            <a:srgbClr val="1E2F5C"/>
                          </a:solidFill>
                          <a:latin typeface="Kanit"/>
                        </a:rPr>
                        <a:t>121,783</a:t>
                      </a:r>
                    </a:p>
                  </a:txBody>
                  <a:tcPr marL="54864" marR="54864" marT="18288" marB="18288" anchor="ctr">
                    <a:solidFill>
                      <a:srgbClr val="FFFFFF"/>
                    </a:solidFill>
                  </a:tcPr>
                </a:tc>
                <a:tc>
                  <a:txBody>
                    <a:bodyPr wrap="square"/>
                    <a:lstStyle/>
                    <a:p>
                      <a:pPr algn="r"/>
                      <a:r>
                        <a:rPr sz="900" b="1">
                          <a:solidFill>
                            <a:srgbClr val="CC0000"/>
                          </a:solidFill>
                          <a:latin typeface="Kanit"/>
                        </a:rPr>
                        <a:t>-1.75</a:t>
                      </a:r>
                    </a:p>
                  </a:txBody>
                  <a:tcPr marL="54864" marR="54864" marT="18288" marB="18288" anchor="ctr">
                    <a:solidFill>
                      <a:srgbClr val="FFFFFF"/>
                    </a:solidFill>
                  </a:tcPr>
                </a:tc>
                <a:tc>
                  <a:txBody>
                    <a:bodyPr wrap="square"/>
                    <a:lstStyle/>
                    <a:p>
                      <a:pPr algn="l"/>
                      <a:r>
                        <a:rPr sz="900" b="0">
                          <a:solidFill>
                            <a:srgbClr val="CC0000"/>
                          </a:solidFill>
                          <a:latin typeface="Kanit"/>
                        </a:rPr>
                        <a:t>severe</a:t>
                      </a:r>
                    </a:p>
                  </a:txBody>
                  <a:tcPr marL="54864" marR="54864" marT="18288" marB="18288" anchor="ctr">
                    <a:solidFill>
                      <a:srgbClr val="FFFFFF"/>
                    </a:solidFill>
                  </a:tcPr>
                </a:tc>
              </a:tr>
              <a:tr h="248716">
                <a:tc>
                  <a:txBody>
                    <a:bodyPr wrap="square"/>
                    <a:lstStyle/>
                    <a:p>
                      <a:pPr algn="l"/>
                      <a:r>
                        <a:rPr sz="900" b="1">
                          <a:solidFill>
                            <a:srgbClr val="1E2F5C"/>
                          </a:solidFill>
                          <a:latin typeface="Kanit"/>
                        </a:rPr>
                        <a:t>นครราชสีมา</a:t>
                      </a:r>
                    </a:p>
                  </a:txBody>
                  <a:tcPr marL="54864" marR="54864" marT="18288" marB="18288" anchor="ctr">
                    <a:solidFill>
                      <a:srgbClr val="F7F9FC"/>
                    </a:solidFill>
                  </a:tcPr>
                </a:tc>
                <a:tc>
                  <a:txBody>
                    <a:bodyPr wrap="square"/>
                    <a:lstStyle/>
                    <a:p>
                      <a:pPr algn="l"/>
                      <a:r>
                        <a:rPr sz="900" b="0">
                          <a:solidFill>
                            <a:srgbClr val="1E2F5C"/>
                          </a:solidFill>
                          <a:latin typeface="Kanit"/>
                        </a:rPr>
                        <a:t>เสิงสาง</a:t>
                      </a:r>
                    </a:p>
                  </a:txBody>
                  <a:tcPr marL="54864" marR="54864" marT="18288" marB="18288" anchor="ctr">
                    <a:solidFill>
                      <a:srgbClr val="F7F9FC"/>
                    </a:solidFill>
                  </a:tcPr>
                </a:tc>
                <a:tc>
                  <a:txBody>
                    <a:bodyPr wrap="square"/>
                    <a:lstStyle/>
                    <a:p>
                      <a:pPr algn="l"/>
                      <a:r>
                        <a:rPr sz="900" b="0">
                          <a:solidFill>
                            <a:srgbClr val="1E2F5C"/>
                          </a:solidFill>
                          <a:latin typeface="Kanit"/>
                        </a:rPr>
                        <a:t>มันสำปะหลังโรงงาน</a:t>
                      </a:r>
                    </a:p>
                  </a:txBody>
                  <a:tcPr marL="54864" marR="54864" marT="18288" marB="18288" anchor="ctr">
                    <a:solidFill>
                      <a:srgbClr val="F7F9FC"/>
                    </a:solidFill>
                  </a:tcPr>
                </a:tc>
                <a:tc>
                  <a:txBody>
                    <a:bodyPr wrap="square"/>
                    <a:lstStyle/>
                    <a:p>
                      <a:pPr algn="r"/>
                      <a:r>
                        <a:rPr sz="900" b="0">
                          <a:solidFill>
                            <a:srgbClr val="1E2F5C"/>
                          </a:solidFill>
                          <a:latin typeface="Kanit"/>
                        </a:rPr>
                        <a:t>120,512</a:t>
                      </a:r>
                    </a:p>
                  </a:txBody>
                  <a:tcPr marL="54864" marR="54864" marT="18288" marB="18288" anchor="ctr">
                    <a:solidFill>
                      <a:srgbClr val="F7F9FC"/>
                    </a:solidFill>
                  </a:tcPr>
                </a:tc>
                <a:tc>
                  <a:txBody>
                    <a:bodyPr wrap="square"/>
                    <a:lstStyle/>
                    <a:p>
                      <a:pPr algn="r"/>
                      <a:r>
                        <a:rPr sz="900" b="1">
                          <a:solidFill>
                            <a:srgbClr val="CC0000"/>
                          </a:solidFill>
                          <a:latin typeface="Kanit"/>
                        </a:rPr>
                        <a:t>-1.66</a:t>
                      </a:r>
                    </a:p>
                  </a:txBody>
                  <a:tcPr marL="54864" marR="54864" marT="18288" marB="18288" anchor="ctr">
                    <a:solidFill>
                      <a:srgbClr val="F7F9FC"/>
                    </a:solidFill>
                  </a:tcPr>
                </a:tc>
                <a:tc>
                  <a:txBody>
                    <a:bodyPr wrap="square"/>
                    <a:lstStyle/>
                    <a:p>
                      <a:pPr algn="l"/>
                      <a:r>
                        <a:rPr sz="900" b="0">
                          <a:solidFill>
                            <a:srgbClr val="CC0000"/>
                          </a:solidFill>
                          <a:latin typeface="Kanit"/>
                        </a:rPr>
                        <a:t>severe</a:t>
                      </a:r>
                    </a:p>
                  </a:txBody>
                  <a:tcPr marL="54864" marR="54864" marT="18288" marB="18288" anchor="ctr">
                    <a:solidFill>
                      <a:srgbClr val="F7F9FC"/>
                    </a:solidFill>
                  </a:tcPr>
                </a:tc>
              </a:tr>
            </a:tbl>
          </a:graphicData>
        </a:graphic>
      </p:graphicFrame>
      <p:sp>
        <p:nvSpPr>
          <p:cNvPr id="34" name="Rectangle 33"/>
          <p:cNvSpPr/>
          <p:nvPr/>
        </p:nvSpPr>
        <p:spPr>
          <a:xfrm>
            <a:off x="7269480" y="2553004"/>
            <a:ext cx="4507992" cy="202869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Rectangle 34"/>
          <p:cNvSpPr/>
          <p:nvPr/>
        </p:nvSpPr>
        <p:spPr>
          <a:xfrm>
            <a:off x="7269480" y="2553004"/>
            <a:ext cx="50292" cy="202869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7488936" y="2699308"/>
            <a:ext cx="4178807"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Three different questions, deliberately kept apart</a:t>
            </a:r>
          </a:p>
        </p:txBody>
      </p:sp>
      <p:sp>
        <p:nvSpPr>
          <p:cNvPr id="37" name="TextBox 36"/>
          <p:cNvSpPr txBox="1"/>
          <p:nvPr/>
        </p:nvSpPr>
        <p:spPr>
          <a:xfrm>
            <a:off x="7488936" y="2903778"/>
            <a:ext cx="4178807" cy="153162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SPEI is the SEASON: has enough water arrived over months, which is what decides a yield. ThaiWater is TODAY: river levels and rainfall pulled daily, the early-warning layer. The GISTDA census is neither — it is which ground has flooded repeatedly over twelve years, whatever the weather is doing now.
The third one is a hazard flag and explicitly not a loss estimate: the source's per-event polygons overlap, so any flooded-area total drawn from them would be wrong. It is also not an argument to close anything.</a:t>
            </a:r>
          </a:p>
        </p:txBody>
      </p:sp>
      <p:sp>
        <p:nvSpPr>
          <p:cNvPr id="38" name="Rounded Rectangle 37"/>
          <p:cNvSpPr/>
          <p:nvPr/>
        </p:nvSpPr>
        <p:spPr>
          <a:xfrm>
            <a:off x="411480" y="4400092"/>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411480" y="4429353"/>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40" name="TextBox 39"/>
          <p:cNvSpPr txBox="1"/>
          <p:nvPr/>
        </p:nvSpPr>
        <p:spPr>
          <a:xfrm>
            <a:off x="1056955" y="4413808"/>
            <a:ext cx="10720516" cy="46291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Planted area MEASURED (OAE — 3,295 amphoe crop rows). Drought is a MODELLED SPEI index from rainfall and evapotranspiration — the best national-coverage signal available, but nobody has walked those districts. River and rainfall telemetry MEASURED (ThaiWater, pulled daily and accumulated — a missed pull leaves a gap rather than an invented point). Structural flood exposure MEASURED (GISTDA 1:50,000 repeated-flooding census, 2005–2016).</a:t>
            </a:r>
          </a:p>
        </p:txBody>
      </p:sp>
      <p:sp>
        <p:nvSpPr>
          <p:cNvPr id="41" name="Rectangle 40"/>
          <p:cNvSpPr/>
          <p:nvPr/>
        </p:nvSpPr>
        <p:spPr>
          <a:xfrm>
            <a:off x="411480" y="5009311"/>
            <a:ext cx="11365992" cy="854456"/>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411480" y="5009311"/>
            <a:ext cx="50292" cy="854456"/>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630936" y="5155615"/>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สุพรรณบุรี is the coincidence to watch</a:t>
            </a:r>
          </a:p>
        </p:txBody>
      </p:sp>
      <p:sp>
        <p:nvSpPr>
          <p:cNvPr id="44" name="TextBox 43"/>
          <p:cNvSpPr txBox="1"/>
          <p:nvPr/>
        </p:nvSpPr>
        <p:spPr>
          <a:xfrm>
            <a:off x="630936" y="5360085"/>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Drought 0.95 — effectively the top of the scale — and a third of its planted area is sugarcane, at a −17.9% farm gate. The formal double-stress count reads zero because that test is scored on world prices; on the Thai farm gate this province is drought and falling price at once, and sugarcane is one of the three crops whose cost of production we cannot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09 · WHERE TO REACH OUT FIRST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Ranking provinces on stress that no payment file can show yet.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Four independent external signals, none of them a repayment record: debt already above a year of household income, unemployment above 2%, a lead crop that does not cover its cost, and rain below 90% of normal. Provinces are ordered by how many tripped — not, as before, by two of the four.</a:t>
            </a:r>
          </a:p>
        </p:txBody>
      </p:sp>
      <p:graphicFrame>
        <p:nvGraphicFramePr>
          <p:cNvPr id="10" name="Table 9"/>
          <p:cNvGraphicFramePr>
            <a:graphicFrameLocks noGrp="1"/>
          </p:cNvGraphicFramePr>
          <p:nvPr/>
        </p:nvGraphicFramePr>
        <p:xfrm>
          <a:off x="411480" y="1679448"/>
          <a:ext cx="11365992" cy="2362808"/>
        </p:xfrm>
        <a:graphic>
          <a:graphicData uri="http://schemas.openxmlformats.org/drawingml/2006/table">
            <a:tbl>
              <a:tblPr>
                <a:tableStyleId>{5C22544A-7EE6-4342-B048-85BDC9FD1C3A}</a:tableStyleId>
              </a:tblPr>
              <a:tblGrid>
                <a:gridCol w="1473204"/>
                <a:gridCol w="937493"/>
                <a:gridCol w="1205349"/>
                <a:gridCol w="1205349"/>
                <a:gridCol w="1651774"/>
                <a:gridCol w="1205349"/>
                <a:gridCol w="1160706"/>
                <a:gridCol w="892851"/>
                <a:gridCol w="937493"/>
                <a:gridCol w="696424"/>
              </a:tblGrid>
              <a:tr h="329184">
                <a:tc>
                  <a:txBody>
                    <a:bodyPr wrap="square"/>
                    <a:lstStyle/>
                    <a:p>
                      <a:pPr algn="l"/>
                      <a:r>
                        <a:rPr sz="1050" b="1">
                          <a:solidFill>
                            <a:srgbClr val="FFFFFF"/>
                          </a:solidFill>
                          <a:latin typeface="Kanit"/>
                        </a:rPr>
                        <a:t>Province</a:t>
                      </a:r>
                    </a:p>
                  </a:txBody>
                  <a:tcPr marL="54864" marR="54864" marT="18288" marB="18288" anchor="ctr">
                    <a:solidFill>
                      <a:srgbClr val="1B2A6B"/>
                    </a:solidFill>
                  </a:tcPr>
                </a:tc>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household debt</a:t>
                      </a:r>
                    </a:p>
                  </a:txBody>
                  <a:tcPr marL="54864" marR="54864" marT="18288" marB="18288" anchor="ctr">
                    <a:solidFill>
                      <a:srgbClr val="1B2A6B"/>
                    </a:solidFill>
                  </a:tcPr>
                </a:tc>
                <a:tc>
                  <a:txBody>
                    <a:bodyPr wrap="square"/>
                    <a:lstStyle/>
                    <a:p>
                      <a:pPr algn="r"/>
                      <a:r>
                        <a:rPr sz="1050" b="1">
                          <a:solidFill>
                            <a:srgbClr val="FFFFFF"/>
                          </a:solidFill>
                          <a:latin typeface="Kanit"/>
                        </a:rPr>
                        <a:t>unemployment</a:t>
                      </a:r>
                    </a:p>
                  </a:txBody>
                  <a:tcPr marL="54864" marR="54864" marT="18288" marB="18288" anchor="ctr">
                    <a:solidFill>
                      <a:srgbClr val="1B2A6B"/>
                    </a:solidFill>
                  </a:tcPr>
                </a:tc>
                <a:tc>
                  <a:txBody>
                    <a:bodyPr wrap="square"/>
                    <a:lstStyle/>
                    <a:p>
                      <a:pPr algn="l"/>
                      <a:r>
                        <a:rPr sz="1050" b="1">
                          <a:solidFill>
                            <a:srgbClr val="FFFFFF"/>
                          </a:solidFill>
                          <a:latin typeface="Kanit"/>
                        </a:rPr>
                        <a:t>lead crop</a:t>
                      </a:r>
                    </a:p>
                  </a:txBody>
                  <a:tcPr marL="54864" marR="54864" marT="18288" marB="18288" anchor="ctr">
                    <a:solidFill>
                      <a:srgbClr val="1B2A6B"/>
                    </a:solidFill>
                  </a:tcPr>
                </a:tc>
                <a:tc>
                  <a:txBody>
                    <a:bodyPr wrap="square"/>
                    <a:lstStyle/>
                    <a:p>
                      <a:pPr algn="l"/>
                      <a:r>
                        <a:rPr sz="1050" b="1">
                          <a:solidFill>
                            <a:srgbClr val="FFFFFF"/>
                          </a:solidFill>
                          <a:latin typeface="Kanit"/>
                        </a:rPr>
                        <a:t>crop economics</a:t>
                      </a:r>
                    </a:p>
                  </a:txBody>
                  <a:tcPr marL="54864" marR="54864" marT="18288" marB="18288" anchor="ctr">
                    <a:solidFill>
                      <a:srgbClr val="1B2A6B"/>
                    </a:solidFill>
                  </a:tcPr>
                </a:tc>
                <a:tc>
                  <a:txBody>
                    <a:bodyPr wrap="square"/>
                    <a:lstStyle/>
                    <a:p>
                      <a:pPr algn="r"/>
                      <a:r>
                        <a:rPr sz="1050" b="1">
                          <a:solidFill>
                            <a:srgbClr val="FFFFFF"/>
                          </a:solidFill>
                          <a:latin typeface="Kanit"/>
                        </a:rPr>
                        <a:t>rain vs normal</a:t>
                      </a:r>
                    </a:p>
                  </a:txBody>
                  <a:tcPr marL="54864" marR="54864" marT="18288" marB="18288" anchor="ctr">
                    <a:solidFill>
                      <a:srgbClr val="1B2A6B"/>
                    </a:solidFill>
                  </a:tcPr>
                </a:tc>
                <a:tc>
                  <a:txBody>
                    <a:bodyPr wrap="square"/>
                    <a:lstStyle/>
                    <a:p>
                      <a:pPr algn="r"/>
                      <a:r>
                        <a:rPr sz="1050" b="1">
                          <a:solidFill>
                            <a:srgbClr val="FFFFFF"/>
                          </a:solidFill>
                          <a:latin typeface="Kanit"/>
                        </a:rPr>
                        <a:t>farm ฿/mo</a:t>
                      </a:r>
                    </a:p>
                  </a:txBody>
                  <a:tcPr marL="54864" marR="54864" marT="18288" marB="18288" anchor="ctr">
                    <a:solidFill>
                      <a:srgbClr val="1B2A6B"/>
                    </a:solidFill>
                  </a:tcPr>
                </a:tc>
                <a:tc>
                  <a:txBody>
                    <a:bodyPr wrap="square"/>
                    <a:lstStyle/>
                    <a:p>
                      <a:pPr algn="r"/>
                      <a:r>
                        <a:rPr sz="1050" b="1">
                          <a:solidFill>
                            <a:srgbClr val="FFFFFF"/>
                          </a:solidFill>
                          <a:latin typeface="Kanit"/>
                        </a:rPr>
                        <a:t>planted rai</a:t>
                      </a:r>
                    </a:p>
                  </a:txBody>
                  <a:tcPr marL="54864" marR="54864" marT="18288" marB="18288" anchor="ctr">
                    <a:solidFill>
                      <a:srgbClr val="1B2A6B"/>
                    </a:solidFill>
                  </a:tcPr>
                </a:tc>
                <a:tc>
                  <a:txBody>
                    <a:bodyPr wrap="square"/>
                    <a:lstStyle/>
                    <a:p>
                      <a:pPr algn="r"/>
                      <a:r>
                        <a:rPr sz="1050" b="1">
                          <a:solidFill>
                            <a:srgbClr val="FFFFFF"/>
                          </a:solidFill>
                          <a:latin typeface="Kanit"/>
                        </a:rPr>
                        <a:t>tripped</a:t>
                      </a:r>
                    </a:p>
                  </a:txBody>
                  <a:tcPr marL="54864" marR="54864" marT="18288" marB="18288" anchor="ctr">
                    <a:solidFill>
                      <a:srgbClr val="1B2A6B"/>
                    </a:solidFill>
                  </a:tcPr>
                </a:tc>
              </a:tr>
              <a:tr h="254203">
                <a:tc>
                  <a:txBody>
                    <a:bodyPr wrap="square"/>
                    <a:lstStyle/>
                    <a:p>
                      <a:pPr algn="l"/>
                      <a:r>
                        <a:rPr sz="900" b="1">
                          <a:solidFill>
                            <a:srgbClr val="1E2F5C"/>
                          </a:solidFill>
                          <a:latin typeface="Kanit"/>
                        </a:rPr>
                        <a:t>อำนาจเจริญ</a:t>
                      </a:r>
                    </a:p>
                  </a:txBody>
                  <a:tcPr marL="54864" marR="54864" marT="18288" marB="18288" anchor="ctr">
                    <a:solidFill>
                      <a:srgbClr val="FFFFFF"/>
                    </a:solidFill>
                  </a:tcPr>
                </a:tc>
                <a:tc>
                  <a:txBody>
                    <a:bodyPr wrap="square"/>
                    <a:lstStyle/>
                    <a:p>
                      <a:pPr algn="l"/>
                      <a:r>
                        <a:rPr sz="900" b="0">
                          <a:solidFill>
                            <a:srgbClr val="606060"/>
                          </a:solidFill>
                          <a:latin typeface="Kanit"/>
                        </a:rPr>
                        <a:t>Isan</a:t>
                      </a:r>
                    </a:p>
                  </a:txBody>
                  <a:tcPr marL="54864" marR="54864" marT="18288" marB="18288" anchor="ctr">
                    <a:solidFill>
                      <a:srgbClr val="FFFFFF"/>
                    </a:solidFill>
                  </a:tcPr>
                </a:tc>
                <a:tc>
                  <a:txBody>
                    <a:bodyPr wrap="square"/>
                    <a:lstStyle/>
                    <a:p>
                      <a:pPr algn="r"/>
                      <a:r>
                        <a:rPr sz="900" b="1">
                          <a:solidFill>
                            <a:srgbClr val="CC0000"/>
                          </a:solidFill>
                          <a:latin typeface="Kanit"/>
                        </a:rPr>
                        <a:t>114%</a:t>
                      </a:r>
                    </a:p>
                  </a:txBody>
                  <a:tcPr marL="54864" marR="54864" marT="18288" marB="18288" anchor="ctr">
                    <a:solidFill>
                      <a:srgbClr val="FFFFFF"/>
                    </a:solidFill>
                  </a:tcPr>
                </a:tc>
                <a:tc>
                  <a:txBody>
                    <a:bodyPr wrap="square"/>
                    <a:lstStyle/>
                    <a:p>
                      <a:pPr algn="r"/>
                      <a:r>
                        <a:rPr sz="900" b="1">
                          <a:solidFill>
                            <a:srgbClr val="CC0000"/>
                          </a:solidFill>
                          <a:latin typeface="Kanit"/>
                        </a:rPr>
                        <a:t>2.84%</a:t>
                      </a:r>
                    </a:p>
                  </a:txBody>
                  <a:tcPr marL="54864" marR="54864" marT="18288" marB="18288" anchor="ctr">
                    <a:solidFill>
                      <a:srgbClr val="FFFFFF"/>
                    </a:solidFill>
                  </a:tcPr>
                </a:tc>
                <a:tc>
                  <a:txBody>
                    <a:bodyPr wrap="square"/>
                    <a:lstStyle/>
                    <a:p>
                      <a:pPr algn="l"/>
                      <a:r>
                        <a:rPr sz="900" b="0">
                          <a:solidFill>
                            <a:srgbClr val="1E2F5C"/>
                          </a:solidFill>
                          <a:latin typeface="Kanit"/>
                        </a:rPr>
                        <a:t>Rice 76%</a:t>
                      </a:r>
                    </a:p>
                  </a:txBody>
                  <a:tcPr marL="54864" marR="54864" marT="18288" marB="18288" anchor="ctr">
                    <a:solidFill>
                      <a:srgbClr val="FFFFFF"/>
                    </a:solidFill>
                  </a:tcPr>
                </a:tc>
                <a:tc>
                  <a:txBody>
                    <a:bodyPr wrap="square"/>
                    <a:lstStyle/>
                    <a:p>
                      <a:pPr algn="l"/>
                      <a:r>
                        <a:rPr sz="900" b="1">
                          <a:solidFill>
                            <a:srgbClr val="CC0000"/>
                          </a:solidFill>
                          <a:latin typeface="Kanit"/>
                        </a:rPr>
                        <a:t>below cost</a:t>
                      </a:r>
                    </a:p>
                  </a:txBody>
                  <a:tcPr marL="54864" marR="54864" marT="18288" marB="18288" anchor="ctr">
                    <a:solidFill>
                      <a:srgbClr val="FFFFFF"/>
                    </a:solidFill>
                  </a:tcPr>
                </a:tc>
                <a:tc>
                  <a:txBody>
                    <a:bodyPr wrap="square"/>
                    <a:lstStyle/>
                    <a:p>
                      <a:pPr algn="r"/>
                      <a:r>
                        <a:rPr sz="900" b="1">
                          <a:solidFill>
                            <a:srgbClr val="CC0000"/>
                          </a:solidFill>
                          <a:latin typeface="Kanit"/>
                        </a:rPr>
                        <a:t>86%</a:t>
                      </a:r>
                    </a:p>
                  </a:txBody>
                  <a:tcPr marL="54864" marR="54864" marT="18288" marB="18288" anchor="ctr">
                    <a:solidFill>
                      <a:srgbClr val="FFFFFF"/>
                    </a:solidFill>
                  </a:tcPr>
                </a:tc>
                <a:tc>
                  <a:txBody>
                    <a:bodyPr wrap="square"/>
                    <a:lstStyle/>
                    <a:p>
                      <a:pPr algn="r"/>
                      <a:r>
                        <a:rPr sz="900" b="0">
                          <a:solidFill>
                            <a:srgbClr val="1E2F5C"/>
                          </a:solidFill>
                          <a:latin typeface="Kanit"/>
                        </a:rPr>
                        <a:t>6,896</a:t>
                      </a:r>
                    </a:p>
                  </a:txBody>
                  <a:tcPr marL="54864" marR="54864" marT="18288" marB="18288" anchor="ctr">
                    <a:solidFill>
                      <a:srgbClr val="FFFFFF"/>
                    </a:solidFill>
                  </a:tcPr>
                </a:tc>
                <a:tc>
                  <a:txBody>
                    <a:bodyPr wrap="square"/>
                    <a:lstStyle/>
                    <a:p>
                      <a:pPr algn="r"/>
                      <a:r>
                        <a:rPr sz="900" b="0">
                          <a:solidFill>
                            <a:srgbClr val="1E2F5C"/>
                          </a:solidFill>
                          <a:latin typeface="Kanit"/>
                        </a:rPr>
                        <a:t>1.42M</a:t>
                      </a:r>
                    </a:p>
                  </a:txBody>
                  <a:tcPr marL="54864" marR="54864" marT="18288" marB="18288" anchor="ctr">
                    <a:solidFill>
                      <a:srgbClr val="FFFFFF"/>
                    </a:solidFill>
                  </a:tcPr>
                </a:tc>
                <a:tc>
                  <a:txBody>
                    <a:bodyPr wrap="square"/>
                    <a:lstStyle/>
                    <a:p>
                      <a:pPr algn="r"/>
                      <a:r>
                        <a:rPr sz="900" b="1">
                          <a:solidFill>
                            <a:srgbClr val="CC0000"/>
                          </a:solidFill>
                          <a:latin typeface="Kanit"/>
                        </a:rPr>
                        <a:t>4 of 4</a:t>
                      </a:r>
                    </a:p>
                  </a:txBody>
                  <a:tcPr marL="54864" marR="54864" marT="18288" marB="18288" anchor="ctr">
                    <a:solidFill>
                      <a:srgbClr val="FFFFFF"/>
                    </a:solidFill>
                  </a:tcPr>
                </a:tc>
              </a:tr>
              <a:tr h="254203">
                <a:tc>
                  <a:txBody>
                    <a:bodyPr wrap="square"/>
                    <a:lstStyle/>
                    <a:p>
                      <a:pPr algn="l"/>
                      <a:r>
                        <a:rPr sz="900" b="1">
                          <a:solidFill>
                            <a:srgbClr val="1E2F5C"/>
                          </a:solidFill>
                          <a:latin typeface="Kanit"/>
                        </a:rPr>
                        <a:t>สุโขทัย</a:t>
                      </a:r>
                    </a:p>
                  </a:txBody>
                  <a:tcPr marL="54864" marR="54864" marT="18288" marB="18288" anchor="ctr">
                    <a:solidFill>
                      <a:srgbClr val="F7F9FC"/>
                    </a:solidFill>
                  </a:tcPr>
                </a:tc>
                <a:tc>
                  <a:txBody>
                    <a:bodyPr wrap="square"/>
                    <a:lstStyle/>
                    <a:p>
                      <a:pPr algn="l"/>
                      <a:r>
                        <a:rPr sz="900" b="0">
                          <a:solidFill>
                            <a:srgbClr val="606060"/>
                          </a:solidFill>
                          <a:latin typeface="Kanit"/>
                        </a:rPr>
                        <a:t>North</a:t>
                      </a:r>
                    </a:p>
                  </a:txBody>
                  <a:tcPr marL="54864" marR="54864" marT="18288" marB="18288" anchor="ctr">
                    <a:solidFill>
                      <a:srgbClr val="F7F9FC"/>
                    </a:solidFill>
                  </a:tcPr>
                </a:tc>
                <a:tc>
                  <a:txBody>
                    <a:bodyPr wrap="square"/>
                    <a:lstStyle/>
                    <a:p>
                      <a:pPr algn="r"/>
                      <a:r>
                        <a:rPr sz="900" b="1">
                          <a:solidFill>
                            <a:srgbClr val="1E2F5C"/>
                          </a:solidFill>
                          <a:latin typeface="Kanit"/>
                        </a:rPr>
                        <a:t>77%</a:t>
                      </a:r>
                    </a:p>
                  </a:txBody>
                  <a:tcPr marL="54864" marR="54864" marT="18288" marB="18288" anchor="ctr">
                    <a:solidFill>
                      <a:srgbClr val="F7F9FC"/>
                    </a:solidFill>
                  </a:tcPr>
                </a:tc>
                <a:tc>
                  <a:txBody>
                    <a:bodyPr wrap="square"/>
                    <a:lstStyle/>
                    <a:p>
                      <a:pPr algn="r"/>
                      <a:r>
                        <a:rPr sz="900" b="1">
                          <a:solidFill>
                            <a:srgbClr val="CC0000"/>
                          </a:solidFill>
                          <a:latin typeface="Kanit"/>
                        </a:rPr>
                        <a:t>2.12%</a:t>
                      </a:r>
                    </a:p>
                  </a:txBody>
                  <a:tcPr marL="54864" marR="54864" marT="18288" marB="18288" anchor="ctr">
                    <a:solidFill>
                      <a:srgbClr val="F7F9FC"/>
                    </a:solidFill>
                  </a:tcPr>
                </a:tc>
                <a:tc>
                  <a:txBody>
                    <a:bodyPr wrap="square"/>
                    <a:lstStyle/>
                    <a:p>
                      <a:pPr algn="l"/>
                      <a:r>
                        <a:rPr sz="900" b="0">
                          <a:solidFill>
                            <a:srgbClr val="1E2F5C"/>
                          </a:solidFill>
                          <a:latin typeface="Kanit"/>
                        </a:rPr>
                        <a:t>Rice 72%</a:t>
                      </a:r>
                    </a:p>
                  </a:txBody>
                  <a:tcPr marL="54864" marR="54864" marT="18288" marB="18288" anchor="ctr">
                    <a:solidFill>
                      <a:srgbClr val="F7F9FC"/>
                    </a:solidFill>
                  </a:tcPr>
                </a:tc>
                <a:tc>
                  <a:txBody>
                    <a:bodyPr wrap="square"/>
                    <a:lstStyle/>
                    <a:p>
                      <a:pPr algn="l"/>
                      <a:r>
                        <a:rPr sz="900" b="1">
                          <a:solidFill>
                            <a:srgbClr val="CC0000"/>
                          </a:solidFill>
                          <a:latin typeface="Kanit"/>
                        </a:rPr>
                        <a:t>below cost</a:t>
                      </a:r>
                    </a:p>
                  </a:txBody>
                  <a:tcPr marL="54864" marR="54864" marT="18288" marB="18288" anchor="ctr">
                    <a:solidFill>
                      <a:srgbClr val="F7F9FC"/>
                    </a:solidFill>
                  </a:tcPr>
                </a:tc>
                <a:tc>
                  <a:txBody>
                    <a:bodyPr wrap="square"/>
                    <a:lstStyle/>
                    <a:p>
                      <a:pPr algn="r"/>
                      <a:r>
                        <a:rPr sz="900" b="1">
                          <a:solidFill>
                            <a:srgbClr val="CC0000"/>
                          </a:solidFill>
                          <a:latin typeface="Kanit"/>
                        </a:rPr>
                        <a:t>72%</a:t>
                      </a:r>
                    </a:p>
                  </a:txBody>
                  <a:tcPr marL="54864" marR="54864" marT="18288" marB="18288" anchor="ctr">
                    <a:solidFill>
                      <a:srgbClr val="F7F9FC"/>
                    </a:solidFill>
                  </a:tcPr>
                </a:tc>
                <a:tc>
                  <a:txBody>
                    <a:bodyPr wrap="square"/>
                    <a:lstStyle/>
                    <a:p>
                      <a:pPr algn="r"/>
                      <a:r>
                        <a:rPr sz="900" b="0">
                          <a:solidFill>
                            <a:srgbClr val="1E2F5C"/>
                          </a:solidFill>
                          <a:latin typeface="Kanit"/>
                        </a:rPr>
                        <a:t>8,815</a:t>
                      </a:r>
                    </a:p>
                  </a:txBody>
                  <a:tcPr marL="54864" marR="54864" marT="18288" marB="18288" anchor="ctr">
                    <a:solidFill>
                      <a:srgbClr val="F7F9FC"/>
                    </a:solidFill>
                  </a:tcPr>
                </a:tc>
                <a:tc>
                  <a:txBody>
                    <a:bodyPr wrap="square"/>
                    <a:lstStyle/>
                    <a:p>
                      <a:pPr algn="r"/>
                      <a:r>
                        <a:rPr sz="900" b="0">
                          <a:solidFill>
                            <a:srgbClr val="1E2F5C"/>
                          </a:solidFill>
                          <a:latin typeface="Kanit"/>
                        </a:rPr>
                        <a:t>1.65M</a:t>
                      </a:r>
                    </a:p>
                  </a:txBody>
                  <a:tcPr marL="54864" marR="54864" marT="18288" marB="18288" anchor="ctr">
                    <a:solidFill>
                      <a:srgbClr val="F7F9FC"/>
                    </a:solidFill>
                  </a:tcPr>
                </a:tc>
                <a:tc>
                  <a:txBody>
                    <a:bodyPr wrap="square"/>
                    <a:lstStyle/>
                    <a:p>
                      <a:pPr algn="r"/>
                      <a:r>
                        <a:rPr sz="900" b="1">
                          <a:solidFill>
                            <a:srgbClr val="CC0000"/>
                          </a:solidFill>
                          <a:latin typeface="Kanit"/>
                        </a:rPr>
                        <a:t>3 of 4</a:t>
                      </a:r>
                    </a:p>
                  </a:txBody>
                  <a:tcPr marL="54864" marR="54864" marT="18288" marB="18288" anchor="ctr">
                    <a:solidFill>
                      <a:srgbClr val="F7F9FC"/>
                    </a:solidFill>
                  </a:tcPr>
                </a:tc>
              </a:tr>
              <a:tr h="254203">
                <a:tc>
                  <a:txBody>
                    <a:bodyPr wrap="square"/>
                    <a:lstStyle/>
                    <a:p>
                      <a:pPr algn="l"/>
                      <a:r>
                        <a:rPr sz="900" b="1">
                          <a:solidFill>
                            <a:srgbClr val="1E2F5C"/>
                          </a:solidFill>
                          <a:latin typeface="Kanit"/>
                        </a:rPr>
                        <a:t>สิงห์บุรี</a:t>
                      </a:r>
                    </a:p>
                  </a:txBody>
                  <a:tcPr marL="54864" marR="54864" marT="18288" marB="18288" anchor="ctr">
                    <a:solidFill>
                      <a:srgbClr val="FFFFFF"/>
                    </a:solidFill>
                  </a:tcPr>
                </a:tc>
                <a:tc>
                  <a:txBody>
                    <a:bodyPr wrap="square"/>
                    <a:lstStyle/>
                    <a:p>
                      <a:pPr algn="l"/>
                      <a:r>
                        <a:rPr sz="900" b="0">
                          <a:solidFill>
                            <a:srgbClr val="606060"/>
                          </a:solidFill>
                          <a:latin typeface="Kanit"/>
                        </a:rPr>
                        <a:t>Central&amp;BKK</a:t>
                      </a:r>
                    </a:p>
                  </a:txBody>
                  <a:tcPr marL="54864" marR="54864" marT="18288" marB="18288" anchor="ctr">
                    <a:solidFill>
                      <a:srgbClr val="FFFFFF"/>
                    </a:solidFill>
                  </a:tcPr>
                </a:tc>
                <a:tc>
                  <a:txBody>
                    <a:bodyPr wrap="square"/>
                    <a:lstStyle/>
                    <a:p>
                      <a:pPr algn="r"/>
                      <a:r>
                        <a:rPr sz="900" b="1">
                          <a:solidFill>
                            <a:srgbClr val="1E2F5C"/>
                          </a:solidFill>
                          <a:latin typeface="Kanit"/>
                        </a:rPr>
                        <a:t>47%</a:t>
                      </a:r>
                    </a:p>
                  </a:txBody>
                  <a:tcPr marL="54864" marR="54864" marT="18288" marB="18288" anchor="ctr">
                    <a:solidFill>
                      <a:srgbClr val="FFFFFF"/>
                    </a:solidFill>
                  </a:tcPr>
                </a:tc>
                <a:tc>
                  <a:txBody>
                    <a:bodyPr wrap="square"/>
                    <a:lstStyle/>
                    <a:p>
                      <a:pPr algn="r"/>
                      <a:r>
                        <a:rPr sz="900" b="1">
                          <a:solidFill>
                            <a:srgbClr val="CC0000"/>
                          </a:solidFill>
                          <a:latin typeface="Kanit"/>
                        </a:rPr>
                        <a:t>2.29%</a:t>
                      </a:r>
                    </a:p>
                  </a:txBody>
                  <a:tcPr marL="54864" marR="54864" marT="18288" marB="18288" anchor="ctr">
                    <a:solidFill>
                      <a:srgbClr val="FFFFFF"/>
                    </a:solidFill>
                  </a:tcPr>
                </a:tc>
                <a:tc>
                  <a:txBody>
                    <a:bodyPr wrap="square"/>
                    <a:lstStyle/>
                    <a:p>
                      <a:pPr algn="l"/>
                      <a:r>
                        <a:rPr sz="900" b="0">
                          <a:solidFill>
                            <a:srgbClr val="1E2F5C"/>
                          </a:solidFill>
                          <a:latin typeface="Kanit"/>
                        </a:rPr>
                        <a:t>Rice 93%</a:t>
                      </a:r>
                    </a:p>
                  </a:txBody>
                  <a:tcPr marL="54864" marR="54864" marT="18288" marB="18288" anchor="ctr">
                    <a:solidFill>
                      <a:srgbClr val="FFFFFF"/>
                    </a:solidFill>
                  </a:tcPr>
                </a:tc>
                <a:tc>
                  <a:txBody>
                    <a:bodyPr wrap="square"/>
                    <a:lstStyle/>
                    <a:p>
                      <a:pPr algn="l"/>
                      <a:r>
                        <a:rPr sz="900" b="1">
                          <a:solidFill>
                            <a:srgbClr val="CC0000"/>
                          </a:solidFill>
                          <a:latin typeface="Kanit"/>
                        </a:rPr>
                        <a:t>below cost</a:t>
                      </a:r>
                    </a:p>
                  </a:txBody>
                  <a:tcPr marL="54864" marR="54864" marT="18288" marB="18288" anchor="ctr">
                    <a:solidFill>
                      <a:srgbClr val="FFFFFF"/>
                    </a:solidFill>
                  </a:tcPr>
                </a:tc>
                <a:tc>
                  <a:txBody>
                    <a:bodyPr wrap="square"/>
                    <a:lstStyle/>
                    <a:p>
                      <a:pPr algn="r"/>
                      <a:r>
                        <a:rPr sz="900" b="1">
                          <a:solidFill>
                            <a:srgbClr val="CC0000"/>
                          </a:solidFill>
                          <a:latin typeface="Kanit"/>
                        </a:rPr>
                        <a:t>74%</a:t>
                      </a:r>
                    </a:p>
                  </a:txBody>
                  <a:tcPr marL="54864" marR="54864" marT="18288" marB="18288" anchor="ctr">
                    <a:solidFill>
                      <a:srgbClr val="FFFFFF"/>
                    </a:solidFill>
                  </a:tcPr>
                </a:tc>
                <a:tc>
                  <a:txBody>
                    <a:bodyPr wrap="square"/>
                    <a:lstStyle/>
                    <a:p>
                      <a:pPr algn="r"/>
                      <a:r>
                        <a:rPr sz="900" b="0">
                          <a:solidFill>
                            <a:srgbClr val="1E2F5C"/>
                          </a:solidFill>
                          <a:latin typeface="Kanit"/>
                        </a:rPr>
                        <a:t>9,802</a:t>
                      </a:r>
                    </a:p>
                  </a:txBody>
                  <a:tcPr marL="54864" marR="54864" marT="18288" marB="18288" anchor="ctr">
                    <a:solidFill>
                      <a:srgbClr val="FFFFFF"/>
                    </a:solidFill>
                  </a:tcPr>
                </a:tc>
                <a:tc>
                  <a:txBody>
                    <a:bodyPr wrap="square"/>
                    <a:lstStyle/>
                    <a:p>
                      <a:pPr algn="r"/>
                      <a:r>
                        <a:rPr sz="900" b="0">
                          <a:solidFill>
                            <a:srgbClr val="1E2F5C"/>
                          </a:solidFill>
                          <a:latin typeface="Kanit"/>
                        </a:rPr>
                        <a:t>0.33M</a:t>
                      </a:r>
                    </a:p>
                  </a:txBody>
                  <a:tcPr marL="54864" marR="54864" marT="18288" marB="18288" anchor="ctr">
                    <a:solidFill>
                      <a:srgbClr val="FFFFFF"/>
                    </a:solidFill>
                  </a:tcPr>
                </a:tc>
                <a:tc>
                  <a:txBody>
                    <a:bodyPr wrap="square"/>
                    <a:lstStyle/>
                    <a:p>
                      <a:pPr algn="r"/>
                      <a:r>
                        <a:rPr sz="900" b="1">
                          <a:solidFill>
                            <a:srgbClr val="CC0000"/>
                          </a:solidFill>
                          <a:latin typeface="Kanit"/>
                        </a:rPr>
                        <a:t>3 of 4</a:t>
                      </a:r>
                    </a:p>
                  </a:txBody>
                  <a:tcPr marL="54864" marR="54864" marT="18288" marB="18288" anchor="ctr">
                    <a:solidFill>
                      <a:srgbClr val="FFFFFF"/>
                    </a:solidFill>
                  </a:tcPr>
                </a:tc>
              </a:tr>
              <a:tr h="254203">
                <a:tc>
                  <a:txBody>
                    <a:bodyPr wrap="square"/>
                    <a:lstStyle/>
                    <a:p>
                      <a:pPr algn="l"/>
                      <a:r>
                        <a:rPr sz="900" b="1">
                          <a:solidFill>
                            <a:srgbClr val="1E2F5C"/>
                          </a:solidFill>
                          <a:latin typeface="Kanit"/>
                        </a:rPr>
                        <a:t>อุบลราชธานี</a:t>
                      </a:r>
                    </a:p>
                  </a:txBody>
                  <a:tcPr marL="54864" marR="54864" marT="18288" marB="18288" anchor="ctr">
                    <a:solidFill>
                      <a:srgbClr val="F7F9FC"/>
                    </a:solidFill>
                  </a:tcPr>
                </a:tc>
                <a:tc>
                  <a:txBody>
                    <a:bodyPr wrap="square"/>
                    <a:lstStyle/>
                    <a:p>
                      <a:pPr algn="l"/>
                      <a:r>
                        <a:rPr sz="900" b="0">
                          <a:solidFill>
                            <a:srgbClr val="606060"/>
                          </a:solidFill>
                          <a:latin typeface="Kanit"/>
                        </a:rPr>
                        <a:t>Isan</a:t>
                      </a:r>
                    </a:p>
                  </a:txBody>
                  <a:tcPr marL="54864" marR="54864" marT="18288" marB="18288" anchor="ctr">
                    <a:solidFill>
                      <a:srgbClr val="F7F9FC"/>
                    </a:solidFill>
                  </a:tcPr>
                </a:tc>
                <a:tc>
                  <a:txBody>
                    <a:bodyPr wrap="square"/>
                    <a:lstStyle/>
                    <a:p>
                      <a:pPr algn="r"/>
                      <a:r>
                        <a:rPr sz="900" b="1">
                          <a:solidFill>
                            <a:srgbClr val="CC0000"/>
                          </a:solidFill>
                          <a:latin typeface="Kanit"/>
                        </a:rPr>
                        <a:t>100%</a:t>
                      </a:r>
                    </a:p>
                  </a:txBody>
                  <a:tcPr marL="54864" marR="54864" marT="18288" marB="18288" anchor="ctr">
                    <a:solidFill>
                      <a:srgbClr val="F7F9FC"/>
                    </a:solidFill>
                  </a:tcPr>
                </a:tc>
                <a:tc>
                  <a:txBody>
                    <a:bodyPr wrap="square"/>
                    <a:lstStyle/>
                    <a:p>
                      <a:pPr algn="r"/>
                      <a:r>
                        <a:rPr sz="900" b="1">
                          <a:solidFill>
                            <a:srgbClr val="1E2F5C"/>
                          </a:solidFill>
                          <a:latin typeface="Kanit"/>
                        </a:rPr>
                        <a:t>0.16%</a:t>
                      </a:r>
                    </a:p>
                  </a:txBody>
                  <a:tcPr marL="54864" marR="54864" marT="18288" marB="18288" anchor="ctr">
                    <a:solidFill>
                      <a:srgbClr val="F7F9FC"/>
                    </a:solidFill>
                  </a:tcPr>
                </a:tc>
                <a:tc>
                  <a:txBody>
                    <a:bodyPr wrap="square"/>
                    <a:lstStyle/>
                    <a:p>
                      <a:pPr algn="l"/>
                      <a:r>
                        <a:rPr sz="900" b="0">
                          <a:solidFill>
                            <a:srgbClr val="1E2F5C"/>
                          </a:solidFill>
                          <a:latin typeface="Kanit"/>
                        </a:rPr>
                        <a:t>Rice 79%</a:t>
                      </a:r>
                    </a:p>
                  </a:txBody>
                  <a:tcPr marL="54864" marR="54864" marT="18288" marB="18288" anchor="ctr">
                    <a:solidFill>
                      <a:srgbClr val="F7F9FC"/>
                    </a:solidFill>
                  </a:tcPr>
                </a:tc>
                <a:tc>
                  <a:txBody>
                    <a:bodyPr wrap="square"/>
                    <a:lstStyle/>
                    <a:p>
                      <a:pPr algn="l"/>
                      <a:r>
                        <a:rPr sz="900" b="1">
                          <a:solidFill>
                            <a:srgbClr val="CC0000"/>
                          </a:solidFill>
                          <a:latin typeface="Kanit"/>
                        </a:rPr>
                        <a:t>below cost</a:t>
                      </a:r>
                    </a:p>
                  </a:txBody>
                  <a:tcPr marL="54864" marR="54864" marT="18288" marB="18288" anchor="ctr">
                    <a:solidFill>
                      <a:srgbClr val="F7F9FC"/>
                    </a:solidFill>
                  </a:tcPr>
                </a:tc>
                <a:tc>
                  <a:txBody>
                    <a:bodyPr wrap="square"/>
                    <a:lstStyle/>
                    <a:p>
                      <a:pPr algn="r"/>
                      <a:r>
                        <a:rPr sz="900" b="1">
                          <a:solidFill>
                            <a:srgbClr val="CC0000"/>
                          </a:solidFill>
                          <a:latin typeface="Kanit"/>
                        </a:rPr>
                        <a:t>79%</a:t>
                      </a:r>
                    </a:p>
                  </a:txBody>
                  <a:tcPr marL="54864" marR="54864" marT="18288" marB="18288" anchor="ctr">
                    <a:solidFill>
                      <a:srgbClr val="F7F9FC"/>
                    </a:solidFill>
                  </a:tcPr>
                </a:tc>
                <a:tc>
                  <a:txBody>
                    <a:bodyPr wrap="square"/>
                    <a:lstStyle/>
                    <a:p>
                      <a:pPr algn="r"/>
                      <a:r>
                        <a:rPr sz="900" b="0">
                          <a:solidFill>
                            <a:srgbClr val="1E2F5C"/>
                          </a:solidFill>
                          <a:latin typeface="Kanit"/>
                        </a:rPr>
                        <a:t>7,763</a:t>
                      </a:r>
                    </a:p>
                  </a:txBody>
                  <a:tcPr marL="54864" marR="54864" marT="18288" marB="18288" anchor="ctr">
                    <a:solidFill>
                      <a:srgbClr val="F7F9FC"/>
                    </a:solidFill>
                  </a:tcPr>
                </a:tc>
                <a:tc>
                  <a:txBody>
                    <a:bodyPr wrap="square"/>
                    <a:lstStyle/>
                    <a:p>
                      <a:pPr algn="r"/>
                      <a:r>
                        <a:rPr sz="900" b="0">
                          <a:solidFill>
                            <a:srgbClr val="1E2F5C"/>
                          </a:solidFill>
                          <a:latin typeface="Kanit"/>
                        </a:rPr>
                        <a:t>5.21M</a:t>
                      </a:r>
                    </a:p>
                  </a:txBody>
                  <a:tcPr marL="54864" marR="54864" marT="18288" marB="18288" anchor="ctr">
                    <a:solidFill>
                      <a:srgbClr val="F7F9FC"/>
                    </a:solidFill>
                  </a:tcPr>
                </a:tc>
                <a:tc>
                  <a:txBody>
                    <a:bodyPr wrap="square"/>
                    <a:lstStyle/>
                    <a:p>
                      <a:pPr algn="r"/>
                      <a:r>
                        <a:rPr sz="900" b="1">
                          <a:solidFill>
                            <a:srgbClr val="CC0000"/>
                          </a:solidFill>
                          <a:latin typeface="Kanit"/>
                        </a:rPr>
                        <a:t>3 of 4</a:t>
                      </a:r>
                    </a:p>
                  </a:txBody>
                  <a:tcPr marL="54864" marR="54864" marT="18288" marB="18288" anchor="ctr">
                    <a:solidFill>
                      <a:srgbClr val="F7F9FC"/>
                    </a:solidFill>
                  </a:tcPr>
                </a:tc>
              </a:tr>
              <a:tr h="254203">
                <a:tc>
                  <a:txBody>
                    <a:bodyPr wrap="square"/>
                    <a:lstStyle/>
                    <a:p>
                      <a:pPr algn="l"/>
                      <a:r>
                        <a:rPr sz="900" b="1">
                          <a:solidFill>
                            <a:srgbClr val="1E2F5C"/>
                          </a:solidFill>
                          <a:latin typeface="Kanit"/>
                        </a:rPr>
                        <a:t>นครพนม</a:t>
                      </a:r>
                    </a:p>
                  </a:txBody>
                  <a:tcPr marL="54864" marR="54864" marT="18288" marB="18288" anchor="ctr">
                    <a:solidFill>
                      <a:srgbClr val="FFFFFF"/>
                    </a:solidFill>
                  </a:tcPr>
                </a:tc>
                <a:tc>
                  <a:txBody>
                    <a:bodyPr wrap="square"/>
                    <a:lstStyle/>
                    <a:p>
                      <a:pPr algn="l"/>
                      <a:r>
                        <a:rPr sz="900" b="0">
                          <a:solidFill>
                            <a:srgbClr val="606060"/>
                          </a:solidFill>
                          <a:latin typeface="Kanit"/>
                        </a:rPr>
                        <a:t>Isan</a:t>
                      </a:r>
                    </a:p>
                  </a:txBody>
                  <a:tcPr marL="54864" marR="54864" marT="18288" marB="18288" anchor="ctr">
                    <a:solidFill>
                      <a:srgbClr val="FFFFFF"/>
                    </a:solidFill>
                  </a:tcPr>
                </a:tc>
                <a:tc>
                  <a:txBody>
                    <a:bodyPr wrap="square"/>
                    <a:lstStyle/>
                    <a:p>
                      <a:pPr algn="r"/>
                      <a:r>
                        <a:rPr sz="900" b="1">
                          <a:solidFill>
                            <a:srgbClr val="1E2F5C"/>
                          </a:solidFill>
                          <a:latin typeface="Kanit"/>
                        </a:rPr>
                        <a:t>91%</a:t>
                      </a:r>
                    </a:p>
                  </a:txBody>
                  <a:tcPr marL="54864" marR="54864" marT="18288" marB="18288" anchor="ctr">
                    <a:solidFill>
                      <a:srgbClr val="FFFFFF"/>
                    </a:solidFill>
                  </a:tcPr>
                </a:tc>
                <a:tc>
                  <a:txBody>
                    <a:bodyPr wrap="square"/>
                    <a:lstStyle/>
                    <a:p>
                      <a:pPr algn="r"/>
                      <a:r>
                        <a:rPr sz="900" b="1">
                          <a:solidFill>
                            <a:srgbClr val="CC0000"/>
                          </a:solidFill>
                          <a:latin typeface="Kanit"/>
                        </a:rPr>
                        <a:t>2.32%</a:t>
                      </a:r>
                    </a:p>
                  </a:txBody>
                  <a:tcPr marL="54864" marR="54864" marT="18288" marB="18288" anchor="ctr">
                    <a:solidFill>
                      <a:srgbClr val="FFFFFF"/>
                    </a:solidFill>
                  </a:tcPr>
                </a:tc>
                <a:tc>
                  <a:txBody>
                    <a:bodyPr wrap="square"/>
                    <a:lstStyle/>
                    <a:p>
                      <a:pPr algn="l"/>
                      <a:r>
                        <a:rPr sz="900" b="0">
                          <a:solidFill>
                            <a:srgbClr val="1E2F5C"/>
                          </a:solidFill>
                          <a:latin typeface="Kanit"/>
                        </a:rPr>
                        <a:t>Rice 78%</a:t>
                      </a:r>
                    </a:p>
                  </a:txBody>
                  <a:tcPr marL="54864" marR="54864" marT="18288" marB="18288" anchor="ctr">
                    <a:solidFill>
                      <a:srgbClr val="FFFFFF"/>
                    </a:solidFill>
                  </a:tcPr>
                </a:tc>
                <a:tc>
                  <a:txBody>
                    <a:bodyPr wrap="square"/>
                    <a:lstStyle/>
                    <a:p>
                      <a:pPr algn="l"/>
                      <a:r>
                        <a:rPr sz="900" b="1">
                          <a:solidFill>
                            <a:srgbClr val="CC0000"/>
                          </a:solidFill>
                          <a:latin typeface="Kanit"/>
                        </a:rPr>
                        <a:t>below cost</a:t>
                      </a:r>
                    </a:p>
                  </a:txBody>
                  <a:tcPr marL="54864" marR="54864" marT="18288" marB="18288" anchor="ctr">
                    <a:solidFill>
                      <a:srgbClr val="FFFFFF"/>
                    </a:solidFill>
                  </a:tcPr>
                </a:tc>
                <a:tc>
                  <a:txBody>
                    <a:bodyPr wrap="square"/>
                    <a:lstStyle/>
                    <a:p>
                      <a:pPr algn="r"/>
                      <a:r>
                        <a:rPr sz="900" b="1">
                          <a:solidFill>
                            <a:srgbClr val="1E2F5C"/>
                          </a:solidFill>
                          <a:latin typeface="Kanit"/>
                        </a:rPr>
                        <a:t>94%</a:t>
                      </a:r>
                    </a:p>
                  </a:txBody>
                  <a:tcPr marL="54864" marR="54864" marT="18288" marB="18288" anchor="ctr">
                    <a:solidFill>
                      <a:srgbClr val="FFFFFF"/>
                    </a:solidFill>
                  </a:tcPr>
                </a:tc>
                <a:tc>
                  <a:txBody>
                    <a:bodyPr wrap="square"/>
                    <a:lstStyle/>
                    <a:p>
                      <a:pPr algn="r"/>
                      <a:r>
                        <a:rPr sz="900" b="0">
                          <a:solidFill>
                            <a:srgbClr val="1E2F5C"/>
                          </a:solidFill>
                          <a:latin typeface="Kanit"/>
                        </a:rPr>
                        <a:t>6,061</a:t>
                      </a:r>
                    </a:p>
                  </a:txBody>
                  <a:tcPr marL="54864" marR="54864" marT="18288" marB="18288" anchor="ctr">
                    <a:solidFill>
                      <a:srgbClr val="FFFFFF"/>
                    </a:solidFill>
                  </a:tcPr>
                </a:tc>
                <a:tc>
                  <a:txBody>
                    <a:bodyPr wrap="square"/>
                    <a:lstStyle/>
                    <a:p>
                      <a:pPr algn="r"/>
                      <a:r>
                        <a:rPr sz="900" b="0">
                          <a:solidFill>
                            <a:srgbClr val="1E2F5C"/>
                          </a:solidFill>
                          <a:latin typeface="Kanit"/>
                        </a:rPr>
                        <a:t>1.90M</a:t>
                      </a:r>
                    </a:p>
                  </a:txBody>
                  <a:tcPr marL="54864" marR="54864" marT="18288" marB="18288" anchor="ctr">
                    <a:solidFill>
                      <a:srgbClr val="FFFFFF"/>
                    </a:solidFill>
                  </a:tcPr>
                </a:tc>
                <a:tc>
                  <a:txBody>
                    <a:bodyPr wrap="square"/>
                    <a:lstStyle/>
                    <a:p>
                      <a:pPr algn="r"/>
                      <a:r>
                        <a:rPr sz="900" b="1">
                          <a:solidFill>
                            <a:srgbClr val="F5C242"/>
                          </a:solidFill>
                          <a:latin typeface="Kanit"/>
                        </a:rPr>
                        <a:t>2 of 4</a:t>
                      </a:r>
                    </a:p>
                  </a:txBody>
                  <a:tcPr marL="54864" marR="54864" marT="18288" marB="18288" anchor="ctr">
                    <a:solidFill>
                      <a:srgbClr val="FFFFFF"/>
                    </a:solidFill>
                  </a:tcPr>
                </a:tc>
              </a:tr>
              <a:tr h="254203">
                <a:tc>
                  <a:txBody>
                    <a:bodyPr wrap="square"/>
                    <a:lstStyle/>
                    <a:p>
                      <a:pPr algn="l"/>
                      <a:r>
                        <a:rPr sz="900" b="1">
                          <a:solidFill>
                            <a:srgbClr val="1E2F5C"/>
                          </a:solidFill>
                          <a:latin typeface="Kanit"/>
                        </a:rPr>
                        <a:t>กำแพงเพชร</a:t>
                      </a:r>
                    </a:p>
                  </a:txBody>
                  <a:tcPr marL="54864" marR="54864" marT="18288" marB="18288" anchor="ctr">
                    <a:solidFill>
                      <a:srgbClr val="F7F9FC"/>
                    </a:solidFill>
                  </a:tcPr>
                </a:tc>
                <a:tc>
                  <a:txBody>
                    <a:bodyPr wrap="square"/>
                    <a:lstStyle/>
                    <a:p>
                      <a:pPr algn="l"/>
                      <a:r>
                        <a:rPr sz="900" b="0">
                          <a:solidFill>
                            <a:srgbClr val="606060"/>
                          </a:solidFill>
                          <a:latin typeface="Kanit"/>
                        </a:rPr>
                        <a:t>North</a:t>
                      </a:r>
                    </a:p>
                  </a:txBody>
                  <a:tcPr marL="54864" marR="54864" marT="18288" marB="18288" anchor="ctr">
                    <a:solidFill>
                      <a:srgbClr val="F7F9FC"/>
                    </a:solidFill>
                  </a:tcPr>
                </a:tc>
                <a:tc>
                  <a:txBody>
                    <a:bodyPr wrap="square"/>
                    <a:lstStyle/>
                    <a:p>
                      <a:pPr algn="r"/>
                      <a:r>
                        <a:rPr sz="900" b="1">
                          <a:solidFill>
                            <a:srgbClr val="1E2F5C"/>
                          </a:solidFill>
                          <a:latin typeface="Kanit"/>
                        </a:rPr>
                        <a:t>83%</a:t>
                      </a:r>
                    </a:p>
                  </a:txBody>
                  <a:tcPr marL="54864" marR="54864" marT="18288" marB="18288" anchor="ctr">
                    <a:solidFill>
                      <a:srgbClr val="F7F9FC"/>
                    </a:solidFill>
                  </a:tcPr>
                </a:tc>
                <a:tc>
                  <a:txBody>
                    <a:bodyPr wrap="square"/>
                    <a:lstStyle/>
                    <a:p>
                      <a:pPr algn="r"/>
                      <a:r>
                        <a:rPr sz="900" b="1">
                          <a:solidFill>
                            <a:srgbClr val="CC0000"/>
                          </a:solidFill>
                          <a:latin typeface="Kanit"/>
                        </a:rPr>
                        <a:t>2.11%</a:t>
                      </a:r>
                    </a:p>
                  </a:txBody>
                  <a:tcPr marL="54864" marR="54864" marT="18288" marB="18288" anchor="ctr">
                    <a:solidFill>
                      <a:srgbClr val="F7F9FC"/>
                    </a:solidFill>
                  </a:tcPr>
                </a:tc>
                <a:tc>
                  <a:txBody>
                    <a:bodyPr wrap="square"/>
                    <a:lstStyle/>
                    <a:p>
                      <a:pPr algn="l"/>
                      <a:r>
                        <a:rPr sz="900" b="0">
                          <a:solidFill>
                            <a:srgbClr val="1E2F5C"/>
                          </a:solidFill>
                          <a:latin typeface="Kanit"/>
                        </a:rPr>
                        <a:t>Rice 47%</a:t>
                      </a:r>
                    </a:p>
                  </a:txBody>
                  <a:tcPr marL="54864" marR="54864" marT="18288" marB="18288" anchor="ctr">
                    <a:solidFill>
                      <a:srgbClr val="F7F9FC"/>
                    </a:solidFill>
                  </a:tcPr>
                </a:tc>
                <a:tc>
                  <a:txBody>
                    <a:bodyPr wrap="square"/>
                    <a:lstStyle/>
                    <a:p>
                      <a:pPr algn="l"/>
                      <a:r>
                        <a:rPr sz="900" b="1">
                          <a:solidFill>
                            <a:srgbClr val="CC0000"/>
                          </a:solidFill>
                          <a:latin typeface="Kanit"/>
                        </a:rPr>
                        <a:t>below cost</a:t>
                      </a:r>
                    </a:p>
                  </a:txBody>
                  <a:tcPr marL="54864" marR="54864" marT="18288" marB="18288" anchor="ctr">
                    <a:solidFill>
                      <a:srgbClr val="F7F9FC"/>
                    </a:solidFill>
                  </a:tcPr>
                </a:tc>
                <a:tc>
                  <a:txBody>
                    <a:bodyPr wrap="square"/>
                    <a:lstStyle/>
                    <a:p>
                      <a:pPr algn="r"/>
                      <a:r>
                        <a:rPr sz="900" b="1">
                          <a:solidFill>
                            <a:srgbClr val="1E2F5C"/>
                          </a:solidFill>
                          <a:latin typeface="Kanit"/>
                        </a:rPr>
                        <a:t>94%</a:t>
                      </a:r>
                    </a:p>
                  </a:txBody>
                  <a:tcPr marL="54864" marR="54864" marT="18288" marB="18288" anchor="ctr">
                    <a:solidFill>
                      <a:srgbClr val="F7F9FC"/>
                    </a:solidFill>
                  </a:tcPr>
                </a:tc>
                <a:tc>
                  <a:txBody>
                    <a:bodyPr wrap="square"/>
                    <a:lstStyle/>
                    <a:p>
                      <a:pPr algn="r"/>
                      <a:r>
                        <a:rPr sz="900" b="0">
                          <a:solidFill>
                            <a:srgbClr val="1E2F5C"/>
                          </a:solidFill>
                          <a:latin typeface="Kanit"/>
                        </a:rPr>
                        <a:t>7,919</a:t>
                      </a:r>
                    </a:p>
                  </a:txBody>
                  <a:tcPr marL="54864" marR="54864" marT="18288" marB="18288" anchor="ctr">
                    <a:solidFill>
                      <a:srgbClr val="F7F9FC"/>
                    </a:solidFill>
                  </a:tcPr>
                </a:tc>
                <a:tc>
                  <a:txBody>
                    <a:bodyPr wrap="square"/>
                    <a:lstStyle/>
                    <a:p>
                      <a:pPr algn="r"/>
                      <a:r>
                        <a:rPr sz="900" b="0">
                          <a:solidFill>
                            <a:srgbClr val="1E2F5C"/>
                          </a:solidFill>
                          <a:latin typeface="Kanit"/>
                        </a:rPr>
                        <a:t>2.67M</a:t>
                      </a:r>
                    </a:p>
                  </a:txBody>
                  <a:tcPr marL="54864" marR="54864" marT="18288" marB="18288" anchor="ctr">
                    <a:solidFill>
                      <a:srgbClr val="F7F9FC"/>
                    </a:solidFill>
                  </a:tcPr>
                </a:tc>
                <a:tc>
                  <a:txBody>
                    <a:bodyPr wrap="square"/>
                    <a:lstStyle/>
                    <a:p>
                      <a:pPr algn="r"/>
                      <a:r>
                        <a:rPr sz="900" b="1">
                          <a:solidFill>
                            <a:srgbClr val="F5C242"/>
                          </a:solidFill>
                          <a:latin typeface="Kanit"/>
                        </a:rPr>
                        <a:t>2 of 4</a:t>
                      </a:r>
                    </a:p>
                  </a:txBody>
                  <a:tcPr marL="54864" marR="54864" marT="18288" marB="18288" anchor="ctr">
                    <a:solidFill>
                      <a:srgbClr val="F7F9FC"/>
                    </a:solidFill>
                  </a:tcPr>
                </a:tc>
              </a:tr>
              <a:tr h="254203">
                <a:tc>
                  <a:txBody>
                    <a:bodyPr wrap="square"/>
                    <a:lstStyle/>
                    <a:p>
                      <a:pPr algn="l"/>
                      <a:r>
                        <a:rPr sz="900" b="1">
                          <a:solidFill>
                            <a:srgbClr val="1E2F5C"/>
                          </a:solidFill>
                          <a:latin typeface="Kanit"/>
                        </a:rPr>
                        <a:t>นราธิวาส</a:t>
                      </a:r>
                    </a:p>
                  </a:txBody>
                  <a:tcPr marL="54864" marR="54864" marT="18288" marB="18288" anchor="ctr">
                    <a:solidFill>
                      <a:srgbClr val="FFFFFF"/>
                    </a:solidFill>
                  </a:tcPr>
                </a:tc>
                <a:tc>
                  <a:txBody>
                    <a:bodyPr wrap="square"/>
                    <a:lstStyle/>
                    <a:p>
                      <a:pPr algn="l"/>
                      <a:r>
                        <a:rPr sz="900" b="0">
                          <a:solidFill>
                            <a:srgbClr val="606060"/>
                          </a:solidFill>
                          <a:latin typeface="Kanit"/>
                        </a:rPr>
                        <a:t>South</a:t>
                      </a:r>
                    </a:p>
                  </a:txBody>
                  <a:tcPr marL="54864" marR="54864" marT="18288" marB="18288" anchor="ctr">
                    <a:solidFill>
                      <a:srgbClr val="FFFFFF"/>
                    </a:solidFill>
                  </a:tcPr>
                </a:tc>
                <a:tc>
                  <a:txBody>
                    <a:bodyPr wrap="square"/>
                    <a:lstStyle/>
                    <a:p>
                      <a:pPr algn="r"/>
                      <a:r>
                        <a:rPr sz="900" b="1">
                          <a:solidFill>
                            <a:srgbClr val="1E2F5C"/>
                          </a:solidFill>
                          <a:latin typeface="Kanit"/>
                        </a:rPr>
                        <a:t>74%</a:t>
                      </a:r>
                    </a:p>
                  </a:txBody>
                  <a:tcPr marL="54864" marR="54864" marT="18288" marB="18288" anchor="ctr">
                    <a:solidFill>
                      <a:srgbClr val="FFFFFF"/>
                    </a:solidFill>
                  </a:tcPr>
                </a:tc>
                <a:tc>
                  <a:txBody>
                    <a:bodyPr wrap="square"/>
                    <a:lstStyle/>
                    <a:p>
                      <a:pPr algn="r"/>
                      <a:r>
                        <a:rPr sz="900" b="1">
                          <a:solidFill>
                            <a:srgbClr val="CC0000"/>
                          </a:solidFill>
                          <a:latin typeface="Kanit"/>
                        </a:rPr>
                        <a:t>2.43%</a:t>
                      </a:r>
                    </a:p>
                  </a:txBody>
                  <a:tcPr marL="54864" marR="54864" marT="18288" marB="18288" anchor="ctr">
                    <a:solidFill>
                      <a:srgbClr val="FFFFFF"/>
                    </a:solidFill>
                  </a:tcPr>
                </a:tc>
                <a:tc>
                  <a:txBody>
                    <a:bodyPr wrap="square"/>
                    <a:lstStyle/>
                    <a:p>
                      <a:pPr algn="l"/>
                      <a:r>
                        <a:rPr sz="900" b="0">
                          <a:solidFill>
                            <a:srgbClr val="1E2F5C"/>
                          </a:solidFill>
                          <a:latin typeface="Kanit"/>
                        </a:rPr>
                        <a:t>Rubber 90%</a:t>
                      </a:r>
                    </a:p>
                  </a:txBody>
                  <a:tcPr marL="54864" marR="54864" marT="18288" marB="18288" anchor="ctr">
                    <a:solidFill>
                      <a:srgbClr val="FFFFFF"/>
                    </a:solidFill>
                  </a:tcPr>
                </a:tc>
                <a:tc>
                  <a:txBody>
                    <a:bodyPr wrap="square"/>
                    <a:lstStyle/>
                    <a:p>
                      <a:pPr algn="l"/>
                      <a:r>
                        <a:rPr sz="900" b="1">
                          <a:solidFill>
                            <a:srgbClr val="CC0000"/>
                          </a:solidFill>
                          <a:latin typeface="Kanit"/>
                        </a:rPr>
                        <a:t>below cost</a:t>
                      </a:r>
                    </a:p>
                  </a:txBody>
                  <a:tcPr marL="54864" marR="54864" marT="18288" marB="18288" anchor="ctr">
                    <a:solidFill>
                      <a:srgbClr val="FFFFFF"/>
                    </a:solidFill>
                  </a:tcPr>
                </a:tc>
                <a:tc>
                  <a:txBody>
                    <a:bodyPr wrap="square"/>
                    <a:lstStyle/>
                    <a:p>
                      <a:pPr algn="r"/>
                      <a:r>
                        <a:rPr sz="900" b="1">
                          <a:solidFill>
                            <a:srgbClr val="1E2F5C"/>
                          </a:solidFill>
                          <a:latin typeface="Kanit"/>
                        </a:rPr>
                        <a:t>131%</a:t>
                      </a:r>
                    </a:p>
                  </a:txBody>
                  <a:tcPr marL="54864" marR="54864" marT="18288" marB="18288" anchor="ctr">
                    <a:solidFill>
                      <a:srgbClr val="FFFFFF"/>
                    </a:solidFill>
                  </a:tcPr>
                </a:tc>
                <a:tc>
                  <a:txBody>
                    <a:bodyPr wrap="square"/>
                    <a:lstStyle/>
                    <a:p>
                      <a:pPr algn="r"/>
                      <a:r>
                        <a:rPr sz="900" b="0">
                          <a:solidFill>
                            <a:srgbClr val="1E2F5C"/>
                          </a:solidFill>
                          <a:latin typeface="Kanit"/>
                        </a:rPr>
                        <a:t>2,742</a:t>
                      </a:r>
                    </a:p>
                  </a:txBody>
                  <a:tcPr marL="54864" marR="54864" marT="18288" marB="18288" anchor="ctr">
                    <a:solidFill>
                      <a:srgbClr val="FFFFFF"/>
                    </a:solidFill>
                  </a:tcPr>
                </a:tc>
                <a:tc>
                  <a:txBody>
                    <a:bodyPr wrap="square"/>
                    <a:lstStyle/>
                    <a:p>
                      <a:pPr algn="r"/>
                      <a:r>
                        <a:rPr sz="900" b="0">
                          <a:solidFill>
                            <a:srgbClr val="1E2F5C"/>
                          </a:solidFill>
                          <a:latin typeface="Kanit"/>
                        </a:rPr>
                        <a:t>1.03M</a:t>
                      </a:r>
                    </a:p>
                  </a:txBody>
                  <a:tcPr marL="54864" marR="54864" marT="18288" marB="18288" anchor="ctr">
                    <a:solidFill>
                      <a:srgbClr val="FFFFFF"/>
                    </a:solidFill>
                  </a:tcPr>
                </a:tc>
                <a:tc>
                  <a:txBody>
                    <a:bodyPr wrap="square"/>
                    <a:lstStyle/>
                    <a:p>
                      <a:pPr algn="r"/>
                      <a:r>
                        <a:rPr sz="900" b="1">
                          <a:solidFill>
                            <a:srgbClr val="F5C242"/>
                          </a:solidFill>
                          <a:latin typeface="Kanit"/>
                        </a:rPr>
                        <a:t>2 of 4</a:t>
                      </a:r>
                    </a:p>
                  </a:txBody>
                  <a:tcPr marL="54864" marR="54864" marT="18288" marB="18288" anchor="ctr">
                    <a:solidFill>
                      <a:srgbClr val="FFFFFF"/>
                    </a:solidFill>
                  </a:tcPr>
                </a:tc>
              </a:tr>
              <a:tr h="254203">
                <a:tc>
                  <a:txBody>
                    <a:bodyPr wrap="square"/>
                    <a:lstStyle/>
                    <a:p>
                      <a:pPr algn="l"/>
                      <a:r>
                        <a:rPr sz="900" b="1">
                          <a:solidFill>
                            <a:srgbClr val="1E2F5C"/>
                          </a:solidFill>
                          <a:latin typeface="Kanit"/>
                        </a:rPr>
                        <a:t>บุรีรัมย์</a:t>
                      </a:r>
                    </a:p>
                  </a:txBody>
                  <a:tcPr marL="54864" marR="54864" marT="18288" marB="18288" anchor="ctr">
                    <a:solidFill>
                      <a:srgbClr val="F7F9FC"/>
                    </a:solidFill>
                  </a:tcPr>
                </a:tc>
                <a:tc>
                  <a:txBody>
                    <a:bodyPr wrap="square"/>
                    <a:lstStyle/>
                    <a:p>
                      <a:pPr algn="l"/>
                      <a:r>
                        <a:rPr sz="900" b="0">
                          <a:solidFill>
                            <a:srgbClr val="606060"/>
                          </a:solidFill>
                          <a:latin typeface="Kanit"/>
                        </a:rPr>
                        <a:t>Isan</a:t>
                      </a:r>
                    </a:p>
                  </a:txBody>
                  <a:tcPr marL="54864" marR="54864" marT="18288" marB="18288" anchor="ctr">
                    <a:solidFill>
                      <a:srgbClr val="F7F9FC"/>
                    </a:solidFill>
                  </a:tcPr>
                </a:tc>
                <a:tc>
                  <a:txBody>
                    <a:bodyPr wrap="square"/>
                    <a:lstStyle/>
                    <a:p>
                      <a:pPr algn="r"/>
                      <a:r>
                        <a:rPr sz="900" b="1">
                          <a:solidFill>
                            <a:srgbClr val="1E2F5C"/>
                          </a:solidFill>
                          <a:latin typeface="Kanit"/>
                        </a:rPr>
                        <a:t>76%</a:t>
                      </a:r>
                    </a:p>
                  </a:txBody>
                  <a:tcPr marL="54864" marR="54864" marT="18288" marB="18288" anchor="ctr">
                    <a:solidFill>
                      <a:srgbClr val="F7F9FC"/>
                    </a:solidFill>
                  </a:tcPr>
                </a:tc>
                <a:tc>
                  <a:txBody>
                    <a:bodyPr wrap="square"/>
                    <a:lstStyle/>
                    <a:p>
                      <a:pPr algn="r"/>
                      <a:r>
                        <a:rPr sz="900" b="1">
                          <a:solidFill>
                            <a:srgbClr val="1E2F5C"/>
                          </a:solidFill>
                          <a:latin typeface="Kanit"/>
                        </a:rPr>
                        <a:t>1.87%</a:t>
                      </a:r>
                    </a:p>
                  </a:txBody>
                  <a:tcPr marL="54864" marR="54864" marT="18288" marB="18288" anchor="ctr">
                    <a:solidFill>
                      <a:srgbClr val="F7F9FC"/>
                    </a:solidFill>
                  </a:tcPr>
                </a:tc>
                <a:tc>
                  <a:txBody>
                    <a:bodyPr wrap="square"/>
                    <a:lstStyle/>
                    <a:p>
                      <a:pPr algn="l"/>
                      <a:r>
                        <a:rPr sz="900" b="0">
                          <a:solidFill>
                            <a:srgbClr val="1E2F5C"/>
                          </a:solidFill>
                          <a:latin typeface="Kanit"/>
                        </a:rPr>
                        <a:t>Rice 82%</a:t>
                      </a:r>
                    </a:p>
                  </a:txBody>
                  <a:tcPr marL="54864" marR="54864" marT="18288" marB="18288" anchor="ctr">
                    <a:solidFill>
                      <a:srgbClr val="F7F9FC"/>
                    </a:solidFill>
                  </a:tcPr>
                </a:tc>
                <a:tc>
                  <a:txBody>
                    <a:bodyPr wrap="square"/>
                    <a:lstStyle/>
                    <a:p>
                      <a:pPr algn="l"/>
                      <a:r>
                        <a:rPr sz="900" b="1">
                          <a:solidFill>
                            <a:srgbClr val="CC0000"/>
                          </a:solidFill>
                          <a:latin typeface="Kanit"/>
                        </a:rPr>
                        <a:t>below cost</a:t>
                      </a:r>
                    </a:p>
                  </a:txBody>
                  <a:tcPr marL="54864" marR="54864" marT="18288" marB="18288" anchor="ctr">
                    <a:solidFill>
                      <a:srgbClr val="F7F9FC"/>
                    </a:solidFill>
                  </a:tcPr>
                </a:tc>
                <a:tc>
                  <a:txBody>
                    <a:bodyPr wrap="square"/>
                    <a:lstStyle/>
                    <a:p>
                      <a:pPr algn="r"/>
                      <a:r>
                        <a:rPr sz="900" b="1">
                          <a:solidFill>
                            <a:srgbClr val="CC0000"/>
                          </a:solidFill>
                          <a:latin typeface="Kanit"/>
                        </a:rPr>
                        <a:t>84%</a:t>
                      </a:r>
                    </a:p>
                  </a:txBody>
                  <a:tcPr marL="54864" marR="54864" marT="18288" marB="18288" anchor="ctr">
                    <a:solidFill>
                      <a:srgbClr val="F7F9FC"/>
                    </a:solidFill>
                  </a:tcPr>
                </a:tc>
                <a:tc>
                  <a:txBody>
                    <a:bodyPr wrap="square"/>
                    <a:lstStyle/>
                    <a:p>
                      <a:pPr algn="r"/>
                      <a:r>
                        <a:rPr sz="900" b="0">
                          <a:solidFill>
                            <a:srgbClr val="1E2F5C"/>
                          </a:solidFill>
                          <a:latin typeface="Kanit"/>
                        </a:rPr>
                        <a:t>7,557</a:t>
                      </a:r>
                    </a:p>
                  </a:txBody>
                  <a:tcPr marL="54864" marR="54864" marT="18288" marB="18288" anchor="ctr">
                    <a:solidFill>
                      <a:srgbClr val="F7F9FC"/>
                    </a:solidFill>
                  </a:tcPr>
                </a:tc>
                <a:tc>
                  <a:txBody>
                    <a:bodyPr wrap="square"/>
                    <a:lstStyle/>
                    <a:p>
                      <a:pPr algn="r"/>
                      <a:r>
                        <a:rPr sz="900" b="0">
                          <a:solidFill>
                            <a:srgbClr val="1E2F5C"/>
                          </a:solidFill>
                          <a:latin typeface="Kanit"/>
                        </a:rPr>
                        <a:t>3.65M</a:t>
                      </a:r>
                    </a:p>
                  </a:txBody>
                  <a:tcPr marL="54864" marR="54864" marT="18288" marB="18288" anchor="ctr">
                    <a:solidFill>
                      <a:srgbClr val="F7F9FC"/>
                    </a:solidFill>
                  </a:tcPr>
                </a:tc>
                <a:tc>
                  <a:txBody>
                    <a:bodyPr wrap="square"/>
                    <a:lstStyle/>
                    <a:p>
                      <a:pPr algn="r"/>
                      <a:r>
                        <a:rPr sz="900" b="1">
                          <a:solidFill>
                            <a:srgbClr val="F5C242"/>
                          </a:solidFill>
                          <a:latin typeface="Kanit"/>
                        </a:rPr>
                        <a:t>2 of 4</a:t>
                      </a:r>
                    </a:p>
                  </a:txBody>
                  <a:tcPr marL="54864" marR="54864" marT="18288" marB="18288" anchor="ctr">
                    <a:solidFill>
                      <a:srgbClr val="F7F9FC"/>
                    </a:solidFill>
                  </a:tcPr>
                </a:tc>
              </a:tr>
            </a:tbl>
          </a:graphicData>
        </a:graphic>
      </p:graphicFrame>
      <p:sp>
        <p:nvSpPr>
          <p:cNvPr id="11" name="Rounded Rectangle 10"/>
          <p:cNvSpPr/>
          <p:nvPr/>
        </p:nvSpPr>
        <p:spPr>
          <a:xfrm>
            <a:off x="411480" y="4188561"/>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4217822"/>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3" name="TextBox 12"/>
          <p:cNvSpPr txBox="1"/>
          <p:nvPr/>
        </p:nvSpPr>
        <p:spPr>
          <a:xfrm>
            <a:off x="1056955" y="4202277"/>
            <a:ext cx="10720516" cy="61722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Household debt-to-income MEASURED (NSO SES 2566 — debt as a share of ANNUAL income, so above 100% is more debt than a year of earnings). Unemployment MEASURED (NSO LFS, by province). Lead crop MEASURED (OAE planted area, all eight crops); its economics ESTIMATED from OAE cost of production. Rainfall MEASURED as precipitation against the long-run normal — a different instrument from the SPEI index two slides back, which also prices evapotranspiration, so the two can disagree; two provinces carry no gauge and cannot trip this signal at all. Ordered by signals tripped, ties broken on the measured debt + unemployment composite. A plain tally, not a weighted score.</a:t>
            </a:r>
          </a:p>
        </p:txBody>
      </p:sp>
      <p:sp>
        <p:nvSpPr>
          <p:cNvPr id="14" name="Rectangle 13"/>
          <p:cNvSpPr/>
          <p:nvPr/>
        </p:nvSpPr>
        <p:spPr>
          <a:xfrm>
            <a:off x="411480" y="4970373"/>
            <a:ext cx="5568696" cy="168833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411480" y="4970373"/>
            <a:ext cx="50292" cy="168833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30936" y="5116677"/>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One province trips all four, three trip three</a:t>
            </a:r>
          </a:p>
        </p:txBody>
      </p:sp>
      <p:sp>
        <p:nvSpPr>
          <p:cNvPr id="17" name="TextBox 16"/>
          <p:cNvSpPr txBox="1"/>
          <p:nvPr/>
        </p:nvSpPr>
        <p:spPr>
          <a:xfrm>
            <a:off x="630936" y="5321147"/>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อำนาจเจริญ is the only province of 77 on all four signals: debt at 114% of a year's income, unemployment 2.84%, rice below cost, rain at 86% of normal. 3 more trip three — สุโขทัย, สิงห์บุรี and อุบลราชธานี, all rice, all short of rain.
Note สิงห์บุรี: its household debt is a low 47%, so it never appeared on the old debt-ranked list at all. It is here because the other three signals tripped, which is the whole point of ordering on the count.</a:t>
            </a:r>
          </a:p>
        </p:txBody>
      </p:sp>
      <p:sp>
        <p:nvSpPr>
          <p:cNvPr id="18" name="Rectangle 17"/>
          <p:cNvSpPr/>
          <p:nvPr/>
        </p:nvSpPr>
        <p:spPr>
          <a:xfrm>
            <a:off x="6208776" y="4970373"/>
            <a:ext cx="5568696" cy="185851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208776" y="4970373"/>
            <a:ext cx="50292" cy="185851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428232" y="5116677"/>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Read the crop column as context, not as a discriminator</a:t>
            </a:r>
          </a:p>
        </p:txBody>
      </p:sp>
      <p:sp>
        <p:nvSpPr>
          <p:cNvPr id="21" name="TextBox 20"/>
          <p:cNvSpPr txBox="1"/>
          <p:nvPr/>
        </p:nvSpPr>
        <p:spPr>
          <a:xfrm>
            <a:off x="6428232" y="5321147"/>
            <a:ext cx="5239512" cy="13614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Rice is the lead crop in 51 of 77 provinces and rice is below cost, so 70 of 77 provinces lead on a crop that does not cover its own cost. That signal is close to a national constant — it tells you the country is exposed, not which province to call.
What actually separates provinces here is debt, unemployment and rain. And the list points at geographies, never at people: turning it into names is the Assistance tab's job, crossed with who is currently paying. Most households in these provinces are paying normally — the value is timing, reaching someone while a restructure is still cheap.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11731752" y="0"/>
            <a:ext cx="164592"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11896344" y="0"/>
            <a:ext cx="164592" cy="685800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 name="Picture 4" descr="chaiyo.png"/>
          <p:cNvPicPr>
            <a:picLocks noChangeAspect="1"/>
          </p:cNvPicPr>
          <p:nvPr/>
        </p:nvPicPr>
        <p:blipFill>
          <a:blip r:embed="rId2"/>
          <a:stretch>
            <a:fillRect/>
          </a:stretch>
        </p:blipFill>
        <p:spPr>
          <a:xfrm>
            <a:off x="640080" y="640080"/>
            <a:ext cx="2487168" cy="1554480"/>
          </a:xfrm>
          <a:prstGeom prst="rect">
            <a:avLst/>
          </a:prstGeom>
        </p:spPr>
      </p:pic>
      <p:sp>
        <p:nvSpPr>
          <p:cNvPr id="6" name="TextBox 5"/>
          <p:cNvSpPr txBox="1"/>
          <p:nvPr/>
        </p:nvSpPr>
        <p:spPr>
          <a:xfrm>
            <a:off x="685800" y="2788920"/>
            <a:ext cx="10058400" cy="184404"/>
          </a:xfrm>
          <a:prstGeom prst="rect">
            <a:avLst/>
          </a:prstGeom>
          <a:noFill/>
        </p:spPr>
        <p:txBody>
          <a:bodyPr wrap="square" lIns="0" rIns="0" tIns="0" bIns="0" anchor="t">
            <a:noAutofit/>
          </a:bodyPr>
          <a:lstStyle/>
          <a:p>
            <a:pPr algn="l">
              <a:lnSpc>
                <a:spcPts val="1452"/>
              </a:lnSpc>
            </a:pPr>
            <a:r>
              <a:rPr sz="1100" b="1">
                <a:solidFill>
                  <a:srgbClr val="F5C242"/>
                </a:solidFill>
                <a:latin typeface="Kanit"/>
              </a:rPr>
              <a:t>10 · Collateral</a:t>
            </a:r>
          </a:p>
        </p:txBody>
      </p:sp>
      <p:sp>
        <p:nvSpPr>
          <p:cNvPr id="7" name="TextBox 6"/>
          <p:cNvSpPr txBox="1"/>
          <p:nvPr/>
        </p:nvSpPr>
        <p:spPr>
          <a:xfrm>
            <a:off x="685800" y="3154680"/>
            <a:ext cx="10058400" cy="508000"/>
          </a:xfrm>
          <a:prstGeom prst="rect">
            <a:avLst/>
          </a:prstGeom>
          <a:noFill/>
        </p:spPr>
        <p:txBody>
          <a:bodyPr wrap="square" lIns="0" rIns="0" tIns="0" bIns="0" anchor="t">
            <a:noAutofit/>
          </a:bodyPr>
          <a:lstStyle/>
          <a:p>
            <a:pPr algn="l">
              <a:lnSpc>
                <a:spcPts val="4000"/>
              </a:lnSpc>
            </a:pPr>
            <a:r>
              <a:rPr sz="3200" b="1">
                <a:solidFill>
                  <a:srgbClr val="FFFFFF"/>
                </a:solidFill>
                <a:latin typeface="Kanit"/>
              </a:rPr>
              <a:t>This is the half with a decision attached.</a:t>
            </a:r>
          </a:p>
        </p:txBody>
      </p:sp>
      <p:sp>
        <p:nvSpPr>
          <p:cNvPr id="8" name="TextBox 7"/>
          <p:cNvSpPr txBox="1"/>
          <p:nvPr/>
        </p:nvSpPr>
        <p:spPr>
          <a:xfrm>
            <a:off x="685800" y="4434840"/>
            <a:ext cx="9692640" cy="1066800"/>
          </a:xfrm>
          <a:prstGeom prst="rect">
            <a:avLst/>
          </a:prstGeom>
          <a:noFill/>
        </p:spPr>
        <p:txBody>
          <a:bodyPr wrap="square" lIns="0" rIns="0" tIns="0" bIns="0" anchor="t">
            <a:noAutofit/>
          </a:bodyPr>
          <a:lstStyle/>
          <a:p>
            <a:pPr algn="l">
              <a:lnSpc>
                <a:spcPts val="2100"/>
              </a:lnSpc>
            </a:pPr>
            <a:r>
              <a:rPr sz="1350" b="0">
                <a:solidFill>
                  <a:srgbClr val="C7D0E4"/>
                </a:solidFill>
                <a:latin typeface="Kanit"/>
              </a:rPr>
              <a:t>We lend against titles, so the used-vehicle market is an external condition that prices our security directly. Five things are moving at once: what a used vehicle is worth, how many are entering the pool, which brands they are, which nameplates underneath those brands, and how easily any of them can be sold on. A model with no Thai residual history is a recovery assumption nobody can make yet.</a:t>
            </a:r>
          </a:p>
        </p:txBody>
      </p:sp>
      <p:sp>
        <p:nvSpPr>
          <p:cNvPr id="9" name="TextBox 8"/>
          <p:cNvSpPr txBox="1"/>
          <p:nvPr/>
        </p:nvSpPr>
        <p:spPr>
          <a:xfrm>
            <a:off x="365760" y="6547104"/>
            <a:ext cx="6400800" cy="134112"/>
          </a:xfrm>
          <a:prstGeom prst="rect">
            <a:avLst/>
          </a:prstGeom>
          <a:noFill/>
        </p:spPr>
        <p:txBody>
          <a:bodyPr wrap="square" lIns="0" rIns="0" tIns="0" bIns="0" anchor="t">
            <a:noAutofit/>
          </a:bodyPr>
          <a:lstStyle/>
          <a:p>
            <a:pPr algn="l">
              <a:lnSpc>
                <a:spcPts val="1056"/>
              </a:lnSpc>
            </a:pPr>
            <a:r>
              <a:rPr sz="800" b="0">
                <a:solidFill>
                  <a:srgbClr val="FFFFFF"/>
                </a:solidFill>
                <a:latin typeface="Kanit"/>
              </a:rPr>
              <a:t>Restricted Data – Reproduction is prohibited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10A · RESALE VALUE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fall has stopped. The level has not recovered.</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graphicFrame>
        <p:nvGraphicFramePr>
          <p:cNvPr id="9" name="Table 8"/>
          <p:cNvGraphicFramePr>
            <a:graphicFrameLocks noGrp="1"/>
          </p:cNvGraphicFramePr>
          <p:nvPr/>
        </p:nvGraphicFramePr>
        <p:xfrm>
          <a:off x="411480" y="1152144"/>
          <a:ext cx="11365992" cy="1193292"/>
        </p:xfrm>
        <a:graphic>
          <a:graphicData uri="http://schemas.openxmlformats.org/drawingml/2006/table">
            <a:tbl>
              <a:tblPr>
                <a:tableStyleId>{5C22544A-7EE6-4342-B048-85BDC9FD1C3A}</a:tableStyleId>
              </a:tblPr>
              <a:tblGrid>
                <a:gridCol w="2286000"/>
                <a:gridCol w="1463040"/>
                <a:gridCol w="1280160"/>
                <a:gridCol w="1371600"/>
                <a:gridCol w="1005840"/>
                <a:gridCol w="1005840"/>
                <a:gridCol w="1371600"/>
                <a:gridCol w="1581912"/>
              </a:tblGrid>
              <a:tr h="329184">
                <a:tc>
                  <a:txBody>
                    <a:bodyPr wrap="square"/>
                    <a:lstStyle/>
                    <a:p>
                      <a:pPr algn="l"/>
                      <a:r>
                        <a:rPr sz="1050" b="1">
                          <a:solidFill>
                            <a:srgbClr val="FFFFFF"/>
                          </a:solidFill>
                          <a:latin typeface="Kanit"/>
                        </a:rPr>
                        <a:t>BoT used-vehicle price index</a:t>
                      </a:r>
                    </a:p>
                  </a:txBody>
                  <a:tcPr marL="54864" marR="54864" marT="18288" marB="18288" anchor="ctr">
                    <a:solidFill>
                      <a:srgbClr val="1B2A6B"/>
                    </a:solidFill>
                  </a:tcPr>
                </a:tc>
                <a:tc>
                  <a:txBody>
                    <a:bodyPr wrap="square"/>
                    <a:lstStyle/>
                    <a:p>
                      <a:pPr algn="r"/>
                      <a:r>
                        <a:rPr sz="1050" b="1">
                          <a:solidFill>
                            <a:srgbClr val="FFFFFF"/>
                          </a:solidFill>
                          <a:latin typeface="Kanit"/>
                        </a:rPr>
                        <a:t>latest (2026-05)</a:t>
                      </a:r>
                    </a:p>
                  </a:txBody>
                  <a:tcPr marL="54864" marR="54864" marT="18288" marB="18288" anchor="ctr">
                    <a:solidFill>
                      <a:srgbClr val="1B2A6B"/>
                    </a:solidFill>
                  </a:tcPr>
                </a:tc>
                <a:tc>
                  <a:txBody>
                    <a:bodyPr wrap="square"/>
                    <a:lstStyle/>
                    <a:p>
                      <a:pPr algn="r"/>
                      <a:r>
                        <a:rPr sz="1050" b="1">
                          <a:solidFill>
                            <a:srgbClr val="FFFFFF"/>
                          </a:solidFill>
                          <a:latin typeface="Kanit"/>
                        </a:rPr>
                        <a:t>6-month move</a:t>
                      </a:r>
                    </a:p>
                  </a:txBody>
                  <a:tcPr marL="54864" marR="54864" marT="18288" marB="18288" anchor="ctr">
                    <a:solidFill>
                      <a:srgbClr val="1B2A6B"/>
                    </a:solidFill>
                  </a:tcPr>
                </a:tc>
                <a:tc>
                  <a:txBody>
                    <a:bodyPr wrap="square"/>
                    <a:lstStyle/>
                    <a:p>
                      <a:pPr algn="r"/>
                      <a:r>
                        <a:rPr sz="1050" b="1">
                          <a:solidFill>
                            <a:srgbClr val="FFFFFF"/>
                          </a:solidFill>
                          <a:latin typeface="Kanit"/>
                        </a:rPr>
                        <a:t>12-month move</a:t>
                      </a:r>
                    </a:p>
                  </a:txBody>
                  <a:tcPr marL="54864" marR="54864" marT="18288" marB="18288" anchor="ctr">
                    <a:solidFill>
                      <a:srgbClr val="1B2A6B"/>
                    </a:solidFill>
                  </a:tcPr>
                </a:tc>
                <a:tc>
                  <a:txBody>
                    <a:bodyPr wrap="square"/>
                    <a:lstStyle/>
                    <a:p>
                      <a:pPr algn="r"/>
                      <a:r>
                        <a:rPr sz="1050" b="1">
                          <a:solidFill>
                            <a:srgbClr val="FFFFFF"/>
                          </a:solidFill>
                          <a:latin typeface="Kanit"/>
                        </a:rPr>
                        <a:t>12m low</a:t>
                      </a:r>
                    </a:p>
                  </a:txBody>
                  <a:tcPr marL="54864" marR="54864" marT="18288" marB="18288" anchor="ctr">
                    <a:solidFill>
                      <a:srgbClr val="1B2A6B"/>
                    </a:solidFill>
                  </a:tcPr>
                </a:tc>
                <a:tc>
                  <a:txBody>
                    <a:bodyPr wrap="square"/>
                    <a:lstStyle/>
                    <a:p>
                      <a:pPr algn="r"/>
                      <a:r>
                        <a:rPr sz="1050" b="1">
                          <a:solidFill>
                            <a:srgbClr val="FFFFFF"/>
                          </a:solidFill>
                          <a:latin typeface="Kanit"/>
                        </a:rPr>
                        <a:t>12m high</a:t>
                      </a:r>
                    </a:p>
                  </a:txBody>
                  <a:tcPr marL="54864" marR="54864" marT="18288" marB="18288" anchor="ctr">
                    <a:solidFill>
                      <a:srgbClr val="1B2A6B"/>
                    </a:solidFill>
                  </a:tcPr>
                </a:tc>
                <a:tc>
                  <a:txBody>
                    <a:bodyPr wrap="square"/>
                    <a:lstStyle/>
                    <a:p>
                      <a:pPr algn="r"/>
                      <a:r>
                        <a:rPr sz="1050" b="1">
                          <a:solidFill>
                            <a:srgbClr val="FFFFFF"/>
                          </a:solidFill>
                          <a:latin typeface="Kanit"/>
                        </a:rPr>
                        <a:t>vs 2015 base</a:t>
                      </a:r>
                    </a:p>
                  </a:txBody>
                  <a:tcPr marL="54864" marR="54864" marT="18288" marB="18288" anchor="ctr">
                    <a:solidFill>
                      <a:srgbClr val="1B2A6B"/>
                    </a:solidFill>
                  </a:tcPr>
                </a:tc>
                <a:tc>
                  <a:txBody>
                    <a:bodyPr wrap="square"/>
                    <a:lstStyle/>
                    <a:p>
                      <a:pPr algn="r"/>
                      <a:r>
                        <a:rPr sz="1050" b="1">
                          <a:solidFill>
                            <a:srgbClr val="FFFFFF"/>
                          </a:solidFill>
                          <a:latin typeface="Kanit"/>
                        </a:rPr>
                        <a:t>off all-time peak</a:t>
                      </a:r>
                    </a:p>
                  </a:txBody>
                  <a:tcPr marL="54864" marR="54864" marT="18288" marB="18288" anchor="ctr">
                    <a:solidFill>
                      <a:srgbClr val="1B2A6B"/>
                    </a:solidFill>
                  </a:tcPr>
                </a:tc>
              </a:tr>
              <a:tr h="288036">
                <a:tc>
                  <a:txBody>
                    <a:bodyPr wrap="square"/>
                    <a:lstStyle/>
                    <a:p>
                      <a:pPr algn="l"/>
                      <a:r>
                        <a:rPr sz="1000" b="1">
                          <a:solidFill>
                            <a:srgbClr val="1E2F5C"/>
                          </a:solidFill>
                          <a:latin typeface="Kanit"/>
                        </a:rPr>
                        <a:t>Pickup (รถกระบะ)</a:t>
                      </a:r>
                    </a:p>
                  </a:txBody>
                  <a:tcPr marL="54864" marR="54864" marT="18288" marB="18288" anchor="ctr">
                    <a:solidFill>
                      <a:srgbClr val="FFFFFF"/>
                    </a:solidFill>
                  </a:tcPr>
                </a:tc>
                <a:tc>
                  <a:txBody>
                    <a:bodyPr wrap="square"/>
                    <a:lstStyle/>
                    <a:p>
                      <a:pPr algn="r"/>
                      <a:r>
                        <a:rPr sz="1000" b="1">
                          <a:solidFill>
                            <a:srgbClr val="1E2F5C"/>
                          </a:solidFill>
                          <a:latin typeface="Kanit"/>
                        </a:rPr>
                        <a:t>66.8</a:t>
                      </a:r>
                    </a:p>
                  </a:txBody>
                  <a:tcPr marL="54864" marR="54864" marT="18288" marB="18288" anchor="ctr">
                    <a:solidFill>
                      <a:srgbClr val="FFFFFF"/>
                    </a:solidFill>
                  </a:tcPr>
                </a:tc>
                <a:tc>
                  <a:txBody>
                    <a:bodyPr wrap="square"/>
                    <a:lstStyle/>
                    <a:p>
                      <a:pPr algn="r"/>
                      <a:r>
                        <a:rPr sz="1000" b="1">
                          <a:solidFill>
                            <a:srgbClr val="15795F"/>
                          </a:solidFill>
                          <a:latin typeface="Kanit"/>
                        </a:rPr>
                        <a:t>+12.5%</a:t>
                      </a:r>
                    </a:p>
                  </a:txBody>
                  <a:tcPr marL="54864" marR="54864" marT="18288" marB="18288" anchor="ctr">
                    <a:solidFill>
                      <a:srgbClr val="FFFFFF"/>
                    </a:solidFill>
                  </a:tcPr>
                </a:tc>
                <a:tc>
                  <a:txBody>
                    <a:bodyPr wrap="square"/>
                    <a:lstStyle/>
                    <a:p>
                      <a:pPr algn="r"/>
                      <a:r>
                        <a:rPr sz="1000" b="1">
                          <a:solidFill>
                            <a:srgbClr val="CC0000"/>
                          </a:solidFill>
                          <a:latin typeface="Kanit"/>
                        </a:rPr>
                        <a:t>-0.4%</a:t>
                      </a:r>
                    </a:p>
                  </a:txBody>
                  <a:tcPr marL="54864" marR="54864" marT="18288" marB="18288" anchor="ctr">
                    <a:solidFill>
                      <a:srgbClr val="FFFFFF"/>
                    </a:solidFill>
                  </a:tcPr>
                </a:tc>
                <a:tc>
                  <a:txBody>
                    <a:bodyPr wrap="square"/>
                    <a:lstStyle/>
                    <a:p>
                      <a:pPr algn="r"/>
                      <a:r>
                        <a:rPr sz="1000" b="0">
                          <a:solidFill>
                            <a:srgbClr val="1E2F5C"/>
                          </a:solidFill>
                          <a:latin typeface="Kanit"/>
                        </a:rPr>
                        <a:t>58.0</a:t>
                      </a:r>
                    </a:p>
                  </a:txBody>
                  <a:tcPr marL="54864" marR="54864" marT="18288" marB="18288" anchor="ctr">
                    <a:solidFill>
                      <a:srgbClr val="FFFFFF"/>
                    </a:solidFill>
                  </a:tcPr>
                </a:tc>
                <a:tc>
                  <a:txBody>
                    <a:bodyPr wrap="square"/>
                    <a:lstStyle/>
                    <a:p>
                      <a:pPr algn="r"/>
                      <a:r>
                        <a:rPr sz="1000" b="0">
                          <a:solidFill>
                            <a:srgbClr val="1E2F5C"/>
                          </a:solidFill>
                          <a:latin typeface="Kanit"/>
                        </a:rPr>
                        <a:t>68.5</a:t>
                      </a:r>
                    </a:p>
                  </a:txBody>
                  <a:tcPr marL="54864" marR="54864" marT="18288" marB="18288" anchor="ctr">
                    <a:solidFill>
                      <a:srgbClr val="FFFFFF"/>
                    </a:solidFill>
                  </a:tcPr>
                </a:tc>
                <a:tc>
                  <a:txBody>
                    <a:bodyPr wrap="square"/>
                    <a:lstStyle/>
                    <a:p>
                      <a:pPr algn="r"/>
                      <a:r>
                        <a:rPr sz="1000" b="1">
                          <a:solidFill>
                            <a:srgbClr val="CC0000"/>
                          </a:solidFill>
                          <a:latin typeface="Kanit"/>
                        </a:rPr>
                        <a:t>-33.2</a:t>
                      </a:r>
                    </a:p>
                  </a:txBody>
                  <a:tcPr marL="54864" marR="54864" marT="18288" marB="18288" anchor="ctr">
                    <a:solidFill>
                      <a:srgbClr val="FFFFFF"/>
                    </a:solidFill>
                  </a:tcPr>
                </a:tc>
                <a:tc>
                  <a:txBody>
                    <a:bodyPr wrap="square"/>
                    <a:lstStyle/>
                    <a:p>
                      <a:pPr algn="r"/>
                      <a:r>
                        <a:rPr sz="1000" b="1">
                          <a:solidFill>
                            <a:srgbClr val="CC0000"/>
                          </a:solidFill>
                          <a:latin typeface="Kanit"/>
                        </a:rPr>
                        <a:t>-50.0%</a:t>
                      </a:r>
                    </a:p>
                  </a:txBody>
                  <a:tcPr marL="54864" marR="54864" marT="18288" marB="18288" anchor="ctr">
                    <a:solidFill>
                      <a:srgbClr val="FFFFFF"/>
                    </a:solidFill>
                  </a:tcPr>
                </a:tc>
              </a:tr>
              <a:tr h="288036">
                <a:tc>
                  <a:txBody>
                    <a:bodyPr wrap="square"/>
                    <a:lstStyle/>
                    <a:p>
                      <a:pPr algn="l"/>
                      <a:r>
                        <a:rPr sz="1000" b="1">
                          <a:solidFill>
                            <a:srgbClr val="1E2F5C"/>
                          </a:solidFill>
                          <a:latin typeface="Kanit"/>
                        </a:rPr>
                        <a:t>Passenger car</a:t>
                      </a:r>
                    </a:p>
                  </a:txBody>
                  <a:tcPr marL="54864" marR="54864" marT="18288" marB="18288" anchor="ctr">
                    <a:solidFill>
                      <a:srgbClr val="F7F9FC"/>
                    </a:solidFill>
                  </a:tcPr>
                </a:tc>
                <a:tc>
                  <a:txBody>
                    <a:bodyPr wrap="square"/>
                    <a:lstStyle/>
                    <a:p>
                      <a:pPr algn="r"/>
                      <a:r>
                        <a:rPr sz="1000" b="1">
                          <a:solidFill>
                            <a:srgbClr val="1E2F5C"/>
                          </a:solidFill>
                          <a:latin typeface="Kanit"/>
                        </a:rPr>
                        <a:t>87.8</a:t>
                      </a:r>
                    </a:p>
                  </a:txBody>
                  <a:tcPr marL="54864" marR="54864" marT="18288" marB="18288" anchor="ctr">
                    <a:solidFill>
                      <a:srgbClr val="F7F9FC"/>
                    </a:solidFill>
                  </a:tcPr>
                </a:tc>
                <a:tc>
                  <a:txBody>
                    <a:bodyPr wrap="square"/>
                    <a:lstStyle/>
                    <a:p>
                      <a:pPr algn="r"/>
                      <a:r>
                        <a:rPr sz="1000" b="1">
                          <a:solidFill>
                            <a:srgbClr val="15795F"/>
                          </a:solidFill>
                          <a:latin typeface="Kanit"/>
                        </a:rPr>
                        <a:t>+6.0%</a:t>
                      </a:r>
                    </a:p>
                  </a:txBody>
                  <a:tcPr marL="54864" marR="54864" marT="18288" marB="18288" anchor="ctr">
                    <a:solidFill>
                      <a:srgbClr val="F7F9FC"/>
                    </a:solidFill>
                  </a:tcPr>
                </a:tc>
                <a:tc>
                  <a:txBody>
                    <a:bodyPr wrap="square"/>
                    <a:lstStyle/>
                    <a:p>
                      <a:pPr algn="r"/>
                      <a:r>
                        <a:rPr sz="1000" b="1">
                          <a:solidFill>
                            <a:srgbClr val="CC0000"/>
                          </a:solidFill>
                          <a:latin typeface="Kanit"/>
                        </a:rPr>
                        <a:t>-8.3%</a:t>
                      </a:r>
                    </a:p>
                  </a:txBody>
                  <a:tcPr marL="54864" marR="54864" marT="18288" marB="18288" anchor="ctr">
                    <a:solidFill>
                      <a:srgbClr val="F7F9FC"/>
                    </a:solidFill>
                  </a:tcPr>
                </a:tc>
                <a:tc>
                  <a:txBody>
                    <a:bodyPr wrap="square"/>
                    <a:lstStyle/>
                    <a:p>
                      <a:pPr algn="r"/>
                      <a:r>
                        <a:rPr sz="1000" b="0">
                          <a:solidFill>
                            <a:srgbClr val="1E2F5C"/>
                          </a:solidFill>
                          <a:latin typeface="Kanit"/>
                        </a:rPr>
                        <a:t>82.8</a:t>
                      </a:r>
                    </a:p>
                  </a:txBody>
                  <a:tcPr marL="54864" marR="54864" marT="18288" marB="18288" anchor="ctr">
                    <a:solidFill>
                      <a:srgbClr val="F7F9FC"/>
                    </a:solidFill>
                  </a:tcPr>
                </a:tc>
                <a:tc>
                  <a:txBody>
                    <a:bodyPr wrap="square"/>
                    <a:lstStyle/>
                    <a:p>
                      <a:pPr algn="r"/>
                      <a:r>
                        <a:rPr sz="1000" b="0">
                          <a:solidFill>
                            <a:srgbClr val="1E2F5C"/>
                          </a:solidFill>
                          <a:latin typeface="Kanit"/>
                        </a:rPr>
                        <a:t>99.6</a:t>
                      </a:r>
                    </a:p>
                  </a:txBody>
                  <a:tcPr marL="54864" marR="54864" marT="18288" marB="18288" anchor="ctr">
                    <a:solidFill>
                      <a:srgbClr val="F7F9FC"/>
                    </a:solidFill>
                  </a:tcPr>
                </a:tc>
                <a:tc>
                  <a:txBody>
                    <a:bodyPr wrap="square"/>
                    <a:lstStyle/>
                    <a:p>
                      <a:pPr algn="r"/>
                      <a:r>
                        <a:rPr sz="1000" b="1">
                          <a:solidFill>
                            <a:srgbClr val="CC0000"/>
                          </a:solidFill>
                          <a:latin typeface="Kanit"/>
                        </a:rPr>
                        <a:t>-12.2</a:t>
                      </a:r>
                    </a:p>
                  </a:txBody>
                  <a:tcPr marL="54864" marR="54864" marT="18288" marB="18288" anchor="ctr">
                    <a:solidFill>
                      <a:srgbClr val="F7F9FC"/>
                    </a:solidFill>
                  </a:tcPr>
                </a:tc>
                <a:tc>
                  <a:txBody>
                    <a:bodyPr wrap="square"/>
                    <a:lstStyle/>
                    <a:p>
                      <a:pPr algn="r"/>
                      <a:r>
                        <a:rPr sz="1000" b="1">
                          <a:solidFill>
                            <a:srgbClr val="CC0000"/>
                          </a:solidFill>
                          <a:latin typeface="Kanit"/>
                        </a:rPr>
                        <a:t>-40.5%</a:t>
                      </a:r>
                    </a:p>
                  </a:txBody>
                  <a:tcPr marL="54864" marR="54864" marT="18288" marB="18288" anchor="ctr">
                    <a:solidFill>
                      <a:srgbClr val="F7F9FC"/>
                    </a:solidFill>
                  </a:tcPr>
                </a:tc>
              </a:tr>
              <a:tr h="288036">
                <a:tc>
                  <a:txBody>
                    <a:bodyPr wrap="square"/>
                    <a:lstStyle/>
                    <a:p>
                      <a:pPr algn="l"/>
                      <a:r>
                        <a:rPr sz="1000" b="1">
                          <a:solidFill>
                            <a:srgbClr val="1E2F5C"/>
                          </a:solidFill>
                          <a:latin typeface="Kanit"/>
                        </a:rPr>
                        <a:t>All used vehicles</a:t>
                      </a:r>
                    </a:p>
                  </a:txBody>
                  <a:tcPr marL="54864" marR="54864" marT="18288" marB="18288" anchor="ctr">
                    <a:solidFill>
                      <a:srgbClr val="FFFFFF"/>
                    </a:solidFill>
                  </a:tcPr>
                </a:tc>
                <a:tc>
                  <a:txBody>
                    <a:bodyPr wrap="square"/>
                    <a:lstStyle/>
                    <a:p>
                      <a:pPr algn="r"/>
                      <a:r>
                        <a:rPr sz="1000" b="1">
                          <a:solidFill>
                            <a:srgbClr val="1E2F5C"/>
                          </a:solidFill>
                          <a:latin typeface="Kanit"/>
                        </a:rPr>
                        <a:t>75.2</a:t>
                      </a:r>
                    </a:p>
                  </a:txBody>
                  <a:tcPr marL="54864" marR="54864" marT="18288" marB="18288" anchor="ctr">
                    <a:solidFill>
                      <a:srgbClr val="FFFFFF"/>
                    </a:solidFill>
                  </a:tcPr>
                </a:tc>
                <a:tc>
                  <a:txBody>
                    <a:bodyPr wrap="square"/>
                    <a:lstStyle/>
                    <a:p>
                      <a:pPr algn="r"/>
                      <a:r>
                        <a:rPr sz="1000" b="1">
                          <a:solidFill>
                            <a:srgbClr val="15795F"/>
                          </a:solidFill>
                          <a:latin typeface="Kanit"/>
                        </a:rPr>
                        <a:t>+10.1%</a:t>
                      </a:r>
                    </a:p>
                  </a:txBody>
                  <a:tcPr marL="54864" marR="54864" marT="18288" marB="18288" anchor="ctr">
                    <a:solidFill>
                      <a:srgbClr val="FFFFFF"/>
                    </a:solidFill>
                  </a:tcPr>
                </a:tc>
                <a:tc>
                  <a:txBody>
                    <a:bodyPr wrap="square"/>
                    <a:lstStyle/>
                    <a:p>
                      <a:pPr algn="r"/>
                      <a:r>
                        <a:rPr sz="1000" b="1">
                          <a:solidFill>
                            <a:srgbClr val="CC0000"/>
                          </a:solidFill>
                          <a:latin typeface="Kanit"/>
                        </a:rPr>
                        <a:t>-2.9%</a:t>
                      </a:r>
                    </a:p>
                  </a:txBody>
                  <a:tcPr marL="54864" marR="54864" marT="18288" marB="18288" anchor="ctr">
                    <a:solidFill>
                      <a:srgbClr val="FFFFFF"/>
                    </a:solidFill>
                  </a:tcPr>
                </a:tc>
                <a:tc>
                  <a:txBody>
                    <a:bodyPr wrap="square"/>
                    <a:lstStyle/>
                    <a:p>
                      <a:pPr algn="r"/>
                      <a:r>
                        <a:rPr sz="1000" b="0">
                          <a:solidFill>
                            <a:srgbClr val="1E2F5C"/>
                          </a:solidFill>
                          <a:latin typeface="Kanit"/>
                        </a:rPr>
                        <a:t>67.9</a:t>
                      </a:r>
                    </a:p>
                  </a:txBody>
                  <a:tcPr marL="54864" marR="54864" marT="18288" marB="18288" anchor="ctr">
                    <a:solidFill>
                      <a:srgbClr val="FFFFFF"/>
                    </a:solidFill>
                  </a:tcPr>
                </a:tc>
                <a:tc>
                  <a:txBody>
                    <a:bodyPr wrap="square"/>
                    <a:lstStyle/>
                    <a:p>
                      <a:pPr algn="r"/>
                      <a:r>
                        <a:rPr sz="1000" b="0">
                          <a:solidFill>
                            <a:srgbClr val="1E2F5C"/>
                          </a:solidFill>
                          <a:latin typeface="Kanit"/>
                        </a:rPr>
                        <a:t>80.5</a:t>
                      </a:r>
                    </a:p>
                  </a:txBody>
                  <a:tcPr marL="54864" marR="54864" marT="18288" marB="18288" anchor="ctr">
                    <a:solidFill>
                      <a:srgbClr val="FFFFFF"/>
                    </a:solidFill>
                  </a:tcPr>
                </a:tc>
                <a:tc>
                  <a:txBody>
                    <a:bodyPr wrap="square"/>
                    <a:lstStyle/>
                    <a:p>
                      <a:pPr algn="r"/>
                      <a:r>
                        <a:rPr sz="1000" b="1">
                          <a:solidFill>
                            <a:srgbClr val="CC0000"/>
                          </a:solidFill>
                          <a:latin typeface="Kanit"/>
                        </a:rPr>
                        <a:t>-24.9</a:t>
                      </a:r>
                    </a:p>
                  </a:txBody>
                  <a:tcPr marL="54864" marR="54864" marT="18288" marB="18288" anchor="ctr">
                    <a:solidFill>
                      <a:srgbClr val="FFFFFF"/>
                    </a:solidFill>
                  </a:tcPr>
                </a:tc>
                <a:tc>
                  <a:txBody>
                    <a:bodyPr wrap="square"/>
                    <a:lstStyle/>
                    <a:p>
                      <a:pPr algn="r"/>
                      <a:r>
                        <a:rPr sz="1000" b="1">
                          <a:solidFill>
                            <a:srgbClr val="CC0000"/>
                          </a:solidFill>
                          <a:latin typeface="Kanit"/>
                        </a:rPr>
                        <a:t>-46.3%</a:t>
                      </a:r>
                    </a:p>
                  </a:txBody>
                  <a:tcPr marL="54864" marR="54864" marT="18288" marB="18288" anchor="ctr">
                    <a:solidFill>
                      <a:srgbClr val="FFFFFF"/>
                    </a:solidFill>
                  </a:tcPr>
                </a:tc>
              </a:tr>
            </a:tbl>
          </a:graphicData>
        </a:graphic>
      </p:graphicFrame>
      <p:sp>
        <p:nvSpPr>
          <p:cNvPr id="10" name="Rectangle 9"/>
          <p:cNvSpPr/>
          <p:nvPr/>
        </p:nvSpPr>
        <p:spPr>
          <a:xfrm>
            <a:off x="411480" y="2528316"/>
            <a:ext cx="6903720" cy="201168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795528" y="4265676"/>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29768" y="4197096"/>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50</a:t>
            </a:r>
          </a:p>
        </p:txBody>
      </p:sp>
      <p:sp>
        <p:nvSpPr>
          <p:cNvPr id="13" name="Rectangle 12"/>
          <p:cNvSpPr/>
          <p:nvPr/>
        </p:nvSpPr>
        <p:spPr>
          <a:xfrm>
            <a:off x="795528" y="3470148"/>
            <a:ext cx="6428232" cy="10972"/>
          </a:xfrm>
          <a:prstGeom prst="rect">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29768" y="3401568"/>
            <a:ext cx="329184" cy="125730"/>
          </a:xfrm>
          <a:prstGeom prst="rect">
            <a:avLst/>
          </a:prstGeom>
          <a:noFill/>
        </p:spPr>
        <p:txBody>
          <a:bodyPr wrap="square" lIns="0" rIns="0" tIns="0" bIns="0" anchor="t">
            <a:noAutofit/>
          </a:bodyPr>
          <a:lstStyle/>
          <a:p>
            <a:pPr algn="r">
              <a:lnSpc>
                <a:spcPts val="990"/>
              </a:lnSpc>
            </a:pPr>
            <a:r>
              <a:rPr sz="750" b="0">
                <a:solidFill>
                  <a:srgbClr val="606060"/>
                </a:solidFill>
                <a:latin typeface="Kanit"/>
              </a:rPr>
              <a:t>100</a:t>
            </a:r>
          </a:p>
        </p:txBody>
      </p:sp>
      <p:sp>
        <p:nvSpPr>
          <p:cNvPr id="15" name="Rectangle 14"/>
          <p:cNvSpPr/>
          <p:nvPr/>
        </p:nvSpPr>
        <p:spPr>
          <a:xfrm>
            <a:off x="795528" y="2674620"/>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429768" y="2606039"/>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150</a:t>
            </a:r>
          </a:p>
        </p:txBody>
      </p:sp>
      <p:sp>
        <p:nvSpPr>
          <p:cNvPr id="17" name="TextBox 16"/>
          <p:cNvSpPr txBox="1"/>
          <p:nvPr/>
        </p:nvSpPr>
        <p:spPr>
          <a:xfrm>
            <a:off x="6974611" y="2656332"/>
            <a:ext cx="157708" cy="134112"/>
          </a:xfrm>
          <a:prstGeom prst="rect">
            <a:avLst/>
          </a:prstGeom>
          <a:noFill/>
        </p:spPr>
        <p:txBody>
          <a:bodyPr wrap="square" lIns="0" rIns="0" tIns="0" bIns="0" anchor="t">
            <a:noAutofit/>
          </a:bodyPr>
          <a:lstStyle/>
          <a:p>
            <a:pPr algn="l">
              <a:lnSpc>
                <a:spcPts val="1056"/>
              </a:lnSpc>
            </a:pPr>
            <a:r>
              <a:rPr sz="800" b="1">
                <a:solidFill>
                  <a:srgbClr val="1E2F5C"/>
                </a:solidFill>
                <a:latin typeface="Kanit"/>
              </a:rPr>
              <a:t>Car</a:t>
            </a:r>
          </a:p>
        </p:txBody>
      </p:sp>
      <p:sp>
        <p:nvSpPr>
          <p:cNvPr id="18" name="Rectangle 17"/>
          <p:cNvSpPr/>
          <p:nvPr/>
        </p:nvSpPr>
        <p:spPr>
          <a:xfrm>
            <a:off x="6736867" y="2715768"/>
            <a:ext cx="164592" cy="25603"/>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269491" y="2656332"/>
            <a:ext cx="321071" cy="134112"/>
          </a:xfrm>
          <a:prstGeom prst="rect">
            <a:avLst/>
          </a:prstGeom>
          <a:noFill/>
        </p:spPr>
        <p:txBody>
          <a:bodyPr wrap="square" lIns="0" rIns="0" tIns="0" bIns="0" anchor="t">
            <a:noAutofit/>
          </a:bodyPr>
          <a:lstStyle/>
          <a:p>
            <a:pPr algn="l">
              <a:lnSpc>
                <a:spcPts val="1056"/>
              </a:lnSpc>
            </a:pPr>
            <a:r>
              <a:rPr sz="800" b="1">
                <a:solidFill>
                  <a:srgbClr val="CC0000"/>
                </a:solidFill>
                <a:latin typeface="Kanit"/>
              </a:rPr>
              <a:t>Pickup</a:t>
            </a:r>
          </a:p>
        </p:txBody>
      </p:sp>
      <p:sp>
        <p:nvSpPr>
          <p:cNvPr id="20" name="Rectangle 19"/>
          <p:cNvSpPr/>
          <p:nvPr/>
        </p:nvSpPr>
        <p:spPr>
          <a:xfrm>
            <a:off x="6031747" y="2715768"/>
            <a:ext cx="164592" cy="256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Freeform 20"/>
          <p:cNvSpPr/>
          <p:nvPr/>
        </p:nvSpPr>
        <p:spPr>
          <a:xfrm>
            <a:off x="795528" y="2933166"/>
            <a:ext cx="6428232" cy="1259480"/>
          </a:xfrm>
          <a:custGeom>
            <a:avLst/>
            <a:gdLst/>
            <a:ahLst/>
            <a:cxnLst/>
            <a:rect l="l" t="t" r="r" b="b"/>
            <a:pathLst>
              <a:path w="6428232" h="1259480">
                <a:moveTo>
                  <a:pt x="0" y="380422"/>
                </a:moveTo>
                <a:lnTo>
                  <a:pt x="34936" y="360692"/>
                </a:lnTo>
                <a:lnTo>
                  <a:pt x="69872" y="377239"/>
                </a:lnTo>
                <a:lnTo>
                  <a:pt x="104808" y="337622"/>
                </a:lnTo>
                <a:lnTo>
                  <a:pt x="139744" y="209542"/>
                </a:lnTo>
                <a:lnTo>
                  <a:pt x="174680" y="370080"/>
                </a:lnTo>
                <a:lnTo>
                  <a:pt x="209616" y="307233"/>
                </a:lnTo>
                <a:lnTo>
                  <a:pt x="244552" y="387422"/>
                </a:lnTo>
                <a:lnTo>
                  <a:pt x="279488" y="409697"/>
                </a:lnTo>
                <a:lnTo>
                  <a:pt x="314424" y="344941"/>
                </a:lnTo>
                <a:lnTo>
                  <a:pt x="349360" y="265866"/>
                </a:lnTo>
                <a:lnTo>
                  <a:pt x="384296" y="179630"/>
                </a:lnTo>
                <a:lnTo>
                  <a:pt x="419232" y="0"/>
                </a:lnTo>
                <a:lnTo>
                  <a:pt x="454168" y="78916"/>
                </a:lnTo>
                <a:lnTo>
                  <a:pt x="489104" y="60938"/>
                </a:lnTo>
                <a:lnTo>
                  <a:pt x="524040" y="64279"/>
                </a:lnTo>
                <a:lnTo>
                  <a:pt x="558976" y="131421"/>
                </a:lnTo>
                <a:lnTo>
                  <a:pt x="593912" y="204133"/>
                </a:lnTo>
                <a:lnTo>
                  <a:pt x="628848" y="254887"/>
                </a:lnTo>
                <a:lnTo>
                  <a:pt x="663784" y="218611"/>
                </a:lnTo>
                <a:lnTo>
                  <a:pt x="698720" y="288299"/>
                </a:lnTo>
                <a:lnTo>
                  <a:pt x="733656" y="265706"/>
                </a:lnTo>
                <a:lnTo>
                  <a:pt x="768592" y="231499"/>
                </a:lnTo>
                <a:lnTo>
                  <a:pt x="803529" y="306756"/>
                </a:lnTo>
                <a:lnTo>
                  <a:pt x="838465" y="153378"/>
                </a:lnTo>
                <a:lnTo>
                  <a:pt x="873401" y="117738"/>
                </a:lnTo>
                <a:lnTo>
                  <a:pt x="908337" y="183449"/>
                </a:lnTo>
                <a:lnTo>
                  <a:pt x="943273" y="265388"/>
                </a:lnTo>
                <a:lnTo>
                  <a:pt x="978209" y="299755"/>
                </a:lnTo>
                <a:lnTo>
                  <a:pt x="1013145" y="338100"/>
                </a:lnTo>
                <a:lnTo>
                  <a:pt x="1048081" y="448837"/>
                </a:lnTo>
                <a:lnTo>
                  <a:pt x="1083017" y="427040"/>
                </a:lnTo>
                <a:lnTo>
                  <a:pt x="1117953" y="501819"/>
                </a:lnTo>
                <a:lnTo>
                  <a:pt x="1152889" y="592032"/>
                </a:lnTo>
                <a:lnTo>
                  <a:pt x="1187825" y="551301"/>
                </a:lnTo>
                <a:lnTo>
                  <a:pt x="1222761" y="607783"/>
                </a:lnTo>
                <a:lnTo>
                  <a:pt x="1257697" y="456474"/>
                </a:lnTo>
                <a:lnTo>
                  <a:pt x="1292633" y="417652"/>
                </a:lnTo>
                <a:lnTo>
                  <a:pt x="1327569" y="479385"/>
                </a:lnTo>
                <a:lnTo>
                  <a:pt x="1362505" y="493864"/>
                </a:lnTo>
                <a:lnTo>
                  <a:pt x="1397441" y="549551"/>
                </a:lnTo>
                <a:lnTo>
                  <a:pt x="1432377" y="638968"/>
                </a:lnTo>
                <a:lnTo>
                  <a:pt x="1467313" y="650901"/>
                </a:lnTo>
                <a:lnTo>
                  <a:pt x="1502249" y="655992"/>
                </a:lnTo>
                <a:lnTo>
                  <a:pt x="1537185" y="636900"/>
                </a:lnTo>
                <a:lnTo>
                  <a:pt x="1572121" y="651060"/>
                </a:lnTo>
                <a:lnTo>
                  <a:pt x="1607057" y="629740"/>
                </a:lnTo>
                <a:lnTo>
                  <a:pt x="1641994" y="693064"/>
                </a:lnTo>
                <a:lnTo>
                  <a:pt x="1676930" y="508342"/>
                </a:lnTo>
                <a:lnTo>
                  <a:pt x="1711866" y="489091"/>
                </a:lnTo>
                <a:lnTo>
                  <a:pt x="1746802" y="459020"/>
                </a:lnTo>
                <a:lnTo>
                  <a:pt x="1781738" y="500228"/>
                </a:lnTo>
                <a:lnTo>
                  <a:pt x="1816674" y="517412"/>
                </a:lnTo>
                <a:lnTo>
                  <a:pt x="1851610" y="505638"/>
                </a:lnTo>
                <a:lnTo>
                  <a:pt x="1886546" y="576281"/>
                </a:lnTo>
                <a:lnTo>
                  <a:pt x="1921482" y="635150"/>
                </a:lnTo>
                <a:lnTo>
                  <a:pt x="1956418" y="594419"/>
                </a:lnTo>
                <a:lnTo>
                  <a:pt x="1991354" y="566257"/>
                </a:lnTo>
                <a:lnTo>
                  <a:pt x="2026290" y="543823"/>
                </a:lnTo>
                <a:lnTo>
                  <a:pt x="2061226" y="549233"/>
                </a:lnTo>
                <a:lnTo>
                  <a:pt x="2096162" y="386468"/>
                </a:lnTo>
                <a:lnTo>
                  <a:pt x="2131098" y="382490"/>
                </a:lnTo>
                <a:lnTo>
                  <a:pt x="2166034" y="366420"/>
                </a:lnTo>
                <a:lnTo>
                  <a:pt x="2200970" y="397287"/>
                </a:lnTo>
                <a:lnTo>
                  <a:pt x="2235906" y="445337"/>
                </a:lnTo>
                <a:lnTo>
                  <a:pt x="2270842" y="426085"/>
                </a:lnTo>
                <a:lnTo>
                  <a:pt x="2305778" y="513911"/>
                </a:lnTo>
                <a:lnTo>
                  <a:pt x="2340714" y="579304"/>
                </a:lnTo>
                <a:lnTo>
                  <a:pt x="2375650" y="534277"/>
                </a:lnTo>
                <a:lnTo>
                  <a:pt x="2410587" y="547642"/>
                </a:lnTo>
                <a:lnTo>
                  <a:pt x="2445523" y="576917"/>
                </a:lnTo>
                <a:lnTo>
                  <a:pt x="2480459" y="599351"/>
                </a:lnTo>
                <a:lnTo>
                  <a:pt x="2515395" y="425767"/>
                </a:lnTo>
                <a:lnTo>
                  <a:pt x="2550331" y="414948"/>
                </a:lnTo>
                <a:lnTo>
                  <a:pt x="2585267" y="429903"/>
                </a:lnTo>
                <a:lnTo>
                  <a:pt x="2620203" y="391400"/>
                </a:lnTo>
                <a:lnTo>
                  <a:pt x="2655139" y="448678"/>
                </a:lnTo>
                <a:lnTo>
                  <a:pt x="2690075" y="462679"/>
                </a:lnTo>
                <a:lnTo>
                  <a:pt x="2725011" y="507865"/>
                </a:lnTo>
                <a:lnTo>
                  <a:pt x="2759947" y="546528"/>
                </a:lnTo>
                <a:lnTo>
                  <a:pt x="2794883" y="528390"/>
                </a:lnTo>
                <a:lnTo>
                  <a:pt x="2829819" y="505797"/>
                </a:lnTo>
                <a:lnTo>
                  <a:pt x="2864755" y="610329"/>
                </a:lnTo>
                <a:lnTo>
                  <a:pt x="2899691" y="622262"/>
                </a:lnTo>
                <a:lnTo>
                  <a:pt x="2934627" y="441041"/>
                </a:lnTo>
                <a:lnTo>
                  <a:pt x="2969563" y="353533"/>
                </a:lnTo>
                <a:lnTo>
                  <a:pt x="3004499" y="352896"/>
                </a:lnTo>
                <a:lnTo>
                  <a:pt x="3039435" y="434836"/>
                </a:lnTo>
                <a:lnTo>
                  <a:pt x="3074371" y="456315"/>
                </a:lnTo>
                <a:lnTo>
                  <a:pt x="3109307" y="429585"/>
                </a:lnTo>
                <a:lnTo>
                  <a:pt x="3144243" y="552733"/>
                </a:lnTo>
                <a:lnTo>
                  <a:pt x="3179179" y="587259"/>
                </a:lnTo>
                <a:lnTo>
                  <a:pt x="3214116" y="572780"/>
                </a:lnTo>
                <a:lnTo>
                  <a:pt x="3249052" y="634354"/>
                </a:lnTo>
                <a:lnTo>
                  <a:pt x="3283988" y="697678"/>
                </a:lnTo>
                <a:lnTo>
                  <a:pt x="3318924" y="689882"/>
                </a:lnTo>
                <a:lnTo>
                  <a:pt x="3353860" y="511843"/>
                </a:lnTo>
                <a:lnTo>
                  <a:pt x="3388796" y="436904"/>
                </a:lnTo>
                <a:lnTo>
                  <a:pt x="3423732" y="467293"/>
                </a:lnTo>
                <a:lnTo>
                  <a:pt x="3458668" y="476044"/>
                </a:lnTo>
                <a:lnTo>
                  <a:pt x="3493604" y="511365"/>
                </a:lnTo>
                <a:lnTo>
                  <a:pt x="3528540" y="537777"/>
                </a:lnTo>
                <a:lnTo>
                  <a:pt x="3563476" y="555597"/>
                </a:lnTo>
                <a:lnTo>
                  <a:pt x="3598412" y="563552"/>
                </a:lnTo>
                <a:lnTo>
                  <a:pt x="3633348" y="607783"/>
                </a:lnTo>
                <a:lnTo>
                  <a:pt x="3668284" y="703724"/>
                </a:lnTo>
                <a:lnTo>
                  <a:pt x="3703220" y="726635"/>
                </a:lnTo>
                <a:lnTo>
                  <a:pt x="3738156" y="721862"/>
                </a:lnTo>
                <a:lnTo>
                  <a:pt x="3773092" y="574849"/>
                </a:lnTo>
                <a:lnTo>
                  <a:pt x="3808028" y="569757"/>
                </a:lnTo>
                <a:lnTo>
                  <a:pt x="3842964" y="691791"/>
                </a:lnTo>
                <a:lnTo>
                  <a:pt x="3877900" y="849942"/>
                </a:lnTo>
                <a:lnTo>
                  <a:pt x="3912836" y="747956"/>
                </a:lnTo>
                <a:lnTo>
                  <a:pt x="3947772" y="595532"/>
                </a:lnTo>
                <a:lnTo>
                  <a:pt x="3982708" y="511684"/>
                </a:lnTo>
                <a:lnTo>
                  <a:pt x="4017644" y="506911"/>
                </a:lnTo>
                <a:lnTo>
                  <a:pt x="4052581" y="501342"/>
                </a:lnTo>
                <a:lnTo>
                  <a:pt x="4087517" y="508024"/>
                </a:lnTo>
                <a:lnTo>
                  <a:pt x="4122453" y="565939"/>
                </a:lnTo>
                <a:lnTo>
                  <a:pt x="4157389" y="592509"/>
                </a:lnTo>
                <a:lnTo>
                  <a:pt x="4192325" y="569280"/>
                </a:lnTo>
                <a:lnTo>
                  <a:pt x="4227261" y="555120"/>
                </a:lnTo>
                <a:lnTo>
                  <a:pt x="4262197" y="507865"/>
                </a:lnTo>
                <a:lnTo>
                  <a:pt x="4297133" y="469680"/>
                </a:lnTo>
                <a:lnTo>
                  <a:pt x="4332069" y="483522"/>
                </a:lnTo>
                <a:lnTo>
                  <a:pt x="4367005" y="469043"/>
                </a:lnTo>
                <a:lnTo>
                  <a:pt x="4401941" y="561325"/>
                </a:lnTo>
                <a:lnTo>
                  <a:pt x="4436877" y="627513"/>
                </a:lnTo>
                <a:lnTo>
                  <a:pt x="4471813" y="600783"/>
                </a:lnTo>
                <a:lnTo>
                  <a:pt x="4506749" y="554324"/>
                </a:lnTo>
                <a:lnTo>
                  <a:pt x="4541685" y="505638"/>
                </a:lnTo>
                <a:lnTo>
                  <a:pt x="4576621" y="465861"/>
                </a:lnTo>
                <a:lnTo>
                  <a:pt x="4611557" y="363397"/>
                </a:lnTo>
                <a:lnTo>
                  <a:pt x="4646493" y="314552"/>
                </a:lnTo>
                <a:lnTo>
                  <a:pt x="4681429" y="363397"/>
                </a:lnTo>
                <a:lnTo>
                  <a:pt x="4716365" y="424335"/>
                </a:lnTo>
                <a:lnTo>
                  <a:pt x="4751301" y="440245"/>
                </a:lnTo>
                <a:lnTo>
                  <a:pt x="4786237" y="468248"/>
                </a:lnTo>
                <a:lnTo>
                  <a:pt x="4821174" y="558302"/>
                </a:lnTo>
                <a:lnTo>
                  <a:pt x="4856110" y="626558"/>
                </a:lnTo>
                <a:lnTo>
                  <a:pt x="4891046" y="669039"/>
                </a:lnTo>
                <a:lnTo>
                  <a:pt x="4925982" y="751297"/>
                </a:lnTo>
                <a:lnTo>
                  <a:pt x="4960918" y="816530"/>
                </a:lnTo>
                <a:lnTo>
                  <a:pt x="4995854" y="842623"/>
                </a:lnTo>
                <a:lnTo>
                  <a:pt x="5030790" y="777390"/>
                </a:lnTo>
                <a:lnTo>
                  <a:pt x="5065726" y="771026"/>
                </a:lnTo>
                <a:lnTo>
                  <a:pt x="5100662" y="791391"/>
                </a:lnTo>
                <a:lnTo>
                  <a:pt x="5135598" y="790596"/>
                </a:lnTo>
                <a:lnTo>
                  <a:pt x="5170534" y="806665"/>
                </a:lnTo>
                <a:lnTo>
                  <a:pt x="5205470" y="816689"/>
                </a:lnTo>
                <a:lnTo>
                  <a:pt x="5240406" y="916448"/>
                </a:lnTo>
                <a:lnTo>
                  <a:pt x="5275342" y="994251"/>
                </a:lnTo>
                <a:lnTo>
                  <a:pt x="5310278" y="1059803"/>
                </a:lnTo>
                <a:lnTo>
                  <a:pt x="5345214" y="1134105"/>
                </a:lnTo>
                <a:lnTo>
                  <a:pt x="5380150" y="1186291"/>
                </a:lnTo>
                <a:lnTo>
                  <a:pt x="5415086" y="1229091"/>
                </a:lnTo>
                <a:lnTo>
                  <a:pt x="5450022" y="1116126"/>
                </a:lnTo>
                <a:lnTo>
                  <a:pt x="5484958" y="1078100"/>
                </a:lnTo>
                <a:lnTo>
                  <a:pt x="5519894" y="1093374"/>
                </a:lnTo>
                <a:lnTo>
                  <a:pt x="5554830" y="1100852"/>
                </a:lnTo>
                <a:lnTo>
                  <a:pt x="5589766" y="1074122"/>
                </a:lnTo>
                <a:lnTo>
                  <a:pt x="5624703" y="1100693"/>
                </a:lnTo>
                <a:lnTo>
                  <a:pt x="5659639" y="1125513"/>
                </a:lnTo>
                <a:lnTo>
                  <a:pt x="5694575" y="1188360"/>
                </a:lnTo>
                <a:lnTo>
                  <a:pt x="5729511" y="1225113"/>
                </a:lnTo>
                <a:lnTo>
                  <a:pt x="5764447" y="1259480"/>
                </a:lnTo>
                <a:lnTo>
                  <a:pt x="5799383" y="1218590"/>
                </a:lnTo>
                <a:lnTo>
                  <a:pt x="5834319" y="1206021"/>
                </a:lnTo>
                <a:lnTo>
                  <a:pt x="5869255" y="1095124"/>
                </a:lnTo>
                <a:lnTo>
                  <a:pt x="5904191" y="1093851"/>
                </a:lnTo>
                <a:lnTo>
                  <a:pt x="5939127" y="1072372"/>
                </a:lnTo>
                <a:lnTo>
                  <a:pt x="5974063" y="1117240"/>
                </a:lnTo>
                <a:lnTo>
                  <a:pt x="6008999" y="1061075"/>
                </a:lnTo>
                <a:lnTo>
                  <a:pt x="6043935" y="1073326"/>
                </a:lnTo>
                <a:lnTo>
                  <a:pt x="6078871" y="1156539"/>
                </a:lnTo>
                <a:lnTo>
                  <a:pt x="6113807" y="1183587"/>
                </a:lnTo>
                <a:lnTo>
                  <a:pt x="6148743" y="1205066"/>
                </a:lnTo>
                <a:lnTo>
                  <a:pt x="6183679" y="1201406"/>
                </a:lnTo>
                <a:lnTo>
                  <a:pt x="6218615" y="1182791"/>
                </a:lnTo>
                <a:lnTo>
                  <a:pt x="6253551" y="1143969"/>
                </a:lnTo>
                <a:lnTo>
                  <a:pt x="6288487" y="1091942"/>
                </a:lnTo>
                <a:lnTo>
                  <a:pt x="6323423" y="1073804"/>
                </a:lnTo>
                <a:lnTo>
                  <a:pt x="6358359" y="1038323"/>
                </a:lnTo>
                <a:lnTo>
                  <a:pt x="6393295" y="1112785"/>
                </a:lnTo>
                <a:lnTo>
                  <a:pt x="6428232" y="1065053"/>
                </a:lnTo>
              </a:path>
            </a:pathLst>
          </a:custGeom>
          <a:noFill/>
          <a:ln w="2032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795528" y="2712646"/>
            <a:ext cx="6428232" cy="1163380"/>
          </a:xfrm>
          <a:custGeom>
            <a:avLst/>
            <a:gdLst/>
            <a:ahLst/>
            <a:cxnLst/>
            <a:rect l="l" t="t" r="r" b="b"/>
            <a:pathLst>
              <a:path w="6428232" h="1163380">
                <a:moveTo>
                  <a:pt x="0" y="362283"/>
                </a:moveTo>
                <a:lnTo>
                  <a:pt x="34936" y="182176"/>
                </a:lnTo>
                <a:lnTo>
                  <a:pt x="69872" y="205882"/>
                </a:lnTo>
                <a:lnTo>
                  <a:pt x="104808" y="240090"/>
                </a:lnTo>
                <a:lnTo>
                  <a:pt x="139744" y="263001"/>
                </a:lnTo>
                <a:lnTo>
                  <a:pt x="174680" y="157037"/>
                </a:lnTo>
                <a:lnTo>
                  <a:pt x="209616" y="120920"/>
                </a:lnTo>
                <a:lnTo>
                  <a:pt x="244552" y="267456"/>
                </a:lnTo>
                <a:lnTo>
                  <a:pt x="279488" y="200314"/>
                </a:lnTo>
                <a:lnTo>
                  <a:pt x="314424" y="250273"/>
                </a:lnTo>
                <a:lnTo>
                  <a:pt x="349360" y="358942"/>
                </a:lnTo>
                <a:lnTo>
                  <a:pt x="384296" y="316143"/>
                </a:lnTo>
                <a:lnTo>
                  <a:pt x="419232" y="0"/>
                </a:lnTo>
                <a:lnTo>
                  <a:pt x="454168" y="185994"/>
                </a:lnTo>
                <a:lnTo>
                  <a:pt x="489104" y="124739"/>
                </a:lnTo>
                <a:lnTo>
                  <a:pt x="524040" y="68097"/>
                </a:lnTo>
                <a:lnTo>
                  <a:pt x="558976" y="293390"/>
                </a:lnTo>
                <a:lnTo>
                  <a:pt x="593912" y="261410"/>
                </a:lnTo>
                <a:lnTo>
                  <a:pt x="628848" y="432131"/>
                </a:lnTo>
                <a:lnTo>
                  <a:pt x="663784" y="280344"/>
                </a:lnTo>
                <a:lnTo>
                  <a:pt x="698720" y="379307"/>
                </a:lnTo>
                <a:lnTo>
                  <a:pt x="733656" y="479862"/>
                </a:lnTo>
                <a:lnTo>
                  <a:pt x="768592" y="473657"/>
                </a:lnTo>
                <a:lnTo>
                  <a:pt x="803529" y="485431"/>
                </a:lnTo>
                <a:lnTo>
                  <a:pt x="838465" y="370716"/>
                </a:lnTo>
                <a:lnTo>
                  <a:pt x="873401" y="336985"/>
                </a:lnTo>
                <a:lnTo>
                  <a:pt x="908337" y="302619"/>
                </a:lnTo>
                <a:lnTo>
                  <a:pt x="943273" y="406196"/>
                </a:lnTo>
                <a:lnTo>
                  <a:pt x="978209" y="525685"/>
                </a:lnTo>
                <a:lnTo>
                  <a:pt x="1013145" y="616216"/>
                </a:lnTo>
                <a:lnTo>
                  <a:pt x="1048081" y="690677"/>
                </a:lnTo>
                <a:lnTo>
                  <a:pt x="1083017" y="696087"/>
                </a:lnTo>
                <a:lnTo>
                  <a:pt x="1117953" y="745409"/>
                </a:lnTo>
                <a:lnTo>
                  <a:pt x="1152889" y="830531"/>
                </a:lnTo>
                <a:lnTo>
                  <a:pt x="1187825" y="846601"/>
                </a:lnTo>
                <a:lnTo>
                  <a:pt x="1222761" y="948269"/>
                </a:lnTo>
                <a:lnTo>
                  <a:pt x="1257697" y="806983"/>
                </a:lnTo>
                <a:lnTo>
                  <a:pt x="1292633" y="711361"/>
                </a:lnTo>
                <a:lnTo>
                  <a:pt x="1327569" y="780094"/>
                </a:lnTo>
                <a:lnTo>
                  <a:pt x="1362505" y="793618"/>
                </a:lnTo>
                <a:lnTo>
                  <a:pt x="1397441" y="867125"/>
                </a:lnTo>
                <a:lnTo>
                  <a:pt x="1432377" y="845964"/>
                </a:lnTo>
                <a:lnTo>
                  <a:pt x="1467313" y="894810"/>
                </a:lnTo>
                <a:lnTo>
                  <a:pt x="1502249" y="864898"/>
                </a:lnTo>
                <a:lnTo>
                  <a:pt x="1537185" y="877785"/>
                </a:lnTo>
                <a:lnTo>
                  <a:pt x="1572121" y="898628"/>
                </a:lnTo>
                <a:lnTo>
                  <a:pt x="1607057" y="904833"/>
                </a:lnTo>
                <a:lnTo>
                  <a:pt x="1641994" y="997910"/>
                </a:lnTo>
                <a:lnTo>
                  <a:pt x="1676930" y="726794"/>
                </a:lnTo>
                <a:lnTo>
                  <a:pt x="1711866" y="666493"/>
                </a:lnTo>
                <a:lnTo>
                  <a:pt x="1746802" y="673812"/>
                </a:lnTo>
                <a:lnTo>
                  <a:pt x="1781738" y="699587"/>
                </a:lnTo>
                <a:lnTo>
                  <a:pt x="1816674" y="705156"/>
                </a:lnTo>
                <a:lnTo>
                  <a:pt x="1851610" y="725680"/>
                </a:lnTo>
                <a:lnTo>
                  <a:pt x="1886546" y="779935"/>
                </a:lnTo>
                <a:lnTo>
                  <a:pt x="1921482" y="883354"/>
                </a:lnTo>
                <a:lnTo>
                  <a:pt x="1956418" y="791073"/>
                </a:lnTo>
                <a:lnTo>
                  <a:pt x="1991354" y="831326"/>
                </a:lnTo>
                <a:lnTo>
                  <a:pt x="2026290" y="780254"/>
                </a:lnTo>
                <a:lnTo>
                  <a:pt x="2061226" y="827508"/>
                </a:lnTo>
                <a:lnTo>
                  <a:pt x="2096162" y="677790"/>
                </a:lnTo>
                <a:lnTo>
                  <a:pt x="2131098" y="644696"/>
                </a:lnTo>
                <a:lnTo>
                  <a:pt x="2166034" y="638172"/>
                </a:lnTo>
                <a:lnTo>
                  <a:pt x="2200970" y="743659"/>
                </a:lnTo>
                <a:lnTo>
                  <a:pt x="2235906" y="721703"/>
                </a:lnTo>
                <a:lnTo>
                  <a:pt x="2270842" y="692268"/>
                </a:lnTo>
                <a:lnTo>
                  <a:pt x="2305778" y="720271"/>
                </a:lnTo>
                <a:lnTo>
                  <a:pt x="2340714" y="816848"/>
                </a:lnTo>
                <a:lnTo>
                  <a:pt x="2375650" y="729499"/>
                </a:lnTo>
                <a:lnTo>
                  <a:pt x="2410587" y="786618"/>
                </a:lnTo>
                <a:lnTo>
                  <a:pt x="2445523" y="814302"/>
                </a:lnTo>
                <a:lnTo>
                  <a:pt x="2480459" y="876194"/>
                </a:lnTo>
                <a:lnTo>
                  <a:pt x="2515395" y="716293"/>
                </a:lnTo>
                <a:lnTo>
                  <a:pt x="2550331" y="658379"/>
                </a:lnTo>
                <a:lnTo>
                  <a:pt x="2585267" y="625285"/>
                </a:lnTo>
                <a:lnTo>
                  <a:pt x="2620203" y="631490"/>
                </a:lnTo>
                <a:lnTo>
                  <a:pt x="2655139" y="634990"/>
                </a:lnTo>
                <a:lnTo>
                  <a:pt x="2690075" y="595373"/>
                </a:lnTo>
                <a:lnTo>
                  <a:pt x="2725011" y="674607"/>
                </a:lnTo>
                <a:lnTo>
                  <a:pt x="2759947" y="694814"/>
                </a:lnTo>
                <a:lnTo>
                  <a:pt x="2794883" y="765457"/>
                </a:lnTo>
                <a:lnTo>
                  <a:pt x="2829819" y="742386"/>
                </a:lnTo>
                <a:lnTo>
                  <a:pt x="2864755" y="729499"/>
                </a:lnTo>
                <a:lnTo>
                  <a:pt x="2899691" y="855351"/>
                </a:lnTo>
                <a:lnTo>
                  <a:pt x="2934627" y="564029"/>
                </a:lnTo>
                <a:lnTo>
                  <a:pt x="2969563" y="556710"/>
                </a:lnTo>
                <a:lnTo>
                  <a:pt x="3004499" y="494341"/>
                </a:lnTo>
                <a:lnTo>
                  <a:pt x="3039435" y="622103"/>
                </a:lnTo>
                <a:lnTo>
                  <a:pt x="3074371" y="654083"/>
                </a:lnTo>
                <a:lnTo>
                  <a:pt x="3109307" y="632126"/>
                </a:lnTo>
                <a:lnTo>
                  <a:pt x="3144243" y="583758"/>
                </a:lnTo>
                <a:lnTo>
                  <a:pt x="3179179" y="745409"/>
                </a:lnTo>
                <a:lnTo>
                  <a:pt x="3214116" y="767366"/>
                </a:lnTo>
                <a:lnTo>
                  <a:pt x="3249052" y="796164"/>
                </a:lnTo>
                <a:lnTo>
                  <a:pt x="3283988" y="833713"/>
                </a:lnTo>
                <a:lnTo>
                  <a:pt x="3318924" y="837213"/>
                </a:lnTo>
                <a:lnTo>
                  <a:pt x="3353860" y="693541"/>
                </a:lnTo>
                <a:lnTo>
                  <a:pt x="3388796" y="616216"/>
                </a:lnTo>
                <a:lnTo>
                  <a:pt x="3423732" y="629262"/>
                </a:lnTo>
                <a:lnTo>
                  <a:pt x="3458668" y="654878"/>
                </a:lnTo>
                <a:lnTo>
                  <a:pt x="3493604" y="675085"/>
                </a:lnTo>
                <a:lnTo>
                  <a:pt x="3528540" y="739045"/>
                </a:lnTo>
                <a:lnTo>
                  <a:pt x="3563476" y="754001"/>
                </a:lnTo>
                <a:lnTo>
                  <a:pt x="3598412" y="824326"/>
                </a:lnTo>
                <a:lnTo>
                  <a:pt x="3633348" y="793459"/>
                </a:lnTo>
                <a:lnTo>
                  <a:pt x="3668284" y="891309"/>
                </a:lnTo>
                <a:lnTo>
                  <a:pt x="3703220" y="921380"/>
                </a:lnTo>
                <a:lnTo>
                  <a:pt x="3738156" y="909129"/>
                </a:lnTo>
                <a:lnTo>
                  <a:pt x="3773092" y="775162"/>
                </a:lnTo>
                <a:lnTo>
                  <a:pt x="3808028" y="793459"/>
                </a:lnTo>
                <a:lnTo>
                  <a:pt x="3842964" y="854556"/>
                </a:lnTo>
                <a:lnTo>
                  <a:pt x="3877900" y="1066007"/>
                </a:lnTo>
                <a:lnTo>
                  <a:pt x="3912836" y="959566"/>
                </a:lnTo>
                <a:lnTo>
                  <a:pt x="3947772" y="777231"/>
                </a:lnTo>
                <a:lnTo>
                  <a:pt x="3982708" y="731408"/>
                </a:lnTo>
                <a:lnTo>
                  <a:pt x="4017644" y="752728"/>
                </a:lnTo>
                <a:lnTo>
                  <a:pt x="4052581" y="695132"/>
                </a:lnTo>
                <a:lnTo>
                  <a:pt x="4087517" y="679540"/>
                </a:lnTo>
                <a:lnTo>
                  <a:pt x="4122453" y="764184"/>
                </a:lnTo>
                <a:lnTo>
                  <a:pt x="4157389" y="751296"/>
                </a:lnTo>
                <a:lnTo>
                  <a:pt x="4192325" y="718998"/>
                </a:lnTo>
                <a:lnTo>
                  <a:pt x="4227261" y="765139"/>
                </a:lnTo>
                <a:lnTo>
                  <a:pt x="4262197" y="677471"/>
                </a:lnTo>
                <a:lnTo>
                  <a:pt x="4297133" y="687972"/>
                </a:lnTo>
                <a:lnTo>
                  <a:pt x="4332069" y="637377"/>
                </a:lnTo>
                <a:lnTo>
                  <a:pt x="4367005" y="701815"/>
                </a:lnTo>
                <a:lnTo>
                  <a:pt x="4401941" y="761161"/>
                </a:lnTo>
                <a:lnTo>
                  <a:pt x="4436877" y="821303"/>
                </a:lnTo>
                <a:lnTo>
                  <a:pt x="4471813" y="835463"/>
                </a:lnTo>
                <a:lnTo>
                  <a:pt x="4506749" y="728544"/>
                </a:lnTo>
                <a:lnTo>
                  <a:pt x="4541685" y="669198"/>
                </a:lnTo>
                <a:lnTo>
                  <a:pt x="4576621" y="676835"/>
                </a:lnTo>
                <a:lnTo>
                  <a:pt x="4611557" y="496091"/>
                </a:lnTo>
                <a:lnTo>
                  <a:pt x="4646493" y="416061"/>
                </a:lnTo>
                <a:lnTo>
                  <a:pt x="4681429" y="472702"/>
                </a:lnTo>
                <a:lnTo>
                  <a:pt x="4716365" y="612875"/>
                </a:lnTo>
                <a:lnTo>
                  <a:pt x="4751301" y="541754"/>
                </a:lnTo>
                <a:lnTo>
                  <a:pt x="4786237" y="543982"/>
                </a:lnTo>
                <a:lnTo>
                  <a:pt x="4821174" y="577553"/>
                </a:lnTo>
                <a:lnTo>
                  <a:pt x="4856110" y="710247"/>
                </a:lnTo>
                <a:lnTo>
                  <a:pt x="4891046" y="726158"/>
                </a:lnTo>
                <a:lnTo>
                  <a:pt x="4925982" y="800937"/>
                </a:lnTo>
                <a:lnTo>
                  <a:pt x="4960918" y="759888"/>
                </a:lnTo>
                <a:lnTo>
                  <a:pt x="4995854" y="864420"/>
                </a:lnTo>
                <a:lnTo>
                  <a:pt x="5030790" y="633240"/>
                </a:lnTo>
                <a:lnTo>
                  <a:pt x="5065726" y="652810"/>
                </a:lnTo>
                <a:lnTo>
                  <a:pt x="5100662" y="673653"/>
                </a:lnTo>
                <a:lnTo>
                  <a:pt x="5135598" y="755115"/>
                </a:lnTo>
                <a:lnTo>
                  <a:pt x="5170534" y="700223"/>
                </a:lnTo>
                <a:lnTo>
                  <a:pt x="5205470" y="738886"/>
                </a:lnTo>
                <a:lnTo>
                  <a:pt x="5240406" y="827826"/>
                </a:lnTo>
                <a:lnTo>
                  <a:pt x="5275342" y="873649"/>
                </a:lnTo>
                <a:lnTo>
                  <a:pt x="5310278" y="918357"/>
                </a:lnTo>
                <a:lnTo>
                  <a:pt x="5345214" y="1047233"/>
                </a:lnTo>
                <a:lnTo>
                  <a:pt x="5380150" y="1116603"/>
                </a:lnTo>
                <a:lnTo>
                  <a:pt x="5415086" y="1163380"/>
                </a:lnTo>
                <a:lnTo>
                  <a:pt x="5450022" y="1027663"/>
                </a:lnTo>
                <a:lnTo>
                  <a:pt x="5484958" y="967680"/>
                </a:lnTo>
                <a:lnTo>
                  <a:pt x="5519894" y="945564"/>
                </a:lnTo>
                <a:lnTo>
                  <a:pt x="5554830" y="1044051"/>
                </a:lnTo>
                <a:lnTo>
                  <a:pt x="5589766" y="941587"/>
                </a:lnTo>
                <a:lnTo>
                  <a:pt x="5624703" y="956702"/>
                </a:lnTo>
                <a:lnTo>
                  <a:pt x="5659639" y="1059643"/>
                </a:lnTo>
                <a:lnTo>
                  <a:pt x="5694575" y="1023208"/>
                </a:lnTo>
                <a:lnTo>
                  <a:pt x="5729511" y="1107375"/>
                </a:lnTo>
                <a:lnTo>
                  <a:pt x="5764447" y="1126149"/>
                </a:lnTo>
                <a:lnTo>
                  <a:pt x="5799383" y="999660"/>
                </a:lnTo>
                <a:lnTo>
                  <a:pt x="5834319" y="996955"/>
                </a:lnTo>
                <a:lnTo>
                  <a:pt x="5869255" y="855033"/>
                </a:lnTo>
                <a:lnTo>
                  <a:pt x="5904191" y="772298"/>
                </a:lnTo>
                <a:lnTo>
                  <a:pt x="5939127" y="813507"/>
                </a:lnTo>
                <a:lnTo>
                  <a:pt x="5974063" y="791709"/>
                </a:lnTo>
                <a:lnTo>
                  <a:pt x="6008999" y="824962"/>
                </a:lnTo>
                <a:lnTo>
                  <a:pt x="6043935" y="872535"/>
                </a:lnTo>
                <a:lnTo>
                  <a:pt x="6078871" y="885741"/>
                </a:lnTo>
                <a:lnTo>
                  <a:pt x="6113807" y="1018912"/>
                </a:lnTo>
                <a:lnTo>
                  <a:pt x="6148743" y="953520"/>
                </a:lnTo>
                <a:lnTo>
                  <a:pt x="6183679" y="1010161"/>
                </a:lnTo>
                <a:lnTo>
                  <a:pt x="6218615" y="1030845"/>
                </a:lnTo>
                <a:lnTo>
                  <a:pt x="6253551" y="1004752"/>
                </a:lnTo>
                <a:lnTo>
                  <a:pt x="6288487" y="811597"/>
                </a:lnTo>
                <a:lnTo>
                  <a:pt x="6323423" y="763548"/>
                </a:lnTo>
                <a:lnTo>
                  <a:pt x="6358359" y="767366"/>
                </a:lnTo>
                <a:lnTo>
                  <a:pt x="6393295" y="969430"/>
                </a:lnTo>
                <a:lnTo>
                  <a:pt x="6428232" y="951929"/>
                </a:lnTo>
              </a:path>
            </a:pathLst>
          </a:custGeom>
          <a:noFill/>
          <a:ln w="20320">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7"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2011</a:t>
            </a:r>
          </a:p>
        </p:txBody>
      </p:sp>
      <p:sp>
        <p:nvSpPr>
          <p:cNvPr id="24" name="TextBox 23"/>
          <p:cNvSpPr txBox="1"/>
          <p:nvPr/>
        </p:nvSpPr>
        <p:spPr>
          <a:xfrm>
            <a:off x="2289578"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2015</a:t>
            </a:r>
          </a:p>
        </p:txBody>
      </p:sp>
      <p:sp>
        <p:nvSpPr>
          <p:cNvPr id="25" name="TextBox 24"/>
          <p:cNvSpPr txBox="1"/>
          <p:nvPr/>
        </p:nvSpPr>
        <p:spPr>
          <a:xfrm>
            <a:off x="3966508"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2019</a:t>
            </a:r>
          </a:p>
        </p:txBody>
      </p:sp>
      <p:sp>
        <p:nvSpPr>
          <p:cNvPr id="26" name="TextBox 25"/>
          <p:cNvSpPr txBox="1"/>
          <p:nvPr/>
        </p:nvSpPr>
        <p:spPr>
          <a:xfrm>
            <a:off x="5224205"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2022</a:t>
            </a:r>
          </a:p>
        </p:txBody>
      </p:sp>
      <p:sp>
        <p:nvSpPr>
          <p:cNvPr id="27" name="TextBox 26"/>
          <p:cNvSpPr txBox="1"/>
          <p:nvPr/>
        </p:nvSpPr>
        <p:spPr>
          <a:xfrm>
            <a:off x="6901135"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2026</a:t>
            </a:r>
          </a:p>
        </p:txBody>
      </p:sp>
      <p:sp>
        <p:nvSpPr>
          <p:cNvPr id="28" name="TextBox 27"/>
          <p:cNvSpPr txBox="1"/>
          <p:nvPr/>
        </p:nvSpPr>
        <p:spPr>
          <a:xfrm>
            <a:off x="429768" y="2537460"/>
            <a:ext cx="681228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Index, 2015 = 100 · monthly, 2011-01 → 2026-05</a:t>
            </a:r>
          </a:p>
        </p:txBody>
      </p:sp>
      <p:sp>
        <p:nvSpPr>
          <p:cNvPr id="29" name="Rectangle 28"/>
          <p:cNvSpPr/>
          <p:nvPr/>
        </p:nvSpPr>
        <p:spPr>
          <a:xfrm>
            <a:off x="7498079" y="2528316"/>
            <a:ext cx="4279392" cy="219887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7498079" y="2528316"/>
            <a:ext cx="50292" cy="219887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7717536" y="2674620"/>
            <a:ext cx="3950207"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The two windows say different things — both are true</a:t>
            </a:r>
          </a:p>
        </p:txBody>
      </p:sp>
      <p:sp>
        <p:nvSpPr>
          <p:cNvPr id="32" name="TextBox 31"/>
          <p:cNvSpPr txBox="1"/>
          <p:nvPr/>
        </p:nvSpPr>
        <p:spPr>
          <a:xfrm>
            <a:off x="7717536" y="2879090"/>
            <a:ext cx="3950207" cy="170180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Over twelve months pickup is flat at -0.4% and cars are down -8.3%. Over six months both are sharply up — pickup +12.5%, cars +6.0% — because the series bottomed in November and has climbed since.
So the fall has stopped; the level has not recovered. Pickup still sits -33.2 points below its own 2015 base against -12.2 for cars, and -50% off its 2012 peak. The gap between the two lines is recent: they sat on top of each other through 2013–2021 and separated only from 2022. Advance rates calibrated on pre-2022 behaviour are calibrated against a market that no longer exists.</a:t>
            </a:r>
          </a:p>
        </p:txBody>
      </p:sp>
      <p:sp>
        <p:nvSpPr>
          <p:cNvPr id="33" name="Rounded Rectangle 32"/>
          <p:cNvSpPr/>
          <p:nvPr/>
        </p:nvSpPr>
        <p:spPr>
          <a:xfrm>
            <a:off x="411480" y="4686300"/>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411480" y="4715560"/>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5" name="TextBox 34"/>
          <p:cNvSpPr txBox="1"/>
          <p:nvPr/>
        </p:nvSpPr>
        <p:spPr>
          <a:xfrm>
            <a:off x="1275385" y="4700016"/>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Bank of Thailand used-vehicle price index (EC_EI_040), 185 monthly observations; the 6- and 12-month moves are computed off the published monthly series. Both rebased so their own 2015 average = 100. The pickup series is confirmed pickup trucks (รถกระบะ), not heavy commercial — BoT’s 2019 Stat-Horizon methodology paper. Latest month preliminary.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10B · COLLATERAL SUPPLY</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Two vehicle markets, moving opposite ways.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DLT first registrations on AutoX’s own pickup definition — any pickup or PPV nameplate, in any registration class. Read on trailing windows rather than calendar years: the last six months say something the twelve-month figure hides.</a:t>
            </a:r>
          </a:p>
        </p:txBody>
      </p:sp>
      <p:graphicFrame>
        <p:nvGraphicFramePr>
          <p:cNvPr id="10" name="Table 9"/>
          <p:cNvGraphicFramePr>
            <a:graphicFrameLocks noGrp="1"/>
          </p:cNvGraphicFramePr>
          <p:nvPr/>
        </p:nvGraphicFramePr>
        <p:xfrm>
          <a:off x="411480" y="1679448"/>
          <a:ext cx="11365993" cy="987552"/>
        </p:xfrm>
        <a:graphic>
          <a:graphicData uri="http://schemas.openxmlformats.org/drawingml/2006/table">
            <a:tbl>
              <a:tblPr>
                <a:tableStyleId>{5C22544A-7EE6-4342-B048-85BDC9FD1C3A}</a:tableStyleId>
              </a:tblPr>
              <a:tblGrid>
                <a:gridCol w="2383192"/>
                <a:gridCol w="1924886"/>
                <a:gridCol w="1466580"/>
                <a:gridCol w="1924886"/>
                <a:gridCol w="1466580"/>
                <a:gridCol w="2199869"/>
              </a:tblGrid>
              <a:tr h="329184">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12m YoY</a:t>
                      </a:r>
                    </a:p>
                  </a:txBody>
                  <a:tcPr marL="54864" marR="54864" marT="18288" marB="18288" anchor="ctr">
                    <a:solidFill>
                      <a:srgbClr val="1B2A6B"/>
                    </a:solidFill>
                  </a:tcPr>
                </a:tc>
                <a:tc>
                  <a:txBody>
                    <a:bodyPr wrap="square"/>
                    <a:lstStyle/>
                    <a:p>
                      <a:pPr algn="r"/>
                      <a:r>
                        <a:rPr sz="1050" b="1">
                          <a:solidFill>
                            <a:srgbClr val="FFFFFF"/>
                          </a:solidFill>
                          <a:latin typeface="Kanit"/>
                        </a:rPr>
                        <a:t>6-month units †</a:t>
                      </a:r>
                    </a:p>
                  </a:txBody>
                  <a:tcPr marL="54864" marR="54864" marT="18288" marB="18288" anchor="ctr">
                    <a:solidFill>
                      <a:srgbClr val="1B2A6B"/>
                    </a:solidFill>
                  </a:tcPr>
                </a:tc>
                <a:tc>
                  <a:txBody>
                    <a:bodyPr wrap="square"/>
                    <a:lstStyle/>
                    <a:p>
                      <a:pPr algn="r"/>
                      <a:r>
                        <a:rPr sz="1050" b="1">
                          <a:solidFill>
                            <a:srgbClr val="FFFFFF"/>
                          </a:solidFill>
                          <a:latin typeface="Kanit"/>
                        </a:rPr>
                        <a:t>6m YoY †</a:t>
                      </a:r>
                    </a:p>
                  </a:txBody>
                  <a:tcPr marL="54864" marR="54864" marT="18288" marB="18288" anchor="ctr">
                    <a:solidFill>
                      <a:srgbClr val="1B2A6B"/>
                    </a:solidFill>
                  </a:tcPr>
                </a:tc>
                <a:tc>
                  <a:txBody>
                    <a:bodyPr wrap="square"/>
                    <a:lstStyle/>
                    <a:p>
                      <a:pPr algn="r"/>
                      <a:r>
                        <a:rPr sz="1050" b="1">
                          <a:solidFill>
                            <a:srgbClr val="FFFFFF"/>
                          </a:solidFill>
                          <a:latin typeface="Kanit"/>
                        </a:rPr>
                        <a:t>6m trend ex-flagged, units/mo</a:t>
                      </a:r>
                    </a:p>
                  </a:txBody>
                  <a:tcPr marL="54864" marR="54864" marT="18288" marB="18288" anchor="ctr">
                    <a:solidFill>
                      <a:srgbClr val="1B2A6B"/>
                    </a:solidFill>
                  </a:tcPr>
                </a:tc>
              </a:tr>
              <a:tr h="329184">
                <a:tc>
                  <a:txBody>
                    <a:bodyPr wrap="square"/>
                    <a:lstStyle/>
                    <a:p>
                      <a:pPr algn="l"/>
                      <a:r>
                        <a:rPr sz="1100" b="1">
                          <a:solidFill>
                            <a:srgbClr val="1E2F5C"/>
                          </a:solidFill>
                          <a:latin typeface="Kanit"/>
                        </a:rPr>
                        <a:t>Pickup + PPV</a:t>
                      </a:r>
                    </a:p>
                  </a:txBody>
                  <a:tcPr marL="54864" marR="54864" marT="18288" marB="18288" anchor="ctr">
                    <a:solidFill>
                      <a:srgbClr val="FFFFFF"/>
                    </a:solidFill>
                  </a:tcPr>
                </a:tc>
                <a:tc>
                  <a:txBody>
                    <a:bodyPr wrap="square"/>
                    <a:lstStyle/>
                    <a:p>
                      <a:pPr algn="r"/>
                      <a:r>
                        <a:rPr sz="1100" b="0">
                          <a:solidFill>
                            <a:srgbClr val="1E2F5C"/>
                          </a:solidFill>
                          <a:latin typeface="Kanit"/>
                        </a:rPr>
                        <a:t>183,277</a:t>
                      </a:r>
                    </a:p>
                  </a:txBody>
                  <a:tcPr marL="54864" marR="54864" marT="18288" marB="18288" anchor="ctr">
                    <a:solidFill>
                      <a:srgbClr val="FFFFFF"/>
                    </a:solidFill>
                  </a:tcPr>
                </a:tc>
                <a:tc>
                  <a:txBody>
                    <a:bodyPr wrap="square"/>
                    <a:lstStyle/>
                    <a:p>
                      <a:pPr algn="r"/>
                      <a:r>
                        <a:rPr sz="1100" b="1">
                          <a:solidFill>
                            <a:srgbClr val="CC0000"/>
                          </a:solidFill>
                          <a:latin typeface="Kanit"/>
                        </a:rPr>
                        <a:t>-15.3%</a:t>
                      </a:r>
                    </a:p>
                  </a:txBody>
                  <a:tcPr marL="54864" marR="54864" marT="18288" marB="18288" anchor="ctr">
                    <a:solidFill>
                      <a:srgbClr val="FFFFFF"/>
                    </a:solidFill>
                  </a:tcPr>
                </a:tc>
                <a:tc>
                  <a:txBody>
                    <a:bodyPr wrap="square"/>
                    <a:lstStyle/>
                    <a:p>
                      <a:pPr algn="r"/>
                      <a:r>
                        <a:rPr sz="1100" b="0">
                          <a:solidFill>
                            <a:srgbClr val="1E2F5C"/>
                          </a:solidFill>
                          <a:latin typeface="Kanit"/>
                        </a:rPr>
                        <a:t>85,276</a:t>
                      </a:r>
                    </a:p>
                  </a:txBody>
                  <a:tcPr marL="54864" marR="54864" marT="18288" marB="18288" anchor="ctr">
                    <a:solidFill>
                      <a:srgbClr val="FFFFFF"/>
                    </a:solidFill>
                  </a:tcPr>
                </a:tc>
                <a:tc>
                  <a:txBody>
                    <a:bodyPr wrap="square"/>
                    <a:lstStyle/>
                    <a:p>
                      <a:pPr algn="r"/>
                      <a:r>
                        <a:rPr sz="1100" b="1">
                          <a:solidFill>
                            <a:srgbClr val="CC0000"/>
                          </a:solidFill>
                          <a:latin typeface="Kanit"/>
                        </a:rPr>
                        <a:t>-9.8%</a:t>
                      </a:r>
                    </a:p>
                  </a:txBody>
                  <a:tcPr marL="54864" marR="54864" marT="18288" marB="18288" anchor="ctr">
                    <a:solidFill>
                      <a:srgbClr val="FFFFFF"/>
                    </a:solidFill>
                  </a:tcPr>
                </a:tc>
                <a:tc>
                  <a:txBody>
                    <a:bodyPr wrap="square"/>
                    <a:lstStyle/>
                    <a:p>
                      <a:pPr algn="r"/>
                      <a:r>
                        <a:rPr sz="1100" b="1">
                          <a:solidFill>
                            <a:srgbClr val="CC0000"/>
                          </a:solidFill>
                          <a:latin typeface="Kanit"/>
                        </a:rPr>
                        <a:t>-986</a:t>
                      </a:r>
                    </a:p>
                  </a:txBody>
                  <a:tcPr marL="54864" marR="54864" marT="18288" marB="18288" anchor="ctr">
                    <a:solidFill>
                      <a:srgbClr val="FFFFFF"/>
                    </a:solidFill>
                  </a:tcPr>
                </a:tc>
              </a:tr>
              <a:tr h="329184">
                <a:tc>
                  <a:txBody>
                    <a:bodyPr wrap="square"/>
                    <a:lstStyle/>
                    <a:p>
                      <a:pPr algn="l"/>
                      <a:r>
                        <a:rPr sz="1100" b="1">
                          <a:solidFill>
                            <a:srgbClr val="1E2F5C"/>
                          </a:solidFill>
                          <a:latin typeface="Kanit"/>
                        </a:rPr>
                        <a:t>Passenger car</a:t>
                      </a:r>
                    </a:p>
                  </a:txBody>
                  <a:tcPr marL="54864" marR="54864" marT="18288" marB="18288" anchor="ctr">
                    <a:solidFill>
                      <a:srgbClr val="F7F9FC"/>
                    </a:solidFill>
                  </a:tcPr>
                </a:tc>
                <a:tc>
                  <a:txBody>
                    <a:bodyPr wrap="square"/>
                    <a:lstStyle/>
                    <a:p>
                      <a:pPr algn="r"/>
                      <a:r>
                        <a:rPr sz="1100" b="0">
                          <a:solidFill>
                            <a:srgbClr val="1E2F5C"/>
                          </a:solidFill>
                          <a:latin typeface="Kanit"/>
                        </a:rPr>
                        <a:t>443,641</a:t>
                      </a:r>
                    </a:p>
                  </a:txBody>
                  <a:tcPr marL="54864" marR="54864" marT="18288" marB="18288" anchor="ctr">
                    <a:solidFill>
                      <a:srgbClr val="F7F9FC"/>
                    </a:solidFill>
                  </a:tcPr>
                </a:tc>
                <a:tc>
                  <a:txBody>
                    <a:bodyPr wrap="square"/>
                    <a:lstStyle/>
                    <a:p>
                      <a:pPr algn="r"/>
                      <a:r>
                        <a:rPr sz="1100" b="1">
                          <a:solidFill>
                            <a:srgbClr val="15795F"/>
                          </a:solidFill>
                          <a:latin typeface="Kanit"/>
                        </a:rPr>
                        <a:t>+19.8%</a:t>
                      </a:r>
                    </a:p>
                  </a:txBody>
                  <a:tcPr marL="54864" marR="54864" marT="18288" marB="18288" anchor="ctr">
                    <a:solidFill>
                      <a:srgbClr val="F7F9FC"/>
                    </a:solidFill>
                  </a:tcPr>
                </a:tc>
                <a:tc>
                  <a:txBody>
                    <a:bodyPr wrap="square"/>
                    <a:lstStyle/>
                    <a:p>
                      <a:pPr algn="r"/>
                      <a:r>
                        <a:rPr sz="1100" b="0">
                          <a:solidFill>
                            <a:srgbClr val="1E2F5C"/>
                          </a:solidFill>
                          <a:latin typeface="Kanit"/>
                        </a:rPr>
                        <a:t>233,102</a:t>
                      </a:r>
                    </a:p>
                  </a:txBody>
                  <a:tcPr marL="54864" marR="54864" marT="18288" marB="18288" anchor="ctr">
                    <a:solidFill>
                      <a:srgbClr val="F7F9FC"/>
                    </a:solidFill>
                  </a:tcPr>
                </a:tc>
                <a:tc>
                  <a:txBody>
                    <a:bodyPr wrap="square"/>
                    <a:lstStyle/>
                    <a:p>
                      <a:pPr algn="r"/>
                      <a:r>
                        <a:rPr sz="1100" b="1">
                          <a:solidFill>
                            <a:srgbClr val="15795F"/>
                          </a:solidFill>
                          <a:latin typeface="Kanit"/>
                        </a:rPr>
                        <a:t>+34.3%</a:t>
                      </a:r>
                    </a:p>
                  </a:txBody>
                  <a:tcPr marL="54864" marR="54864" marT="18288" marB="18288" anchor="ctr">
                    <a:solidFill>
                      <a:srgbClr val="F7F9FC"/>
                    </a:solidFill>
                  </a:tcPr>
                </a:tc>
                <a:tc>
                  <a:txBody>
                    <a:bodyPr wrap="square"/>
                    <a:lstStyle/>
                    <a:p>
                      <a:pPr algn="r"/>
                      <a:r>
                        <a:rPr sz="1100" b="1">
                          <a:solidFill>
                            <a:srgbClr val="CC0000"/>
                          </a:solidFill>
                          <a:latin typeface="Kanit"/>
                        </a:rPr>
                        <a:t>-393</a:t>
                      </a:r>
                    </a:p>
                  </a:txBody>
                  <a:tcPr marL="54864" marR="54864" marT="18288" marB="18288" anchor="ctr">
                    <a:solidFill>
                      <a:srgbClr val="F7F9FC"/>
                    </a:solidFill>
                  </a:tcPr>
                </a:tc>
              </a:tr>
            </a:tbl>
          </a:graphicData>
        </a:graphic>
      </p:graphicFrame>
      <p:sp>
        <p:nvSpPr>
          <p:cNvPr id="11" name="TextBox 10"/>
          <p:cNvSpPr txBox="1"/>
          <p:nvPr/>
        </p:nvSpPr>
        <p:spPr>
          <a:xfrm>
            <a:off x="411480" y="2721864"/>
            <a:ext cx="11365992" cy="152400"/>
          </a:xfrm>
          <a:prstGeom prst="rect">
            <a:avLst/>
          </a:prstGeom>
          <a:noFill/>
        </p:spPr>
        <p:txBody>
          <a:bodyPr wrap="square" lIns="0" rIns="0" tIns="0" bIns="0" anchor="t">
            <a:noAutofit/>
          </a:bodyPr>
          <a:lstStyle/>
          <a:p>
            <a:pPr algn="l">
              <a:lnSpc>
                <a:spcPts val="1200"/>
              </a:lnSpc>
            </a:pPr>
            <a:r>
              <a:rPr sz="900" b="0">
                <a:solidFill>
                  <a:srgbClr val="606060"/>
                </a:solidFill>
                <a:latin typeface="Kanit"/>
              </a:rPr>
              <a:t>† the six-month window contains flagged months — 2025-12, 2026-01. The trend column strips the flagged January; the two YoY columns do not.</a:t>
            </a:r>
          </a:p>
        </p:txBody>
      </p:sp>
      <p:sp>
        <p:nvSpPr>
          <p:cNvPr id="12" name="TextBox 11"/>
          <p:cNvSpPr txBox="1"/>
          <p:nvPr/>
        </p:nvSpPr>
        <p:spPr>
          <a:xfrm>
            <a:off x="411480" y="302056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Pickup + PPV — registrations by month, 2025-08 → 2026-01</a:t>
            </a:r>
          </a:p>
        </p:txBody>
      </p:sp>
      <p:sp>
        <p:nvSpPr>
          <p:cNvPr id="13" name="Rectangle 12"/>
          <p:cNvSpPr/>
          <p:nvPr/>
        </p:nvSpPr>
        <p:spPr>
          <a:xfrm>
            <a:off x="411480" y="3221736"/>
            <a:ext cx="5568696" cy="128016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760415" y="3665552"/>
            <a:ext cx="458845" cy="580311"/>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548640" y="3482672"/>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14.9k</a:t>
            </a:r>
          </a:p>
        </p:txBody>
      </p:sp>
      <p:sp>
        <p:nvSpPr>
          <p:cNvPr id="16" name="TextBox 15"/>
          <p:cNvSpPr txBox="1"/>
          <p:nvPr/>
        </p:nvSpPr>
        <p:spPr>
          <a:xfrm>
            <a:off x="548640"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25-08</a:t>
            </a:r>
          </a:p>
        </p:txBody>
      </p:sp>
      <p:sp>
        <p:nvSpPr>
          <p:cNvPr id="17" name="Rectangle 16"/>
          <p:cNvSpPr/>
          <p:nvPr/>
        </p:nvSpPr>
        <p:spPr>
          <a:xfrm>
            <a:off x="1642811" y="3650162"/>
            <a:ext cx="458845" cy="595701"/>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31036" y="3467282"/>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15.3k</a:t>
            </a:r>
          </a:p>
        </p:txBody>
      </p:sp>
      <p:sp>
        <p:nvSpPr>
          <p:cNvPr id="19" name="TextBox 18"/>
          <p:cNvSpPr txBox="1"/>
          <p:nvPr/>
        </p:nvSpPr>
        <p:spPr>
          <a:xfrm>
            <a:off x="1431036"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25-09</a:t>
            </a:r>
          </a:p>
        </p:txBody>
      </p:sp>
      <p:sp>
        <p:nvSpPr>
          <p:cNvPr id="20" name="Rectangle 19"/>
          <p:cNvSpPr/>
          <p:nvPr/>
        </p:nvSpPr>
        <p:spPr>
          <a:xfrm>
            <a:off x="2525207" y="3729649"/>
            <a:ext cx="458845" cy="516214"/>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2313432" y="3546769"/>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13.2k</a:t>
            </a:r>
          </a:p>
        </p:txBody>
      </p:sp>
      <p:sp>
        <p:nvSpPr>
          <p:cNvPr id="22" name="TextBox 21"/>
          <p:cNvSpPr txBox="1"/>
          <p:nvPr/>
        </p:nvSpPr>
        <p:spPr>
          <a:xfrm>
            <a:off x="2313432"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25-10</a:t>
            </a:r>
          </a:p>
        </p:txBody>
      </p:sp>
      <p:sp>
        <p:nvSpPr>
          <p:cNvPr id="23" name="Rectangle 22"/>
          <p:cNvSpPr/>
          <p:nvPr/>
        </p:nvSpPr>
        <p:spPr>
          <a:xfrm>
            <a:off x="3407603" y="3766365"/>
            <a:ext cx="458845" cy="479498"/>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3195828" y="3583485"/>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12.3k</a:t>
            </a:r>
          </a:p>
        </p:txBody>
      </p:sp>
      <p:sp>
        <p:nvSpPr>
          <p:cNvPr id="25" name="TextBox 24"/>
          <p:cNvSpPr txBox="1"/>
          <p:nvPr/>
        </p:nvSpPr>
        <p:spPr>
          <a:xfrm>
            <a:off x="3195828"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25-11</a:t>
            </a:r>
          </a:p>
        </p:txBody>
      </p:sp>
      <p:sp>
        <p:nvSpPr>
          <p:cNvPr id="26" name="Rectangle 25"/>
          <p:cNvSpPr/>
          <p:nvPr/>
        </p:nvSpPr>
        <p:spPr>
          <a:xfrm>
            <a:off x="4289999" y="3799957"/>
            <a:ext cx="458845" cy="445906"/>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078224" y="3617077"/>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11.4k</a:t>
            </a:r>
          </a:p>
        </p:txBody>
      </p:sp>
      <p:sp>
        <p:nvSpPr>
          <p:cNvPr id="28" name="TextBox 27"/>
          <p:cNvSpPr txBox="1"/>
          <p:nvPr/>
        </p:nvSpPr>
        <p:spPr>
          <a:xfrm>
            <a:off x="4078224"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25-12</a:t>
            </a:r>
          </a:p>
        </p:txBody>
      </p:sp>
      <p:sp>
        <p:nvSpPr>
          <p:cNvPr id="29" name="Rectangle 28"/>
          <p:cNvSpPr/>
          <p:nvPr/>
        </p:nvSpPr>
        <p:spPr>
          <a:xfrm>
            <a:off x="5172395" y="3532632"/>
            <a:ext cx="458845" cy="71323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960620" y="3349752"/>
            <a:ext cx="882396" cy="150876"/>
          </a:xfrm>
          <a:prstGeom prst="rect">
            <a:avLst/>
          </a:prstGeom>
          <a:noFill/>
        </p:spPr>
        <p:txBody>
          <a:bodyPr wrap="square" lIns="0" rIns="0" tIns="0" bIns="0" anchor="t">
            <a:noAutofit/>
          </a:bodyPr>
          <a:lstStyle/>
          <a:p>
            <a:pPr algn="ctr">
              <a:lnSpc>
                <a:spcPts val="1188"/>
              </a:lnSpc>
            </a:pPr>
            <a:r>
              <a:rPr sz="900" b="1">
                <a:solidFill>
                  <a:srgbClr val="CC0000"/>
                </a:solidFill>
                <a:latin typeface="Kanit"/>
              </a:rPr>
              <a:t>18.3k</a:t>
            </a:r>
          </a:p>
        </p:txBody>
      </p:sp>
      <p:sp>
        <p:nvSpPr>
          <p:cNvPr id="31" name="TextBox 30"/>
          <p:cNvSpPr txBox="1"/>
          <p:nvPr/>
        </p:nvSpPr>
        <p:spPr>
          <a:xfrm>
            <a:off x="4960620"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26-01</a:t>
            </a:r>
          </a:p>
        </p:txBody>
      </p:sp>
      <p:sp>
        <p:nvSpPr>
          <p:cNvPr id="32" name="TextBox 31"/>
          <p:cNvSpPr txBox="1"/>
          <p:nvPr/>
        </p:nvSpPr>
        <p:spPr>
          <a:xfrm>
            <a:off x="6208776" y="302056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Passenger car — registrations by month, 2025-08 → 2026-01</a:t>
            </a:r>
          </a:p>
        </p:txBody>
      </p:sp>
      <p:sp>
        <p:nvSpPr>
          <p:cNvPr id="33" name="Rectangle 32"/>
          <p:cNvSpPr/>
          <p:nvPr/>
        </p:nvSpPr>
        <p:spPr>
          <a:xfrm>
            <a:off x="6208776" y="3221736"/>
            <a:ext cx="5568696" cy="128016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6557711" y="3930921"/>
            <a:ext cx="458845" cy="31494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6345936" y="3748041"/>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32.0k</a:t>
            </a:r>
          </a:p>
        </p:txBody>
      </p:sp>
      <p:sp>
        <p:nvSpPr>
          <p:cNvPr id="36" name="TextBox 35"/>
          <p:cNvSpPr txBox="1"/>
          <p:nvPr/>
        </p:nvSpPr>
        <p:spPr>
          <a:xfrm>
            <a:off x="6345936"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25-08</a:t>
            </a:r>
          </a:p>
        </p:txBody>
      </p:sp>
      <p:sp>
        <p:nvSpPr>
          <p:cNvPr id="37" name="Rectangle 36"/>
          <p:cNvSpPr/>
          <p:nvPr/>
        </p:nvSpPr>
        <p:spPr>
          <a:xfrm>
            <a:off x="7440107" y="3917989"/>
            <a:ext cx="458845" cy="327874"/>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7228332" y="3735109"/>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33.3k</a:t>
            </a:r>
          </a:p>
        </p:txBody>
      </p:sp>
      <p:sp>
        <p:nvSpPr>
          <p:cNvPr id="39" name="TextBox 38"/>
          <p:cNvSpPr txBox="1"/>
          <p:nvPr/>
        </p:nvSpPr>
        <p:spPr>
          <a:xfrm>
            <a:off x="7228332"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25-09</a:t>
            </a:r>
          </a:p>
        </p:txBody>
      </p:sp>
      <p:sp>
        <p:nvSpPr>
          <p:cNvPr id="40" name="Rectangle 39"/>
          <p:cNvSpPr/>
          <p:nvPr/>
        </p:nvSpPr>
        <p:spPr>
          <a:xfrm>
            <a:off x="8322503" y="3922900"/>
            <a:ext cx="458845" cy="322963"/>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8110728" y="3740020"/>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32.8k</a:t>
            </a:r>
          </a:p>
        </p:txBody>
      </p:sp>
      <p:sp>
        <p:nvSpPr>
          <p:cNvPr id="42" name="TextBox 41"/>
          <p:cNvSpPr txBox="1"/>
          <p:nvPr/>
        </p:nvSpPr>
        <p:spPr>
          <a:xfrm>
            <a:off x="8110728"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25-10</a:t>
            </a:r>
          </a:p>
        </p:txBody>
      </p:sp>
      <p:sp>
        <p:nvSpPr>
          <p:cNvPr id="43" name="Rectangle 42"/>
          <p:cNvSpPr/>
          <p:nvPr/>
        </p:nvSpPr>
        <p:spPr>
          <a:xfrm>
            <a:off x="9204899" y="3934867"/>
            <a:ext cx="458845" cy="310996"/>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4" name="TextBox 43"/>
          <p:cNvSpPr txBox="1"/>
          <p:nvPr/>
        </p:nvSpPr>
        <p:spPr>
          <a:xfrm>
            <a:off x="8993124" y="3751987"/>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31.6k</a:t>
            </a:r>
          </a:p>
        </p:txBody>
      </p:sp>
      <p:sp>
        <p:nvSpPr>
          <p:cNvPr id="45" name="TextBox 44"/>
          <p:cNvSpPr txBox="1"/>
          <p:nvPr/>
        </p:nvSpPr>
        <p:spPr>
          <a:xfrm>
            <a:off x="8993124"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25-11</a:t>
            </a:r>
          </a:p>
        </p:txBody>
      </p:sp>
      <p:sp>
        <p:nvSpPr>
          <p:cNvPr id="46" name="Rectangle 45"/>
          <p:cNvSpPr/>
          <p:nvPr/>
        </p:nvSpPr>
        <p:spPr>
          <a:xfrm>
            <a:off x="10087295" y="3941835"/>
            <a:ext cx="458845" cy="304028"/>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TextBox 46"/>
          <p:cNvSpPr txBox="1"/>
          <p:nvPr/>
        </p:nvSpPr>
        <p:spPr>
          <a:xfrm>
            <a:off x="9875520" y="3758955"/>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30.9k</a:t>
            </a:r>
          </a:p>
        </p:txBody>
      </p:sp>
      <p:sp>
        <p:nvSpPr>
          <p:cNvPr id="48" name="TextBox 47"/>
          <p:cNvSpPr txBox="1"/>
          <p:nvPr/>
        </p:nvSpPr>
        <p:spPr>
          <a:xfrm>
            <a:off x="9875520"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25-12</a:t>
            </a:r>
          </a:p>
        </p:txBody>
      </p:sp>
      <p:sp>
        <p:nvSpPr>
          <p:cNvPr id="49" name="Rectangle 48"/>
          <p:cNvSpPr/>
          <p:nvPr/>
        </p:nvSpPr>
        <p:spPr>
          <a:xfrm>
            <a:off x="10969691" y="3532632"/>
            <a:ext cx="458845" cy="713232"/>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0" name="TextBox 49"/>
          <p:cNvSpPr txBox="1"/>
          <p:nvPr/>
        </p:nvSpPr>
        <p:spPr>
          <a:xfrm>
            <a:off x="10757916" y="3349752"/>
            <a:ext cx="882396" cy="150876"/>
          </a:xfrm>
          <a:prstGeom prst="rect">
            <a:avLst/>
          </a:prstGeom>
          <a:noFill/>
        </p:spPr>
        <p:txBody>
          <a:bodyPr wrap="square" lIns="0" rIns="0" tIns="0" bIns="0" anchor="t">
            <a:noAutofit/>
          </a:bodyPr>
          <a:lstStyle/>
          <a:p>
            <a:pPr algn="ctr">
              <a:lnSpc>
                <a:spcPts val="1188"/>
              </a:lnSpc>
            </a:pPr>
            <a:r>
              <a:rPr sz="900" b="1">
                <a:solidFill>
                  <a:srgbClr val="1E2F5C"/>
                </a:solidFill>
                <a:latin typeface="Kanit"/>
              </a:rPr>
              <a:t>72.5k</a:t>
            </a:r>
          </a:p>
        </p:txBody>
      </p:sp>
      <p:sp>
        <p:nvSpPr>
          <p:cNvPr id="51" name="TextBox 50"/>
          <p:cNvSpPr txBox="1"/>
          <p:nvPr/>
        </p:nvSpPr>
        <p:spPr>
          <a:xfrm>
            <a:off x="10757916" y="4291584"/>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26-01</a:t>
            </a:r>
          </a:p>
        </p:txBody>
      </p:sp>
      <p:sp>
        <p:nvSpPr>
          <p:cNvPr id="52" name="Rectangle 51"/>
          <p:cNvSpPr/>
          <p:nvPr/>
        </p:nvSpPr>
        <p:spPr>
          <a:xfrm>
            <a:off x="411480" y="4684776"/>
            <a:ext cx="5568696" cy="134797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3" name="Rectangle 52"/>
          <p:cNvSpPr/>
          <p:nvPr/>
        </p:nvSpPr>
        <p:spPr>
          <a:xfrm>
            <a:off x="411480" y="4684776"/>
            <a:ext cx="50292" cy="134797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630936" y="4831080"/>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Why any “positive pickup trend” is an artifact</a:t>
            </a:r>
          </a:p>
        </p:txBody>
      </p:sp>
      <p:sp>
        <p:nvSpPr>
          <p:cNvPr id="55" name="TextBox 54"/>
          <p:cNvSpPr txBox="1"/>
          <p:nvPr/>
        </p:nvSpPr>
        <p:spPr>
          <a:xfrm>
            <a:off x="630936" y="5035549"/>
            <a:ext cx="5239512" cy="85090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Look at the left chart. Five months fall steadily — 14.9k, 15.3k, 13.2k, 12.3k, 11.4k — then January jumps to 18.3k. Fit a line through all six and that one bar drags the slope to +131 a month, which reads as a recovery. Fit it through the five months before January and it is -986 a month. January is a flagged month, not demand: registrations pulled forward before an incentive deadline. Pickups are still falling at roughly a thousand units a month.</a:t>
            </a:r>
          </a:p>
        </p:txBody>
      </p:sp>
      <p:sp>
        <p:nvSpPr>
          <p:cNvPr id="56" name="Rectangle 55"/>
          <p:cNvSpPr/>
          <p:nvPr/>
        </p:nvSpPr>
        <p:spPr>
          <a:xfrm>
            <a:off x="6208776" y="4684776"/>
            <a:ext cx="5568696" cy="117779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Rectangle 56"/>
          <p:cNvSpPr/>
          <p:nvPr/>
        </p:nvSpPr>
        <p:spPr>
          <a:xfrm>
            <a:off x="6208776" y="4684776"/>
            <a:ext cx="50292" cy="117779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8" name="TextBox 57"/>
          <p:cNvSpPr txBox="1"/>
          <p:nvPr/>
        </p:nvSpPr>
        <p:spPr>
          <a:xfrm>
            <a:off x="6428232" y="4831080"/>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Two thirds of the car boom is one month</a:t>
            </a:r>
          </a:p>
        </p:txBody>
      </p:sp>
      <p:sp>
        <p:nvSpPr>
          <p:cNvPr id="59" name="TextBox 58"/>
          <p:cNvSpPr txBox="1"/>
          <p:nvPr/>
        </p:nvSpPr>
        <p:spPr>
          <a:xfrm>
            <a:off x="6428232" y="5035549"/>
            <a:ext cx="5239512" cy="68072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January 2026 ran +54% in cars while motorcycles were flat — registrations pulled forward ahead of an incentive deadline, not demand appearing. Replace that month with the average of the other five and six-month growth falls from +34.3% to +11.0%. The twelve-month +19.8% is the safer number.</a:t>
            </a:r>
          </a:p>
        </p:txBody>
      </p:sp>
      <p:sp>
        <p:nvSpPr>
          <p:cNvPr id="60" name="Rounded Rectangle 59"/>
          <p:cNvSpPr/>
          <p:nvPr/>
        </p:nvSpPr>
        <p:spPr>
          <a:xfrm>
            <a:off x="411480" y="6179057"/>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1" name="TextBox 60"/>
          <p:cNvSpPr txBox="1"/>
          <p:nvPr/>
        </p:nvSpPr>
        <p:spPr>
          <a:xfrm>
            <a:off x="411480" y="6208318"/>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62" name="TextBox 61"/>
          <p:cNvSpPr txBox="1"/>
          <p:nvPr/>
        </p:nvSpPr>
        <p:spPr>
          <a:xfrm>
            <a:off x="1056955" y="6192773"/>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Registrations MEASURED — DLT gdcatalog first registrations, 48 months from 2022-01. A month under 20% of the median is a catalog stub and excluded; a month moving more than 40% YoY is flagged and kept, never dropped. The ex-January figures are our arithmetic on that measured series — ESTIMATED, a judgement about which month to trust.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10C · BRAND CONCENTRATION</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Two vehicle markets, and only one is holding its shape.</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2 pickup brands</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78.7%</a:t>
            </a:r>
          </a:p>
        </p:txBody>
      </p:sp>
      <p:sp>
        <p:nvSpPr>
          <p:cNvPr id="12" name="TextBox 11"/>
          <p:cNvSpPr txBox="1"/>
          <p:nvPr/>
        </p:nvSpPr>
        <p:spPr>
          <a:xfrm>
            <a:off x="548640"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TOYOTA + ISUZU · was 80.5% a year ago</a:t>
            </a:r>
          </a:p>
        </p:txBody>
      </p:sp>
      <p:sp>
        <p:nvSpPr>
          <p:cNvPr id="13" name="Rounded Rectangle 12"/>
          <p:cNvSpPr/>
          <p:nvPr/>
        </p:nvSpPr>
        <p:spPr>
          <a:xfrm>
            <a:off x="3287268"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2 car brands</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48.5%</a:t>
            </a:r>
          </a:p>
        </p:txBody>
      </p:sp>
      <p:sp>
        <p:nvSpPr>
          <p:cNvPr id="16" name="TextBox 15"/>
          <p:cNvSpPr txBox="1"/>
          <p:nvPr/>
        </p:nvSpPr>
        <p:spPr>
          <a:xfrm>
            <a:off x="3424428"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TOYOTA + HONDA · was 57.8% — 9.4 points gone in a year</a:t>
            </a:r>
          </a:p>
        </p:txBody>
      </p:sp>
      <p:sp>
        <p:nvSpPr>
          <p:cNvPr id="17" name="Rounded Rectangle 16"/>
          <p:cNvSpPr/>
          <p:nvPr/>
        </p:nvSpPr>
        <p:spPr>
          <a:xfrm>
            <a:off x="6163056"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Third PU brand</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10.8%</a:t>
            </a:r>
          </a:p>
        </p:txBody>
      </p:sp>
      <p:sp>
        <p:nvSpPr>
          <p:cNvPr id="20" name="TextBox 19"/>
          <p:cNvSpPr txBox="1"/>
          <p:nvPr/>
        </p:nvSpPr>
        <p:spPr>
          <a:xfrm>
            <a:off x="6300216"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FORD · the only challenger at scale · GWM next at 3.5%</a:t>
            </a:r>
          </a:p>
        </p:txBody>
      </p:sp>
      <p:sp>
        <p:nvSpPr>
          <p:cNvPr id="21" name="Rounded Rectangle 20"/>
          <p:cNvSpPr/>
          <p:nvPr/>
        </p:nvSpPr>
        <p:spPr>
          <a:xfrm>
            <a:off x="9038844"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New car brands</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26.8%</a:t>
            </a:r>
          </a:p>
        </p:txBody>
      </p:sp>
      <p:sp>
        <p:nvSpPr>
          <p:cNvPr id="24" name="TextBox 23"/>
          <p:cNvSpPr txBox="1"/>
          <p:nvPr/>
        </p:nvSpPr>
        <p:spPr>
          <a:xfrm>
            <a:off x="9176004"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BYD + MG + Jaecoo + AION + Deepal · a quarter of new cars, no Thai residual record</a:t>
            </a:r>
          </a:p>
        </p:txBody>
      </p:sp>
      <p:sp>
        <p:nvSpPr>
          <p:cNvPr id="25" name="TextBox 24"/>
          <p:cNvSpPr txBox="1"/>
          <p:nvPr/>
        </p:nvSpPr>
        <p:spPr>
          <a:xfrm>
            <a:off x="411480" y="239572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Pickup + PPV — 183,277 registered in 12 months</a:t>
            </a:r>
          </a:p>
        </p:txBody>
      </p:sp>
      <p:sp>
        <p:nvSpPr>
          <p:cNvPr id="26" name="TextBox 25"/>
          <p:cNvSpPr txBox="1"/>
          <p:nvPr/>
        </p:nvSpPr>
        <p:spPr>
          <a:xfrm>
            <a:off x="6208776" y="239572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Passenger car — 443,641 registered in 12 months</a:t>
            </a:r>
          </a:p>
        </p:txBody>
      </p:sp>
      <p:graphicFrame>
        <p:nvGraphicFramePr>
          <p:cNvPr id="27" name="Table 26"/>
          <p:cNvGraphicFramePr>
            <a:graphicFrameLocks noGrp="1"/>
          </p:cNvGraphicFramePr>
          <p:nvPr/>
        </p:nvGraphicFramePr>
        <p:xfrm>
          <a:off x="411480" y="2615184"/>
          <a:ext cx="5568696" cy="2289656"/>
        </p:xfrm>
        <a:graphic>
          <a:graphicData uri="http://schemas.openxmlformats.org/drawingml/2006/table">
            <a:tbl>
              <a:tblPr>
                <a:tableStyleId>{5C22544A-7EE6-4342-B048-85BDC9FD1C3A}</a:tableStyleId>
              </a:tblPr>
              <a:tblGrid>
                <a:gridCol w="2011680"/>
                <a:gridCol w="1371600"/>
                <a:gridCol w="1463040"/>
                <a:gridCol w="722376"/>
              </a:tblGrid>
              <a:tr h="329184">
                <a:tc>
                  <a:txBody>
                    <a:bodyPr wrap="square"/>
                    <a:lstStyle/>
                    <a:p>
                      <a:pPr algn="l"/>
                      <a:r>
                        <a:rPr sz="1050" b="1">
                          <a:solidFill>
                            <a:srgbClr val="FFFFFF"/>
                          </a:solidFill>
                          <a:latin typeface="Kanit"/>
                        </a:rPr>
                        <a:t>PU + PPV brand</a:t>
                      </a:r>
                    </a:p>
                  </a:txBody>
                  <a:tcPr marL="54864" marR="54864" marT="18288" marB="18288" anchor="ctr">
                    <a:solidFill>
                      <a:srgbClr val="1B2A6B"/>
                    </a:solidFill>
                  </a:tcPr>
                </a:tc>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share</a:t>
                      </a:r>
                    </a:p>
                  </a:txBody>
                  <a:tcPr marL="54864" marR="54864" marT="18288" marB="18288" anchor="ctr">
                    <a:solidFill>
                      <a:srgbClr val="1B2A6B"/>
                    </a:solidFill>
                  </a:tcPr>
                </a:tc>
              </a:tr>
              <a:tr h="245059">
                <a:tc>
                  <a:txBody>
                    <a:bodyPr wrap="square"/>
                    <a:lstStyle/>
                    <a:p>
                      <a:pPr algn="l"/>
                      <a:r>
                        <a:rPr sz="950" b="1">
                          <a:solidFill>
                            <a:srgbClr val="1E2F5C"/>
                          </a:solidFill>
                          <a:latin typeface="Kanit"/>
                        </a:rPr>
                        <a:t>TOYOTA</a:t>
                      </a:r>
                    </a:p>
                  </a:txBody>
                  <a:tcPr marL="54864" marR="54864" marT="18288" marB="18288" anchor="ctr">
                    <a:solidFill>
                      <a:srgbClr val="FFFFFF"/>
                    </a:solidFill>
                  </a:tcPr>
                </a:tc>
                <a:tc>
                  <a:txBody>
                    <a:bodyPr wrap="square"/>
                    <a:lstStyle/>
                    <a:p>
                      <a:pPr algn="l"/>
                      <a:r>
                        <a:rPr sz="950" b="0">
                          <a:solidFill>
                            <a:srgbClr val="606060"/>
                          </a:solidFill>
                          <a:latin typeface="Kanit"/>
                        </a:rPr>
                        <a:t>incumbent</a:t>
                      </a:r>
                    </a:p>
                  </a:txBody>
                  <a:tcPr marL="54864" marR="54864" marT="18288" marB="18288" anchor="ctr">
                    <a:solidFill>
                      <a:srgbClr val="FFFFFF"/>
                    </a:solidFill>
                  </a:tcPr>
                </a:tc>
                <a:tc>
                  <a:txBody>
                    <a:bodyPr wrap="square"/>
                    <a:lstStyle/>
                    <a:p>
                      <a:pPr algn="r"/>
                      <a:r>
                        <a:rPr sz="950" b="0">
                          <a:solidFill>
                            <a:srgbClr val="1E2F5C"/>
                          </a:solidFill>
                          <a:latin typeface="Kanit"/>
                        </a:rPr>
                        <a:t>82,838</a:t>
                      </a:r>
                    </a:p>
                  </a:txBody>
                  <a:tcPr marL="54864" marR="54864" marT="18288" marB="18288" anchor="ctr">
                    <a:solidFill>
                      <a:srgbClr val="FFFFFF"/>
                    </a:solidFill>
                  </a:tcPr>
                </a:tc>
                <a:tc>
                  <a:txBody>
                    <a:bodyPr wrap="square"/>
                    <a:lstStyle/>
                    <a:p>
                      <a:pPr algn="r"/>
                      <a:r>
                        <a:rPr sz="950" b="1">
                          <a:solidFill>
                            <a:srgbClr val="1E2F5C"/>
                          </a:solidFill>
                          <a:latin typeface="Kanit"/>
                        </a:rPr>
                        <a:t>45.20%</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ISUZU</a:t>
                      </a:r>
                    </a:p>
                  </a:txBody>
                  <a:tcPr marL="54864" marR="54864" marT="18288" marB="18288" anchor="ctr">
                    <a:solidFill>
                      <a:srgbClr val="F7F9FC"/>
                    </a:solidFill>
                  </a:tcPr>
                </a:tc>
                <a:tc>
                  <a:txBody>
                    <a:bodyPr wrap="square"/>
                    <a:lstStyle/>
                    <a:p>
                      <a:pPr algn="l"/>
                      <a:r>
                        <a:rPr sz="950" b="0">
                          <a:solidFill>
                            <a:srgbClr val="606060"/>
                          </a:solidFill>
                          <a:latin typeface="Kanit"/>
                        </a:rPr>
                        <a:t>incumbent</a:t>
                      </a:r>
                    </a:p>
                  </a:txBody>
                  <a:tcPr marL="54864" marR="54864" marT="18288" marB="18288" anchor="ctr">
                    <a:solidFill>
                      <a:srgbClr val="F7F9FC"/>
                    </a:solidFill>
                  </a:tcPr>
                </a:tc>
                <a:tc>
                  <a:txBody>
                    <a:bodyPr wrap="square"/>
                    <a:lstStyle/>
                    <a:p>
                      <a:pPr algn="r"/>
                      <a:r>
                        <a:rPr sz="950" b="0">
                          <a:solidFill>
                            <a:srgbClr val="1E2F5C"/>
                          </a:solidFill>
                          <a:latin typeface="Kanit"/>
                        </a:rPr>
                        <a:t>61,342</a:t>
                      </a:r>
                    </a:p>
                  </a:txBody>
                  <a:tcPr marL="54864" marR="54864" marT="18288" marB="18288" anchor="ctr">
                    <a:solidFill>
                      <a:srgbClr val="F7F9FC"/>
                    </a:solidFill>
                  </a:tcPr>
                </a:tc>
                <a:tc>
                  <a:txBody>
                    <a:bodyPr wrap="square"/>
                    <a:lstStyle/>
                    <a:p>
                      <a:pPr algn="r"/>
                      <a:r>
                        <a:rPr sz="950" b="1">
                          <a:solidFill>
                            <a:srgbClr val="1E2F5C"/>
                          </a:solidFill>
                          <a:latin typeface="Kanit"/>
                        </a:rPr>
                        <a:t>33.47%</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FORD</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19,884</a:t>
                      </a:r>
                    </a:p>
                  </a:txBody>
                  <a:tcPr marL="54864" marR="54864" marT="18288" marB="18288" anchor="ctr">
                    <a:solidFill>
                      <a:srgbClr val="FFFFFF"/>
                    </a:solidFill>
                  </a:tcPr>
                </a:tc>
                <a:tc>
                  <a:txBody>
                    <a:bodyPr wrap="square"/>
                    <a:lstStyle/>
                    <a:p>
                      <a:pPr algn="r"/>
                      <a:r>
                        <a:rPr sz="950" b="1">
                          <a:solidFill>
                            <a:srgbClr val="CC0000"/>
                          </a:solidFill>
                          <a:latin typeface="Kanit"/>
                        </a:rPr>
                        <a:t>10.85%</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MITSUBISHI</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9,777</a:t>
                      </a:r>
                    </a:p>
                  </a:txBody>
                  <a:tcPr marL="54864" marR="54864" marT="18288" marB="18288" anchor="ctr">
                    <a:solidFill>
                      <a:srgbClr val="F7F9FC"/>
                    </a:solidFill>
                  </a:tcPr>
                </a:tc>
                <a:tc>
                  <a:txBody>
                    <a:bodyPr wrap="square"/>
                    <a:lstStyle/>
                    <a:p>
                      <a:pPr algn="r"/>
                      <a:r>
                        <a:rPr sz="950" b="1">
                          <a:solidFill>
                            <a:srgbClr val="CC0000"/>
                          </a:solidFill>
                          <a:latin typeface="Kanit"/>
                        </a:rPr>
                        <a:t>5.33%</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GWM</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6,381</a:t>
                      </a:r>
                    </a:p>
                  </a:txBody>
                  <a:tcPr marL="54864" marR="54864" marT="18288" marB="18288" anchor="ctr">
                    <a:solidFill>
                      <a:srgbClr val="FFFFFF"/>
                    </a:solidFill>
                  </a:tcPr>
                </a:tc>
                <a:tc>
                  <a:txBody>
                    <a:bodyPr wrap="square"/>
                    <a:lstStyle/>
                    <a:p>
                      <a:pPr algn="r"/>
                      <a:r>
                        <a:rPr sz="950" b="1">
                          <a:solidFill>
                            <a:srgbClr val="CC0000"/>
                          </a:solidFill>
                          <a:latin typeface="Kanit"/>
                        </a:rPr>
                        <a:t>3.48%</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NISSAN</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2,174</a:t>
                      </a:r>
                    </a:p>
                  </a:txBody>
                  <a:tcPr marL="54864" marR="54864" marT="18288" marB="18288" anchor="ctr">
                    <a:solidFill>
                      <a:srgbClr val="F7F9FC"/>
                    </a:solidFill>
                  </a:tcPr>
                </a:tc>
                <a:tc>
                  <a:txBody>
                    <a:bodyPr wrap="square"/>
                    <a:lstStyle/>
                    <a:p>
                      <a:pPr algn="r"/>
                      <a:r>
                        <a:rPr sz="950" b="1">
                          <a:solidFill>
                            <a:srgbClr val="CC0000"/>
                          </a:solidFill>
                          <a:latin typeface="Kanit"/>
                        </a:rPr>
                        <a:t>1.19%</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MG</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725</a:t>
                      </a:r>
                    </a:p>
                  </a:txBody>
                  <a:tcPr marL="54864" marR="54864" marT="18288" marB="18288" anchor="ctr">
                    <a:solidFill>
                      <a:srgbClr val="FFFFFF"/>
                    </a:solidFill>
                  </a:tcPr>
                </a:tc>
                <a:tc>
                  <a:txBody>
                    <a:bodyPr wrap="square"/>
                    <a:lstStyle/>
                    <a:p>
                      <a:pPr algn="r"/>
                      <a:r>
                        <a:rPr sz="950" b="1">
                          <a:solidFill>
                            <a:srgbClr val="CC0000"/>
                          </a:solidFill>
                          <a:latin typeface="Kanit"/>
                        </a:rPr>
                        <a:t>0.40%</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MAZDA</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121</a:t>
                      </a:r>
                    </a:p>
                  </a:txBody>
                  <a:tcPr marL="54864" marR="54864" marT="18288" marB="18288" anchor="ctr">
                    <a:solidFill>
                      <a:srgbClr val="F7F9FC"/>
                    </a:solidFill>
                  </a:tcPr>
                </a:tc>
                <a:tc>
                  <a:txBody>
                    <a:bodyPr wrap="square"/>
                    <a:lstStyle/>
                    <a:p>
                      <a:pPr algn="r"/>
                      <a:r>
                        <a:rPr sz="950" b="1">
                          <a:solidFill>
                            <a:srgbClr val="CC0000"/>
                          </a:solidFill>
                          <a:latin typeface="Kanit"/>
                        </a:rPr>
                        <a:t>0.07%</a:t>
                      </a:r>
                    </a:p>
                  </a:txBody>
                  <a:tcPr marL="54864" marR="54864" marT="18288" marB="18288" anchor="ctr">
                    <a:solidFill>
                      <a:srgbClr val="F7F9FC"/>
                    </a:solidFill>
                  </a:tcPr>
                </a:tc>
              </a:tr>
            </a:tbl>
          </a:graphicData>
        </a:graphic>
      </p:graphicFrame>
      <p:graphicFrame>
        <p:nvGraphicFramePr>
          <p:cNvPr id="28" name="Table 27"/>
          <p:cNvGraphicFramePr>
            <a:graphicFrameLocks noGrp="1"/>
          </p:cNvGraphicFramePr>
          <p:nvPr/>
        </p:nvGraphicFramePr>
        <p:xfrm>
          <a:off x="6208776" y="2615184"/>
          <a:ext cx="5568696" cy="2289656"/>
        </p:xfrm>
        <a:graphic>
          <a:graphicData uri="http://schemas.openxmlformats.org/drawingml/2006/table">
            <a:tbl>
              <a:tblPr>
                <a:tableStyleId>{5C22544A-7EE6-4342-B048-85BDC9FD1C3A}</a:tableStyleId>
              </a:tblPr>
              <a:tblGrid>
                <a:gridCol w="2011680"/>
                <a:gridCol w="1371600"/>
                <a:gridCol w="1463040"/>
                <a:gridCol w="722376"/>
              </a:tblGrid>
              <a:tr h="329184">
                <a:tc>
                  <a:txBody>
                    <a:bodyPr wrap="square"/>
                    <a:lstStyle/>
                    <a:p>
                      <a:pPr algn="l"/>
                      <a:r>
                        <a:rPr sz="1050" b="1">
                          <a:solidFill>
                            <a:srgbClr val="FFFFFF"/>
                          </a:solidFill>
                          <a:latin typeface="Kanit"/>
                        </a:rPr>
                        <a:t>Car brand</a:t>
                      </a:r>
                    </a:p>
                  </a:txBody>
                  <a:tcPr marL="54864" marR="54864" marT="18288" marB="18288" anchor="ctr">
                    <a:solidFill>
                      <a:srgbClr val="1B2A6B"/>
                    </a:solidFill>
                  </a:tcPr>
                </a:tc>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share</a:t>
                      </a:r>
                    </a:p>
                  </a:txBody>
                  <a:tcPr marL="54864" marR="54864" marT="18288" marB="18288" anchor="ctr">
                    <a:solidFill>
                      <a:srgbClr val="1B2A6B"/>
                    </a:solidFill>
                  </a:tcPr>
                </a:tc>
              </a:tr>
              <a:tr h="245059">
                <a:tc>
                  <a:txBody>
                    <a:bodyPr wrap="square"/>
                    <a:lstStyle/>
                    <a:p>
                      <a:pPr algn="l"/>
                      <a:r>
                        <a:rPr sz="950" b="1">
                          <a:solidFill>
                            <a:srgbClr val="1E2F5C"/>
                          </a:solidFill>
                          <a:latin typeface="Kanit"/>
                        </a:rPr>
                        <a:t>TOYOTA</a:t>
                      </a:r>
                    </a:p>
                  </a:txBody>
                  <a:tcPr marL="54864" marR="54864" marT="18288" marB="18288" anchor="ctr">
                    <a:solidFill>
                      <a:srgbClr val="FFFFFF"/>
                    </a:solidFill>
                  </a:tcPr>
                </a:tc>
                <a:tc>
                  <a:txBody>
                    <a:bodyPr wrap="square"/>
                    <a:lstStyle/>
                    <a:p>
                      <a:pPr algn="l"/>
                      <a:r>
                        <a:rPr sz="950" b="0">
                          <a:solidFill>
                            <a:srgbClr val="606060"/>
                          </a:solidFill>
                          <a:latin typeface="Kanit"/>
                        </a:rPr>
                        <a:t>incumbent</a:t>
                      </a:r>
                    </a:p>
                  </a:txBody>
                  <a:tcPr marL="54864" marR="54864" marT="18288" marB="18288" anchor="ctr">
                    <a:solidFill>
                      <a:srgbClr val="FFFFFF"/>
                    </a:solidFill>
                  </a:tcPr>
                </a:tc>
                <a:tc>
                  <a:txBody>
                    <a:bodyPr wrap="square"/>
                    <a:lstStyle/>
                    <a:p>
                      <a:pPr algn="r"/>
                      <a:r>
                        <a:rPr sz="950" b="0">
                          <a:solidFill>
                            <a:srgbClr val="1E2F5C"/>
                          </a:solidFill>
                          <a:latin typeface="Kanit"/>
                        </a:rPr>
                        <a:t>142,799</a:t>
                      </a:r>
                    </a:p>
                  </a:txBody>
                  <a:tcPr marL="54864" marR="54864" marT="18288" marB="18288" anchor="ctr">
                    <a:solidFill>
                      <a:srgbClr val="FFFFFF"/>
                    </a:solidFill>
                  </a:tcPr>
                </a:tc>
                <a:tc>
                  <a:txBody>
                    <a:bodyPr wrap="square"/>
                    <a:lstStyle/>
                    <a:p>
                      <a:pPr algn="r"/>
                      <a:r>
                        <a:rPr sz="950" b="1">
                          <a:solidFill>
                            <a:srgbClr val="1E2F5C"/>
                          </a:solidFill>
                          <a:latin typeface="Kanit"/>
                        </a:rPr>
                        <a:t>32.19%</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HONDA</a:t>
                      </a:r>
                    </a:p>
                  </a:txBody>
                  <a:tcPr marL="54864" marR="54864" marT="18288" marB="18288" anchor="ctr">
                    <a:solidFill>
                      <a:srgbClr val="F7F9FC"/>
                    </a:solidFill>
                  </a:tcPr>
                </a:tc>
                <a:tc>
                  <a:txBody>
                    <a:bodyPr wrap="square"/>
                    <a:lstStyle/>
                    <a:p>
                      <a:pPr algn="l"/>
                      <a:r>
                        <a:rPr sz="950" b="0">
                          <a:solidFill>
                            <a:srgbClr val="606060"/>
                          </a:solidFill>
                          <a:latin typeface="Kanit"/>
                        </a:rPr>
                        <a:t>incumbent</a:t>
                      </a:r>
                    </a:p>
                  </a:txBody>
                  <a:tcPr marL="54864" marR="54864" marT="18288" marB="18288" anchor="ctr">
                    <a:solidFill>
                      <a:srgbClr val="F7F9FC"/>
                    </a:solidFill>
                  </a:tcPr>
                </a:tc>
                <a:tc>
                  <a:txBody>
                    <a:bodyPr wrap="square"/>
                    <a:lstStyle/>
                    <a:p>
                      <a:pPr algn="r"/>
                      <a:r>
                        <a:rPr sz="950" b="0">
                          <a:solidFill>
                            <a:srgbClr val="1E2F5C"/>
                          </a:solidFill>
                          <a:latin typeface="Kanit"/>
                        </a:rPr>
                        <a:t>72,171</a:t>
                      </a:r>
                    </a:p>
                  </a:txBody>
                  <a:tcPr marL="54864" marR="54864" marT="18288" marB="18288" anchor="ctr">
                    <a:solidFill>
                      <a:srgbClr val="F7F9FC"/>
                    </a:solidFill>
                  </a:tcPr>
                </a:tc>
                <a:tc>
                  <a:txBody>
                    <a:bodyPr wrap="square"/>
                    <a:lstStyle/>
                    <a:p>
                      <a:pPr algn="r"/>
                      <a:r>
                        <a:rPr sz="950" b="1">
                          <a:solidFill>
                            <a:srgbClr val="1E2F5C"/>
                          </a:solidFill>
                          <a:latin typeface="Kanit"/>
                        </a:rPr>
                        <a:t>16.27%</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BYD</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49,990</a:t>
                      </a:r>
                    </a:p>
                  </a:txBody>
                  <a:tcPr marL="54864" marR="54864" marT="18288" marB="18288" anchor="ctr">
                    <a:solidFill>
                      <a:srgbClr val="FFFFFF"/>
                    </a:solidFill>
                  </a:tcPr>
                </a:tc>
                <a:tc>
                  <a:txBody>
                    <a:bodyPr wrap="square"/>
                    <a:lstStyle/>
                    <a:p>
                      <a:pPr algn="r"/>
                      <a:r>
                        <a:rPr sz="950" b="1">
                          <a:solidFill>
                            <a:srgbClr val="CC0000"/>
                          </a:solidFill>
                          <a:latin typeface="Kanit"/>
                        </a:rPr>
                        <a:t>11.27%</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MG</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25,839</a:t>
                      </a:r>
                    </a:p>
                  </a:txBody>
                  <a:tcPr marL="54864" marR="54864" marT="18288" marB="18288" anchor="ctr">
                    <a:solidFill>
                      <a:srgbClr val="F7F9FC"/>
                    </a:solidFill>
                  </a:tcPr>
                </a:tc>
                <a:tc>
                  <a:txBody>
                    <a:bodyPr wrap="square"/>
                    <a:lstStyle/>
                    <a:p>
                      <a:pPr algn="r"/>
                      <a:r>
                        <a:rPr sz="950" b="1">
                          <a:solidFill>
                            <a:srgbClr val="CC0000"/>
                          </a:solidFill>
                          <a:latin typeface="Kanit"/>
                        </a:rPr>
                        <a:t>5.82%</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JAECOO</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16,905</a:t>
                      </a:r>
                    </a:p>
                  </a:txBody>
                  <a:tcPr marL="54864" marR="54864" marT="18288" marB="18288" anchor="ctr">
                    <a:solidFill>
                      <a:srgbClr val="FFFFFF"/>
                    </a:solidFill>
                  </a:tcPr>
                </a:tc>
                <a:tc>
                  <a:txBody>
                    <a:bodyPr wrap="square"/>
                    <a:lstStyle/>
                    <a:p>
                      <a:pPr algn="r"/>
                      <a:r>
                        <a:rPr sz="950" b="1">
                          <a:solidFill>
                            <a:srgbClr val="CC0000"/>
                          </a:solidFill>
                          <a:latin typeface="Kanit"/>
                        </a:rPr>
                        <a:t>3.81%</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MITSUBISHI</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16,253</a:t>
                      </a:r>
                    </a:p>
                  </a:txBody>
                  <a:tcPr marL="54864" marR="54864" marT="18288" marB="18288" anchor="ctr">
                    <a:solidFill>
                      <a:srgbClr val="F7F9FC"/>
                    </a:solidFill>
                  </a:tcPr>
                </a:tc>
                <a:tc>
                  <a:txBody>
                    <a:bodyPr wrap="square"/>
                    <a:lstStyle/>
                    <a:p>
                      <a:pPr algn="r"/>
                      <a:r>
                        <a:rPr sz="950" b="1">
                          <a:solidFill>
                            <a:srgbClr val="CC0000"/>
                          </a:solidFill>
                          <a:latin typeface="Kanit"/>
                        </a:rPr>
                        <a:t>3.66%</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AION</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15,378</a:t>
                      </a:r>
                    </a:p>
                  </a:txBody>
                  <a:tcPr marL="54864" marR="54864" marT="18288" marB="18288" anchor="ctr">
                    <a:solidFill>
                      <a:srgbClr val="FFFFFF"/>
                    </a:solidFill>
                  </a:tcPr>
                </a:tc>
                <a:tc>
                  <a:txBody>
                    <a:bodyPr wrap="square"/>
                    <a:lstStyle/>
                    <a:p>
                      <a:pPr algn="r"/>
                      <a:r>
                        <a:rPr sz="950" b="1">
                          <a:solidFill>
                            <a:srgbClr val="CC0000"/>
                          </a:solidFill>
                          <a:latin typeface="Kanit"/>
                        </a:rPr>
                        <a:t>3.47%</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DEEPAL</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10,628</a:t>
                      </a:r>
                    </a:p>
                  </a:txBody>
                  <a:tcPr marL="54864" marR="54864" marT="18288" marB="18288" anchor="ctr">
                    <a:solidFill>
                      <a:srgbClr val="F7F9FC"/>
                    </a:solidFill>
                  </a:tcPr>
                </a:tc>
                <a:tc>
                  <a:txBody>
                    <a:bodyPr wrap="square"/>
                    <a:lstStyle/>
                    <a:p>
                      <a:pPr algn="r"/>
                      <a:r>
                        <a:rPr sz="950" b="1">
                          <a:solidFill>
                            <a:srgbClr val="CC0000"/>
                          </a:solidFill>
                          <a:latin typeface="Kanit"/>
                        </a:rPr>
                        <a:t>2.40%</a:t>
                      </a:r>
                    </a:p>
                  </a:txBody>
                  <a:tcPr marL="54864" marR="54864" marT="18288" marB="18288" anchor="ctr">
                    <a:solidFill>
                      <a:srgbClr val="F7F9FC"/>
                    </a:solidFill>
                  </a:tcPr>
                </a:tc>
              </a:tr>
            </a:tbl>
          </a:graphicData>
        </a:graphic>
      </p:graphicFrame>
      <p:sp>
        <p:nvSpPr>
          <p:cNvPr id="29" name="Rounded Rectangle 28"/>
          <p:cNvSpPr/>
          <p:nvPr/>
        </p:nvSpPr>
        <p:spPr>
          <a:xfrm>
            <a:off x="411480" y="5051145"/>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11480" y="5080406"/>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1" name="TextBox 30"/>
          <p:cNvSpPr txBox="1"/>
          <p:nvPr/>
        </p:nvSpPr>
        <p:spPr>
          <a:xfrm>
            <a:off x="1275385" y="5064861"/>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DLT first registrations at nameplate grain, trailing 12 months, NATIONAL only — no province column exists. First registrations are the FUTURE collateral pool, not a stock of what is on the road, and not used-vehicle sales.</a:t>
            </a:r>
          </a:p>
        </p:txBody>
      </p:sp>
      <p:sp>
        <p:nvSpPr>
          <p:cNvPr id="32" name="Rectangle 31"/>
          <p:cNvSpPr/>
          <p:nvPr/>
        </p:nvSpPr>
        <p:spPr>
          <a:xfrm>
            <a:off x="411480" y="5524347"/>
            <a:ext cx="11365992" cy="134797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411480" y="5524347"/>
            <a:ext cx="50292" cy="134797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630936" y="5670651"/>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The two markets are moving in opposite directions, and that is the point</a:t>
            </a:r>
          </a:p>
        </p:txBody>
      </p:sp>
      <p:sp>
        <p:nvSpPr>
          <p:cNvPr id="35" name="TextBox 34"/>
          <p:cNvSpPr txBox="1"/>
          <p:nvPr/>
        </p:nvSpPr>
        <p:spPr>
          <a:xfrm>
            <a:off x="630936" y="5875121"/>
            <a:ext cx="11036808" cy="85090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Pickup stays concentrated: Toyota and Isuzu hold 78.7% of new pickups, down only 1.8 points in a year, and the nearest challenger is GWM at 3.5%. Every pickup nameplate of any size is shrinking — the only PU growth is a PPV, GWM’s Tank 300, from 650 units to 5,865. The pool gets smaller without much changing shape, so residual values there stay predictable.
Cars are the opposite: 9.4 points surrendered in one year, and 26.8% of new cars are now brands with little or no Thai residual record. Those vehicles age into the used pool over the next five years with no history to price them against.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10D · THE NAMEPLATES</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Five pickups are three quarters of the PU market. The biggest car is an eighth.</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42415"/>
          </a:xfrm>
          <a:prstGeom prst="roundRect">
            <a:avLst>
              <a:gd name="adj" fmla="val 7894"/>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5 PU nameplates</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78.0%</a:t>
            </a:r>
          </a:p>
        </p:txBody>
      </p:sp>
      <p:sp>
        <p:nvSpPr>
          <p:cNvPr id="12" name="TextBox 11"/>
          <p:cNvSpPr txBox="1"/>
          <p:nvPr/>
        </p:nvSpPr>
        <p:spPr>
          <a:xfrm>
            <a:off x="548640" y="1792224"/>
            <a:ext cx="2464308" cy="329183"/>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the 183,277 pickups and PPVs registered in 12 months</a:t>
            </a:r>
          </a:p>
        </p:txBody>
      </p:sp>
      <p:sp>
        <p:nvSpPr>
          <p:cNvPr id="13" name="Rounded Rectangle 12"/>
          <p:cNvSpPr/>
          <p:nvPr/>
        </p:nvSpPr>
        <p:spPr>
          <a:xfrm>
            <a:off x="3287268" y="1152144"/>
            <a:ext cx="2738628" cy="1042415"/>
          </a:xfrm>
          <a:prstGeom prst="roundRect">
            <a:avLst>
              <a:gd name="adj" fmla="val 7894"/>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5 PA nameplates</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32.5%</a:t>
            </a:r>
          </a:p>
        </p:txBody>
      </p:sp>
      <p:sp>
        <p:nvSpPr>
          <p:cNvPr id="16" name="TextBox 15"/>
          <p:cNvSpPr txBox="1"/>
          <p:nvPr/>
        </p:nvSpPr>
        <p:spPr>
          <a:xfrm>
            <a:off x="3424428" y="1792224"/>
            <a:ext cx="2464308" cy="329183"/>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the 443,641 cars — the same five-model test, less than half the answer</a:t>
            </a:r>
          </a:p>
        </p:txBody>
      </p:sp>
      <p:sp>
        <p:nvSpPr>
          <p:cNvPr id="17" name="Rounded Rectangle 16"/>
          <p:cNvSpPr/>
          <p:nvPr/>
        </p:nvSpPr>
        <p:spPr>
          <a:xfrm>
            <a:off x="6163056" y="1152144"/>
            <a:ext cx="2738628" cy="1042415"/>
          </a:xfrm>
          <a:prstGeom prst="roundRect">
            <a:avLst>
              <a:gd name="adj" fmla="val 7894"/>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Biggest PU nameplate</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31.3%</a:t>
            </a:r>
          </a:p>
        </p:txBody>
      </p:sp>
      <p:sp>
        <p:nvSpPr>
          <p:cNvPr id="20" name="TextBox 19"/>
          <p:cNvSpPr txBox="1"/>
          <p:nvPr/>
        </p:nvSpPr>
        <p:spPr>
          <a:xfrm>
            <a:off x="6300216" y="1792224"/>
            <a:ext cx="2464308" cy="329183"/>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HILUX REVO · 57,445 units · -21.5% YoY</a:t>
            </a:r>
          </a:p>
        </p:txBody>
      </p:sp>
      <p:sp>
        <p:nvSpPr>
          <p:cNvPr id="21" name="Rounded Rectangle 20"/>
          <p:cNvSpPr/>
          <p:nvPr/>
        </p:nvSpPr>
        <p:spPr>
          <a:xfrm>
            <a:off x="9038844" y="1152144"/>
            <a:ext cx="2738628" cy="1042415"/>
          </a:xfrm>
          <a:prstGeom prst="roundRect">
            <a:avLst>
              <a:gd name="adj" fmla="val 7894"/>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Biggest PA nameplate</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12.5%</a:t>
            </a:r>
          </a:p>
        </p:txBody>
      </p:sp>
      <p:sp>
        <p:nvSpPr>
          <p:cNvPr id="24" name="TextBox 23"/>
          <p:cNvSpPr txBox="1"/>
          <p:nvPr/>
        </p:nvSpPr>
        <p:spPr>
          <a:xfrm>
            <a:off x="9176004" y="1792224"/>
            <a:ext cx="2464308" cy="329183"/>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TOYOTA YARIS ATIV · 55,544 units · +18.3% YoY</a:t>
            </a:r>
          </a:p>
        </p:txBody>
      </p:sp>
      <p:sp>
        <p:nvSpPr>
          <p:cNvPr id="25" name="TextBox 24"/>
          <p:cNvSpPr txBox="1"/>
          <p:nvPr/>
        </p:nvSpPr>
        <p:spPr>
          <a:xfrm>
            <a:off x="411480" y="2377439"/>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PU nameplates — share of the 183,277-unit pickup + PPV market</a:t>
            </a:r>
          </a:p>
        </p:txBody>
      </p:sp>
      <p:sp>
        <p:nvSpPr>
          <p:cNvPr id="26" name="TextBox 25"/>
          <p:cNvSpPr txBox="1"/>
          <p:nvPr/>
        </p:nvSpPr>
        <p:spPr>
          <a:xfrm>
            <a:off x="6208776" y="2377439"/>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PA nameplates — share of the 443,641-unit car market</a:t>
            </a:r>
          </a:p>
        </p:txBody>
      </p:sp>
      <p:graphicFrame>
        <p:nvGraphicFramePr>
          <p:cNvPr id="27" name="Table 26"/>
          <p:cNvGraphicFramePr>
            <a:graphicFrameLocks noGrp="1"/>
          </p:cNvGraphicFramePr>
          <p:nvPr/>
        </p:nvGraphicFramePr>
        <p:xfrm>
          <a:off x="411480" y="2596896"/>
          <a:ext cx="5568696" cy="2216504"/>
        </p:xfrm>
        <a:graphic>
          <a:graphicData uri="http://schemas.openxmlformats.org/drawingml/2006/table">
            <a:tbl>
              <a:tblPr>
                <a:tableStyleId>{5C22544A-7EE6-4342-B048-85BDC9FD1C3A}</a:tableStyleId>
              </a:tblPr>
              <a:tblGrid>
                <a:gridCol w="1874520"/>
                <a:gridCol w="548640"/>
                <a:gridCol w="1234440"/>
                <a:gridCol w="1143000"/>
                <a:gridCol w="768096"/>
              </a:tblGrid>
              <a:tr h="329184">
                <a:tc>
                  <a:txBody>
                    <a:bodyPr wrap="square"/>
                    <a:lstStyle/>
                    <a:p>
                      <a:pPr algn="l"/>
                      <a:r>
                        <a:rPr sz="1050" b="1">
                          <a:solidFill>
                            <a:srgbClr val="FFFFFF"/>
                          </a:solidFill>
                          <a:latin typeface="Kanit"/>
                        </a:rPr>
                        <a:t>PU nameplate</a:t>
                      </a:r>
                    </a:p>
                  </a:txBody>
                  <a:tcPr marL="54864" marR="54864" marT="18288" marB="18288" anchor="ctr">
                    <a:solidFill>
                      <a:srgbClr val="1B2A6B"/>
                    </a:solidFill>
                  </a:tcPr>
                </a:tc>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share of PU</a:t>
                      </a:r>
                    </a:p>
                  </a:txBody>
                  <a:tcPr marL="54864" marR="54864" marT="18288" marB="18288" anchor="ctr">
                    <a:solidFill>
                      <a:srgbClr val="1B2A6B"/>
                    </a:solidFill>
                  </a:tcPr>
                </a:tc>
                <a:tc>
                  <a:txBody>
                    <a:bodyPr wrap="square"/>
                    <a:lstStyle/>
                    <a:p>
                      <a:pPr algn="r"/>
                      <a:r>
                        <a:rPr sz="1050" b="1">
                          <a:solidFill>
                            <a:srgbClr val="FFFFFF"/>
                          </a:solidFill>
                          <a:latin typeface="Kanit"/>
                        </a:rPr>
                        <a:t>YoY</a:t>
                      </a:r>
                    </a:p>
                  </a:txBody>
                  <a:tcPr marL="54864" marR="54864" marT="18288" marB="18288" anchor="ctr">
                    <a:solidFill>
                      <a:srgbClr val="1B2A6B"/>
                    </a:solidFill>
                  </a:tcPr>
                </a:tc>
              </a:tr>
              <a:tr h="235915">
                <a:tc>
                  <a:txBody>
                    <a:bodyPr wrap="square"/>
                    <a:lstStyle/>
                    <a:p>
                      <a:pPr algn="l"/>
                      <a:r>
                        <a:rPr sz="900" b="1">
                          <a:solidFill>
                            <a:srgbClr val="1E2F5C"/>
                          </a:solidFill>
                          <a:latin typeface="Kanit"/>
                        </a:rPr>
                        <a:t>HILUX REVO</a:t>
                      </a:r>
                    </a:p>
                  </a:txBody>
                  <a:tcPr marL="54864" marR="54864" marT="18288" marB="18288" anchor="ctr">
                    <a:solidFill>
                      <a:srgbClr val="FFFFFF"/>
                    </a:solidFill>
                  </a:tcPr>
                </a:tc>
                <a:tc>
                  <a:txBody>
                    <a:bodyPr wrap="square"/>
                    <a:lstStyle/>
                    <a:p>
                      <a:pPr algn="l"/>
                      <a:r>
                        <a:rPr sz="900" b="0">
                          <a:solidFill>
                            <a:srgbClr val="606060"/>
                          </a:solidFill>
                          <a:latin typeface="Kanit"/>
                        </a:rPr>
                        <a:t/>
                      </a:r>
                    </a:p>
                  </a:txBody>
                  <a:tcPr marL="54864" marR="54864" marT="18288" marB="18288" anchor="ctr">
                    <a:solidFill>
                      <a:srgbClr val="FFFFFF"/>
                    </a:solidFill>
                  </a:tcPr>
                </a:tc>
                <a:tc>
                  <a:txBody>
                    <a:bodyPr wrap="square"/>
                    <a:lstStyle/>
                    <a:p>
                      <a:pPr algn="r"/>
                      <a:r>
                        <a:rPr sz="900" b="0">
                          <a:solidFill>
                            <a:srgbClr val="1E2F5C"/>
                          </a:solidFill>
                          <a:latin typeface="Kanit"/>
                        </a:rPr>
                        <a:t>57,445</a:t>
                      </a:r>
                    </a:p>
                  </a:txBody>
                  <a:tcPr marL="54864" marR="54864" marT="18288" marB="18288" anchor="ctr">
                    <a:solidFill>
                      <a:srgbClr val="FFFFFF"/>
                    </a:solidFill>
                  </a:tcPr>
                </a:tc>
                <a:tc>
                  <a:txBody>
                    <a:bodyPr wrap="square"/>
                    <a:lstStyle/>
                    <a:p>
                      <a:pPr algn="r"/>
                      <a:r>
                        <a:rPr sz="900" b="1">
                          <a:solidFill>
                            <a:srgbClr val="1E2F5C"/>
                          </a:solidFill>
                          <a:latin typeface="Kanit"/>
                        </a:rPr>
                        <a:t>31.34%</a:t>
                      </a:r>
                    </a:p>
                  </a:txBody>
                  <a:tcPr marL="54864" marR="54864" marT="18288" marB="18288" anchor="ctr">
                    <a:solidFill>
                      <a:srgbClr val="FFFFFF"/>
                    </a:solidFill>
                  </a:tcPr>
                </a:tc>
                <a:tc>
                  <a:txBody>
                    <a:bodyPr wrap="square"/>
                    <a:lstStyle/>
                    <a:p>
                      <a:pPr algn="r"/>
                      <a:r>
                        <a:rPr sz="900" b="1">
                          <a:solidFill>
                            <a:srgbClr val="CC0000"/>
                          </a:solidFill>
                          <a:latin typeface="Kanit"/>
                        </a:rPr>
                        <a:t>-21.5%</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D-MAX</a:t>
                      </a:r>
                    </a:p>
                  </a:txBody>
                  <a:tcPr marL="54864" marR="54864" marT="18288" marB="18288" anchor="ctr">
                    <a:solidFill>
                      <a:srgbClr val="F7F9FC"/>
                    </a:solidFill>
                  </a:tcPr>
                </a:tc>
                <a:tc>
                  <a:txBody>
                    <a:bodyPr wrap="square"/>
                    <a:lstStyle/>
                    <a:p>
                      <a:pPr algn="l"/>
                      <a:r>
                        <a:rPr sz="900" b="0">
                          <a:solidFill>
                            <a:srgbClr val="606060"/>
                          </a:solidFill>
                          <a:latin typeface="Kanit"/>
                        </a:rPr>
                        <a:t/>
                      </a:r>
                    </a:p>
                  </a:txBody>
                  <a:tcPr marL="54864" marR="54864" marT="18288" marB="18288" anchor="ctr">
                    <a:solidFill>
                      <a:srgbClr val="F7F9FC"/>
                    </a:solidFill>
                  </a:tcPr>
                </a:tc>
                <a:tc>
                  <a:txBody>
                    <a:bodyPr wrap="square"/>
                    <a:lstStyle/>
                    <a:p>
                      <a:pPr algn="r"/>
                      <a:r>
                        <a:rPr sz="900" b="0">
                          <a:solidFill>
                            <a:srgbClr val="1E2F5C"/>
                          </a:solidFill>
                          <a:latin typeface="Kanit"/>
                        </a:rPr>
                        <a:t>49,425</a:t>
                      </a:r>
                    </a:p>
                  </a:txBody>
                  <a:tcPr marL="54864" marR="54864" marT="18288" marB="18288" anchor="ctr">
                    <a:solidFill>
                      <a:srgbClr val="F7F9FC"/>
                    </a:solidFill>
                  </a:tcPr>
                </a:tc>
                <a:tc>
                  <a:txBody>
                    <a:bodyPr wrap="square"/>
                    <a:lstStyle/>
                    <a:p>
                      <a:pPr algn="r"/>
                      <a:r>
                        <a:rPr sz="900" b="1">
                          <a:solidFill>
                            <a:srgbClr val="1E2F5C"/>
                          </a:solidFill>
                          <a:latin typeface="Kanit"/>
                        </a:rPr>
                        <a:t>26.97%</a:t>
                      </a:r>
                    </a:p>
                  </a:txBody>
                  <a:tcPr marL="54864" marR="54864" marT="18288" marB="18288" anchor="ctr">
                    <a:solidFill>
                      <a:srgbClr val="F7F9FC"/>
                    </a:solidFill>
                  </a:tcPr>
                </a:tc>
                <a:tc>
                  <a:txBody>
                    <a:bodyPr wrap="square"/>
                    <a:lstStyle/>
                    <a:p>
                      <a:pPr algn="r"/>
                      <a:r>
                        <a:rPr sz="900" b="1">
                          <a:solidFill>
                            <a:srgbClr val="CC0000"/>
                          </a:solidFill>
                          <a:latin typeface="Kanit"/>
                        </a:rPr>
                        <a:t>-23.0%</a:t>
                      </a:r>
                    </a:p>
                  </a:txBody>
                  <a:tcPr marL="54864" marR="54864" marT="18288" marB="18288" anchor="ctr">
                    <a:solidFill>
                      <a:srgbClr val="F7F9FC"/>
                    </a:solidFill>
                  </a:tcPr>
                </a:tc>
              </a:tr>
              <a:tr h="235915">
                <a:tc>
                  <a:txBody>
                    <a:bodyPr wrap="square"/>
                    <a:lstStyle/>
                    <a:p>
                      <a:pPr algn="l"/>
                      <a:r>
                        <a:rPr sz="900" b="1">
                          <a:solidFill>
                            <a:srgbClr val="1E2F5C"/>
                          </a:solidFill>
                          <a:latin typeface="Kanit"/>
                        </a:rPr>
                        <a:t>FORTUNER</a:t>
                      </a:r>
                    </a:p>
                  </a:txBody>
                  <a:tcPr marL="54864" marR="54864" marT="18288" marB="18288" anchor="ctr">
                    <a:solidFill>
                      <a:srgbClr val="FFFFFF"/>
                    </a:solidFill>
                  </a:tcPr>
                </a:tc>
                <a:tc>
                  <a:txBody>
                    <a:bodyPr wrap="square"/>
                    <a:lstStyle/>
                    <a:p>
                      <a:pPr algn="l"/>
                      <a:r>
                        <a:rPr sz="900" b="0">
                          <a:solidFill>
                            <a:srgbClr val="606060"/>
                          </a:solidFill>
                          <a:latin typeface="Kanit"/>
                        </a:rPr>
                        <a:t>PPV</a:t>
                      </a:r>
                    </a:p>
                  </a:txBody>
                  <a:tcPr marL="54864" marR="54864" marT="18288" marB="18288" anchor="ctr">
                    <a:solidFill>
                      <a:srgbClr val="FFFFFF"/>
                    </a:solidFill>
                  </a:tcPr>
                </a:tc>
                <a:tc>
                  <a:txBody>
                    <a:bodyPr wrap="square"/>
                    <a:lstStyle/>
                    <a:p>
                      <a:pPr algn="r"/>
                      <a:r>
                        <a:rPr sz="900" b="0">
                          <a:solidFill>
                            <a:srgbClr val="1E2F5C"/>
                          </a:solidFill>
                          <a:latin typeface="Kanit"/>
                        </a:rPr>
                        <a:t>14,146</a:t>
                      </a:r>
                    </a:p>
                  </a:txBody>
                  <a:tcPr marL="54864" marR="54864" marT="18288" marB="18288" anchor="ctr">
                    <a:solidFill>
                      <a:srgbClr val="FFFFFF"/>
                    </a:solidFill>
                  </a:tcPr>
                </a:tc>
                <a:tc>
                  <a:txBody>
                    <a:bodyPr wrap="square"/>
                    <a:lstStyle/>
                    <a:p>
                      <a:pPr algn="r"/>
                      <a:r>
                        <a:rPr sz="900" b="1">
                          <a:solidFill>
                            <a:srgbClr val="1E2F5C"/>
                          </a:solidFill>
                          <a:latin typeface="Kanit"/>
                        </a:rPr>
                        <a:t>7.72%</a:t>
                      </a:r>
                    </a:p>
                  </a:txBody>
                  <a:tcPr marL="54864" marR="54864" marT="18288" marB="18288" anchor="ctr">
                    <a:solidFill>
                      <a:srgbClr val="FFFFFF"/>
                    </a:solidFill>
                  </a:tcPr>
                </a:tc>
                <a:tc>
                  <a:txBody>
                    <a:bodyPr wrap="square"/>
                    <a:lstStyle/>
                    <a:p>
                      <a:pPr algn="r"/>
                      <a:r>
                        <a:rPr sz="900" b="1">
                          <a:solidFill>
                            <a:srgbClr val="15795F"/>
                          </a:solidFill>
                          <a:latin typeface="Kanit"/>
                        </a:rPr>
                        <a:t>+0.3%</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MU-X</a:t>
                      </a:r>
                    </a:p>
                  </a:txBody>
                  <a:tcPr marL="54864" marR="54864" marT="18288" marB="18288" anchor="ctr">
                    <a:solidFill>
                      <a:srgbClr val="F7F9FC"/>
                    </a:solidFill>
                  </a:tcPr>
                </a:tc>
                <a:tc>
                  <a:txBody>
                    <a:bodyPr wrap="square"/>
                    <a:lstStyle/>
                    <a:p>
                      <a:pPr algn="l"/>
                      <a:r>
                        <a:rPr sz="900" b="0">
                          <a:solidFill>
                            <a:srgbClr val="606060"/>
                          </a:solidFill>
                          <a:latin typeface="Kanit"/>
                        </a:rPr>
                        <a:t>PPV</a:t>
                      </a:r>
                    </a:p>
                  </a:txBody>
                  <a:tcPr marL="54864" marR="54864" marT="18288" marB="18288" anchor="ctr">
                    <a:solidFill>
                      <a:srgbClr val="F7F9FC"/>
                    </a:solidFill>
                  </a:tcPr>
                </a:tc>
                <a:tc>
                  <a:txBody>
                    <a:bodyPr wrap="square"/>
                    <a:lstStyle/>
                    <a:p>
                      <a:pPr algn="r"/>
                      <a:r>
                        <a:rPr sz="900" b="0">
                          <a:solidFill>
                            <a:srgbClr val="1E2F5C"/>
                          </a:solidFill>
                          <a:latin typeface="Kanit"/>
                        </a:rPr>
                        <a:t>11,916</a:t>
                      </a:r>
                    </a:p>
                  </a:txBody>
                  <a:tcPr marL="54864" marR="54864" marT="18288" marB="18288" anchor="ctr">
                    <a:solidFill>
                      <a:srgbClr val="F7F9FC"/>
                    </a:solidFill>
                  </a:tcPr>
                </a:tc>
                <a:tc>
                  <a:txBody>
                    <a:bodyPr wrap="square"/>
                    <a:lstStyle/>
                    <a:p>
                      <a:pPr algn="r"/>
                      <a:r>
                        <a:rPr sz="900" b="1">
                          <a:solidFill>
                            <a:srgbClr val="1E2F5C"/>
                          </a:solidFill>
                          <a:latin typeface="Kanit"/>
                        </a:rPr>
                        <a:t>6.50%</a:t>
                      </a:r>
                    </a:p>
                  </a:txBody>
                  <a:tcPr marL="54864" marR="54864" marT="18288" marB="18288" anchor="ctr">
                    <a:solidFill>
                      <a:srgbClr val="F7F9FC"/>
                    </a:solidFill>
                  </a:tcPr>
                </a:tc>
                <a:tc>
                  <a:txBody>
                    <a:bodyPr wrap="square"/>
                    <a:lstStyle/>
                    <a:p>
                      <a:pPr algn="r"/>
                      <a:r>
                        <a:rPr sz="900" b="1">
                          <a:solidFill>
                            <a:srgbClr val="CC0000"/>
                          </a:solidFill>
                          <a:latin typeface="Kanit"/>
                        </a:rPr>
                        <a:t>-8.7%</a:t>
                      </a:r>
                    </a:p>
                  </a:txBody>
                  <a:tcPr marL="54864" marR="54864" marT="18288" marB="18288" anchor="ctr">
                    <a:solidFill>
                      <a:srgbClr val="F7F9FC"/>
                    </a:solidFill>
                  </a:tcPr>
                </a:tc>
              </a:tr>
              <a:tr h="235915">
                <a:tc>
                  <a:txBody>
                    <a:bodyPr wrap="square"/>
                    <a:lstStyle/>
                    <a:p>
                      <a:pPr algn="l"/>
                      <a:r>
                        <a:rPr sz="900" b="1">
                          <a:solidFill>
                            <a:srgbClr val="1E2F5C"/>
                          </a:solidFill>
                          <a:latin typeface="Kanit"/>
                        </a:rPr>
                        <a:t>RANGER</a:t>
                      </a:r>
                    </a:p>
                  </a:txBody>
                  <a:tcPr marL="54864" marR="54864" marT="18288" marB="18288" anchor="ctr">
                    <a:solidFill>
                      <a:srgbClr val="FFFFFF"/>
                    </a:solidFill>
                  </a:tcPr>
                </a:tc>
                <a:tc>
                  <a:txBody>
                    <a:bodyPr wrap="square"/>
                    <a:lstStyle/>
                    <a:p>
                      <a:pPr algn="l"/>
                      <a:r>
                        <a:rPr sz="900" b="0">
                          <a:solidFill>
                            <a:srgbClr val="606060"/>
                          </a:solidFill>
                          <a:latin typeface="Kanit"/>
                        </a:rPr>
                        <a:t/>
                      </a:r>
                    </a:p>
                  </a:txBody>
                  <a:tcPr marL="54864" marR="54864" marT="18288" marB="18288" anchor="ctr">
                    <a:solidFill>
                      <a:srgbClr val="FFFFFF"/>
                    </a:solidFill>
                  </a:tcPr>
                </a:tc>
                <a:tc>
                  <a:txBody>
                    <a:bodyPr wrap="square"/>
                    <a:lstStyle/>
                    <a:p>
                      <a:pPr algn="r"/>
                      <a:r>
                        <a:rPr sz="900" b="0">
                          <a:solidFill>
                            <a:srgbClr val="1E2F5C"/>
                          </a:solidFill>
                          <a:latin typeface="Kanit"/>
                        </a:rPr>
                        <a:t>10,055</a:t>
                      </a:r>
                    </a:p>
                  </a:txBody>
                  <a:tcPr marL="54864" marR="54864" marT="18288" marB="18288" anchor="ctr">
                    <a:solidFill>
                      <a:srgbClr val="FFFFFF"/>
                    </a:solidFill>
                  </a:tcPr>
                </a:tc>
                <a:tc>
                  <a:txBody>
                    <a:bodyPr wrap="square"/>
                    <a:lstStyle/>
                    <a:p>
                      <a:pPr algn="r"/>
                      <a:r>
                        <a:rPr sz="900" b="1">
                          <a:solidFill>
                            <a:srgbClr val="1E2F5C"/>
                          </a:solidFill>
                          <a:latin typeface="Kanit"/>
                        </a:rPr>
                        <a:t>5.49%</a:t>
                      </a:r>
                    </a:p>
                  </a:txBody>
                  <a:tcPr marL="54864" marR="54864" marT="18288" marB="18288" anchor="ctr">
                    <a:solidFill>
                      <a:srgbClr val="FFFFFF"/>
                    </a:solidFill>
                  </a:tcPr>
                </a:tc>
                <a:tc>
                  <a:txBody>
                    <a:bodyPr wrap="square"/>
                    <a:lstStyle/>
                    <a:p>
                      <a:pPr algn="r"/>
                      <a:r>
                        <a:rPr sz="900" b="1">
                          <a:solidFill>
                            <a:srgbClr val="CC0000"/>
                          </a:solidFill>
                          <a:latin typeface="Kanit"/>
                        </a:rPr>
                        <a:t>-30.0%</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TRITON</a:t>
                      </a:r>
                    </a:p>
                  </a:txBody>
                  <a:tcPr marL="54864" marR="54864" marT="18288" marB="18288" anchor="ctr">
                    <a:solidFill>
                      <a:srgbClr val="F7F9FC"/>
                    </a:solidFill>
                  </a:tcPr>
                </a:tc>
                <a:tc>
                  <a:txBody>
                    <a:bodyPr wrap="square"/>
                    <a:lstStyle/>
                    <a:p>
                      <a:pPr algn="l"/>
                      <a:r>
                        <a:rPr sz="900" b="0">
                          <a:solidFill>
                            <a:srgbClr val="606060"/>
                          </a:solidFill>
                          <a:latin typeface="Kanit"/>
                        </a:rPr>
                        <a:t/>
                      </a:r>
                    </a:p>
                  </a:txBody>
                  <a:tcPr marL="54864" marR="54864" marT="18288" marB="18288" anchor="ctr">
                    <a:solidFill>
                      <a:srgbClr val="F7F9FC"/>
                    </a:solidFill>
                  </a:tcPr>
                </a:tc>
                <a:tc>
                  <a:txBody>
                    <a:bodyPr wrap="square"/>
                    <a:lstStyle/>
                    <a:p>
                      <a:pPr algn="r"/>
                      <a:r>
                        <a:rPr sz="900" b="0">
                          <a:solidFill>
                            <a:srgbClr val="1E2F5C"/>
                          </a:solidFill>
                          <a:latin typeface="Kanit"/>
                        </a:rPr>
                        <a:t>7,989</a:t>
                      </a:r>
                    </a:p>
                  </a:txBody>
                  <a:tcPr marL="54864" marR="54864" marT="18288" marB="18288" anchor="ctr">
                    <a:solidFill>
                      <a:srgbClr val="F7F9FC"/>
                    </a:solidFill>
                  </a:tcPr>
                </a:tc>
                <a:tc>
                  <a:txBody>
                    <a:bodyPr wrap="square"/>
                    <a:lstStyle/>
                    <a:p>
                      <a:pPr algn="r"/>
                      <a:r>
                        <a:rPr sz="900" b="1">
                          <a:solidFill>
                            <a:srgbClr val="1E2F5C"/>
                          </a:solidFill>
                          <a:latin typeface="Kanit"/>
                        </a:rPr>
                        <a:t>4.36%</a:t>
                      </a:r>
                    </a:p>
                  </a:txBody>
                  <a:tcPr marL="54864" marR="54864" marT="18288" marB="18288" anchor="ctr">
                    <a:solidFill>
                      <a:srgbClr val="F7F9FC"/>
                    </a:solidFill>
                  </a:tcPr>
                </a:tc>
                <a:tc>
                  <a:txBody>
                    <a:bodyPr wrap="square"/>
                    <a:lstStyle/>
                    <a:p>
                      <a:pPr algn="r"/>
                      <a:r>
                        <a:rPr sz="900" b="1">
                          <a:solidFill>
                            <a:srgbClr val="CC0000"/>
                          </a:solidFill>
                          <a:latin typeface="Kanit"/>
                        </a:rPr>
                        <a:t>-2.5%</a:t>
                      </a:r>
                    </a:p>
                  </a:txBody>
                  <a:tcPr marL="54864" marR="54864" marT="18288" marB="18288" anchor="ctr">
                    <a:solidFill>
                      <a:srgbClr val="F7F9FC"/>
                    </a:solidFill>
                  </a:tcPr>
                </a:tc>
              </a:tr>
              <a:tr h="235915">
                <a:tc>
                  <a:txBody>
                    <a:bodyPr wrap="square"/>
                    <a:lstStyle/>
                    <a:p>
                      <a:pPr algn="l"/>
                      <a:r>
                        <a:rPr sz="900" b="1">
                          <a:solidFill>
                            <a:srgbClr val="1E2F5C"/>
                          </a:solidFill>
                          <a:latin typeface="Kanit"/>
                        </a:rPr>
                        <a:t>HILUX CHAMP</a:t>
                      </a:r>
                    </a:p>
                  </a:txBody>
                  <a:tcPr marL="54864" marR="54864" marT="18288" marB="18288" anchor="ctr">
                    <a:solidFill>
                      <a:srgbClr val="FFFFFF"/>
                    </a:solidFill>
                  </a:tcPr>
                </a:tc>
                <a:tc>
                  <a:txBody>
                    <a:bodyPr wrap="square"/>
                    <a:lstStyle/>
                    <a:p>
                      <a:pPr algn="l"/>
                      <a:r>
                        <a:rPr sz="900" b="0">
                          <a:solidFill>
                            <a:srgbClr val="606060"/>
                          </a:solidFill>
                          <a:latin typeface="Kanit"/>
                        </a:rPr>
                        <a:t/>
                      </a:r>
                    </a:p>
                  </a:txBody>
                  <a:tcPr marL="54864" marR="54864" marT="18288" marB="18288" anchor="ctr">
                    <a:solidFill>
                      <a:srgbClr val="FFFFFF"/>
                    </a:solidFill>
                  </a:tcPr>
                </a:tc>
                <a:tc>
                  <a:txBody>
                    <a:bodyPr wrap="square"/>
                    <a:lstStyle/>
                    <a:p>
                      <a:pPr algn="r"/>
                      <a:r>
                        <a:rPr sz="900" b="0">
                          <a:solidFill>
                            <a:srgbClr val="1E2F5C"/>
                          </a:solidFill>
                          <a:latin typeface="Kanit"/>
                        </a:rPr>
                        <a:t>7,923</a:t>
                      </a:r>
                    </a:p>
                  </a:txBody>
                  <a:tcPr marL="54864" marR="54864" marT="18288" marB="18288" anchor="ctr">
                    <a:solidFill>
                      <a:srgbClr val="FFFFFF"/>
                    </a:solidFill>
                  </a:tcPr>
                </a:tc>
                <a:tc>
                  <a:txBody>
                    <a:bodyPr wrap="square"/>
                    <a:lstStyle/>
                    <a:p>
                      <a:pPr algn="r"/>
                      <a:r>
                        <a:rPr sz="900" b="1">
                          <a:solidFill>
                            <a:srgbClr val="1E2F5C"/>
                          </a:solidFill>
                          <a:latin typeface="Kanit"/>
                        </a:rPr>
                        <a:t>4.32%</a:t>
                      </a:r>
                    </a:p>
                  </a:txBody>
                  <a:tcPr marL="54864" marR="54864" marT="18288" marB="18288" anchor="ctr">
                    <a:solidFill>
                      <a:srgbClr val="FFFFFF"/>
                    </a:solidFill>
                  </a:tcPr>
                </a:tc>
                <a:tc>
                  <a:txBody>
                    <a:bodyPr wrap="square"/>
                    <a:lstStyle/>
                    <a:p>
                      <a:pPr algn="r"/>
                      <a:r>
                        <a:rPr sz="900" b="1">
                          <a:solidFill>
                            <a:srgbClr val="CC0000"/>
                          </a:solidFill>
                          <a:latin typeface="Kanit"/>
                        </a:rPr>
                        <a:t>-18.8%</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EVEREST</a:t>
                      </a:r>
                    </a:p>
                  </a:txBody>
                  <a:tcPr marL="54864" marR="54864" marT="18288" marB="18288" anchor="ctr">
                    <a:solidFill>
                      <a:srgbClr val="F7F9FC"/>
                    </a:solidFill>
                  </a:tcPr>
                </a:tc>
                <a:tc>
                  <a:txBody>
                    <a:bodyPr wrap="square"/>
                    <a:lstStyle/>
                    <a:p>
                      <a:pPr algn="l"/>
                      <a:r>
                        <a:rPr sz="900" b="0">
                          <a:solidFill>
                            <a:srgbClr val="606060"/>
                          </a:solidFill>
                          <a:latin typeface="Kanit"/>
                        </a:rPr>
                        <a:t>PPV</a:t>
                      </a:r>
                    </a:p>
                  </a:txBody>
                  <a:tcPr marL="54864" marR="54864" marT="18288" marB="18288" anchor="ctr">
                    <a:solidFill>
                      <a:srgbClr val="F7F9FC"/>
                    </a:solidFill>
                  </a:tcPr>
                </a:tc>
                <a:tc>
                  <a:txBody>
                    <a:bodyPr wrap="square"/>
                    <a:lstStyle/>
                    <a:p>
                      <a:pPr algn="r"/>
                      <a:r>
                        <a:rPr sz="900" b="0">
                          <a:solidFill>
                            <a:srgbClr val="1E2F5C"/>
                          </a:solidFill>
                          <a:latin typeface="Kanit"/>
                        </a:rPr>
                        <a:t>7,733</a:t>
                      </a:r>
                    </a:p>
                  </a:txBody>
                  <a:tcPr marL="54864" marR="54864" marT="18288" marB="18288" anchor="ctr">
                    <a:solidFill>
                      <a:srgbClr val="F7F9FC"/>
                    </a:solidFill>
                  </a:tcPr>
                </a:tc>
                <a:tc>
                  <a:txBody>
                    <a:bodyPr wrap="square"/>
                    <a:lstStyle/>
                    <a:p>
                      <a:pPr algn="r"/>
                      <a:r>
                        <a:rPr sz="900" b="1">
                          <a:solidFill>
                            <a:srgbClr val="1E2F5C"/>
                          </a:solidFill>
                          <a:latin typeface="Kanit"/>
                        </a:rPr>
                        <a:t>4.22%</a:t>
                      </a:r>
                    </a:p>
                  </a:txBody>
                  <a:tcPr marL="54864" marR="54864" marT="18288" marB="18288" anchor="ctr">
                    <a:solidFill>
                      <a:srgbClr val="F7F9FC"/>
                    </a:solidFill>
                  </a:tcPr>
                </a:tc>
                <a:tc>
                  <a:txBody>
                    <a:bodyPr wrap="square"/>
                    <a:lstStyle/>
                    <a:p>
                      <a:pPr algn="r"/>
                      <a:r>
                        <a:rPr sz="900" b="1">
                          <a:solidFill>
                            <a:srgbClr val="CC0000"/>
                          </a:solidFill>
                          <a:latin typeface="Kanit"/>
                        </a:rPr>
                        <a:t>-14.3%</a:t>
                      </a:r>
                    </a:p>
                  </a:txBody>
                  <a:tcPr marL="54864" marR="54864" marT="18288" marB="18288" anchor="ctr">
                    <a:solidFill>
                      <a:srgbClr val="F7F9FC"/>
                    </a:solidFill>
                  </a:tcPr>
                </a:tc>
              </a:tr>
            </a:tbl>
          </a:graphicData>
        </a:graphic>
      </p:graphicFrame>
      <p:graphicFrame>
        <p:nvGraphicFramePr>
          <p:cNvPr id="28" name="Table 27"/>
          <p:cNvGraphicFramePr>
            <a:graphicFrameLocks noGrp="1"/>
          </p:cNvGraphicFramePr>
          <p:nvPr/>
        </p:nvGraphicFramePr>
        <p:xfrm>
          <a:off x="6208776" y="2596896"/>
          <a:ext cx="5568696" cy="2216504"/>
        </p:xfrm>
        <a:graphic>
          <a:graphicData uri="http://schemas.openxmlformats.org/drawingml/2006/table">
            <a:tbl>
              <a:tblPr>
                <a:tableStyleId>{5C22544A-7EE6-4342-B048-85BDC9FD1C3A}</a:tableStyleId>
              </a:tblPr>
              <a:tblGrid>
                <a:gridCol w="2423160"/>
                <a:gridCol w="1234440"/>
                <a:gridCol w="1143000"/>
                <a:gridCol w="768096"/>
              </a:tblGrid>
              <a:tr h="329184">
                <a:tc>
                  <a:txBody>
                    <a:bodyPr wrap="square"/>
                    <a:lstStyle/>
                    <a:p>
                      <a:pPr algn="l"/>
                      <a:r>
                        <a:rPr sz="1050" b="1">
                          <a:solidFill>
                            <a:srgbClr val="FFFFFF"/>
                          </a:solidFill>
                          <a:latin typeface="Kanit"/>
                        </a:rPr>
                        <a:t>PA nameplate</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share of PA</a:t>
                      </a:r>
                    </a:p>
                  </a:txBody>
                  <a:tcPr marL="54864" marR="54864" marT="18288" marB="18288" anchor="ctr">
                    <a:solidFill>
                      <a:srgbClr val="1B2A6B"/>
                    </a:solidFill>
                  </a:tcPr>
                </a:tc>
                <a:tc>
                  <a:txBody>
                    <a:bodyPr wrap="square"/>
                    <a:lstStyle/>
                    <a:p>
                      <a:pPr algn="r"/>
                      <a:r>
                        <a:rPr sz="1050" b="1">
                          <a:solidFill>
                            <a:srgbClr val="FFFFFF"/>
                          </a:solidFill>
                          <a:latin typeface="Kanit"/>
                        </a:rPr>
                        <a:t>YoY</a:t>
                      </a:r>
                    </a:p>
                  </a:txBody>
                  <a:tcPr marL="54864" marR="54864" marT="18288" marB="18288" anchor="ctr">
                    <a:solidFill>
                      <a:srgbClr val="1B2A6B"/>
                    </a:solidFill>
                  </a:tcPr>
                </a:tc>
              </a:tr>
              <a:tr h="235915">
                <a:tc>
                  <a:txBody>
                    <a:bodyPr wrap="square"/>
                    <a:lstStyle/>
                    <a:p>
                      <a:pPr algn="l"/>
                      <a:r>
                        <a:rPr sz="900" b="1">
                          <a:solidFill>
                            <a:srgbClr val="1E2F5C"/>
                          </a:solidFill>
                          <a:latin typeface="Kanit"/>
                        </a:rPr>
                        <a:t>TOYOTA YARIS ATIV</a:t>
                      </a:r>
                    </a:p>
                  </a:txBody>
                  <a:tcPr marL="54864" marR="54864" marT="18288" marB="18288" anchor="ctr">
                    <a:solidFill>
                      <a:srgbClr val="FFFFFF"/>
                    </a:solidFill>
                  </a:tcPr>
                </a:tc>
                <a:tc>
                  <a:txBody>
                    <a:bodyPr wrap="square"/>
                    <a:lstStyle/>
                    <a:p>
                      <a:pPr algn="r"/>
                      <a:r>
                        <a:rPr sz="900" b="0">
                          <a:solidFill>
                            <a:srgbClr val="1E2F5C"/>
                          </a:solidFill>
                          <a:latin typeface="Kanit"/>
                        </a:rPr>
                        <a:t>55,544</a:t>
                      </a:r>
                    </a:p>
                  </a:txBody>
                  <a:tcPr marL="54864" marR="54864" marT="18288" marB="18288" anchor="ctr">
                    <a:solidFill>
                      <a:srgbClr val="FFFFFF"/>
                    </a:solidFill>
                  </a:tcPr>
                </a:tc>
                <a:tc>
                  <a:txBody>
                    <a:bodyPr wrap="square"/>
                    <a:lstStyle/>
                    <a:p>
                      <a:pPr algn="r"/>
                      <a:r>
                        <a:rPr sz="900" b="1">
                          <a:solidFill>
                            <a:srgbClr val="1E2F5C"/>
                          </a:solidFill>
                          <a:latin typeface="Kanit"/>
                        </a:rPr>
                        <a:t>12.52%</a:t>
                      </a:r>
                    </a:p>
                  </a:txBody>
                  <a:tcPr marL="54864" marR="54864" marT="18288" marB="18288" anchor="ctr">
                    <a:solidFill>
                      <a:srgbClr val="FFFFFF"/>
                    </a:solidFill>
                  </a:tcPr>
                </a:tc>
                <a:tc>
                  <a:txBody>
                    <a:bodyPr wrap="square"/>
                    <a:lstStyle/>
                    <a:p>
                      <a:pPr algn="r"/>
                      <a:r>
                        <a:rPr sz="900" b="1">
                          <a:solidFill>
                            <a:srgbClr val="15795F"/>
                          </a:solidFill>
                          <a:latin typeface="Kanit"/>
                        </a:rPr>
                        <a:t>+18.3%</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TOYOTA YARIS CROSS</a:t>
                      </a:r>
                    </a:p>
                  </a:txBody>
                  <a:tcPr marL="54864" marR="54864" marT="18288" marB="18288" anchor="ctr">
                    <a:solidFill>
                      <a:srgbClr val="F7F9FC"/>
                    </a:solidFill>
                  </a:tcPr>
                </a:tc>
                <a:tc>
                  <a:txBody>
                    <a:bodyPr wrap="square"/>
                    <a:lstStyle/>
                    <a:p>
                      <a:pPr algn="r"/>
                      <a:r>
                        <a:rPr sz="900" b="0">
                          <a:solidFill>
                            <a:srgbClr val="1E2F5C"/>
                          </a:solidFill>
                          <a:latin typeface="Kanit"/>
                        </a:rPr>
                        <a:t>34,669</a:t>
                      </a:r>
                    </a:p>
                  </a:txBody>
                  <a:tcPr marL="54864" marR="54864" marT="18288" marB="18288" anchor="ctr">
                    <a:solidFill>
                      <a:srgbClr val="F7F9FC"/>
                    </a:solidFill>
                  </a:tcPr>
                </a:tc>
                <a:tc>
                  <a:txBody>
                    <a:bodyPr wrap="square"/>
                    <a:lstStyle/>
                    <a:p>
                      <a:pPr algn="r"/>
                      <a:r>
                        <a:rPr sz="900" b="1">
                          <a:solidFill>
                            <a:srgbClr val="1E2F5C"/>
                          </a:solidFill>
                          <a:latin typeface="Kanit"/>
                        </a:rPr>
                        <a:t>7.81%</a:t>
                      </a:r>
                    </a:p>
                  </a:txBody>
                  <a:tcPr marL="54864" marR="54864" marT="18288" marB="18288" anchor="ctr">
                    <a:solidFill>
                      <a:srgbClr val="F7F9FC"/>
                    </a:solidFill>
                  </a:tcPr>
                </a:tc>
                <a:tc>
                  <a:txBody>
                    <a:bodyPr wrap="square"/>
                    <a:lstStyle/>
                    <a:p>
                      <a:pPr algn="r"/>
                      <a:r>
                        <a:rPr sz="900" b="1">
                          <a:solidFill>
                            <a:srgbClr val="CC0000"/>
                          </a:solidFill>
                          <a:latin typeface="Kanit"/>
                        </a:rPr>
                        <a:t>-2.6%</a:t>
                      </a:r>
                    </a:p>
                  </a:txBody>
                  <a:tcPr marL="54864" marR="54864" marT="18288" marB="18288" anchor="ctr">
                    <a:solidFill>
                      <a:srgbClr val="F7F9FC"/>
                    </a:solidFill>
                  </a:tcPr>
                </a:tc>
              </a:tr>
              <a:tr h="235915">
                <a:tc>
                  <a:txBody>
                    <a:bodyPr wrap="square"/>
                    <a:lstStyle/>
                    <a:p>
                      <a:pPr algn="l"/>
                      <a:r>
                        <a:rPr sz="900" b="1">
                          <a:solidFill>
                            <a:srgbClr val="1E2F5C"/>
                          </a:solidFill>
                          <a:latin typeface="Kanit"/>
                        </a:rPr>
                        <a:t>HONDA HR-V</a:t>
                      </a:r>
                    </a:p>
                  </a:txBody>
                  <a:tcPr marL="54864" marR="54864" marT="18288" marB="18288" anchor="ctr">
                    <a:solidFill>
                      <a:srgbClr val="FFFFFF"/>
                    </a:solidFill>
                  </a:tcPr>
                </a:tc>
                <a:tc>
                  <a:txBody>
                    <a:bodyPr wrap="square"/>
                    <a:lstStyle/>
                    <a:p>
                      <a:pPr algn="r"/>
                      <a:r>
                        <a:rPr sz="900" b="0">
                          <a:solidFill>
                            <a:srgbClr val="1E2F5C"/>
                          </a:solidFill>
                          <a:latin typeface="Kanit"/>
                        </a:rPr>
                        <a:t>23,155</a:t>
                      </a:r>
                    </a:p>
                  </a:txBody>
                  <a:tcPr marL="54864" marR="54864" marT="18288" marB="18288" anchor="ctr">
                    <a:solidFill>
                      <a:srgbClr val="FFFFFF"/>
                    </a:solidFill>
                  </a:tcPr>
                </a:tc>
                <a:tc>
                  <a:txBody>
                    <a:bodyPr wrap="square"/>
                    <a:lstStyle/>
                    <a:p>
                      <a:pPr algn="r"/>
                      <a:r>
                        <a:rPr sz="900" b="1">
                          <a:solidFill>
                            <a:srgbClr val="1E2F5C"/>
                          </a:solidFill>
                          <a:latin typeface="Kanit"/>
                        </a:rPr>
                        <a:t>5.22%</a:t>
                      </a:r>
                    </a:p>
                  </a:txBody>
                  <a:tcPr marL="54864" marR="54864" marT="18288" marB="18288" anchor="ctr">
                    <a:solidFill>
                      <a:srgbClr val="FFFFFF"/>
                    </a:solidFill>
                  </a:tcPr>
                </a:tc>
                <a:tc>
                  <a:txBody>
                    <a:bodyPr wrap="square"/>
                    <a:lstStyle/>
                    <a:p>
                      <a:pPr algn="r"/>
                      <a:r>
                        <a:rPr sz="900" b="1">
                          <a:solidFill>
                            <a:srgbClr val="15795F"/>
                          </a:solidFill>
                          <a:latin typeface="Kanit"/>
                        </a:rPr>
                        <a:t>+9.6%</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HONDA CITY HATCHBACK</a:t>
                      </a:r>
                    </a:p>
                  </a:txBody>
                  <a:tcPr marL="54864" marR="54864" marT="18288" marB="18288" anchor="ctr">
                    <a:solidFill>
                      <a:srgbClr val="F7F9FC"/>
                    </a:solidFill>
                  </a:tcPr>
                </a:tc>
                <a:tc>
                  <a:txBody>
                    <a:bodyPr wrap="square"/>
                    <a:lstStyle/>
                    <a:p>
                      <a:pPr algn="r"/>
                      <a:r>
                        <a:rPr sz="900" b="0">
                          <a:solidFill>
                            <a:srgbClr val="1E2F5C"/>
                          </a:solidFill>
                          <a:latin typeface="Kanit"/>
                        </a:rPr>
                        <a:t>16,533</a:t>
                      </a:r>
                    </a:p>
                  </a:txBody>
                  <a:tcPr marL="54864" marR="54864" marT="18288" marB="18288" anchor="ctr">
                    <a:solidFill>
                      <a:srgbClr val="F7F9FC"/>
                    </a:solidFill>
                  </a:tcPr>
                </a:tc>
                <a:tc>
                  <a:txBody>
                    <a:bodyPr wrap="square"/>
                    <a:lstStyle/>
                    <a:p>
                      <a:pPr algn="r"/>
                      <a:r>
                        <a:rPr sz="900" b="1">
                          <a:solidFill>
                            <a:srgbClr val="1E2F5C"/>
                          </a:solidFill>
                          <a:latin typeface="Kanit"/>
                        </a:rPr>
                        <a:t>3.73%</a:t>
                      </a:r>
                    </a:p>
                  </a:txBody>
                  <a:tcPr marL="54864" marR="54864" marT="18288" marB="18288" anchor="ctr">
                    <a:solidFill>
                      <a:srgbClr val="F7F9FC"/>
                    </a:solidFill>
                  </a:tcPr>
                </a:tc>
                <a:tc>
                  <a:txBody>
                    <a:bodyPr wrap="square"/>
                    <a:lstStyle/>
                    <a:p>
                      <a:pPr algn="r"/>
                      <a:r>
                        <a:rPr sz="900" b="1">
                          <a:solidFill>
                            <a:srgbClr val="15795F"/>
                          </a:solidFill>
                          <a:latin typeface="Kanit"/>
                        </a:rPr>
                        <a:t>+6.3%</a:t>
                      </a:r>
                    </a:p>
                  </a:txBody>
                  <a:tcPr marL="54864" marR="54864" marT="18288" marB="18288" anchor="ctr">
                    <a:solidFill>
                      <a:srgbClr val="F7F9FC"/>
                    </a:solidFill>
                  </a:tcPr>
                </a:tc>
              </a:tr>
              <a:tr h="235915">
                <a:tc>
                  <a:txBody>
                    <a:bodyPr wrap="square"/>
                    <a:lstStyle/>
                    <a:p>
                      <a:pPr algn="l"/>
                      <a:r>
                        <a:rPr sz="900" b="1">
                          <a:solidFill>
                            <a:srgbClr val="1E2F5C"/>
                          </a:solidFill>
                          <a:latin typeface="Kanit"/>
                        </a:rPr>
                        <a:t>TOYOTA COROLLA CROSS</a:t>
                      </a:r>
                    </a:p>
                  </a:txBody>
                  <a:tcPr marL="54864" marR="54864" marT="18288" marB="18288" anchor="ctr">
                    <a:solidFill>
                      <a:srgbClr val="FFFFFF"/>
                    </a:solidFill>
                  </a:tcPr>
                </a:tc>
                <a:tc>
                  <a:txBody>
                    <a:bodyPr wrap="square"/>
                    <a:lstStyle/>
                    <a:p>
                      <a:pPr algn="r"/>
                      <a:r>
                        <a:rPr sz="900" b="0">
                          <a:solidFill>
                            <a:srgbClr val="1E2F5C"/>
                          </a:solidFill>
                          <a:latin typeface="Kanit"/>
                        </a:rPr>
                        <a:t>14,324</a:t>
                      </a:r>
                    </a:p>
                  </a:txBody>
                  <a:tcPr marL="54864" marR="54864" marT="18288" marB="18288" anchor="ctr">
                    <a:solidFill>
                      <a:srgbClr val="FFFFFF"/>
                    </a:solidFill>
                  </a:tcPr>
                </a:tc>
                <a:tc>
                  <a:txBody>
                    <a:bodyPr wrap="square"/>
                    <a:lstStyle/>
                    <a:p>
                      <a:pPr algn="r"/>
                      <a:r>
                        <a:rPr sz="900" b="1">
                          <a:solidFill>
                            <a:srgbClr val="1E2F5C"/>
                          </a:solidFill>
                          <a:latin typeface="Kanit"/>
                        </a:rPr>
                        <a:t>3.23%</a:t>
                      </a:r>
                    </a:p>
                  </a:txBody>
                  <a:tcPr marL="54864" marR="54864" marT="18288" marB="18288" anchor="ctr">
                    <a:solidFill>
                      <a:srgbClr val="FFFFFF"/>
                    </a:solidFill>
                  </a:tcPr>
                </a:tc>
                <a:tc>
                  <a:txBody>
                    <a:bodyPr wrap="square"/>
                    <a:lstStyle/>
                    <a:p>
                      <a:pPr algn="r"/>
                      <a:r>
                        <a:rPr sz="900" b="1">
                          <a:solidFill>
                            <a:srgbClr val="CC0000"/>
                          </a:solidFill>
                          <a:latin typeface="Kanit"/>
                        </a:rPr>
                        <a:t>-10.4%</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BYD DOLPHIN (435KM-STD)</a:t>
                      </a:r>
                    </a:p>
                  </a:txBody>
                  <a:tcPr marL="54864" marR="54864" marT="18288" marB="18288" anchor="ctr">
                    <a:solidFill>
                      <a:srgbClr val="F7F9FC"/>
                    </a:solidFill>
                  </a:tcPr>
                </a:tc>
                <a:tc>
                  <a:txBody>
                    <a:bodyPr wrap="square"/>
                    <a:lstStyle/>
                    <a:p>
                      <a:pPr algn="r"/>
                      <a:r>
                        <a:rPr sz="900" b="0">
                          <a:solidFill>
                            <a:srgbClr val="1E2F5C"/>
                          </a:solidFill>
                          <a:latin typeface="Kanit"/>
                        </a:rPr>
                        <a:t>14,109</a:t>
                      </a:r>
                    </a:p>
                  </a:txBody>
                  <a:tcPr marL="54864" marR="54864" marT="18288" marB="18288" anchor="ctr">
                    <a:solidFill>
                      <a:srgbClr val="F7F9FC"/>
                    </a:solidFill>
                  </a:tcPr>
                </a:tc>
                <a:tc>
                  <a:txBody>
                    <a:bodyPr wrap="square"/>
                    <a:lstStyle/>
                    <a:p>
                      <a:pPr algn="r"/>
                      <a:r>
                        <a:rPr sz="900" b="1">
                          <a:solidFill>
                            <a:srgbClr val="1E2F5C"/>
                          </a:solidFill>
                          <a:latin typeface="Kanit"/>
                        </a:rPr>
                        <a:t>3.18%</a:t>
                      </a:r>
                    </a:p>
                  </a:txBody>
                  <a:tcPr marL="54864" marR="54864" marT="18288" marB="18288" anchor="ctr">
                    <a:solidFill>
                      <a:srgbClr val="F7F9FC"/>
                    </a:solidFill>
                  </a:tcPr>
                </a:tc>
                <a:tc>
                  <a:txBody>
                    <a:bodyPr wrap="square"/>
                    <a:lstStyle/>
                    <a:p>
                      <a:pPr algn="r"/>
                      <a:r>
                        <a:rPr sz="900" b="1">
                          <a:solidFill>
                            <a:srgbClr val="15795F"/>
                          </a:solidFill>
                          <a:latin typeface="Kanit"/>
                        </a:rPr>
                        <a:t>+295.9%</a:t>
                      </a:r>
                    </a:p>
                  </a:txBody>
                  <a:tcPr marL="54864" marR="54864" marT="18288" marB="18288" anchor="ctr">
                    <a:solidFill>
                      <a:srgbClr val="F7F9FC"/>
                    </a:solidFill>
                  </a:tcPr>
                </a:tc>
              </a:tr>
              <a:tr h="235915">
                <a:tc>
                  <a:txBody>
                    <a:bodyPr wrap="square"/>
                    <a:lstStyle/>
                    <a:p>
                      <a:pPr algn="l"/>
                      <a:r>
                        <a:rPr sz="900" b="1">
                          <a:solidFill>
                            <a:srgbClr val="1E2F5C"/>
                          </a:solidFill>
                          <a:latin typeface="Kanit"/>
                        </a:rPr>
                        <a:t>HONDA CITY</a:t>
                      </a:r>
                    </a:p>
                  </a:txBody>
                  <a:tcPr marL="54864" marR="54864" marT="18288" marB="18288" anchor="ctr">
                    <a:solidFill>
                      <a:srgbClr val="FFFFFF"/>
                    </a:solidFill>
                  </a:tcPr>
                </a:tc>
                <a:tc>
                  <a:txBody>
                    <a:bodyPr wrap="square"/>
                    <a:lstStyle/>
                    <a:p>
                      <a:pPr algn="r"/>
                      <a:r>
                        <a:rPr sz="900" b="0">
                          <a:solidFill>
                            <a:srgbClr val="1E2F5C"/>
                          </a:solidFill>
                          <a:latin typeface="Kanit"/>
                        </a:rPr>
                        <a:t>12,502</a:t>
                      </a:r>
                    </a:p>
                  </a:txBody>
                  <a:tcPr marL="54864" marR="54864" marT="18288" marB="18288" anchor="ctr">
                    <a:solidFill>
                      <a:srgbClr val="FFFFFF"/>
                    </a:solidFill>
                  </a:tcPr>
                </a:tc>
                <a:tc>
                  <a:txBody>
                    <a:bodyPr wrap="square"/>
                    <a:lstStyle/>
                    <a:p>
                      <a:pPr algn="r"/>
                      <a:r>
                        <a:rPr sz="900" b="1">
                          <a:solidFill>
                            <a:srgbClr val="1E2F5C"/>
                          </a:solidFill>
                          <a:latin typeface="Kanit"/>
                        </a:rPr>
                        <a:t>2.82%</a:t>
                      </a:r>
                    </a:p>
                  </a:txBody>
                  <a:tcPr marL="54864" marR="54864" marT="18288" marB="18288" anchor="ctr">
                    <a:solidFill>
                      <a:srgbClr val="FFFFFF"/>
                    </a:solidFill>
                  </a:tcPr>
                </a:tc>
                <a:tc>
                  <a:txBody>
                    <a:bodyPr wrap="square"/>
                    <a:lstStyle/>
                    <a:p>
                      <a:pPr algn="r"/>
                      <a:r>
                        <a:rPr sz="900" b="1">
                          <a:solidFill>
                            <a:srgbClr val="CC0000"/>
                          </a:solidFill>
                          <a:latin typeface="Kanit"/>
                        </a:rPr>
                        <a:t>-28.4%</a:t>
                      </a:r>
                    </a:p>
                  </a:txBody>
                  <a:tcPr marL="54864" marR="54864" marT="18288" marB="18288" anchor="ctr">
                    <a:solidFill>
                      <a:srgbClr val="FFFFFF"/>
                    </a:solidFill>
                  </a:tcPr>
                </a:tc>
              </a:tr>
              <a:tr h="235915">
                <a:tc>
                  <a:txBody>
                    <a:bodyPr wrap="square"/>
                    <a:lstStyle/>
                    <a:p>
                      <a:pPr algn="l"/>
                      <a:r>
                        <a:rPr sz="900" b="1">
                          <a:solidFill>
                            <a:srgbClr val="1E2F5C"/>
                          </a:solidFill>
                          <a:latin typeface="Kanit"/>
                        </a:rPr>
                        <a:t>JAECOO 5 EV LONG RANGE MAX</a:t>
                      </a:r>
                    </a:p>
                  </a:txBody>
                  <a:tcPr marL="54864" marR="54864" marT="18288" marB="18288" anchor="ctr">
                    <a:solidFill>
                      <a:srgbClr val="F7F9FC"/>
                    </a:solidFill>
                  </a:tcPr>
                </a:tc>
                <a:tc>
                  <a:txBody>
                    <a:bodyPr wrap="square"/>
                    <a:lstStyle/>
                    <a:p>
                      <a:pPr algn="r"/>
                      <a:r>
                        <a:rPr sz="900" b="0">
                          <a:solidFill>
                            <a:srgbClr val="1E2F5C"/>
                          </a:solidFill>
                          <a:latin typeface="Kanit"/>
                        </a:rPr>
                        <a:t>12,293</a:t>
                      </a:r>
                    </a:p>
                  </a:txBody>
                  <a:tcPr marL="54864" marR="54864" marT="18288" marB="18288" anchor="ctr">
                    <a:solidFill>
                      <a:srgbClr val="F7F9FC"/>
                    </a:solidFill>
                  </a:tcPr>
                </a:tc>
                <a:tc>
                  <a:txBody>
                    <a:bodyPr wrap="square"/>
                    <a:lstStyle/>
                    <a:p>
                      <a:pPr algn="r"/>
                      <a:r>
                        <a:rPr sz="900" b="1">
                          <a:solidFill>
                            <a:srgbClr val="1E2F5C"/>
                          </a:solidFill>
                          <a:latin typeface="Kanit"/>
                        </a:rPr>
                        <a:t>2.77%</a:t>
                      </a:r>
                    </a:p>
                  </a:txBody>
                  <a:tcPr marL="54864" marR="54864" marT="18288" marB="18288" anchor="ctr">
                    <a:solidFill>
                      <a:srgbClr val="F7F9FC"/>
                    </a:solidFill>
                  </a:tcPr>
                </a:tc>
                <a:tc>
                  <a:txBody>
                    <a:bodyPr wrap="square"/>
                    <a:lstStyle/>
                    <a:p>
                      <a:pPr algn="r"/>
                      <a:r>
                        <a:rPr sz="900" b="1">
                          <a:solidFill>
                            <a:srgbClr val="F5C242"/>
                          </a:solidFill>
                          <a:latin typeface="Kanit"/>
                        </a:rPr>
                        <a:t>new</a:t>
                      </a:r>
                    </a:p>
                  </a:txBody>
                  <a:tcPr marL="54864" marR="54864" marT="18288" marB="18288" anchor="ctr">
                    <a:solidFill>
                      <a:srgbClr val="F7F9FC"/>
                    </a:solidFill>
                  </a:tcPr>
                </a:tc>
              </a:tr>
            </a:tbl>
          </a:graphicData>
        </a:graphic>
      </p:graphicFrame>
      <p:sp>
        <p:nvSpPr>
          <p:cNvPr id="29" name="Rounded Rectangle 28"/>
          <p:cNvSpPr/>
          <p:nvPr/>
        </p:nvSpPr>
        <p:spPr>
          <a:xfrm>
            <a:off x="411480" y="4959705"/>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11480" y="4988966"/>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1" name="TextBox 30"/>
          <p:cNvSpPr txBox="1"/>
          <p:nvPr/>
        </p:nvSpPr>
        <p:spPr>
          <a:xfrm>
            <a:off x="1275385" y="4973421"/>
            <a:ext cx="10502086" cy="46291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DLT first registrations at the registrar's own ยี่ห้อ + รุ่น grain, trailing 12 months to 2026-01, NATIONAL only. PU shares are over pickup + PPV combined, PA shares over cars, so each is a share of its own market. One caveat that only bites the right-hand table: DLT files many car models per TRIM — 1,235 distinct car nameplate strings against 443,641 cars, Toyota alone filing 172 — so each PA share is a floor. Merging every trim would not close the gap: BYD's entire car volume is 11.3%, still under the single biggest PU nameplate.</a:t>
            </a:r>
          </a:p>
        </p:txBody>
      </p:sp>
      <p:sp>
        <p:nvSpPr>
          <p:cNvPr id="32" name="Rectangle 31"/>
          <p:cNvSpPr/>
          <p:nvPr/>
        </p:nvSpPr>
        <p:spPr>
          <a:xfrm>
            <a:off x="411480" y="5587212"/>
            <a:ext cx="11365992" cy="100761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411480" y="5587212"/>
            <a:ext cx="50292" cy="100761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630936" y="5733516"/>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This is the grain a title is actually written against</a:t>
            </a:r>
          </a:p>
        </p:txBody>
      </p:sp>
      <p:sp>
        <p:nvSpPr>
          <p:cNvPr id="35" name="TextBox 34"/>
          <p:cNvSpPr txBox="1"/>
          <p:nvPr/>
        </p:nvSpPr>
        <p:spPr>
          <a:xfrm>
            <a:off x="630936" y="5937986"/>
            <a:ext cx="11036808" cy="5105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HILUX REVO and D-MAX alone are 58% of every pickup and PPV registered this year, and five nameplates reach 78% — all five with a decade of Thai resale history, so a five-row residual table very nearly prices the market we lend against. Cars do not work that way: the biggest car nameplate is 12.5% and the top five reach 33%, with BYD, MG, Jaecoo, AION and Deepal models behind them carrying no Thai residual record at all — several registered for the first time this year. Each needs an advance rate set on judgement until enough have aged through the market.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10E · THE SECOND-HAND MARKET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How deep the market is that a title sells into.</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Pickup stock</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6.98M</a:t>
            </a:r>
          </a:p>
        </p:txBody>
      </p:sp>
      <p:sp>
        <p:nvSpPr>
          <p:cNvPr id="12" name="TextBox 11"/>
          <p:cNvSpPr txBox="1"/>
          <p:nvPr/>
        </p:nvSpPr>
        <p:spPr>
          <a:xfrm>
            <a:off x="548640"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registered pickups nationally · -0.77% YoY</a:t>
            </a:r>
          </a:p>
        </p:txBody>
      </p:sp>
      <p:sp>
        <p:nvSpPr>
          <p:cNvPr id="13" name="Rounded Rectangle 12"/>
          <p:cNvSpPr/>
          <p:nvPr/>
        </p:nvSpPr>
        <p:spPr>
          <a:xfrm>
            <a:off x="3287268"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Car stock</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15795F"/>
                </a:solidFill>
                <a:latin typeface="Kanit"/>
              </a:rPr>
              <a:t>12.98M</a:t>
            </a:r>
          </a:p>
        </p:txBody>
      </p:sp>
      <p:sp>
        <p:nvSpPr>
          <p:cNvPr id="16" name="TextBox 15"/>
          <p:cNvSpPr txBox="1"/>
          <p:nvPr/>
        </p:nvSpPr>
        <p:spPr>
          <a:xfrm>
            <a:off x="3424428"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+1.81% YoY · +19.3% since 2563</a:t>
            </a:r>
          </a:p>
        </p:txBody>
      </p:sp>
      <p:sp>
        <p:nvSpPr>
          <p:cNvPr id="17" name="Rounded Rectangle 16"/>
          <p:cNvSpPr/>
          <p:nvPr/>
        </p:nvSpPr>
        <p:spPr>
          <a:xfrm>
            <a:off x="6163056"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Diesel share</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56.3%</a:t>
            </a:r>
          </a:p>
        </p:txBody>
      </p:sp>
      <p:sp>
        <p:nvSpPr>
          <p:cNvPr id="20" name="TextBox 19"/>
          <p:cNvSpPr txBox="1"/>
          <p:nvPr/>
        </p:nvSpPr>
        <p:spPr>
          <a:xfrm>
            <a:off x="6300216"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the 44.3M fleet — what the market runs on today</a:t>
            </a:r>
          </a:p>
        </p:txBody>
      </p:sp>
      <p:sp>
        <p:nvSpPr>
          <p:cNvPr id="21" name="Rounded Rectangle 20"/>
          <p:cNvSpPr/>
          <p:nvPr/>
        </p:nvSpPr>
        <p:spPr>
          <a:xfrm>
            <a:off x="9038844"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BEV share</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0.95%</a:t>
            </a:r>
          </a:p>
        </p:txBody>
      </p:sp>
      <p:sp>
        <p:nvSpPr>
          <p:cNvPr id="24" name="TextBox 23"/>
          <p:cNvSpPr txBox="1"/>
          <p:nvPr/>
        </p:nvSpPr>
        <p:spPr>
          <a:xfrm>
            <a:off x="9176004"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electrified 2.57% — not a factor this quarter</a:t>
            </a:r>
          </a:p>
        </p:txBody>
      </p:sp>
      <p:graphicFrame>
        <p:nvGraphicFramePr>
          <p:cNvPr id="25" name="Table 24"/>
          <p:cNvGraphicFramePr>
            <a:graphicFrameLocks noGrp="1"/>
          </p:cNvGraphicFramePr>
          <p:nvPr/>
        </p:nvGraphicFramePr>
        <p:xfrm>
          <a:off x="411480" y="2359152"/>
          <a:ext cx="11365992" cy="1700784"/>
        </p:xfrm>
        <a:graphic>
          <a:graphicData uri="http://schemas.openxmlformats.org/drawingml/2006/table">
            <a:tbl>
              <a:tblPr>
                <a:tableStyleId>{5C22544A-7EE6-4342-B048-85BDC9FD1C3A}</a:tableStyleId>
              </a:tblPr>
              <a:tblGrid>
                <a:gridCol w="1737360"/>
                <a:gridCol w="1737360"/>
                <a:gridCol w="1554480"/>
                <a:gridCol w="2011680"/>
                <a:gridCol w="1554480"/>
                <a:gridCol w="1371600"/>
                <a:gridCol w="1399032"/>
              </a:tblGrid>
              <a:tr h="329184">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vehicles registered</a:t>
                      </a:r>
                    </a:p>
                  </a:txBody>
                  <a:tcPr marL="54864" marR="54864" marT="18288" marB="18288" anchor="ctr">
                    <a:solidFill>
                      <a:srgbClr val="1B2A6B"/>
                    </a:solidFill>
                  </a:tcPr>
                </a:tc>
                <a:tc>
                  <a:txBody>
                    <a:bodyPr wrap="square"/>
                    <a:lstStyle/>
                    <a:p>
                      <a:pPr algn="r"/>
                      <a:r>
                        <a:rPr sz="1050" b="1">
                          <a:solidFill>
                            <a:srgbClr val="FFFFFF"/>
                          </a:solidFill>
                          <a:latin typeface="Kanit"/>
                        </a:rPr>
                        <a:t>of them pickups</a:t>
                      </a:r>
                    </a:p>
                  </a:txBody>
                  <a:tcPr marL="54864" marR="54864" marT="18288" marB="18288" anchor="ctr">
                    <a:solidFill>
                      <a:srgbClr val="1B2A6B"/>
                    </a:solidFill>
                  </a:tcPr>
                </a:tc>
                <a:tc>
                  <a:txBody>
                    <a:bodyPr wrap="square"/>
                    <a:lstStyle/>
                    <a:p>
                      <a:pPr algn="r"/>
                      <a:r>
                        <a:rPr sz="1050" b="1">
                          <a:solidFill>
                            <a:srgbClr val="FFFFFF"/>
                          </a:solidFill>
                          <a:latin typeface="Kanit"/>
                        </a:rPr>
                        <a:t>pickups changing hands</a:t>
                      </a:r>
                    </a:p>
                  </a:txBody>
                  <a:tcPr marL="54864" marR="54864" marT="18288" marB="18288" anchor="ctr">
                    <a:solidFill>
                      <a:srgbClr val="1B2A6B"/>
                    </a:solidFill>
                  </a:tcPr>
                </a:tc>
                <a:tc>
                  <a:txBody>
                    <a:bodyPr wrap="square"/>
                    <a:lstStyle/>
                    <a:p>
                      <a:pPr algn="r"/>
                      <a:r>
                        <a:rPr sz="1050" b="1">
                          <a:solidFill>
                            <a:srgbClr val="FFFFFF"/>
                          </a:solidFill>
                          <a:latin typeface="Kanit"/>
                        </a:rPr>
                        <a:t>pickup turnover</a:t>
                      </a:r>
                    </a:p>
                  </a:txBody>
                  <a:tcPr marL="54864" marR="54864" marT="18288" marB="18288" anchor="ctr">
                    <a:solidFill>
                      <a:srgbClr val="1B2A6B"/>
                    </a:solidFill>
                  </a:tcPr>
                </a:tc>
                <a:tc>
                  <a:txBody>
                    <a:bodyPr wrap="square"/>
                    <a:lstStyle/>
                    <a:p>
                      <a:pPr algn="r"/>
                      <a:r>
                        <a:rPr sz="1050" b="1">
                          <a:solidFill>
                            <a:srgbClr val="FFFFFF"/>
                          </a:solidFill>
                          <a:latin typeface="Kanit"/>
                        </a:rPr>
                        <a:t>car turnover</a:t>
                      </a:r>
                    </a:p>
                  </a:txBody>
                  <a:tcPr marL="54864" marR="54864" marT="18288" marB="18288" anchor="ctr">
                    <a:solidFill>
                      <a:srgbClr val="1B2A6B"/>
                    </a:solidFill>
                  </a:tcPr>
                </a:tc>
                <a:tc>
                  <a:txBody>
                    <a:bodyPr wrap="square"/>
                    <a:lstStyle/>
                    <a:p>
                      <a:pPr algn="r"/>
                      <a:r>
                        <a:rPr sz="1050" b="1">
                          <a:solidFill>
                            <a:srgbClr val="FFFFFF"/>
                          </a:solidFill>
                          <a:latin typeface="Kanit"/>
                        </a:rPr>
                        <a:t>motorcycle turnover</a:t>
                      </a:r>
                    </a:p>
                  </a:txBody>
                  <a:tcPr marL="54864" marR="54864" marT="18288" marB="18288" anchor="ctr">
                    <a:solidFill>
                      <a:srgbClr val="1B2A6B"/>
                    </a:solidFill>
                  </a:tcPr>
                </a:tc>
              </a:tr>
              <a:tr h="274320">
                <a:tc>
                  <a:txBody>
                    <a:bodyPr wrap="square"/>
                    <a:lstStyle/>
                    <a:p>
                      <a:pPr algn="l"/>
                      <a:r>
                        <a:rPr sz="1000" b="1">
                          <a:solidFill>
                            <a:srgbClr val="1E2F5C"/>
                          </a:solidFill>
                          <a:latin typeface="Kanit"/>
                        </a:rPr>
                        <a:t>Central&amp;BKK</a:t>
                      </a:r>
                    </a:p>
                  </a:txBody>
                  <a:tcPr marL="54864" marR="54864" marT="18288" marB="18288" anchor="ctr">
                    <a:solidFill>
                      <a:srgbClr val="FFFFFF"/>
                    </a:solidFill>
                  </a:tcPr>
                </a:tc>
                <a:tc>
                  <a:txBody>
                    <a:bodyPr wrap="square"/>
                    <a:lstStyle/>
                    <a:p>
                      <a:pPr algn="r"/>
                      <a:r>
                        <a:rPr sz="1000" b="0">
                          <a:solidFill>
                            <a:srgbClr val="1E2F5C"/>
                          </a:solidFill>
                          <a:latin typeface="Kanit"/>
                        </a:rPr>
                        <a:t>15.86M</a:t>
                      </a:r>
                    </a:p>
                  </a:txBody>
                  <a:tcPr marL="54864" marR="54864" marT="18288" marB="18288" anchor="ctr">
                    <a:solidFill>
                      <a:srgbClr val="FFFFFF"/>
                    </a:solidFill>
                  </a:tcPr>
                </a:tc>
                <a:tc>
                  <a:txBody>
                    <a:bodyPr wrap="square"/>
                    <a:lstStyle/>
                    <a:p>
                      <a:pPr algn="r"/>
                      <a:r>
                        <a:rPr sz="1000" b="0">
                          <a:solidFill>
                            <a:srgbClr val="1E2F5C"/>
                          </a:solidFill>
                          <a:latin typeface="Kanit"/>
                        </a:rPr>
                        <a:t>13.5%</a:t>
                      </a:r>
                    </a:p>
                  </a:txBody>
                  <a:tcPr marL="54864" marR="54864" marT="18288" marB="18288" anchor="ctr">
                    <a:solidFill>
                      <a:srgbClr val="FFFFFF"/>
                    </a:solidFill>
                  </a:tcPr>
                </a:tc>
                <a:tc>
                  <a:txBody>
                    <a:bodyPr wrap="square"/>
                    <a:lstStyle/>
                    <a:p>
                      <a:pPr algn="r"/>
                      <a:r>
                        <a:rPr sz="1000" b="0">
                          <a:solidFill>
                            <a:srgbClr val="1E2F5C"/>
                          </a:solidFill>
                          <a:latin typeface="Kanit"/>
                        </a:rPr>
                        <a:t>162,994</a:t>
                      </a:r>
                    </a:p>
                  </a:txBody>
                  <a:tcPr marL="54864" marR="54864" marT="18288" marB="18288" anchor="ctr">
                    <a:solidFill>
                      <a:srgbClr val="FFFFFF"/>
                    </a:solidFill>
                  </a:tcPr>
                </a:tc>
                <a:tc>
                  <a:txBody>
                    <a:bodyPr wrap="square"/>
                    <a:lstStyle/>
                    <a:p>
                      <a:pPr algn="r"/>
                      <a:r>
                        <a:rPr sz="1000" b="1">
                          <a:solidFill>
                            <a:srgbClr val="1E2F5C"/>
                          </a:solidFill>
                          <a:latin typeface="Kanit"/>
                        </a:rPr>
                        <a:t>7.60%</a:t>
                      </a:r>
                    </a:p>
                  </a:txBody>
                  <a:tcPr marL="54864" marR="54864" marT="18288" marB="18288" anchor="ctr">
                    <a:solidFill>
                      <a:srgbClr val="FFFFFF"/>
                    </a:solidFill>
                  </a:tcPr>
                </a:tc>
                <a:tc>
                  <a:txBody>
                    <a:bodyPr wrap="square"/>
                    <a:lstStyle/>
                    <a:p>
                      <a:pPr algn="r"/>
                      <a:r>
                        <a:rPr sz="1000" b="0">
                          <a:solidFill>
                            <a:srgbClr val="1E2F5C"/>
                          </a:solidFill>
                          <a:latin typeface="Kanit"/>
                        </a:rPr>
                        <a:t>10.18%</a:t>
                      </a:r>
                    </a:p>
                  </a:txBody>
                  <a:tcPr marL="54864" marR="54864" marT="18288" marB="18288" anchor="ctr">
                    <a:solidFill>
                      <a:srgbClr val="FFFFFF"/>
                    </a:solidFill>
                  </a:tcPr>
                </a:tc>
                <a:tc>
                  <a:txBody>
                    <a:bodyPr wrap="square"/>
                    <a:lstStyle/>
                    <a:p>
                      <a:pPr algn="r"/>
                      <a:r>
                        <a:rPr sz="1000" b="0">
                          <a:solidFill>
                            <a:srgbClr val="1E2F5C"/>
                          </a:solidFill>
                          <a:latin typeface="Kanit"/>
                        </a:rPr>
                        <a:t>6.64%</a:t>
                      </a:r>
                    </a:p>
                  </a:txBody>
                  <a:tcPr marL="54864" marR="54864" marT="18288" marB="18288" anchor="ctr">
                    <a:solidFill>
                      <a:srgbClr val="FFFFFF"/>
                    </a:solidFill>
                  </a:tcPr>
                </a:tc>
              </a:tr>
              <a:tr h="274320">
                <a:tc>
                  <a:txBody>
                    <a:bodyPr wrap="square"/>
                    <a:lstStyle/>
                    <a:p>
                      <a:pPr algn="l"/>
                      <a:r>
                        <a:rPr sz="1000" b="1">
                          <a:solidFill>
                            <a:srgbClr val="1E2F5C"/>
                          </a:solidFill>
                          <a:latin typeface="Kanit"/>
                        </a:rPr>
                        <a:t>East</a:t>
                      </a:r>
                    </a:p>
                  </a:txBody>
                  <a:tcPr marL="54864" marR="54864" marT="18288" marB="18288" anchor="ctr">
                    <a:solidFill>
                      <a:srgbClr val="F7F9FC"/>
                    </a:solidFill>
                  </a:tcPr>
                </a:tc>
                <a:tc>
                  <a:txBody>
                    <a:bodyPr wrap="square"/>
                    <a:lstStyle/>
                    <a:p>
                      <a:pPr algn="r"/>
                      <a:r>
                        <a:rPr sz="1000" b="0">
                          <a:solidFill>
                            <a:srgbClr val="1E2F5C"/>
                          </a:solidFill>
                          <a:latin typeface="Kanit"/>
                        </a:rPr>
                        <a:t>4.15M</a:t>
                      </a:r>
                    </a:p>
                  </a:txBody>
                  <a:tcPr marL="54864" marR="54864" marT="18288" marB="18288" anchor="ctr">
                    <a:solidFill>
                      <a:srgbClr val="F7F9FC"/>
                    </a:solidFill>
                  </a:tcPr>
                </a:tc>
                <a:tc>
                  <a:txBody>
                    <a:bodyPr wrap="square"/>
                    <a:lstStyle/>
                    <a:p>
                      <a:pPr algn="r"/>
                      <a:r>
                        <a:rPr sz="1000" b="0">
                          <a:solidFill>
                            <a:srgbClr val="1E2F5C"/>
                          </a:solidFill>
                          <a:latin typeface="Kanit"/>
                        </a:rPr>
                        <a:t>16.4%</a:t>
                      </a:r>
                    </a:p>
                  </a:txBody>
                  <a:tcPr marL="54864" marR="54864" marT="18288" marB="18288" anchor="ctr">
                    <a:solidFill>
                      <a:srgbClr val="F7F9FC"/>
                    </a:solidFill>
                  </a:tcPr>
                </a:tc>
                <a:tc>
                  <a:txBody>
                    <a:bodyPr wrap="square"/>
                    <a:lstStyle/>
                    <a:p>
                      <a:pPr algn="r"/>
                      <a:r>
                        <a:rPr sz="1000" b="0">
                          <a:solidFill>
                            <a:srgbClr val="1E2F5C"/>
                          </a:solidFill>
                          <a:latin typeface="Kanit"/>
                        </a:rPr>
                        <a:t>35,345</a:t>
                      </a:r>
                    </a:p>
                  </a:txBody>
                  <a:tcPr marL="54864" marR="54864" marT="18288" marB="18288" anchor="ctr">
                    <a:solidFill>
                      <a:srgbClr val="F7F9FC"/>
                    </a:solidFill>
                  </a:tcPr>
                </a:tc>
                <a:tc>
                  <a:txBody>
                    <a:bodyPr wrap="square"/>
                    <a:lstStyle/>
                    <a:p>
                      <a:pPr algn="r"/>
                      <a:r>
                        <a:rPr sz="1000" b="1">
                          <a:solidFill>
                            <a:srgbClr val="CC0000"/>
                          </a:solidFill>
                          <a:latin typeface="Kanit"/>
                        </a:rPr>
                        <a:t>5.21%</a:t>
                      </a:r>
                    </a:p>
                  </a:txBody>
                  <a:tcPr marL="54864" marR="54864" marT="18288" marB="18288" anchor="ctr">
                    <a:solidFill>
                      <a:srgbClr val="F7F9FC"/>
                    </a:solidFill>
                  </a:tcPr>
                </a:tc>
                <a:tc>
                  <a:txBody>
                    <a:bodyPr wrap="square"/>
                    <a:lstStyle/>
                    <a:p>
                      <a:pPr algn="r"/>
                      <a:r>
                        <a:rPr sz="1000" b="0">
                          <a:solidFill>
                            <a:srgbClr val="1E2F5C"/>
                          </a:solidFill>
                          <a:latin typeface="Kanit"/>
                        </a:rPr>
                        <a:t>5.61%</a:t>
                      </a:r>
                    </a:p>
                  </a:txBody>
                  <a:tcPr marL="54864" marR="54864" marT="18288" marB="18288" anchor="ctr">
                    <a:solidFill>
                      <a:srgbClr val="F7F9FC"/>
                    </a:solidFill>
                  </a:tcPr>
                </a:tc>
                <a:tc>
                  <a:txBody>
                    <a:bodyPr wrap="square"/>
                    <a:lstStyle/>
                    <a:p>
                      <a:pPr algn="r"/>
                      <a:r>
                        <a:rPr sz="1000" b="0">
                          <a:solidFill>
                            <a:srgbClr val="1E2F5C"/>
                          </a:solidFill>
                          <a:latin typeface="Kanit"/>
                        </a:rPr>
                        <a:t>6.69%</a:t>
                      </a:r>
                    </a:p>
                  </a:txBody>
                  <a:tcPr marL="54864" marR="54864" marT="18288" marB="18288" anchor="ctr">
                    <a:solidFill>
                      <a:srgbClr val="F7F9FC"/>
                    </a:solidFill>
                  </a:tcPr>
                </a:tc>
              </a:tr>
              <a:tr h="274320">
                <a:tc>
                  <a:txBody>
                    <a:bodyPr wrap="square"/>
                    <a:lstStyle/>
                    <a:p>
                      <a:pPr algn="l"/>
                      <a:r>
                        <a:rPr sz="1000" b="1">
                          <a:solidFill>
                            <a:srgbClr val="1E2F5C"/>
                          </a:solidFill>
                          <a:latin typeface="Kanit"/>
                        </a:rPr>
                        <a:t>Isan</a:t>
                      </a:r>
                    </a:p>
                  </a:txBody>
                  <a:tcPr marL="54864" marR="54864" marT="18288" marB="18288" anchor="ctr">
                    <a:solidFill>
                      <a:srgbClr val="FFFFFF"/>
                    </a:solidFill>
                  </a:tcPr>
                </a:tc>
                <a:tc>
                  <a:txBody>
                    <a:bodyPr wrap="square"/>
                    <a:lstStyle/>
                    <a:p>
                      <a:pPr algn="r"/>
                      <a:r>
                        <a:rPr sz="1000" b="0">
                          <a:solidFill>
                            <a:srgbClr val="1E2F5C"/>
                          </a:solidFill>
                          <a:latin typeface="Kanit"/>
                        </a:rPr>
                        <a:t>8.04M</a:t>
                      </a:r>
                    </a:p>
                  </a:txBody>
                  <a:tcPr marL="54864" marR="54864" marT="18288" marB="18288" anchor="ctr">
                    <a:solidFill>
                      <a:srgbClr val="FFFFFF"/>
                    </a:solidFill>
                  </a:tcPr>
                </a:tc>
                <a:tc>
                  <a:txBody>
                    <a:bodyPr wrap="square"/>
                    <a:lstStyle/>
                    <a:p>
                      <a:pPr algn="r"/>
                      <a:r>
                        <a:rPr sz="1000" b="0">
                          <a:solidFill>
                            <a:srgbClr val="1E2F5C"/>
                          </a:solidFill>
                          <a:latin typeface="Kanit"/>
                        </a:rPr>
                        <a:t>22.1%</a:t>
                      </a:r>
                    </a:p>
                  </a:txBody>
                  <a:tcPr marL="54864" marR="54864" marT="18288" marB="18288" anchor="ctr">
                    <a:solidFill>
                      <a:srgbClr val="FFFFFF"/>
                    </a:solidFill>
                  </a:tcPr>
                </a:tc>
                <a:tc>
                  <a:txBody>
                    <a:bodyPr wrap="square"/>
                    <a:lstStyle/>
                    <a:p>
                      <a:pPr algn="r"/>
                      <a:r>
                        <a:rPr sz="1000" b="0">
                          <a:solidFill>
                            <a:srgbClr val="1E2F5C"/>
                          </a:solidFill>
                          <a:latin typeface="Kanit"/>
                        </a:rPr>
                        <a:t>99,835</a:t>
                      </a:r>
                    </a:p>
                  </a:txBody>
                  <a:tcPr marL="54864" marR="54864" marT="18288" marB="18288" anchor="ctr">
                    <a:solidFill>
                      <a:srgbClr val="FFFFFF"/>
                    </a:solidFill>
                  </a:tcPr>
                </a:tc>
                <a:tc>
                  <a:txBody>
                    <a:bodyPr wrap="square"/>
                    <a:lstStyle/>
                    <a:p>
                      <a:pPr algn="r"/>
                      <a:r>
                        <a:rPr sz="1000" b="1">
                          <a:solidFill>
                            <a:srgbClr val="CC0000"/>
                          </a:solidFill>
                          <a:latin typeface="Kanit"/>
                        </a:rPr>
                        <a:t>5.61%</a:t>
                      </a:r>
                    </a:p>
                  </a:txBody>
                  <a:tcPr marL="54864" marR="54864" marT="18288" marB="18288" anchor="ctr">
                    <a:solidFill>
                      <a:srgbClr val="FFFFFF"/>
                    </a:solidFill>
                  </a:tcPr>
                </a:tc>
                <a:tc>
                  <a:txBody>
                    <a:bodyPr wrap="square"/>
                    <a:lstStyle/>
                    <a:p>
                      <a:pPr algn="r"/>
                      <a:r>
                        <a:rPr sz="1000" b="0">
                          <a:solidFill>
                            <a:srgbClr val="1E2F5C"/>
                          </a:solidFill>
                          <a:latin typeface="Kanit"/>
                        </a:rPr>
                        <a:t>6.41%</a:t>
                      </a:r>
                    </a:p>
                  </a:txBody>
                  <a:tcPr marL="54864" marR="54864" marT="18288" marB="18288" anchor="ctr">
                    <a:solidFill>
                      <a:srgbClr val="FFFFFF"/>
                    </a:solidFill>
                  </a:tcPr>
                </a:tc>
                <a:tc>
                  <a:txBody>
                    <a:bodyPr wrap="square"/>
                    <a:lstStyle/>
                    <a:p>
                      <a:pPr algn="r"/>
                      <a:r>
                        <a:rPr sz="1000" b="0">
                          <a:solidFill>
                            <a:srgbClr val="1E2F5C"/>
                          </a:solidFill>
                          <a:latin typeface="Kanit"/>
                        </a:rPr>
                        <a:t>7.30%</a:t>
                      </a:r>
                    </a:p>
                  </a:txBody>
                  <a:tcPr marL="54864" marR="54864" marT="18288" marB="18288" anchor="ctr">
                    <a:solidFill>
                      <a:srgbClr val="FFFFFF"/>
                    </a:solidFill>
                  </a:tcPr>
                </a:tc>
              </a:tr>
              <a:tr h="274320">
                <a:tc>
                  <a:txBody>
                    <a:bodyPr wrap="square"/>
                    <a:lstStyle/>
                    <a:p>
                      <a:pPr algn="l"/>
                      <a:r>
                        <a:rPr sz="1000" b="1">
                          <a:solidFill>
                            <a:srgbClr val="1E2F5C"/>
                          </a:solidFill>
                          <a:latin typeface="Kanit"/>
                        </a:rPr>
                        <a:t>North</a:t>
                      </a:r>
                    </a:p>
                  </a:txBody>
                  <a:tcPr marL="54864" marR="54864" marT="18288" marB="18288" anchor="ctr">
                    <a:solidFill>
                      <a:srgbClr val="F7F9FC"/>
                    </a:solidFill>
                  </a:tcPr>
                </a:tc>
                <a:tc>
                  <a:txBody>
                    <a:bodyPr wrap="square"/>
                    <a:lstStyle/>
                    <a:p>
                      <a:pPr algn="r"/>
                      <a:r>
                        <a:rPr sz="1000" b="0">
                          <a:solidFill>
                            <a:srgbClr val="1E2F5C"/>
                          </a:solidFill>
                          <a:latin typeface="Kanit"/>
                        </a:rPr>
                        <a:t>6.83M</a:t>
                      </a:r>
                    </a:p>
                  </a:txBody>
                  <a:tcPr marL="54864" marR="54864" marT="18288" marB="18288" anchor="ctr">
                    <a:solidFill>
                      <a:srgbClr val="F7F9FC"/>
                    </a:solidFill>
                  </a:tcPr>
                </a:tc>
                <a:tc>
                  <a:txBody>
                    <a:bodyPr wrap="square"/>
                    <a:lstStyle/>
                    <a:p>
                      <a:pPr algn="r"/>
                      <a:r>
                        <a:rPr sz="1000" b="0">
                          <a:solidFill>
                            <a:srgbClr val="1E2F5C"/>
                          </a:solidFill>
                          <a:latin typeface="Kanit"/>
                        </a:rPr>
                        <a:t>19.4%</a:t>
                      </a:r>
                    </a:p>
                  </a:txBody>
                  <a:tcPr marL="54864" marR="54864" marT="18288" marB="18288" anchor="ctr">
                    <a:solidFill>
                      <a:srgbClr val="F7F9FC"/>
                    </a:solidFill>
                  </a:tcPr>
                </a:tc>
                <a:tc>
                  <a:txBody>
                    <a:bodyPr wrap="square"/>
                    <a:lstStyle/>
                    <a:p>
                      <a:pPr algn="r"/>
                      <a:r>
                        <a:rPr sz="1000" b="0">
                          <a:solidFill>
                            <a:srgbClr val="1E2F5C"/>
                          </a:solidFill>
                          <a:latin typeface="Kanit"/>
                        </a:rPr>
                        <a:t>78,867</a:t>
                      </a:r>
                    </a:p>
                  </a:txBody>
                  <a:tcPr marL="54864" marR="54864" marT="18288" marB="18288" anchor="ctr">
                    <a:solidFill>
                      <a:srgbClr val="F7F9FC"/>
                    </a:solidFill>
                  </a:tcPr>
                </a:tc>
                <a:tc>
                  <a:txBody>
                    <a:bodyPr wrap="square"/>
                    <a:lstStyle/>
                    <a:p>
                      <a:pPr algn="r"/>
                      <a:r>
                        <a:rPr sz="1000" b="1">
                          <a:solidFill>
                            <a:srgbClr val="CC0000"/>
                          </a:solidFill>
                          <a:latin typeface="Kanit"/>
                        </a:rPr>
                        <a:t>5.95%</a:t>
                      </a:r>
                    </a:p>
                  </a:txBody>
                  <a:tcPr marL="54864" marR="54864" marT="18288" marB="18288" anchor="ctr">
                    <a:solidFill>
                      <a:srgbClr val="F7F9FC"/>
                    </a:solidFill>
                  </a:tcPr>
                </a:tc>
                <a:tc>
                  <a:txBody>
                    <a:bodyPr wrap="square"/>
                    <a:lstStyle/>
                    <a:p>
                      <a:pPr algn="r"/>
                      <a:r>
                        <a:rPr sz="1000" b="0">
                          <a:solidFill>
                            <a:srgbClr val="1E2F5C"/>
                          </a:solidFill>
                          <a:latin typeface="Kanit"/>
                        </a:rPr>
                        <a:t>7.27%</a:t>
                      </a:r>
                    </a:p>
                  </a:txBody>
                  <a:tcPr marL="54864" marR="54864" marT="18288" marB="18288" anchor="ctr">
                    <a:solidFill>
                      <a:srgbClr val="F7F9FC"/>
                    </a:solidFill>
                  </a:tcPr>
                </a:tc>
                <a:tc>
                  <a:txBody>
                    <a:bodyPr wrap="square"/>
                    <a:lstStyle/>
                    <a:p>
                      <a:pPr algn="r"/>
                      <a:r>
                        <a:rPr sz="1000" b="0">
                          <a:solidFill>
                            <a:srgbClr val="1E2F5C"/>
                          </a:solidFill>
                          <a:latin typeface="Kanit"/>
                        </a:rPr>
                        <a:t>5.22%</a:t>
                      </a:r>
                    </a:p>
                  </a:txBody>
                  <a:tcPr marL="54864" marR="54864" marT="18288" marB="18288" anchor="ctr">
                    <a:solidFill>
                      <a:srgbClr val="F7F9FC"/>
                    </a:solidFill>
                  </a:tcPr>
                </a:tc>
              </a:tr>
              <a:tr h="274320">
                <a:tc>
                  <a:txBody>
                    <a:bodyPr wrap="square"/>
                    <a:lstStyle/>
                    <a:p>
                      <a:pPr algn="l"/>
                      <a:r>
                        <a:rPr sz="1000" b="1">
                          <a:solidFill>
                            <a:srgbClr val="1E2F5C"/>
                          </a:solidFill>
                          <a:latin typeface="Kanit"/>
                        </a:rPr>
                        <a:t>South</a:t>
                      </a:r>
                    </a:p>
                  </a:txBody>
                  <a:tcPr marL="54864" marR="54864" marT="18288" marB="18288" anchor="ctr">
                    <a:solidFill>
                      <a:srgbClr val="FFFFFF"/>
                    </a:solidFill>
                  </a:tcPr>
                </a:tc>
                <a:tc>
                  <a:txBody>
                    <a:bodyPr wrap="square"/>
                    <a:lstStyle/>
                    <a:p>
                      <a:pPr algn="r"/>
                      <a:r>
                        <a:rPr sz="1000" b="0">
                          <a:solidFill>
                            <a:srgbClr val="1E2F5C"/>
                          </a:solidFill>
                          <a:latin typeface="Kanit"/>
                        </a:rPr>
                        <a:t>4.82M</a:t>
                      </a:r>
                    </a:p>
                  </a:txBody>
                  <a:tcPr marL="54864" marR="54864" marT="18288" marB="18288" anchor="ctr">
                    <a:solidFill>
                      <a:srgbClr val="FFFFFF"/>
                    </a:solidFill>
                  </a:tcPr>
                </a:tc>
                <a:tc>
                  <a:txBody>
                    <a:bodyPr wrap="square"/>
                    <a:lstStyle/>
                    <a:p>
                      <a:pPr algn="r"/>
                      <a:r>
                        <a:rPr sz="1000" b="0">
                          <a:solidFill>
                            <a:srgbClr val="1E2F5C"/>
                          </a:solidFill>
                          <a:latin typeface="Kanit"/>
                        </a:rPr>
                        <a:t>16.3%</a:t>
                      </a:r>
                    </a:p>
                  </a:txBody>
                  <a:tcPr marL="54864" marR="54864" marT="18288" marB="18288" anchor="ctr">
                    <a:solidFill>
                      <a:srgbClr val="FFFFFF"/>
                    </a:solidFill>
                  </a:tcPr>
                </a:tc>
                <a:tc>
                  <a:txBody>
                    <a:bodyPr wrap="square"/>
                    <a:lstStyle/>
                    <a:p>
                      <a:pPr algn="r"/>
                      <a:r>
                        <a:rPr sz="1000" b="0">
                          <a:solidFill>
                            <a:srgbClr val="1E2F5C"/>
                          </a:solidFill>
                          <a:latin typeface="Kanit"/>
                        </a:rPr>
                        <a:t>43,330</a:t>
                      </a:r>
                    </a:p>
                  </a:txBody>
                  <a:tcPr marL="54864" marR="54864" marT="18288" marB="18288" anchor="ctr">
                    <a:solidFill>
                      <a:srgbClr val="FFFFFF"/>
                    </a:solidFill>
                  </a:tcPr>
                </a:tc>
                <a:tc>
                  <a:txBody>
                    <a:bodyPr wrap="square"/>
                    <a:lstStyle/>
                    <a:p>
                      <a:pPr algn="r"/>
                      <a:r>
                        <a:rPr sz="1000" b="1">
                          <a:solidFill>
                            <a:srgbClr val="CC0000"/>
                          </a:solidFill>
                          <a:latin typeface="Kanit"/>
                        </a:rPr>
                        <a:t>5.53%</a:t>
                      </a:r>
                    </a:p>
                  </a:txBody>
                  <a:tcPr marL="54864" marR="54864" marT="18288" marB="18288" anchor="ctr">
                    <a:solidFill>
                      <a:srgbClr val="FFFFFF"/>
                    </a:solidFill>
                  </a:tcPr>
                </a:tc>
                <a:tc>
                  <a:txBody>
                    <a:bodyPr wrap="square"/>
                    <a:lstStyle/>
                    <a:p>
                      <a:pPr algn="r"/>
                      <a:r>
                        <a:rPr sz="1000" b="0">
                          <a:solidFill>
                            <a:srgbClr val="1E2F5C"/>
                          </a:solidFill>
                          <a:latin typeface="Kanit"/>
                        </a:rPr>
                        <a:t>6.54%</a:t>
                      </a:r>
                    </a:p>
                  </a:txBody>
                  <a:tcPr marL="54864" marR="54864" marT="18288" marB="18288" anchor="ctr">
                    <a:solidFill>
                      <a:srgbClr val="FFFFFF"/>
                    </a:solidFill>
                  </a:tcPr>
                </a:tc>
                <a:tc>
                  <a:txBody>
                    <a:bodyPr wrap="square"/>
                    <a:lstStyle/>
                    <a:p>
                      <a:pPr algn="r"/>
                      <a:r>
                        <a:rPr sz="1000" b="0">
                          <a:solidFill>
                            <a:srgbClr val="1E2F5C"/>
                          </a:solidFill>
                          <a:latin typeface="Kanit"/>
                        </a:rPr>
                        <a:t>6.98%</a:t>
                      </a:r>
                    </a:p>
                  </a:txBody>
                  <a:tcPr marL="54864" marR="54864" marT="18288" marB="18288" anchor="ctr">
                    <a:solidFill>
                      <a:srgbClr val="FFFFFF"/>
                    </a:solidFill>
                  </a:tcPr>
                </a:tc>
              </a:tr>
            </a:tbl>
          </a:graphicData>
        </a:graphic>
      </p:graphicFrame>
      <p:sp>
        <p:nvSpPr>
          <p:cNvPr id="26" name="Rounded Rectangle 25"/>
          <p:cNvSpPr/>
          <p:nvPr/>
        </p:nvSpPr>
        <p:spPr>
          <a:xfrm>
            <a:off x="411480" y="4206240"/>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11480" y="4235500"/>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28" name="TextBox 27"/>
          <p:cNvSpPr txBox="1"/>
          <p:nvPr/>
        </p:nvSpPr>
        <p:spPr>
          <a:xfrm>
            <a:off x="1275385" y="4219955"/>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DLT registered stock and ownership-transfer counts by region and vehicle class, plus MOT fleet totals. Turnover is transfers divided by registered stock — how much of the parc changes hands in a year, which is the depth a repossessed title has to be sold into.</a:t>
            </a:r>
          </a:p>
        </p:txBody>
      </p:sp>
      <p:sp>
        <p:nvSpPr>
          <p:cNvPr id="29" name="Rectangle 28"/>
          <p:cNvSpPr/>
          <p:nvPr/>
        </p:nvSpPr>
        <p:spPr>
          <a:xfrm>
            <a:off x="411480" y="4697729"/>
            <a:ext cx="5568696" cy="134797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411480" y="4697729"/>
            <a:ext cx="50292" cy="134797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30936" y="4844033"/>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Pickups are the slowest-moving thing on the road</a:t>
            </a:r>
          </a:p>
        </p:txBody>
      </p:sp>
      <p:sp>
        <p:nvSpPr>
          <p:cNvPr id="32" name="TextBox 31"/>
          <p:cNvSpPr txBox="1"/>
          <p:nvPr/>
        </p:nvSpPr>
        <p:spPr>
          <a:xfrm>
            <a:off x="630936" y="5048503"/>
            <a:ext cx="5239512" cy="85090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Transfers run 5.2–7.6% of registered pickups a year against 5.6–10.2% for cars — pickup is the slowest-turning class in every single region, and the East is the extreme at 5.21%.
A thinner secondary market is a longer disposal and a wider discount, and it compounds the resale-value slide: the asset that fell furthest is also the one hardest to sell.</a:t>
            </a:r>
          </a:p>
        </p:txBody>
      </p:sp>
      <p:sp>
        <p:nvSpPr>
          <p:cNvPr id="33" name="Rectangle 32"/>
          <p:cNvSpPr/>
          <p:nvPr/>
        </p:nvSpPr>
        <p:spPr>
          <a:xfrm>
            <a:off x="6208776" y="4697729"/>
            <a:ext cx="5568696" cy="168833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6208776" y="4697729"/>
            <a:ext cx="50292" cy="168833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6428232" y="4844033"/>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Electrification is a clock, not a problem</a:t>
            </a:r>
          </a:p>
        </p:txBody>
      </p:sp>
      <p:sp>
        <p:nvSpPr>
          <p:cNvPr id="36" name="TextBox 35"/>
          <p:cNvSpPr txBox="1"/>
          <p:nvPr/>
        </p:nvSpPr>
        <p:spPr>
          <a:xfrm>
            <a:off x="6428232" y="5048503"/>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BEVs are 0.95% of the fleet and electrified vehicles 2.57%. Nothing on the road today is priced by that.
But a title has a five-to-ten-year resale tail, and the fleet mix that sets used values in 2032 is being registered now — 27% of new cars are already brands with no Thai residual history. The question it raises is how to price a title we cannot yet benchmark, not what to do this quarter.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11 · SO WHAT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Five things the macro picture asks of us.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3931920" cy="178689"/>
          </a:xfrm>
          <a:prstGeom prst="rect">
            <a:avLst/>
          </a:prstGeom>
          <a:noFill/>
        </p:spPr>
        <p:txBody>
          <a:bodyPr wrap="square" lIns="0" rIns="0" tIns="0" bIns="0" anchor="t">
            <a:noAutofit/>
          </a:bodyPr>
          <a:lstStyle/>
          <a:p>
            <a:pPr algn="l">
              <a:lnSpc>
                <a:spcPts val="1407"/>
              </a:lnSpc>
            </a:pPr>
            <a:r>
              <a:rPr sz="1050" b="1">
                <a:solidFill>
                  <a:srgbClr val="1E2F5C"/>
                </a:solidFill>
                <a:latin typeface="Kanit"/>
              </a:rPr>
              <a:t>Contact the four-signal provinces before they miss</a:t>
            </a:r>
          </a:p>
        </p:txBody>
      </p:sp>
      <p:sp>
        <p:nvSpPr>
          <p:cNvPr id="10" name="TextBox 9"/>
          <p:cNvSpPr txBox="1"/>
          <p:nvPr/>
        </p:nvSpPr>
        <p:spPr>
          <a:xfrm>
            <a:off x="4617720" y="1152144"/>
            <a:ext cx="7159751" cy="536067"/>
          </a:xfrm>
          <a:prstGeom prst="rect">
            <a:avLst/>
          </a:prstGeom>
          <a:noFill/>
        </p:spPr>
        <p:txBody>
          <a:bodyPr wrap="square" lIns="0" rIns="0" tIns="0" bIns="0" anchor="t">
            <a:noAutofit/>
          </a:bodyPr>
          <a:lstStyle/>
          <a:p>
            <a:pPr algn="l">
              <a:lnSpc>
                <a:spcPts val="1407"/>
              </a:lnSpc>
            </a:pPr>
            <a:r>
              <a:rPr sz="1050" b="0">
                <a:solidFill>
                  <a:srgbClr val="2A3346"/>
                </a:solidFill>
                <a:latin typeface="Kanit"/>
              </a:rPr>
              <a:t>อำนาจเจริญ is the only province of 77 tripping all four external signals — debt at 114% of a year’s income, unemployment 2.84%, rice below cost, rain at 86% of normal. Three more trip three: สุโขทัย, สิงห์บุรี, อุบลราชธานี. Cross that list with who is CURRENT and make contact while a restructure is still cheap — the point is to arrive before the arrears do.</a:t>
            </a:r>
          </a:p>
        </p:txBody>
      </p:sp>
      <p:sp>
        <p:nvSpPr>
          <p:cNvPr id="11" name="Rectangle 10"/>
          <p:cNvSpPr/>
          <p:nvPr/>
        </p:nvSpPr>
        <p:spPr>
          <a:xfrm>
            <a:off x="411480" y="1807083"/>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1925955"/>
            <a:ext cx="3931920" cy="178689"/>
          </a:xfrm>
          <a:prstGeom prst="rect">
            <a:avLst/>
          </a:prstGeom>
          <a:noFill/>
        </p:spPr>
        <p:txBody>
          <a:bodyPr wrap="square" lIns="0" rIns="0" tIns="0" bIns="0" anchor="t">
            <a:noAutofit/>
          </a:bodyPr>
          <a:lstStyle/>
          <a:p>
            <a:pPr algn="l">
              <a:lnSpc>
                <a:spcPts val="1407"/>
              </a:lnSpc>
            </a:pPr>
            <a:r>
              <a:rPr sz="1050" b="1">
                <a:solidFill>
                  <a:srgbClr val="1E2F5C"/>
                </a:solidFill>
                <a:latin typeface="Kanit"/>
              </a:rPr>
              <a:t>Read cost of production, not the price headline</a:t>
            </a:r>
          </a:p>
        </p:txBody>
      </p:sp>
      <p:sp>
        <p:nvSpPr>
          <p:cNvPr id="13" name="TextBox 12"/>
          <p:cNvSpPr txBox="1"/>
          <p:nvPr/>
        </p:nvSpPr>
        <p:spPr>
          <a:xfrm>
            <a:off x="4617720" y="1925955"/>
            <a:ext cx="7159751" cy="536067"/>
          </a:xfrm>
          <a:prstGeom prst="rect">
            <a:avLst/>
          </a:prstGeom>
          <a:noFill/>
        </p:spPr>
        <p:txBody>
          <a:bodyPr wrap="square" lIns="0" rIns="0" tIns="0" bIns="0" anchor="t">
            <a:noAutofit/>
          </a:bodyPr>
          <a:lstStyle/>
          <a:p>
            <a:pPr algn="l">
              <a:lnSpc>
                <a:spcPts val="1407"/>
              </a:lnSpc>
            </a:pPr>
            <a:r>
              <a:rPr sz="1050" b="0">
                <a:solidFill>
                  <a:srgbClr val="2A3346"/>
                </a:solidFill>
                <a:latin typeface="Kanit"/>
              </a:rPr>
              <a:t>Rice prices are UP 13.2% and rice still returns −฿1,433 a tonne, −฿444 per person per month, after cost. Three of the five crops with a full OAE cost series are below cost. Two published prices exist for every crop and only the farm gate belongs beside a cost — the market quote for rice is 2.2× the gate, and the grower does not own that difference.</a:t>
            </a:r>
          </a:p>
        </p:txBody>
      </p:sp>
      <p:sp>
        <p:nvSpPr>
          <p:cNvPr id="14" name="Rectangle 13"/>
          <p:cNvSpPr/>
          <p:nvPr/>
        </p:nvSpPr>
        <p:spPr>
          <a:xfrm>
            <a:off x="411480" y="2580894"/>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11480" y="2699766"/>
            <a:ext cx="3931920" cy="178689"/>
          </a:xfrm>
          <a:prstGeom prst="rect">
            <a:avLst/>
          </a:prstGeom>
          <a:noFill/>
        </p:spPr>
        <p:txBody>
          <a:bodyPr wrap="square" lIns="0" rIns="0" tIns="0" bIns="0" anchor="t">
            <a:noAutofit/>
          </a:bodyPr>
          <a:lstStyle/>
          <a:p>
            <a:pPr algn="l">
              <a:lnSpc>
                <a:spcPts val="1407"/>
              </a:lnSpc>
            </a:pPr>
            <a:r>
              <a:rPr sz="1050" b="1">
                <a:solidFill>
                  <a:srgbClr val="1E2F5C"/>
                </a:solidFill>
                <a:latin typeface="Kanit"/>
              </a:rPr>
              <a:t>Ask OAE for the three missing cost series</a:t>
            </a:r>
          </a:p>
        </p:txBody>
      </p:sp>
      <p:sp>
        <p:nvSpPr>
          <p:cNvPr id="16" name="TextBox 15"/>
          <p:cNvSpPr txBox="1"/>
          <p:nvPr/>
        </p:nvSpPr>
        <p:spPr>
          <a:xfrm>
            <a:off x="4617720" y="2699766"/>
            <a:ext cx="7159751" cy="536067"/>
          </a:xfrm>
          <a:prstGeom prst="rect">
            <a:avLst/>
          </a:prstGeom>
          <a:noFill/>
        </p:spPr>
        <p:txBody>
          <a:bodyPr wrap="square" lIns="0" rIns="0" tIns="0" bIns="0" anchor="t">
            <a:noAutofit/>
          </a:bodyPr>
          <a:lstStyle/>
          <a:p>
            <a:pPr algn="l">
              <a:lnSpc>
                <a:spcPts val="1407"/>
              </a:lnSpc>
            </a:pPr>
            <a:r>
              <a:rPr sz="1050" b="0">
                <a:solidFill>
                  <a:srgbClr val="2A3346"/>
                </a:solidFill>
                <a:latin typeface="Kanit"/>
              </a:rPr>
              <a:t>Sugarcane, coconut and pineapple are 10.7% of the country’s planted area, they are the three crops whose farm-gate prices are FALLING, and they are the three with no published cost of production. We can see the price move and cannot see whether it has taken the grower under. สุพรรณบุรี is drought and a −17.9% cane price at once, and we cannot price it.</a:t>
            </a:r>
          </a:p>
        </p:txBody>
      </p:sp>
      <p:sp>
        <p:nvSpPr>
          <p:cNvPr id="17" name="Rectangle 16"/>
          <p:cNvSpPr/>
          <p:nvPr/>
        </p:nvSpPr>
        <p:spPr>
          <a:xfrm>
            <a:off x="411480" y="3354705"/>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11480" y="3473577"/>
            <a:ext cx="3931920" cy="178689"/>
          </a:xfrm>
          <a:prstGeom prst="rect">
            <a:avLst/>
          </a:prstGeom>
          <a:noFill/>
        </p:spPr>
        <p:txBody>
          <a:bodyPr wrap="square" lIns="0" rIns="0" tIns="0" bIns="0" anchor="t">
            <a:noAutofit/>
          </a:bodyPr>
          <a:lstStyle/>
          <a:p>
            <a:pPr algn="l">
              <a:lnSpc>
                <a:spcPts val="1407"/>
              </a:lnSpc>
            </a:pPr>
            <a:r>
              <a:rPr sz="1050" b="1">
                <a:solidFill>
                  <a:srgbClr val="1E2F5C"/>
                </a:solidFill>
                <a:latin typeface="Kanit"/>
              </a:rPr>
              <a:t>Reprice against a used-vehicle market that changed in 2022</a:t>
            </a:r>
          </a:p>
        </p:txBody>
      </p:sp>
      <p:sp>
        <p:nvSpPr>
          <p:cNvPr id="19" name="TextBox 18"/>
          <p:cNvSpPr txBox="1"/>
          <p:nvPr/>
        </p:nvSpPr>
        <p:spPr>
          <a:xfrm>
            <a:off x="4617720" y="3473577"/>
            <a:ext cx="7159751" cy="536067"/>
          </a:xfrm>
          <a:prstGeom prst="rect">
            <a:avLst/>
          </a:prstGeom>
          <a:noFill/>
        </p:spPr>
        <p:txBody>
          <a:bodyPr wrap="square" lIns="0" rIns="0" tIns="0" bIns="0" anchor="t">
            <a:noAutofit/>
          </a:bodyPr>
          <a:lstStyle/>
          <a:p>
            <a:pPr algn="l">
              <a:lnSpc>
                <a:spcPts val="1407"/>
              </a:lnSpc>
            </a:pPr>
            <a:r>
              <a:rPr sz="1050" b="0">
                <a:solidFill>
                  <a:srgbClr val="2A3346"/>
                </a:solidFill>
                <a:latin typeface="Kanit"/>
              </a:rPr>
              <a:t>Pickup resale is 33 points below its own 2015 base and the slowest-turning class in every region; the six-month bounce has not recovered the level. Five PU nameplates carry three quarters of that market and we can price all five from Thai history — but the biggest car nameplate is 12.5%, and behind it sits a long tail with no residual record at all.</a:t>
            </a:r>
          </a:p>
        </p:txBody>
      </p:sp>
      <p:sp>
        <p:nvSpPr>
          <p:cNvPr id="20" name="Rectangle 19"/>
          <p:cNvSpPr/>
          <p:nvPr/>
        </p:nvSpPr>
        <p:spPr>
          <a:xfrm>
            <a:off x="411480" y="4128516"/>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411480" y="4247388"/>
            <a:ext cx="3931920" cy="178689"/>
          </a:xfrm>
          <a:prstGeom prst="rect">
            <a:avLst/>
          </a:prstGeom>
          <a:noFill/>
        </p:spPr>
        <p:txBody>
          <a:bodyPr wrap="square" lIns="0" rIns="0" tIns="0" bIns="0" anchor="t">
            <a:noAutofit/>
          </a:bodyPr>
          <a:lstStyle/>
          <a:p>
            <a:pPr algn="l">
              <a:lnSpc>
                <a:spcPts val="1407"/>
              </a:lnSpc>
            </a:pPr>
            <a:r>
              <a:rPr sz="1050" b="1">
                <a:solidFill>
                  <a:srgbClr val="1E2F5C"/>
                </a:solidFill>
                <a:latin typeface="Kanit"/>
              </a:rPr>
              <a:t>Fix the two instruments we are reading blind</a:t>
            </a:r>
          </a:p>
        </p:txBody>
      </p:sp>
      <p:sp>
        <p:nvSpPr>
          <p:cNvPr id="22" name="TextBox 21"/>
          <p:cNvSpPr txBox="1"/>
          <p:nvPr/>
        </p:nvSpPr>
        <p:spPr>
          <a:xfrm>
            <a:off x="4617720" y="4247388"/>
            <a:ext cx="7159751" cy="536067"/>
          </a:xfrm>
          <a:prstGeom prst="rect">
            <a:avLst/>
          </a:prstGeom>
          <a:noFill/>
        </p:spPr>
        <p:txBody>
          <a:bodyPr wrap="square" lIns="0" rIns="0" tIns="0" bIns="0" anchor="t">
            <a:noAutofit/>
          </a:bodyPr>
          <a:lstStyle/>
          <a:p>
            <a:pPr algn="l">
              <a:lnSpc>
                <a:spcPts val="1407"/>
              </a:lnSpc>
            </a:pPr>
            <a:r>
              <a:rPr sz="1050" b="0">
                <a:solidFill>
                  <a:srgbClr val="2A3346"/>
                </a:solidFill>
                <a:latin typeface="Kanit"/>
              </a:rPr>
              <a:t>Transport shows −3.28% in every region because one crude-oil move passes through one chosen coefficient — no Thai diesel or freight series sits behind it, and transport is the occupation whose vehicle IS the income. And the crop-cost signal trips in 70 of 77 provinces, so it cannot discriminate.</a:t>
            </a:r>
          </a:p>
        </p:txBody>
      </p:sp>
      <p:sp>
        <p:nvSpPr>
          <p:cNvPr id="23" name="Rectangle 22"/>
          <p:cNvSpPr/>
          <p:nvPr/>
        </p:nvSpPr>
        <p:spPr>
          <a:xfrm>
            <a:off x="411480" y="5048631"/>
            <a:ext cx="11365992" cy="1033144"/>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411480" y="5048631"/>
            <a:ext cx="50292" cy="1033144"/>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30936" y="5194935"/>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Scope, stated</a:t>
            </a:r>
          </a:p>
        </p:txBody>
      </p:sp>
      <p:sp>
        <p:nvSpPr>
          <p:cNvPr id="26" name="TextBox 25"/>
          <p:cNvSpPr txBox="1"/>
          <p:nvPr/>
        </p:nvSpPr>
        <p:spPr>
          <a:xfrm>
            <a:off x="630936" y="5399405"/>
            <a:ext cx="11036808" cy="536067"/>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Everything above is external data — published statistics about the economy, the crops, water and the used-vehicle market. It points at regions, provinces and the districts under them, never at a person. Turning a geography into a call list is the Assistance tab’s job and belongs in that conversation, with the book beside it. Nothing here is an argument to open, close or expand anything.</a:t>
            </a:r>
          </a:p>
        </p:txBody>
      </p:sp>
      <p:sp>
        <p:nvSpPr>
          <p:cNvPr id="27" name="TextBox 26"/>
          <p:cNvSpPr txBox="1"/>
          <p:nvPr/>
        </p:nvSpPr>
        <p:spPr>
          <a:xfrm>
            <a:off x="411480" y="6209792"/>
            <a:ext cx="11365992" cy="317500"/>
          </a:xfrm>
          <a:prstGeom prst="rect">
            <a:avLst/>
          </a:prstGeom>
          <a:noFill/>
        </p:spPr>
        <p:txBody>
          <a:bodyPr wrap="square" lIns="0" rIns="0" tIns="0" bIns="0" anchor="t">
            <a:noAutofit/>
          </a:bodyPr>
          <a:lstStyle/>
          <a:p>
            <a:pPr algn="l">
              <a:lnSpc>
                <a:spcPts val="1250"/>
              </a:lnSpc>
            </a:pPr>
            <a:r>
              <a:rPr sz="900" b="0">
                <a:solidFill>
                  <a:srgbClr val="606060"/>
                </a:solidFill>
                <a:latin typeface="Kanit"/>
              </a:rPr>
              <a:t>Vintages — world prices 2026M06 · Thai farm gate 2026-08-03 · crop cost of production OAE Cai-up 2568 · drought 2026-06-21 · CPI 2026-05 · GDP 2026-Q1 · IMF WEO 2026 · resale index 2026-05 · registrations to 2026-01 · household debt NSO SES 2566 · wages NSO LFS 2568 · telemetry 2026-08-04.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