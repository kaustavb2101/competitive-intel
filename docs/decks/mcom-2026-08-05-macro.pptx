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Scope: the Macro tab — external conditions only. The economy, crop prices and the used-vehicle market, all published by someone else. What any of it costs us is the Exposure and Risk conversation; competition and the branch views are separate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they take one thing: the macro is stable, the crops are mixed, the collateral is deteriorating — and the borrower was already thin before any of it. Scope is external conditions; the book readouts live on Exposure and Risk, not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Economy is fine — the region and the arrears line are the story. Slow growth, thin fiscal cushion, arrears up in most of the last year. Less relief room than 2020–21.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drill goes from a national number to a district without changing instrument. Household debt is now months of income, not baht — that's the underwriting frame. If someone reaches for near-zero unemployment as evidence the borrower is fine, this is the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points. First, the world index and the Thai farm gate can face opposite ways, and only one of them is what a Thai grower is paid — beef is the clean example. Second, the last column is farmers, not all accounts: the app's 'book exposed' number counts every borrower in the belt and about four in five of them are not farming.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YoY hides a slow move: sugar is down most months since its 2023 peak, not a one-off dip; rubber only just cleared its own 2021 level. We convert only the latest price to baht — the five-year peak stays in US$ so we don’t mix an old price with today’s FX.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earns agriculture a section is that its hazards are external and forecastable — price, cost, rainfall — which is rare. The crop-mix column is now the full published mix for each province, every crop, summing to 100 — not just the lead crop.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profitability argument is gone on purpose — it covered five crops and invited a fight about which published price is right. This shows the price the grower is actually paid, for every commodity we can measure, with its own six-month line. The point to land: year-on-year and six-month disagree on direction for several of them, so a single annual number is not enough to act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things: farming is up everywhere and still under half the local wage — size the programme off the floor province, not the mean. Be upfront that the transport number is one national assumption, not five measurements.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clocks, kept apart: SPEI is the season (modelled, monthly), ThaiWater is today (measured, live). GISTDA is a third, separate thing — which ground floods anyway — its own card, never blended into either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Ranked on how many of four signals tripped, not on two of them — that is why สิงห์บุรี appears despite low debt. The crop test trips almost everywhere and does not discriminate; debt, jobs and rain do. Geographies, not people.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Slow down here. Everything before was conditions on the borrower; this is conditions on the security, which is the part with an underwriting consequence.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windows: pickup +12.5% over six months but −0.4% over twelve — the fall has stopped, not reversed. Level still well below 2015.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Pickup's six-month slope is not a recovery — ex-flag it is -986/mo. The same month inflates car growth from +11.0% to +34.3%. Quote the 12-month 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Pickup pool shrinks without changing shape — residual values stay predictable. Cars are the opposite: a growing share carries no Thai residual record to price against.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Advance rates are set per model, not brand. PU is five rows we can price from history. PA is a long tail of models registered for the first time this year — the trim-split caveat makes PA shares a floor, but it does not change the conclusion.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caveat first: this is what ENTERED the road each year, not what is on it — DLT publishes no stock by model, so the parc by nameplate cannot be built. What it shows is a four-year collapse in pickup supply with the same nameplates on top throughout, which is a volume problem rather than a mix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of the table: pickup is both the smallest class of the three and the slowest to turn over. Turnover is the depth a repossession actually sells into.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short asks, easiest slide in the deck to read. The farm-income ask now stands on the price shock, not the OAE cost table — that argument left with 06. Close on scope: external conditions only, no book, no open/close/expand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0"/>
            <a:ext cx="2377440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11512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9260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43200"/>
            <a:ext cx="8503920" cy="965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</a:pPr>
            <a:r>
              <a:rPr sz="3000" b="1">
                <a:solidFill>
                  <a:srgbClr val="FFFFFF"/>
                </a:solidFill>
                <a:latin typeface="Kanit"/>
              </a:rPr>
              <a:t>Macro: the conditions
we are lending into.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24528"/>
            <a:ext cx="8503920" cy="241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0"/>
              </a:lnSpc>
            </a:pPr>
            <a:r>
              <a:rPr sz="1300" b="0">
                <a:solidFill>
                  <a:srgbClr val="F5C242"/>
                </a:solidFill>
                <a:latin typeface="Kanit"/>
              </a:rPr>
              <a:t>MCOM · Wednesday 5 August 2026 · AutoX / บริษัท ออโต้ เอกซ์ จำกัด (เงินไชโย)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60720"/>
            <a:ext cx="5486400" cy="268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12"/>
              </a:lnSpc>
            </a:pPr>
            <a:r>
              <a:rPr sz="1600" b="1">
                <a:solidFill>
                  <a:srgbClr val="FFFFFF"/>
                </a:solidFill>
                <a:latin typeface="Kanit"/>
              </a:rPr>
              <a:t>Aug ’26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Restricted Data – Reproduction is prohibited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THE ANSWER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Four questions about the world outside the company.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Is the economy
the problem?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152144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 — stable, not strong.
• GDP +2.8%, CPI +2.79% — both above the IMF's 2026 forecast. Policy rate 1.00%.
• Slowest growth in ASEAN-5: Thailand 1.5% vs Vietnam 7.1%.
• Government debt 66.8% of GDP vs Vietnam's 29.8% — thinnest cushion in the group.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19807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38679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Are crop prices
the problem?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138679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Not on the world index — the farm gate (ราคาที่เกษตรกรขายได้) says otherwise.
• Five of seventeen Thai farm-gate prices are falling year on year.
• Beef: farm gate −6.1% vs world index +8.8%.
• Margin over price: a 26% price move becomes an 86% swing in crop income.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006343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125215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What is
deteriorating?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125215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The collateral — the used-pickup (รถกระบะ) market.
• Resale value −50% off peak, -33 pts below its 2015 base.
• New pickup registrations −15.3% year on year.
• Hilux Revo −21.5%, worst nameplate Ranger −30.0%.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99287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4111751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And the
borrower?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111751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Thin before any of this.
• Farming pays ฿7,157–14,213/month vs an employee wage of ฿13,676–17,723.
• Three of five full-cost crops pay below cost of production.
• 60% of households have no 3-month cushion; arrears rose in three of the last four quarters.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62296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519155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5385" y="5176011"/>
            <a:ext cx="10502086" cy="3257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82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NESDC · TPSO · Bank of Thailand · BIS · ECB · IMF · World Bank · NABC · OAE · DLT · MOT · NSO · ThaiWater. Each page carries its own chip and vintage; where a figure is modelled rather than published it is labelled ESTIMATED.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670931"/>
            <a:ext cx="11365992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What follows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872099"/>
            <a:ext cx="11365992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01–02  macro backdrop        03–08  agriculture: prices, belts, cost, income, water        09  where to reach out first        10  collateral        11  what it asks of us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01 · MACRO OVERLAY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Benign at home, slowest in the region, and system arrears are turning.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GDP growth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YoY · measured quarter, not a projection · NESDC 2026-Q1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28672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5832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Inflation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5832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+2.79%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5832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headline CPI YoY · TPSO · 2026-05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5864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3024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Policy 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3024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1.00%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3024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Bank of Thailand · 2026-06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USD / THB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32.69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ECB reference · 2026-08-24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0247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7408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Household debt 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7408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87.5%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7408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GDP · BIS · 2025-Q4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744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3460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Tourist arrivals นักท่องเที่ยว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460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32.2M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460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trailing 12m · −6.6% YoY · BoT 2026-06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2450591"/>
          <a:ext cx="5897880" cy="16230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19026"/>
                <a:gridCol w="1002254"/>
                <a:gridCol w="886609"/>
                <a:gridCol w="1156447"/>
                <a:gridCol w="123354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IMF 2026 projection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GDP growth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Inflation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Govt debt/GDP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Thailand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Vietnam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Indonesia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Malaysia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69.5%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Philippines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6583680" y="2450591"/>
            <a:ext cx="5193792" cy="15544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67728" y="3730752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366217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67728" y="2596896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2528315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50079" y="2578608"/>
            <a:ext cx="54451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System NPL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12335" y="2638044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967728" y="2667762"/>
            <a:ext cx="4718304" cy="756848"/>
          </a:xfrm>
          <a:custGeom>
            <a:avLst/>
            <a:gdLst/>
            <a:ahLst/>
            <a:cxnLst/>
            <a:rect l="l" t="t" r="r" b="b"/>
            <a:pathLst>
              <a:path w="4718304" h="756848">
                <a:moveTo>
                  <a:pt x="0" y="328818"/>
                </a:moveTo>
                <a:lnTo>
                  <a:pt x="120982" y="260786"/>
                </a:lnTo>
                <a:lnTo>
                  <a:pt x="241964" y="351495"/>
                </a:lnTo>
                <a:lnTo>
                  <a:pt x="362946" y="374172"/>
                </a:lnTo>
                <a:lnTo>
                  <a:pt x="483928" y="609447"/>
                </a:lnTo>
                <a:lnTo>
                  <a:pt x="604910" y="507400"/>
                </a:lnTo>
                <a:lnTo>
                  <a:pt x="725892" y="606612"/>
                </a:lnTo>
                <a:lnTo>
                  <a:pt x="846875" y="657636"/>
                </a:lnTo>
                <a:lnTo>
                  <a:pt x="967857" y="632124"/>
                </a:lnTo>
                <a:lnTo>
                  <a:pt x="1088839" y="572597"/>
                </a:lnTo>
                <a:lnTo>
                  <a:pt x="1209821" y="606612"/>
                </a:lnTo>
                <a:lnTo>
                  <a:pt x="1330803" y="615116"/>
                </a:lnTo>
                <a:lnTo>
                  <a:pt x="1451785" y="555589"/>
                </a:lnTo>
                <a:lnTo>
                  <a:pt x="1572768" y="515904"/>
                </a:lnTo>
                <a:lnTo>
                  <a:pt x="1693750" y="589605"/>
                </a:lnTo>
                <a:lnTo>
                  <a:pt x="1814732" y="527243"/>
                </a:lnTo>
                <a:lnTo>
                  <a:pt x="1935714" y="598109"/>
                </a:lnTo>
                <a:lnTo>
                  <a:pt x="2056696" y="620786"/>
                </a:lnTo>
                <a:lnTo>
                  <a:pt x="2177678" y="719998"/>
                </a:lnTo>
                <a:lnTo>
                  <a:pt x="2298660" y="756848"/>
                </a:lnTo>
                <a:lnTo>
                  <a:pt x="2419643" y="714329"/>
                </a:lnTo>
                <a:lnTo>
                  <a:pt x="2540625" y="640628"/>
                </a:lnTo>
                <a:lnTo>
                  <a:pt x="2661607" y="479054"/>
                </a:lnTo>
                <a:lnTo>
                  <a:pt x="2782589" y="476219"/>
                </a:lnTo>
                <a:lnTo>
                  <a:pt x="2903571" y="150235"/>
                </a:lnTo>
                <a:lnTo>
                  <a:pt x="3024553" y="0"/>
                </a:lnTo>
                <a:lnTo>
                  <a:pt x="3145536" y="323148"/>
                </a:lnTo>
                <a:lnTo>
                  <a:pt x="3266518" y="433699"/>
                </a:lnTo>
                <a:lnTo>
                  <a:pt x="3387500" y="371337"/>
                </a:lnTo>
                <a:lnTo>
                  <a:pt x="3508482" y="362833"/>
                </a:lnTo>
                <a:lnTo>
                  <a:pt x="3629464" y="583935"/>
                </a:lnTo>
                <a:lnTo>
                  <a:pt x="3750446" y="456377"/>
                </a:lnTo>
                <a:lnTo>
                  <a:pt x="3871428" y="286298"/>
                </a:lnTo>
                <a:lnTo>
                  <a:pt x="3992411" y="201259"/>
                </a:lnTo>
                <a:lnTo>
                  <a:pt x="4113393" y="328818"/>
                </a:lnTo>
                <a:lnTo>
                  <a:pt x="4234375" y="428030"/>
                </a:lnTo>
                <a:lnTo>
                  <a:pt x="4355357" y="379841"/>
                </a:lnTo>
                <a:lnTo>
                  <a:pt x="4476339" y="348660"/>
                </a:lnTo>
                <a:lnTo>
                  <a:pt x="4597321" y="402518"/>
                </a:lnTo>
                <a:lnTo>
                  <a:pt x="4718304" y="35999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47794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9580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1366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03152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2459735"/>
            <a:ext cx="510235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Thai banking-system NPL หนี้เสีย, % of loans · 40 quarters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16966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19892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75385" y="4183379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NESDC 2026-Q1 · TPSO 2026-05 · Bank of Thailand 2026-06 · BIS 2025-Q4 · ECB 2026-08-24, each pulled from the publishing agency. IMF World Economic Outlook 2026 (pulled 2026-07-25) for the peer table. BoT published NPL ratio — 4.48% at 2026-Q1, 4.33% the quarter before, +0.24pp on the year, 3.08% low in 2021-Q1.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4661154"/>
            <a:ext cx="5568696" cy="134797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4661154"/>
            <a:ext cx="50292" cy="134797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Growth beat the IMF's own 2026 forecast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Growth: IMF forecast 1.5%, actual +2.8%.
• Inflation: IMF forecast 0.9%, actual +2.79%.
• We use the Thai number over the projection, wherever one exists.
• Exception: tourism, −6.6% YoY (trailing 12 months) — feeds informal income in the South and East, missing from crop and fleet data.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08776" y="4661154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08776" y="4661154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28232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Slowest growth in the region, least room to cushion it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28232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Thailand grows 1.5%. The rest of the region runs 4.1–7.1%.
• Govt debt 66.8% of GDP vs Vietnam's 29.8%.
• Less fiscal room for relief than in 2020–21.
• System arrears rose in three of the last four quarters — bank loans, a direction not a benchmark.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02 · CONDITIONS ON THE 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Five lenses, from the country down to a district.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Labour force กำลังแรงงาน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41.9M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unemployment 0.94% · seasonal idle 0.77%, 325k waiting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45864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024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Informal work นอกระบบ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024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63.2%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3024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no payslip or social cover · core borrower base (2024)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0247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7408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Vehicle fleet รถจดทะเบียน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7408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44.3M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7408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diesel 56.3% · EV 2.57%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Districts dry ภัยแล้ง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36.4%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338 of 928 districts · 135 of 794 rivers high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45864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024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Household debt 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024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6.3 months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debt ÷ monthly income, all households · 45% carry debt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80247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7408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No cushion กันชนทางการเงิน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7408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7408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savings buffer, not debt — would last under 3 months without income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3593591"/>
          <a:ext cx="11365992" cy="15544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1188720"/>
                <a:gridCol w="1280160"/>
                <a:gridCol w="1188720"/>
                <a:gridCol w="1097280"/>
                <a:gridCol w="822960"/>
                <a:gridCol w="1234440"/>
                <a:gridCol w="1051560"/>
                <a:gridCol w="1371600"/>
                <a:gridCol w="8503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labour force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seasonal idle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vehicle fleet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diesel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districts dry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rivers 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household debt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new firms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256k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25/156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฿200,540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6.4M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7.5M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20/273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฿182,968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30/168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฿217,176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4.3M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13/52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16.0M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0.97%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17.9M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47/145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411480" y="5276088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5305348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385" y="5289803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NSO LFS · ILOSTAT · DLT · MOT · DBD · ThaiWater · BoT/NSO household debt. Labour, fleet and water roll province → region → national on their own weight, never a plain average. The debt card is BoT/NSO 2562 (2019), ALL households — not only the 45% carrying debt. The table's region column is a newer cut, 2566 (2023), in baht: income is not published at region grain for enough regions to convert it. East shares Central's figure.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885306"/>
            <a:ext cx="11365992" cy="66725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5885306"/>
            <a:ext cx="50292" cy="66725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" y="603161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0.94% unemployment hides informal work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" y="6236080"/>
            <a:ext cx="11036808" cy="170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A lost formal job reappears as informal work, not as unemployment — on lower, less predictable pay. Read informality, seasonal idle and the cushion instead. Isan's seasonal idle is 4.8× the North's.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03 · COMMODITY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The world index says tailwind. The Thai farm gate does not.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Seventeen of the 21 commodities we track have a measured Thai farm-gate price (ราคาที่เกษตรกรขายได้). Five are falling year on year.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148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432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Six months beside the year: they disagree on direction more often than they agree on size.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0436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6720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The last column is OUR farming customers living in that belt — the only loan-book number in this deck.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11480" y="2033016"/>
          <a:ext cx="11365992" cy="160019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/>
                <a:gridCol w="1097280"/>
                <a:gridCol w="1645920"/>
                <a:gridCol w="1371600"/>
                <a:gridCol w="1371600"/>
                <a:gridCol w="2011680"/>
                <a:gridCol w="18105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Falling at the farm gate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Segment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Belt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Farm-gate 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Farm-gate 6m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Farming accounts in belt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our accounts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Coconut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−67.4%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Pineapple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E · W · 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−18.4%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+48.0%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5,108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Sugar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Isan · 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19,771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Rambutan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Crops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S · 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8,270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Beef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Livestock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no series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31,240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11480" y="376123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79049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955" y="3774947"/>
            <a:ext cx="10720516" cy="6172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Prices MEASURED — NABC daily quotes for the Thai farm gate, OCSB announced cane price; newest quote 2026-08-28. The six-month move is computed from NABC's own monthly series (thai_price_history, vintage 2026-08-23); a crop with no monthly series is marked, never estimated. Belt is an ESTIMATED read of where each commodity is produced, and belts overlap. Farming accounts are OURS and MEASURED — accounts whose recorded occupation is เกษตร in the belt provinces, from the 382,735-account tape at 2026-07; no cell below 30 accounts is published. They live where the crop grows; they are not confirmed to grow 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524756"/>
            <a:ext cx="11365992" cy="675767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4524756"/>
            <a:ext cx="50292" cy="675767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467106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Beef: the world index is the wrong instrument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4875529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World beef +8.8%, Thai farm gate −6.1% — a 14.9-point gap, opposite directions. 31,240 of our farming customers live in the beef belt, Isan.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04 · FIVE YEARS OF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Sugar has not fallen for a year. It has fallen for four.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52144"/>
            <a:ext cx="6903720" cy="278892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8" y="3666744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598163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2778633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1005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" y="1298448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12298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3052" y="1280160"/>
            <a:ext cx="56926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Sugar น้ำตาล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5308" y="1339596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8012" y="1280160"/>
            <a:ext cx="87099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F5C242"/>
                </a:solidFill>
                <a:latin typeface="Kanit"/>
              </a:rPr>
              <a:t>Palm oil ปาล์มน้ำมัน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0268" y="1339596"/>
            <a:ext cx="164592" cy="25603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3113" y="1280160"/>
            <a:ext cx="38085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Rice ข้าว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5369" y="1339596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4825" y="1280160"/>
            <a:ext cx="744239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Rubber ยางพารา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77081" y="1339596"/>
            <a:ext cx="164592" cy="25603"/>
          </a:xfrm>
          <a:prstGeom prst="rect">
            <a:avLst/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795528" y="2030750"/>
            <a:ext cx="6428232" cy="1114034"/>
          </a:xfrm>
          <a:custGeom>
            <a:avLst/>
            <a:gdLst/>
            <a:ahLst/>
            <a:cxnLst/>
            <a:rect l="l" t="t" r="r" b="b"/>
            <a:pathLst>
              <a:path w="6428232" h="1114034">
                <a:moveTo>
                  <a:pt x="0" y="747883"/>
                </a:moveTo>
                <a:lnTo>
                  <a:pt x="108953" y="833577"/>
                </a:lnTo>
                <a:lnTo>
                  <a:pt x="217906" y="771254"/>
                </a:lnTo>
                <a:lnTo>
                  <a:pt x="326859" y="724511"/>
                </a:lnTo>
                <a:lnTo>
                  <a:pt x="435812" y="732302"/>
                </a:lnTo>
                <a:lnTo>
                  <a:pt x="544765" y="693349"/>
                </a:lnTo>
                <a:lnTo>
                  <a:pt x="653718" y="584283"/>
                </a:lnTo>
                <a:lnTo>
                  <a:pt x="762671" y="576493"/>
                </a:lnTo>
                <a:lnTo>
                  <a:pt x="871624" y="599864"/>
                </a:lnTo>
                <a:lnTo>
                  <a:pt x="980577" y="623235"/>
                </a:lnTo>
                <a:lnTo>
                  <a:pt x="1089530" y="646607"/>
                </a:lnTo>
                <a:lnTo>
                  <a:pt x="1198483" y="841368"/>
                </a:lnTo>
                <a:lnTo>
                  <a:pt x="1307437" y="973805"/>
                </a:lnTo>
                <a:lnTo>
                  <a:pt x="1416390" y="1075081"/>
                </a:lnTo>
                <a:lnTo>
                  <a:pt x="1525343" y="1059500"/>
                </a:lnTo>
                <a:lnTo>
                  <a:pt x="1634296" y="1114034"/>
                </a:lnTo>
                <a:lnTo>
                  <a:pt x="1743249" y="1028339"/>
                </a:lnTo>
                <a:lnTo>
                  <a:pt x="1852202" y="958225"/>
                </a:lnTo>
                <a:lnTo>
                  <a:pt x="1961155" y="966015"/>
                </a:lnTo>
                <a:lnTo>
                  <a:pt x="2070108" y="997177"/>
                </a:lnTo>
                <a:lnTo>
                  <a:pt x="2179061" y="1028339"/>
                </a:lnTo>
                <a:lnTo>
                  <a:pt x="2288014" y="1012758"/>
                </a:lnTo>
                <a:lnTo>
                  <a:pt x="2396967" y="1036129"/>
                </a:lnTo>
                <a:lnTo>
                  <a:pt x="2505920" y="1067291"/>
                </a:lnTo>
                <a:lnTo>
                  <a:pt x="2614874" y="1082872"/>
                </a:lnTo>
                <a:lnTo>
                  <a:pt x="2723827" y="1020548"/>
                </a:lnTo>
                <a:lnTo>
                  <a:pt x="2832780" y="973805"/>
                </a:lnTo>
                <a:lnTo>
                  <a:pt x="2941733" y="927063"/>
                </a:lnTo>
                <a:lnTo>
                  <a:pt x="3050686" y="934853"/>
                </a:lnTo>
                <a:lnTo>
                  <a:pt x="3159639" y="825787"/>
                </a:lnTo>
                <a:lnTo>
                  <a:pt x="3268592" y="654397"/>
                </a:lnTo>
                <a:lnTo>
                  <a:pt x="3377545" y="366151"/>
                </a:lnTo>
                <a:lnTo>
                  <a:pt x="3486498" y="451846"/>
                </a:lnTo>
                <a:lnTo>
                  <a:pt x="3595451" y="553121"/>
                </a:lnTo>
                <a:lnTo>
                  <a:pt x="3704404" y="467426"/>
                </a:lnTo>
                <a:lnTo>
                  <a:pt x="3813357" y="623235"/>
                </a:lnTo>
                <a:lnTo>
                  <a:pt x="3922311" y="366151"/>
                </a:lnTo>
                <a:lnTo>
                  <a:pt x="4031264" y="163599"/>
                </a:lnTo>
                <a:lnTo>
                  <a:pt x="4140217" y="179180"/>
                </a:lnTo>
                <a:lnTo>
                  <a:pt x="4249170" y="444055"/>
                </a:lnTo>
                <a:lnTo>
                  <a:pt x="4358123" y="373941"/>
                </a:lnTo>
                <a:lnTo>
                  <a:pt x="4467076" y="381731"/>
                </a:lnTo>
                <a:lnTo>
                  <a:pt x="4576029" y="350570"/>
                </a:lnTo>
                <a:lnTo>
                  <a:pt x="4684982" y="389522"/>
                </a:lnTo>
                <a:lnTo>
                  <a:pt x="4793935" y="568702"/>
                </a:lnTo>
                <a:lnTo>
                  <a:pt x="4902888" y="521960"/>
                </a:lnTo>
                <a:lnTo>
                  <a:pt x="5011841" y="545331"/>
                </a:lnTo>
                <a:lnTo>
                  <a:pt x="5120794" y="490798"/>
                </a:lnTo>
                <a:lnTo>
                  <a:pt x="5229748" y="553121"/>
                </a:lnTo>
                <a:lnTo>
                  <a:pt x="5338701" y="584283"/>
                </a:lnTo>
                <a:lnTo>
                  <a:pt x="5447654" y="669978"/>
                </a:lnTo>
                <a:lnTo>
                  <a:pt x="5556607" y="646607"/>
                </a:lnTo>
                <a:lnTo>
                  <a:pt x="5665560" y="623235"/>
                </a:lnTo>
                <a:lnTo>
                  <a:pt x="5774513" y="560912"/>
                </a:lnTo>
                <a:lnTo>
                  <a:pt x="5883466" y="467426"/>
                </a:lnTo>
                <a:lnTo>
                  <a:pt x="5992419" y="366151"/>
                </a:lnTo>
                <a:lnTo>
                  <a:pt x="6101372" y="272665"/>
                </a:lnTo>
                <a:lnTo>
                  <a:pt x="6210325" y="132437"/>
                </a:lnTo>
                <a:lnTo>
                  <a:pt x="6319278" y="0"/>
                </a:lnTo>
                <a:lnTo>
                  <a:pt x="6428232" y="62323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795528" y="1834693"/>
            <a:ext cx="6428232" cy="1116567"/>
          </a:xfrm>
          <a:custGeom>
            <a:avLst/>
            <a:gdLst/>
            <a:ahLst/>
            <a:cxnLst/>
            <a:rect l="l" t="t" r="r" b="b"/>
            <a:pathLst>
              <a:path w="6428232" h="1116567">
                <a:moveTo>
                  <a:pt x="0" y="943940"/>
                </a:moveTo>
                <a:lnTo>
                  <a:pt x="108953" y="954958"/>
                </a:lnTo>
                <a:lnTo>
                  <a:pt x="217906" y="951285"/>
                </a:lnTo>
                <a:lnTo>
                  <a:pt x="326859" y="954958"/>
                </a:lnTo>
                <a:lnTo>
                  <a:pt x="435812" y="954958"/>
                </a:lnTo>
                <a:lnTo>
                  <a:pt x="544765" y="855790"/>
                </a:lnTo>
                <a:lnTo>
                  <a:pt x="653718" y="855790"/>
                </a:lnTo>
                <a:lnTo>
                  <a:pt x="762671" y="874154"/>
                </a:lnTo>
                <a:lnTo>
                  <a:pt x="871624" y="841098"/>
                </a:lnTo>
                <a:lnTo>
                  <a:pt x="980577" y="719892"/>
                </a:lnTo>
                <a:lnTo>
                  <a:pt x="1089530" y="793350"/>
                </a:lnTo>
                <a:lnTo>
                  <a:pt x="1198483" y="888846"/>
                </a:lnTo>
                <a:lnTo>
                  <a:pt x="1307437" y="841098"/>
                </a:lnTo>
                <a:lnTo>
                  <a:pt x="1416390" y="811715"/>
                </a:lnTo>
                <a:lnTo>
                  <a:pt x="1525343" y="841098"/>
                </a:lnTo>
                <a:lnTo>
                  <a:pt x="1634296" y="808042"/>
                </a:lnTo>
                <a:lnTo>
                  <a:pt x="1743249" y="708873"/>
                </a:lnTo>
                <a:lnTo>
                  <a:pt x="1852202" y="525227"/>
                </a:lnTo>
                <a:lnTo>
                  <a:pt x="1961155" y="617050"/>
                </a:lnTo>
                <a:lnTo>
                  <a:pt x="2070108" y="675817"/>
                </a:lnTo>
                <a:lnTo>
                  <a:pt x="2179061" y="583994"/>
                </a:lnTo>
                <a:lnTo>
                  <a:pt x="2288014" y="550938"/>
                </a:lnTo>
                <a:lnTo>
                  <a:pt x="2396967" y="536246"/>
                </a:lnTo>
                <a:lnTo>
                  <a:pt x="2505920" y="415040"/>
                </a:lnTo>
                <a:lnTo>
                  <a:pt x="2614874" y="91823"/>
                </a:lnTo>
                <a:lnTo>
                  <a:pt x="2723827" y="146917"/>
                </a:lnTo>
                <a:lnTo>
                  <a:pt x="2832780" y="257104"/>
                </a:lnTo>
                <a:lnTo>
                  <a:pt x="2941733" y="227721"/>
                </a:lnTo>
                <a:lnTo>
                  <a:pt x="3050686" y="58767"/>
                </a:lnTo>
                <a:lnTo>
                  <a:pt x="3159639" y="0"/>
                </a:lnTo>
                <a:lnTo>
                  <a:pt x="3268592" y="132225"/>
                </a:lnTo>
                <a:lnTo>
                  <a:pt x="3377545" y="172627"/>
                </a:lnTo>
                <a:lnTo>
                  <a:pt x="3486498" y="249758"/>
                </a:lnTo>
                <a:lnTo>
                  <a:pt x="3595451" y="117533"/>
                </a:lnTo>
                <a:lnTo>
                  <a:pt x="3704404" y="102842"/>
                </a:lnTo>
                <a:lnTo>
                  <a:pt x="3813357" y="257104"/>
                </a:lnTo>
                <a:lnTo>
                  <a:pt x="3922311" y="260777"/>
                </a:lnTo>
                <a:lnTo>
                  <a:pt x="4031264" y="293833"/>
                </a:lnTo>
                <a:lnTo>
                  <a:pt x="4140217" y="532573"/>
                </a:lnTo>
                <a:lnTo>
                  <a:pt x="4249170" y="547265"/>
                </a:lnTo>
                <a:lnTo>
                  <a:pt x="4358123" y="488498"/>
                </a:lnTo>
                <a:lnTo>
                  <a:pt x="4467076" y="668471"/>
                </a:lnTo>
                <a:lnTo>
                  <a:pt x="4576029" y="819060"/>
                </a:lnTo>
                <a:lnTo>
                  <a:pt x="4684982" y="863135"/>
                </a:lnTo>
                <a:lnTo>
                  <a:pt x="4793935" y="899865"/>
                </a:lnTo>
                <a:lnTo>
                  <a:pt x="4902888" y="841098"/>
                </a:lnTo>
                <a:lnTo>
                  <a:pt x="5011841" y="885173"/>
                </a:lnTo>
                <a:lnTo>
                  <a:pt x="5120794" y="984342"/>
                </a:lnTo>
                <a:lnTo>
                  <a:pt x="5229748" y="1046781"/>
                </a:lnTo>
                <a:lnTo>
                  <a:pt x="5338701" y="1050454"/>
                </a:lnTo>
                <a:lnTo>
                  <a:pt x="5447654" y="1116567"/>
                </a:lnTo>
                <a:lnTo>
                  <a:pt x="5556607" y="1072492"/>
                </a:lnTo>
                <a:lnTo>
                  <a:pt x="5665560" y="866808"/>
                </a:lnTo>
                <a:lnTo>
                  <a:pt x="5774513" y="925575"/>
                </a:lnTo>
                <a:lnTo>
                  <a:pt x="5883466" y="921902"/>
                </a:lnTo>
                <a:lnTo>
                  <a:pt x="5992419" y="1024744"/>
                </a:lnTo>
                <a:lnTo>
                  <a:pt x="6101372" y="943940"/>
                </a:lnTo>
                <a:lnTo>
                  <a:pt x="6210325" y="808042"/>
                </a:lnTo>
                <a:lnTo>
                  <a:pt x="6319278" y="609704"/>
                </a:lnTo>
                <a:lnTo>
                  <a:pt x="6428232" y="708873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795528" y="1955587"/>
            <a:ext cx="6428232" cy="1261139"/>
          </a:xfrm>
          <a:custGeom>
            <a:avLst/>
            <a:gdLst/>
            <a:ahLst/>
            <a:cxnLst/>
            <a:rect l="l" t="t" r="r" b="b"/>
            <a:pathLst>
              <a:path w="6428232" h="1261139">
                <a:moveTo>
                  <a:pt x="0" y="823046"/>
                </a:moveTo>
                <a:lnTo>
                  <a:pt x="108953" y="772496"/>
                </a:lnTo>
                <a:lnTo>
                  <a:pt x="217906" y="605295"/>
                </a:lnTo>
                <a:lnTo>
                  <a:pt x="326859" y="565115"/>
                </a:lnTo>
                <a:lnTo>
                  <a:pt x="435812" y="657140"/>
                </a:lnTo>
                <a:lnTo>
                  <a:pt x="544765" y="559930"/>
                </a:lnTo>
                <a:lnTo>
                  <a:pt x="653718" y="330515"/>
                </a:lnTo>
                <a:lnTo>
                  <a:pt x="762671" y="0"/>
                </a:lnTo>
                <a:lnTo>
                  <a:pt x="871624" y="121837"/>
                </a:lnTo>
                <a:lnTo>
                  <a:pt x="980577" y="77768"/>
                </a:lnTo>
                <a:lnTo>
                  <a:pt x="1089530" y="357733"/>
                </a:lnTo>
                <a:lnTo>
                  <a:pt x="1198483" y="933217"/>
                </a:lnTo>
                <a:lnTo>
                  <a:pt x="1307437" y="973397"/>
                </a:lnTo>
                <a:lnTo>
                  <a:pt x="1416390" y="1125045"/>
                </a:lnTo>
                <a:lnTo>
                  <a:pt x="1525343" y="1150967"/>
                </a:lnTo>
                <a:lnTo>
                  <a:pt x="1634296" y="1077088"/>
                </a:lnTo>
                <a:lnTo>
                  <a:pt x="1743249" y="1084865"/>
                </a:lnTo>
                <a:lnTo>
                  <a:pt x="1852202" y="1082272"/>
                </a:lnTo>
                <a:lnTo>
                  <a:pt x="1961155" y="1071903"/>
                </a:lnTo>
                <a:lnTo>
                  <a:pt x="2070108" y="1043388"/>
                </a:lnTo>
                <a:lnTo>
                  <a:pt x="2179061" y="1000616"/>
                </a:lnTo>
                <a:lnTo>
                  <a:pt x="2288014" y="1092641"/>
                </a:lnTo>
                <a:lnTo>
                  <a:pt x="2396967" y="1244289"/>
                </a:lnTo>
                <a:lnTo>
                  <a:pt x="2505920" y="1163929"/>
                </a:lnTo>
                <a:lnTo>
                  <a:pt x="2614874" y="1187259"/>
                </a:lnTo>
                <a:lnTo>
                  <a:pt x="2723827" y="1227439"/>
                </a:lnTo>
                <a:lnTo>
                  <a:pt x="2832780" y="1261139"/>
                </a:lnTo>
                <a:lnTo>
                  <a:pt x="2941733" y="1227439"/>
                </a:lnTo>
                <a:lnTo>
                  <a:pt x="3050686" y="1248177"/>
                </a:lnTo>
                <a:lnTo>
                  <a:pt x="3159639" y="1207997"/>
                </a:lnTo>
                <a:lnTo>
                  <a:pt x="3268592" y="1192444"/>
                </a:lnTo>
                <a:lnTo>
                  <a:pt x="3377545" y="1080976"/>
                </a:lnTo>
                <a:lnTo>
                  <a:pt x="3486498" y="1090049"/>
                </a:lnTo>
                <a:lnTo>
                  <a:pt x="3595451" y="1189851"/>
                </a:lnTo>
                <a:lnTo>
                  <a:pt x="3704404" y="1170409"/>
                </a:lnTo>
                <a:lnTo>
                  <a:pt x="3813357" y="1141894"/>
                </a:lnTo>
                <a:lnTo>
                  <a:pt x="3922311" y="1093938"/>
                </a:lnTo>
                <a:lnTo>
                  <a:pt x="4031264" y="1029131"/>
                </a:lnTo>
                <a:lnTo>
                  <a:pt x="4140217" y="907294"/>
                </a:lnTo>
                <a:lnTo>
                  <a:pt x="4249170" y="788050"/>
                </a:lnTo>
                <a:lnTo>
                  <a:pt x="4358123" y="760831"/>
                </a:lnTo>
                <a:lnTo>
                  <a:pt x="4467076" y="916367"/>
                </a:lnTo>
                <a:lnTo>
                  <a:pt x="4576029" y="920256"/>
                </a:lnTo>
                <a:lnTo>
                  <a:pt x="4684982" y="918959"/>
                </a:lnTo>
                <a:lnTo>
                  <a:pt x="4793935" y="1014873"/>
                </a:lnTo>
                <a:lnTo>
                  <a:pt x="4902888" y="1126341"/>
                </a:lnTo>
                <a:lnTo>
                  <a:pt x="5011841" y="1091345"/>
                </a:lnTo>
                <a:lnTo>
                  <a:pt x="5120794" y="1038204"/>
                </a:lnTo>
                <a:lnTo>
                  <a:pt x="5229748" y="973397"/>
                </a:lnTo>
                <a:lnTo>
                  <a:pt x="5338701" y="959140"/>
                </a:lnTo>
                <a:lnTo>
                  <a:pt x="5447654" y="957843"/>
                </a:lnTo>
                <a:lnTo>
                  <a:pt x="5556607" y="1029131"/>
                </a:lnTo>
                <a:lnTo>
                  <a:pt x="5665560" y="1033019"/>
                </a:lnTo>
                <a:lnTo>
                  <a:pt x="5774513" y="1000616"/>
                </a:lnTo>
                <a:lnTo>
                  <a:pt x="5883466" y="956547"/>
                </a:lnTo>
                <a:lnTo>
                  <a:pt x="5992419" y="865818"/>
                </a:lnTo>
                <a:lnTo>
                  <a:pt x="6101372" y="817861"/>
                </a:lnTo>
                <a:lnTo>
                  <a:pt x="6210325" y="830822"/>
                </a:lnTo>
                <a:lnTo>
                  <a:pt x="6319278" y="872299"/>
                </a:lnTo>
                <a:lnTo>
                  <a:pt x="6428232" y="876187"/>
                </a:lnTo>
              </a:path>
            </a:pathLst>
          </a:custGeom>
          <a:noFill/>
          <a:ln w="20320">
            <a:solidFill>
              <a:srgbClr val="F5C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795528" y="2262289"/>
            <a:ext cx="6428232" cy="929418"/>
          </a:xfrm>
          <a:custGeom>
            <a:avLst/>
            <a:gdLst/>
            <a:ahLst/>
            <a:cxnLst/>
            <a:rect l="l" t="t" r="r" b="b"/>
            <a:pathLst>
              <a:path w="6428232" h="929418">
                <a:moveTo>
                  <a:pt x="0" y="516344"/>
                </a:moveTo>
                <a:lnTo>
                  <a:pt x="108953" y="516344"/>
                </a:lnTo>
                <a:lnTo>
                  <a:pt x="217906" y="550766"/>
                </a:lnTo>
                <a:lnTo>
                  <a:pt x="326859" y="516344"/>
                </a:lnTo>
                <a:lnTo>
                  <a:pt x="435812" y="550766"/>
                </a:lnTo>
                <a:lnTo>
                  <a:pt x="544765" y="619612"/>
                </a:lnTo>
                <a:lnTo>
                  <a:pt x="653718" y="654035"/>
                </a:lnTo>
                <a:lnTo>
                  <a:pt x="762671" y="550766"/>
                </a:lnTo>
                <a:lnTo>
                  <a:pt x="871624" y="516344"/>
                </a:lnTo>
                <a:lnTo>
                  <a:pt x="980577" y="516344"/>
                </a:lnTo>
                <a:lnTo>
                  <a:pt x="1089530" y="550766"/>
                </a:lnTo>
                <a:lnTo>
                  <a:pt x="1198483" y="619612"/>
                </a:lnTo>
                <a:lnTo>
                  <a:pt x="1307437" y="654035"/>
                </a:lnTo>
                <a:lnTo>
                  <a:pt x="1416390" y="654035"/>
                </a:lnTo>
                <a:lnTo>
                  <a:pt x="1525343" y="654035"/>
                </a:lnTo>
                <a:lnTo>
                  <a:pt x="1634296" y="585189"/>
                </a:lnTo>
                <a:lnTo>
                  <a:pt x="1743249" y="550766"/>
                </a:lnTo>
                <a:lnTo>
                  <a:pt x="1852202" y="550766"/>
                </a:lnTo>
                <a:lnTo>
                  <a:pt x="1961155" y="447498"/>
                </a:lnTo>
                <a:lnTo>
                  <a:pt x="2070108" y="447498"/>
                </a:lnTo>
                <a:lnTo>
                  <a:pt x="2179061" y="172114"/>
                </a:lnTo>
                <a:lnTo>
                  <a:pt x="2288014" y="68846"/>
                </a:lnTo>
                <a:lnTo>
                  <a:pt x="2396967" y="137692"/>
                </a:lnTo>
                <a:lnTo>
                  <a:pt x="2505920" y="206537"/>
                </a:lnTo>
                <a:lnTo>
                  <a:pt x="2614874" y="172114"/>
                </a:lnTo>
                <a:lnTo>
                  <a:pt x="2723827" y="0"/>
                </a:lnTo>
                <a:lnTo>
                  <a:pt x="2832780" y="34423"/>
                </a:lnTo>
                <a:lnTo>
                  <a:pt x="2941733" y="34423"/>
                </a:lnTo>
                <a:lnTo>
                  <a:pt x="3050686" y="344229"/>
                </a:lnTo>
                <a:lnTo>
                  <a:pt x="3159639" y="344229"/>
                </a:lnTo>
                <a:lnTo>
                  <a:pt x="3268592" y="275383"/>
                </a:lnTo>
                <a:lnTo>
                  <a:pt x="3377545" y="344229"/>
                </a:lnTo>
                <a:lnTo>
                  <a:pt x="3486498" y="447498"/>
                </a:lnTo>
                <a:lnTo>
                  <a:pt x="3595451" y="550766"/>
                </a:lnTo>
                <a:lnTo>
                  <a:pt x="3704404" y="516344"/>
                </a:lnTo>
                <a:lnTo>
                  <a:pt x="3813357" y="516344"/>
                </a:lnTo>
                <a:lnTo>
                  <a:pt x="3922311" y="585189"/>
                </a:lnTo>
                <a:lnTo>
                  <a:pt x="4031264" y="447498"/>
                </a:lnTo>
                <a:lnTo>
                  <a:pt x="4140217" y="413075"/>
                </a:lnTo>
                <a:lnTo>
                  <a:pt x="4249170" y="447498"/>
                </a:lnTo>
                <a:lnTo>
                  <a:pt x="4358123" y="481921"/>
                </a:lnTo>
                <a:lnTo>
                  <a:pt x="4467076" y="619612"/>
                </a:lnTo>
                <a:lnTo>
                  <a:pt x="4576029" y="550766"/>
                </a:lnTo>
                <a:lnTo>
                  <a:pt x="4684982" y="550766"/>
                </a:lnTo>
                <a:lnTo>
                  <a:pt x="4793935" y="619612"/>
                </a:lnTo>
                <a:lnTo>
                  <a:pt x="4902888" y="654035"/>
                </a:lnTo>
                <a:lnTo>
                  <a:pt x="5011841" y="722881"/>
                </a:lnTo>
                <a:lnTo>
                  <a:pt x="5120794" y="722881"/>
                </a:lnTo>
                <a:lnTo>
                  <a:pt x="5229748" y="722881"/>
                </a:lnTo>
                <a:lnTo>
                  <a:pt x="5338701" y="791727"/>
                </a:lnTo>
                <a:lnTo>
                  <a:pt x="5447654" y="826150"/>
                </a:lnTo>
                <a:lnTo>
                  <a:pt x="5556607" y="894995"/>
                </a:lnTo>
                <a:lnTo>
                  <a:pt x="5665560" y="894995"/>
                </a:lnTo>
                <a:lnTo>
                  <a:pt x="5774513" y="894995"/>
                </a:lnTo>
                <a:lnTo>
                  <a:pt x="5883466" y="929418"/>
                </a:lnTo>
                <a:lnTo>
                  <a:pt x="5992419" y="860573"/>
                </a:lnTo>
                <a:lnTo>
                  <a:pt x="6101372" y="894995"/>
                </a:lnTo>
                <a:lnTo>
                  <a:pt x="6210325" y="826150"/>
                </a:lnTo>
                <a:lnTo>
                  <a:pt x="6319278" y="894995"/>
                </a:lnTo>
                <a:lnTo>
                  <a:pt x="6428232" y="82615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3694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4850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6005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7161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161288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World price rebased to 100 at 2021-07 · 60 monthly observations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79" y="1152144"/>
            <a:ext cx="427939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98079" y="1152144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17536" y="1298448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A year-on-year number hides the shape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17536" y="1502918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Sugar (น้ำตาล): world price −41% against its 2023-09 peak — down in 26 of the last 34 months, not a one-year dip.
• Rubber (ยางพารา): spent 21 of the last 60 months below its own 2021 level — only just cleared it, after 30 months running above.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411480" y="4123944"/>
          <a:ext cx="7863840" cy="13459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188720"/>
                <a:gridCol w="1097280"/>
                <a:gridCol w="1005840"/>
                <a:gridCol w="1097280"/>
                <a:gridCol w="10972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World price, five years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 planted area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5-yr peak, US$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latest, ฿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 peak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vs 5 yrs ago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Rubber ยางพารา ($/kg)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90.86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-2.8%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Rice ข้าว ($/mt)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660.00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15,264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Palm oil ปาล์มน้ำมัน ($/mt)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1,777.00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35,986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Sugar น้ำตาล ($/kg)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11.11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-41.4%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-20.9%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411480" y="5561380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Only ‘latest’ is converted to baht — today’s FX is right for today’s price, not a 2021–23 one, so ‘5-yr peak’ stays in US$.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5848654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877915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75385" y="5862370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World Bank Pink Sheet nominal-USD monthly prices, vintage 2026M07 (60 observations per series, rebased to 100 at 2021-07 for the chart — units differ, so raw levels can’t share an axis). Baht conversion at the ECB reference rate USD/THB 32.685, 2026-08-24. Planted-area share MEASURED, OAE/DOAE crop mix (crop_mix.json). Nominal, not deflated: five years of Thai CPI sit under every ‘vs 5 yrs ago’ figure.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05 · THE CROP BELTS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Which crop each region grows, and what the price round did to its income.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Crops with a Thai farm-gate price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rice, rubber, sugarcane, oil palm, cassava, maize, coconut, pineapple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Falling at the farm 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coconut −67.4%, pineapple −18.4%, sugarcane −17.9% year on year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Median province crop-income shock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+16.8%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most of the country gained from this price round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Provinces where it went backwards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all four are coconut belts on the western gulf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40864"/>
            <a:ext cx="1136599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Farm gate (ราคาที่เกษตรกรขายได้) = what the farmer is paid at first sale — before trading, milling or transport take a cut.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2640330"/>
          <a:ext cx="5532120" cy="15727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685800"/>
                <a:gridCol w="1143000"/>
                <a:gridCol w="960120"/>
                <a:gridCol w="960120"/>
                <a:gridCol w="6400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provs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income shock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backwards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weakest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+6.7%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สมุทรสงคราม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-63.0%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หนองบัวลำภู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+8.6%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+11.6%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+34.4%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ชุมพร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6172200" y="2594610"/>
            <a:ext cx="560527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2594610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91656" y="2740914"/>
            <a:ext cx="527608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Good for farming, almost everywhere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656" y="2945384"/>
            <a:ext cx="5276088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 +40% rubber, +74% cassava, +23% palm, +14% rice at the farm gate. Crop income rose in every region.
•  Four provinces fell — all coconut, all on the western gulf. Coconut price is down 67%.
•  A gain on paper is not cash yet — the next table nets prices against cost.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11480" y="4359402"/>
          <a:ext cx="11365992" cy="15819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777240"/>
                <a:gridCol w="731520"/>
                <a:gridCol w="6080760"/>
                <a:gridCol w="731520"/>
                <a:gridCol w="1143000"/>
                <a:gridCol w="576072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Largest planted areas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planted 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crop mix, % of planted area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shock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farm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rain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67%, Cassava 12%, Sugarcane 12%, Maize 7%, Rubber 1%, Oil palm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8,982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79%, Rubber 12%, Cassava 8%, Maize 1%, Oil palm &lt;1%, Sugarcane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+21.7%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นครสวรรค์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3.97M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65%, Sugarcane 20%, Maize 9%, Cassava 6%, Rubber &lt;1%, Oil palm &lt;1%, Coconut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+11.8%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10,777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สุราษฎร์ธานี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3.80M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Rubber 60%, Oil palm 39%, Coconut 1%, Rice &lt;1%, Maize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+32.4%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11,426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3.65M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82%, Rubber 8%, Sugarcane 5%, Cassava 4%, Oil palm &lt;1%, Maize &lt;1%, Coconut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+17.1%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สุรินทร์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3.57M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Rice 88%, Rubber 7%, Sugarcane 4%, Cassava 2%, Oil palm &lt;1%, Coconut &lt;1%, Maize &lt;1%, Pineapple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+15.6%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6,510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411480" y="605104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08030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955" y="606475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Planted area MEASURED (OAE, by province). Crop mix MEASURED — every crop OAE tracks for that province, share of planted area, rounded to the nearest point and shown for all of them, not just the lead crop; a share that rounds to zero reads “&lt;1%”, and any rounding gap is shown honestly as “other”. Farm-gate price moves MEASURED (NABC/OCSB); farm income level MEASURED (NSO/OAE, baht per month). The income shock is ESTIMATED — each province's crop mix weighted by the measured price move, as a percentage of its measured farm income. Six of 77 provinces shown, ordered by planted area.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06 · EVERY CROP AT THE FARM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What the grower is paid, and which way it has moved.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Seventeen commodities have a measured Thai farm-gate price (ราคาที่เกษตรกรขายได้). Twelve also have a real monthly price series — those are the lines below.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1122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9750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Year on year and six months disagree on direction for three of them. A single annual number can point the wrong way.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56587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428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Every line is scaled to its own range: read the shape, not the height.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Coconut  มะพร้าว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฿606.15 /ร้อยผล · S·E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−67.4%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95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−50.1%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457200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167653"/>
                </a:lnTo>
                <a:lnTo>
                  <a:pt x="825886" y="145107"/>
                </a:lnTo>
                <a:lnTo>
                  <a:pt x="1238829" y="402654"/>
                </a:lnTo>
                <a:lnTo>
                  <a:pt x="1651772" y="457200"/>
                </a:lnTo>
                <a:lnTo>
                  <a:pt x="2064715" y="401204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80767" y="2806076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13939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Pineapple  สับปะรดโรงงาน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13939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฿9.77 /กก. · E·W·N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939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YoY −18.4%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20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+48.0%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13939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759659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6494"/>
                </a:moveTo>
                <a:lnTo>
                  <a:pt x="412943" y="401128"/>
                </a:lnTo>
                <a:lnTo>
                  <a:pt x="825886" y="457200"/>
                </a:lnTo>
                <a:lnTo>
                  <a:pt x="1238829" y="380999"/>
                </a:lnTo>
                <a:lnTo>
                  <a:pt x="1651772" y="21278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83226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6398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White shrimp  กุ้งขาว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6398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฿143.00 /กก. · S·E coast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6398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+0.9%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447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−2.1%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16398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062118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217911"/>
                </a:moveTo>
                <a:lnTo>
                  <a:pt x="412943" y="415692"/>
                </a:lnTo>
                <a:lnTo>
                  <a:pt x="825886" y="457200"/>
                </a:lnTo>
                <a:lnTo>
                  <a:pt x="1238829" y="420051"/>
                </a:lnTo>
                <a:lnTo>
                  <a:pt x="1651772" y="168518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085685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8857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Chicken  ไก่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8857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฿43.00 /กก. · C·E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88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+3.9%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693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+2.3%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8857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364577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111737"/>
                </a:lnTo>
                <a:lnTo>
                  <a:pt x="825886" y="304458"/>
                </a:lnTo>
                <a:lnTo>
                  <a:pt x="1238829" y="457200"/>
                </a:lnTo>
                <a:lnTo>
                  <a:pt x="1651772" y="242951"/>
                </a:lnTo>
                <a:lnTo>
                  <a:pt x="2064715" y="88159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88144" y="2493031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1316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Eggs  ไข่ไก่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21316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฿346.15 /ร้อยฟอง · C·E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213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+4.4%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9394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+14.4%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21316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67036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191637"/>
                </a:lnTo>
                <a:lnTo>
                  <a:pt x="825886" y="191637"/>
                </a:lnTo>
                <a:lnTo>
                  <a:pt x="1238829" y="292498"/>
                </a:lnTo>
                <a:lnTo>
                  <a:pt x="1651772" y="90775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1690603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Pork  สุกร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฿70.33 /กก. · C·W·E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+13.1%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895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+26.7%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7200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61078"/>
                </a:moveTo>
                <a:lnTo>
                  <a:pt x="412943" y="110564"/>
                </a:lnTo>
                <a:lnTo>
                  <a:pt x="825886" y="457200"/>
                </a:lnTo>
                <a:lnTo>
                  <a:pt x="1238829" y="293843"/>
                </a:lnTo>
                <a:lnTo>
                  <a:pt x="1651772" y="177301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80767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13939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Rice  ข้าวหอมมะลิ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13939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฿17,815 /ตัน · Isan·N·C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13939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+14.0%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920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+8.2%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13939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59659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49810"/>
                </a:lnTo>
                <a:lnTo>
                  <a:pt x="825886" y="168554"/>
                </a:lnTo>
                <a:lnTo>
                  <a:pt x="1238829" y="54643"/>
                </a:lnTo>
                <a:lnTo>
                  <a:pt x="1651772" y="63603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783226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16398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Maize  ข้าวโพดเลี้ยงสัตว์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16398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฿9.87 /กก. · North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16398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+16.8%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9447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+10.9%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16398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5062118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55874"/>
                </a:lnTo>
                <a:lnTo>
                  <a:pt x="825886" y="86497"/>
                </a:lnTo>
                <a:lnTo>
                  <a:pt x="1238829" y="0"/>
                </a:lnTo>
                <a:lnTo>
                  <a:pt x="1651772" y="46955"/>
                </a:lnTo>
                <a:lnTo>
                  <a:pt x="2064715" y="269377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085685" y="3780673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8857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Palm oil  ปาล์มน้ำมัน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8857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฿8.55 /กก. · South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188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+23.1%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9693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+25.0%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8857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7364577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3788"/>
                </a:moveTo>
                <a:lnTo>
                  <a:pt x="412943" y="446964"/>
                </a:lnTo>
                <a:lnTo>
                  <a:pt x="825886" y="457200"/>
                </a:lnTo>
                <a:lnTo>
                  <a:pt x="1238829" y="300250"/>
                </a:lnTo>
                <a:lnTo>
                  <a:pt x="1651772" y="85298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388144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621316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Rubber  ยางพารา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21316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฿81.51 /กก. · S·E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213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+39.8%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99394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+35.1%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21316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9667036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87287"/>
                </a:lnTo>
                <a:lnTo>
                  <a:pt x="825886" y="158892"/>
                </a:lnTo>
                <a:lnTo>
                  <a:pt x="1238829" y="0"/>
                </a:lnTo>
                <a:lnTo>
                  <a:pt x="1651772" y="38185"/>
                </a:lnTo>
                <a:lnTo>
                  <a:pt x="2064715" y="115325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1690603" y="3626621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Cassava  มันสำปะหลัง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฿3.75 /กก. · Isan·N·E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+73.7%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89557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6m +48.8%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457200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52338"/>
                </a:lnTo>
                <a:lnTo>
                  <a:pt x="825886" y="268448"/>
                </a:lnTo>
                <a:lnTo>
                  <a:pt x="1238829" y="163586"/>
                </a:lnTo>
                <a:lnTo>
                  <a:pt x="1651772" y="125835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480767" y="46177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713939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Lime  มะนาว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13939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฿129.23 /ร้อยผล · C·W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13939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YoY +111.6%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92016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6m −38.5%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713939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759659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213177"/>
                </a:moveTo>
                <a:lnTo>
                  <a:pt x="412943" y="0"/>
                </a:lnTo>
                <a:lnTo>
                  <a:pt x="825886" y="259737"/>
                </a:lnTo>
                <a:lnTo>
                  <a:pt x="1238829" y="443342"/>
                </a:lnTo>
                <a:lnTo>
                  <a:pt x="1651772" y="457200"/>
                </a:lnTo>
                <a:lnTo>
                  <a:pt x="2064715" y="428011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783226" y="5045730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11480" y="5326379"/>
            <a:ext cx="1136599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Priced but not plotted — no monthly series: Sugar −17.9% (annual, administered) · Rambutan −13.5% · Beef −6.1% · Durian +7.0% · Longan +60.2%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11480" y="5613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11480" y="5642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75385" y="5626861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Farm-gate prices MEASURED — NABC daily quotes, monthly means, in baht as published (no currency conversion); newest quote 2026-08-28, history vintage 2026-08-23. Farm gate (ราคาที่เกษตรกรขายได้) is what the grower is paid at first sale, before trading, milling or transport take a cut — not the world index and not a supermarket price. Belts are an ESTIMATED read of where each commodity is produced, and they overlap. Sugar is OCSB's announced season price, one point a year, so it has no six-month move to show.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07 · INCOME RIGHT NOW, BY REGION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What each occupation earns, where the floor is, and which way it moved.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Monthly income now, by region and job — each region set against its own wage.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1143000"/>
                <a:gridCol w="822960"/>
                <a:gridCol w="2148840"/>
                <a:gridCol w="914400"/>
                <a:gridCol w="1051560"/>
                <a:gridCol w="868680"/>
                <a:gridCol w="868680"/>
                <a:gridCol w="1280160"/>
                <a:gridCol w="10789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Farming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weakest farming province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Factory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Transport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SME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Office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employee wage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 vs wage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9,559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นครนายก 5,763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17,309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16,040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18,380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17,723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14,213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ปราจีนบุรี 6,926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17,883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16,595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15,958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15,210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แม่ฮ่องสอน 4,641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13,147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13,772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11,285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15,407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8,030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ขอนแก่น 4,762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12,406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13,670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11,137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17,141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14,805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7,972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นราธิวาส 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13,933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10,711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16,841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13,676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11480" y="3299460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328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955" y="3313176"/>
            <a:ext cx="1072051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Income MEASURED — NSO SES province income (NSO SES 2566), NSO LFS regional wages (2568 (4-quarter average)), ฿/month; region = unweighted mean of its provinces. Move is ESTIMATED — one first-order model of the price and fuel round (fuel driver 2026M07), at documented coefficients, not fitted. No monthly SES/LFS series exists, so no 6-month figure sits beside 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790950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790950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3937254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Farming (เกษตรกร) — up everywhere, still the floor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4141724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Best-moving job in every region — and still the lowest-paid.
• North ฿7,157 against a ฿15,407 wage (46%); Isan ฿8,030 against ฿14,805 (54%).
• Floor: นราธิวาส farms on ฿2,742/mo — size a programme against this, not the mean.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8776" y="3790950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3790950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3937254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Transport (ขนส่ง) — one number, not five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4141724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Down −2.75% in every region. Factory moves the same way; office is flat — no channel modelled for it, which is not the same as no change.
• One measured crude-oil move through one chosen coefficient. No Thai diesel or freight series behind it.
• Still matters: here the vehicle IS the income. An early call beats a late one.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08 · WATER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Where it is driest, and where it is wettest — right now.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SPEI (ภัยแล้ง, drought) is modelled once a month — how the season has gone, not today’s weather.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65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94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ThaiWater is measured every day — rain gauges and river levels (น้ำท่วม, flood), live.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145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773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GISTDA is a separate 12-year census — ground that has flooded before, not what is happening now.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Districts in drought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928 (36.4%) · SPEI mean -0.84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28672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5832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Extreme band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5832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5832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districts at the extreme drought band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45864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3024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District-crop cells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3,295 measured cells at severe drought or worse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6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0216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Stations above high mark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216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135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794 (17.0%) · live · 2026-08-29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0247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7408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Provinces with heavy rain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7408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22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7408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latest daily reading · 2026-08-29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9744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3460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Ground that floods anyway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3460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3460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685 of 2,015 branch locations flooded in 7+ of 12 years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Drought (ภัยแล้ง) — worst planted-area cells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Rain &amp; rivers (น้ำท่วม) — worst today, live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11480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1234440"/>
                <a:gridCol w="1234440"/>
                <a:gridCol w="777240"/>
                <a:gridCol w="64008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Driest cells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District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Crop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SPEI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ตาพระยา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213,392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อรัญประเทศ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158,047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หนองบุญมาก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Cassava (มัน)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150,409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ชัยภูมิ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คอนสวรรค์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Rice, wet (นาปี)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143,322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ระยอง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แกลง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Rubber (ยาง)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121,783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เสิงสาง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Cassava (มัน)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120,512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severe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208776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914400"/>
                <a:gridCol w="960120"/>
                <a:gridCol w="868680"/>
                <a:gridCol w="9144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Wettest today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Rain gauges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Max mm/24h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% heavy+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River ≥high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Level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สกลนคร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7/13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ตราด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73.8%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4/9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ระนอง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56.0%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ปทุมธานี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50.0%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2/4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นครนายก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46.2%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2/6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จันทบุรี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34.6%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5/11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411480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Severe drought at planting means a lighter harvest and less cash this season.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5445252"/>
            <a:ext cx="5568696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High rivers and heavy rain threaten roads, fields and branches right now — today’s reading, not a forecast.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590346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93272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6955" y="5917184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Planted area MEASURED (OAE — 3,295 amphoe crop rows). Drought is a MODELLED SPEI index from rainfall and evapotranspiration, refreshed monthly, retrieved 2026-07-20 — the best national-coverage signal available, but nobody has walked those districts. Rain and river telemetry MEASURED (ThaiWater, live, pulled daily and accumulated — a missed pull leaves a gap rather than an invented point) · rain to 2026-08-29, river to 2026-08-29. Structural flood exposure MEASURED (GISTDA 1:50,000 repeated-flooding census, 2005-2016 — a 12-year ground record, not a forecast).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09 · WHERE TO REACH OUT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Provinces ranked by how many stress signals tripped.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1  Debt (หนี้)  —  debt-to-income ≥ 100% of a year's income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2  Unemployment (การว่างงาน)  —  unemployment ≥ 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3  Crop (พืชหลัก)  —  lead crop pays below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1636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4  Rain (ฝน)  —  rainfall &lt; 90% of normal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9072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Ordered by signals tripped; ties broken on debt + unemployment.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11480" y="2006346"/>
          <a:ext cx="11365992" cy="236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3204"/>
                <a:gridCol w="937493"/>
                <a:gridCol w="1205349"/>
                <a:gridCol w="1205349"/>
                <a:gridCol w="1651774"/>
                <a:gridCol w="1205349"/>
                <a:gridCol w="1160706"/>
                <a:gridCol w="892851"/>
                <a:gridCol w="937493"/>
                <a:gridCol w="6964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Province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household debt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unemployment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lead crop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crop economics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rain vs normal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farm ฿/mo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planted rai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tripped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อำนาจเจริญ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114%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6,896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1.42M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8,815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1.65M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สิงห์บุรี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9,802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0.33M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0.16%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5.21M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78%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6,061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1.90M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กำแพงเพชร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2.67M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Rubber 90%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1.03M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1.87%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Rice 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below cost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3.65M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of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411480" y="4515459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544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955" y="4529175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Household debt-to-income MEASURED (NSO SES 2566 — debt as a share of ANNUAL income, so above 100% is more debt than a year of earnings). Unemployment MEASURED (NSO LFS, by province). Lead crop MEASURED (OAE planted area, all eight crops); its economics ESTIMATED from OAE cost of production (2568 (crop year 2568/69, OAE forecast Mar 2569)). Rainfall MEASURED as precipitation against the long-run normal, a different instrument from the SPEI index two slides back; two provinces carry no gauge and cannot trip this signal.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142966"/>
            <a:ext cx="11365992" cy="675767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142966"/>
            <a:ext cx="50292" cy="675767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528927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Crop is a poor discriminator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549374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It trips 70 of 77 provinces — national exposure, not who to call. Debt, jobs and rain are what separate this list.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31752" y="0"/>
            <a:ext cx="164592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96344" y="0"/>
            <a:ext cx="164592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487168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88920"/>
            <a:ext cx="10058400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F5C242"/>
                </a:solidFill>
                <a:latin typeface="Kanit"/>
              </a:rPr>
              <a:t>10 · Collateral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54680"/>
            <a:ext cx="10058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00"/>
              </a:lnSpc>
            </a:pPr>
            <a:r>
              <a:rPr sz="3200" b="1">
                <a:solidFill>
                  <a:srgbClr val="FFFFFF"/>
                </a:solidFill>
                <a:latin typeface="Kanit"/>
              </a:rPr>
              <a:t>This is the half with a decision attached.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34840"/>
            <a:ext cx="9692640" cy="1066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350" b="0">
                <a:solidFill>
                  <a:srgbClr val="C7D0E4"/>
                </a:solidFill>
                <a:latin typeface="Kanit"/>
              </a:rPr>
              <a:t>We lend against titles, so the used-vehicle market is an external condition that prices our security directly. Five things are moving at once: what a used vehicle is worth, how many are entering the pool, which brands they are, which nameplates underneath those brands, and how easily any of them can be sold on. A model with no Thai residual history is a recovery assumption nobody can make yet.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Restricted Data – Reproduction is prohibited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10A · RESALE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The fall has stopped. The level has not recovered.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52144"/>
          <a:ext cx="11365992" cy="11932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463040"/>
                <a:gridCol w="1280160"/>
                <a:gridCol w="1371600"/>
                <a:gridCol w="1005840"/>
                <a:gridCol w="1005840"/>
                <a:gridCol w="1371600"/>
                <a:gridCol w="15819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BoT used-vehicle price index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latest (2026-05)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6-month 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move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low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high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vs 2015 base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off all-time peak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Pickup (รถกระบะ)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66.8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58.0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68.5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Passenger car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87.8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82.8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99.6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-12.2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All used vehicles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75.2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67.9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80.5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-24.9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2528316"/>
            <a:ext cx="6903720" cy="20116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" y="4265676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4197096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" y="3470148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34015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674620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2606039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4611" y="2656332"/>
            <a:ext cx="157708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Car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36867" y="2715768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9491" y="2656332"/>
            <a:ext cx="32107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Pickup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1747" y="2715768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795528" y="2933166"/>
            <a:ext cx="6428232" cy="1259480"/>
          </a:xfrm>
          <a:custGeom>
            <a:avLst/>
            <a:gdLst/>
            <a:ahLst/>
            <a:cxnLst/>
            <a:rect l="l" t="t" r="r" b="b"/>
            <a:pathLst>
              <a:path w="6428232" h="1259480">
                <a:moveTo>
                  <a:pt x="0" y="380422"/>
                </a:moveTo>
                <a:lnTo>
                  <a:pt x="34936" y="360692"/>
                </a:lnTo>
                <a:lnTo>
                  <a:pt x="69872" y="377239"/>
                </a:lnTo>
                <a:lnTo>
                  <a:pt x="104808" y="337622"/>
                </a:lnTo>
                <a:lnTo>
                  <a:pt x="139744" y="209542"/>
                </a:lnTo>
                <a:lnTo>
                  <a:pt x="174680" y="370080"/>
                </a:lnTo>
                <a:lnTo>
                  <a:pt x="209616" y="307233"/>
                </a:lnTo>
                <a:lnTo>
                  <a:pt x="244552" y="387422"/>
                </a:lnTo>
                <a:lnTo>
                  <a:pt x="279488" y="409697"/>
                </a:lnTo>
                <a:lnTo>
                  <a:pt x="314424" y="344941"/>
                </a:lnTo>
                <a:lnTo>
                  <a:pt x="349360" y="265866"/>
                </a:lnTo>
                <a:lnTo>
                  <a:pt x="384296" y="179630"/>
                </a:lnTo>
                <a:lnTo>
                  <a:pt x="419232" y="0"/>
                </a:lnTo>
                <a:lnTo>
                  <a:pt x="454168" y="78916"/>
                </a:lnTo>
                <a:lnTo>
                  <a:pt x="489104" y="60938"/>
                </a:lnTo>
                <a:lnTo>
                  <a:pt x="524040" y="64279"/>
                </a:lnTo>
                <a:lnTo>
                  <a:pt x="558976" y="131421"/>
                </a:lnTo>
                <a:lnTo>
                  <a:pt x="593912" y="204133"/>
                </a:lnTo>
                <a:lnTo>
                  <a:pt x="628848" y="254887"/>
                </a:lnTo>
                <a:lnTo>
                  <a:pt x="663784" y="218611"/>
                </a:lnTo>
                <a:lnTo>
                  <a:pt x="698720" y="288299"/>
                </a:lnTo>
                <a:lnTo>
                  <a:pt x="733656" y="265706"/>
                </a:lnTo>
                <a:lnTo>
                  <a:pt x="768592" y="231499"/>
                </a:lnTo>
                <a:lnTo>
                  <a:pt x="803529" y="306756"/>
                </a:lnTo>
                <a:lnTo>
                  <a:pt x="838465" y="153378"/>
                </a:lnTo>
                <a:lnTo>
                  <a:pt x="873401" y="117738"/>
                </a:lnTo>
                <a:lnTo>
                  <a:pt x="908337" y="183449"/>
                </a:lnTo>
                <a:lnTo>
                  <a:pt x="943273" y="265388"/>
                </a:lnTo>
                <a:lnTo>
                  <a:pt x="978209" y="299755"/>
                </a:lnTo>
                <a:lnTo>
                  <a:pt x="1013145" y="338100"/>
                </a:lnTo>
                <a:lnTo>
                  <a:pt x="1048081" y="448837"/>
                </a:lnTo>
                <a:lnTo>
                  <a:pt x="1083017" y="427040"/>
                </a:lnTo>
                <a:lnTo>
                  <a:pt x="1117953" y="501819"/>
                </a:lnTo>
                <a:lnTo>
                  <a:pt x="1152889" y="592032"/>
                </a:lnTo>
                <a:lnTo>
                  <a:pt x="1187825" y="551301"/>
                </a:lnTo>
                <a:lnTo>
                  <a:pt x="1222761" y="607783"/>
                </a:lnTo>
                <a:lnTo>
                  <a:pt x="1257697" y="456474"/>
                </a:lnTo>
                <a:lnTo>
                  <a:pt x="1292633" y="417652"/>
                </a:lnTo>
                <a:lnTo>
                  <a:pt x="1327569" y="479385"/>
                </a:lnTo>
                <a:lnTo>
                  <a:pt x="1362505" y="493864"/>
                </a:lnTo>
                <a:lnTo>
                  <a:pt x="1397441" y="549551"/>
                </a:lnTo>
                <a:lnTo>
                  <a:pt x="1432377" y="638968"/>
                </a:lnTo>
                <a:lnTo>
                  <a:pt x="1467313" y="650901"/>
                </a:lnTo>
                <a:lnTo>
                  <a:pt x="1502249" y="655992"/>
                </a:lnTo>
                <a:lnTo>
                  <a:pt x="1537185" y="636900"/>
                </a:lnTo>
                <a:lnTo>
                  <a:pt x="1572121" y="651060"/>
                </a:lnTo>
                <a:lnTo>
                  <a:pt x="1607057" y="629740"/>
                </a:lnTo>
                <a:lnTo>
                  <a:pt x="1641994" y="693064"/>
                </a:lnTo>
                <a:lnTo>
                  <a:pt x="1676930" y="508342"/>
                </a:lnTo>
                <a:lnTo>
                  <a:pt x="1711866" y="489091"/>
                </a:lnTo>
                <a:lnTo>
                  <a:pt x="1746802" y="459020"/>
                </a:lnTo>
                <a:lnTo>
                  <a:pt x="1781738" y="500228"/>
                </a:lnTo>
                <a:lnTo>
                  <a:pt x="1816674" y="517412"/>
                </a:lnTo>
                <a:lnTo>
                  <a:pt x="1851610" y="505638"/>
                </a:lnTo>
                <a:lnTo>
                  <a:pt x="1886546" y="576281"/>
                </a:lnTo>
                <a:lnTo>
                  <a:pt x="1921482" y="635150"/>
                </a:lnTo>
                <a:lnTo>
                  <a:pt x="1956418" y="594419"/>
                </a:lnTo>
                <a:lnTo>
                  <a:pt x="1991354" y="566257"/>
                </a:lnTo>
                <a:lnTo>
                  <a:pt x="2026290" y="543823"/>
                </a:lnTo>
                <a:lnTo>
                  <a:pt x="2061226" y="549233"/>
                </a:lnTo>
                <a:lnTo>
                  <a:pt x="2096162" y="386468"/>
                </a:lnTo>
                <a:lnTo>
                  <a:pt x="2131098" y="382490"/>
                </a:lnTo>
                <a:lnTo>
                  <a:pt x="2166034" y="366420"/>
                </a:lnTo>
                <a:lnTo>
                  <a:pt x="2200970" y="397287"/>
                </a:lnTo>
                <a:lnTo>
                  <a:pt x="2235906" y="445337"/>
                </a:lnTo>
                <a:lnTo>
                  <a:pt x="2270842" y="426085"/>
                </a:lnTo>
                <a:lnTo>
                  <a:pt x="2305778" y="513911"/>
                </a:lnTo>
                <a:lnTo>
                  <a:pt x="2340714" y="579304"/>
                </a:lnTo>
                <a:lnTo>
                  <a:pt x="2375650" y="534277"/>
                </a:lnTo>
                <a:lnTo>
                  <a:pt x="2410587" y="547642"/>
                </a:lnTo>
                <a:lnTo>
                  <a:pt x="2445523" y="576917"/>
                </a:lnTo>
                <a:lnTo>
                  <a:pt x="2480459" y="599351"/>
                </a:lnTo>
                <a:lnTo>
                  <a:pt x="2515395" y="425767"/>
                </a:lnTo>
                <a:lnTo>
                  <a:pt x="2550331" y="414948"/>
                </a:lnTo>
                <a:lnTo>
                  <a:pt x="2585267" y="429903"/>
                </a:lnTo>
                <a:lnTo>
                  <a:pt x="2620203" y="391400"/>
                </a:lnTo>
                <a:lnTo>
                  <a:pt x="2655139" y="448678"/>
                </a:lnTo>
                <a:lnTo>
                  <a:pt x="2690075" y="462679"/>
                </a:lnTo>
                <a:lnTo>
                  <a:pt x="2725011" y="507865"/>
                </a:lnTo>
                <a:lnTo>
                  <a:pt x="2759947" y="546528"/>
                </a:lnTo>
                <a:lnTo>
                  <a:pt x="2794883" y="528390"/>
                </a:lnTo>
                <a:lnTo>
                  <a:pt x="2829819" y="505797"/>
                </a:lnTo>
                <a:lnTo>
                  <a:pt x="2864755" y="610329"/>
                </a:lnTo>
                <a:lnTo>
                  <a:pt x="2899691" y="622262"/>
                </a:lnTo>
                <a:lnTo>
                  <a:pt x="2934627" y="441041"/>
                </a:lnTo>
                <a:lnTo>
                  <a:pt x="2969563" y="353533"/>
                </a:lnTo>
                <a:lnTo>
                  <a:pt x="3004499" y="352896"/>
                </a:lnTo>
                <a:lnTo>
                  <a:pt x="3039435" y="434836"/>
                </a:lnTo>
                <a:lnTo>
                  <a:pt x="3074371" y="456315"/>
                </a:lnTo>
                <a:lnTo>
                  <a:pt x="3109307" y="429585"/>
                </a:lnTo>
                <a:lnTo>
                  <a:pt x="3144243" y="552733"/>
                </a:lnTo>
                <a:lnTo>
                  <a:pt x="3179179" y="587259"/>
                </a:lnTo>
                <a:lnTo>
                  <a:pt x="3214116" y="572780"/>
                </a:lnTo>
                <a:lnTo>
                  <a:pt x="3249052" y="634354"/>
                </a:lnTo>
                <a:lnTo>
                  <a:pt x="3283988" y="697678"/>
                </a:lnTo>
                <a:lnTo>
                  <a:pt x="3318924" y="689882"/>
                </a:lnTo>
                <a:lnTo>
                  <a:pt x="3353860" y="511843"/>
                </a:lnTo>
                <a:lnTo>
                  <a:pt x="3388796" y="436904"/>
                </a:lnTo>
                <a:lnTo>
                  <a:pt x="3423732" y="467293"/>
                </a:lnTo>
                <a:lnTo>
                  <a:pt x="3458668" y="476044"/>
                </a:lnTo>
                <a:lnTo>
                  <a:pt x="3493604" y="511365"/>
                </a:lnTo>
                <a:lnTo>
                  <a:pt x="3528540" y="537777"/>
                </a:lnTo>
                <a:lnTo>
                  <a:pt x="3563476" y="555597"/>
                </a:lnTo>
                <a:lnTo>
                  <a:pt x="3598412" y="563552"/>
                </a:lnTo>
                <a:lnTo>
                  <a:pt x="3633348" y="607783"/>
                </a:lnTo>
                <a:lnTo>
                  <a:pt x="3668284" y="703724"/>
                </a:lnTo>
                <a:lnTo>
                  <a:pt x="3703220" y="726635"/>
                </a:lnTo>
                <a:lnTo>
                  <a:pt x="3738156" y="721862"/>
                </a:lnTo>
                <a:lnTo>
                  <a:pt x="3773092" y="574849"/>
                </a:lnTo>
                <a:lnTo>
                  <a:pt x="3808028" y="569757"/>
                </a:lnTo>
                <a:lnTo>
                  <a:pt x="3842964" y="691791"/>
                </a:lnTo>
                <a:lnTo>
                  <a:pt x="3877900" y="849942"/>
                </a:lnTo>
                <a:lnTo>
                  <a:pt x="3912836" y="747956"/>
                </a:lnTo>
                <a:lnTo>
                  <a:pt x="3947772" y="595532"/>
                </a:lnTo>
                <a:lnTo>
                  <a:pt x="3982708" y="511684"/>
                </a:lnTo>
                <a:lnTo>
                  <a:pt x="4017644" y="506911"/>
                </a:lnTo>
                <a:lnTo>
                  <a:pt x="4052581" y="501342"/>
                </a:lnTo>
                <a:lnTo>
                  <a:pt x="4087517" y="508024"/>
                </a:lnTo>
                <a:lnTo>
                  <a:pt x="4122453" y="565939"/>
                </a:lnTo>
                <a:lnTo>
                  <a:pt x="4157389" y="592509"/>
                </a:lnTo>
                <a:lnTo>
                  <a:pt x="4192325" y="569280"/>
                </a:lnTo>
                <a:lnTo>
                  <a:pt x="4227261" y="555120"/>
                </a:lnTo>
                <a:lnTo>
                  <a:pt x="4262197" y="507865"/>
                </a:lnTo>
                <a:lnTo>
                  <a:pt x="4297133" y="469680"/>
                </a:lnTo>
                <a:lnTo>
                  <a:pt x="4332069" y="483522"/>
                </a:lnTo>
                <a:lnTo>
                  <a:pt x="4367005" y="469043"/>
                </a:lnTo>
                <a:lnTo>
                  <a:pt x="4401941" y="561325"/>
                </a:lnTo>
                <a:lnTo>
                  <a:pt x="4436877" y="627513"/>
                </a:lnTo>
                <a:lnTo>
                  <a:pt x="4471813" y="600783"/>
                </a:lnTo>
                <a:lnTo>
                  <a:pt x="4506749" y="554324"/>
                </a:lnTo>
                <a:lnTo>
                  <a:pt x="4541685" y="505638"/>
                </a:lnTo>
                <a:lnTo>
                  <a:pt x="4576621" y="465861"/>
                </a:lnTo>
                <a:lnTo>
                  <a:pt x="4611557" y="363397"/>
                </a:lnTo>
                <a:lnTo>
                  <a:pt x="4646493" y="314552"/>
                </a:lnTo>
                <a:lnTo>
                  <a:pt x="4681429" y="363397"/>
                </a:lnTo>
                <a:lnTo>
                  <a:pt x="4716365" y="424335"/>
                </a:lnTo>
                <a:lnTo>
                  <a:pt x="4751301" y="440245"/>
                </a:lnTo>
                <a:lnTo>
                  <a:pt x="4786237" y="468248"/>
                </a:lnTo>
                <a:lnTo>
                  <a:pt x="4821174" y="558302"/>
                </a:lnTo>
                <a:lnTo>
                  <a:pt x="4856110" y="626558"/>
                </a:lnTo>
                <a:lnTo>
                  <a:pt x="4891046" y="669039"/>
                </a:lnTo>
                <a:lnTo>
                  <a:pt x="4925982" y="751297"/>
                </a:lnTo>
                <a:lnTo>
                  <a:pt x="4960918" y="816530"/>
                </a:lnTo>
                <a:lnTo>
                  <a:pt x="4995854" y="842623"/>
                </a:lnTo>
                <a:lnTo>
                  <a:pt x="5030790" y="777390"/>
                </a:lnTo>
                <a:lnTo>
                  <a:pt x="5065726" y="771026"/>
                </a:lnTo>
                <a:lnTo>
                  <a:pt x="5100662" y="791391"/>
                </a:lnTo>
                <a:lnTo>
                  <a:pt x="5135598" y="790596"/>
                </a:lnTo>
                <a:lnTo>
                  <a:pt x="5170534" y="806665"/>
                </a:lnTo>
                <a:lnTo>
                  <a:pt x="5205470" y="816689"/>
                </a:lnTo>
                <a:lnTo>
                  <a:pt x="5240406" y="916448"/>
                </a:lnTo>
                <a:lnTo>
                  <a:pt x="5275342" y="994251"/>
                </a:lnTo>
                <a:lnTo>
                  <a:pt x="5310278" y="1059803"/>
                </a:lnTo>
                <a:lnTo>
                  <a:pt x="5345214" y="1134105"/>
                </a:lnTo>
                <a:lnTo>
                  <a:pt x="5380150" y="1186291"/>
                </a:lnTo>
                <a:lnTo>
                  <a:pt x="5415086" y="1229091"/>
                </a:lnTo>
                <a:lnTo>
                  <a:pt x="5450022" y="1116126"/>
                </a:lnTo>
                <a:lnTo>
                  <a:pt x="5484958" y="1078100"/>
                </a:lnTo>
                <a:lnTo>
                  <a:pt x="5519894" y="1093374"/>
                </a:lnTo>
                <a:lnTo>
                  <a:pt x="5554830" y="1100852"/>
                </a:lnTo>
                <a:lnTo>
                  <a:pt x="5589766" y="1074122"/>
                </a:lnTo>
                <a:lnTo>
                  <a:pt x="5624703" y="1100693"/>
                </a:lnTo>
                <a:lnTo>
                  <a:pt x="5659639" y="1125513"/>
                </a:lnTo>
                <a:lnTo>
                  <a:pt x="5694575" y="1188360"/>
                </a:lnTo>
                <a:lnTo>
                  <a:pt x="5729511" y="1225113"/>
                </a:lnTo>
                <a:lnTo>
                  <a:pt x="5764447" y="1259480"/>
                </a:lnTo>
                <a:lnTo>
                  <a:pt x="5799383" y="1218590"/>
                </a:lnTo>
                <a:lnTo>
                  <a:pt x="5834319" y="1206021"/>
                </a:lnTo>
                <a:lnTo>
                  <a:pt x="5869255" y="1095124"/>
                </a:lnTo>
                <a:lnTo>
                  <a:pt x="5904191" y="1093851"/>
                </a:lnTo>
                <a:lnTo>
                  <a:pt x="5939127" y="1072372"/>
                </a:lnTo>
                <a:lnTo>
                  <a:pt x="5974063" y="1117240"/>
                </a:lnTo>
                <a:lnTo>
                  <a:pt x="6008999" y="1061075"/>
                </a:lnTo>
                <a:lnTo>
                  <a:pt x="6043935" y="1073326"/>
                </a:lnTo>
                <a:lnTo>
                  <a:pt x="6078871" y="1156539"/>
                </a:lnTo>
                <a:lnTo>
                  <a:pt x="6113807" y="1183587"/>
                </a:lnTo>
                <a:lnTo>
                  <a:pt x="6148743" y="1205066"/>
                </a:lnTo>
                <a:lnTo>
                  <a:pt x="6183679" y="1201406"/>
                </a:lnTo>
                <a:lnTo>
                  <a:pt x="6218615" y="1182791"/>
                </a:lnTo>
                <a:lnTo>
                  <a:pt x="6253551" y="1143969"/>
                </a:lnTo>
                <a:lnTo>
                  <a:pt x="6288487" y="1091942"/>
                </a:lnTo>
                <a:lnTo>
                  <a:pt x="6323423" y="1073804"/>
                </a:lnTo>
                <a:lnTo>
                  <a:pt x="6358359" y="1038323"/>
                </a:lnTo>
                <a:lnTo>
                  <a:pt x="6393295" y="1112785"/>
                </a:lnTo>
                <a:lnTo>
                  <a:pt x="6428232" y="106505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795528" y="2712646"/>
            <a:ext cx="6428232" cy="1163380"/>
          </a:xfrm>
          <a:custGeom>
            <a:avLst/>
            <a:gdLst/>
            <a:ahLst/>
            <a:cxnLst/>
            <a:rect l="l" t="t" r="r" b="b"/>
            <a:pathLst>
              <a:path w="6428232" h="1163380">
                <a:moveTo>
                  <a:pt x="0" y="362283"/>
                </a:moveTo>
                <a:lnTo>
                  <a:pt x="34936" y="182176"/>
                </a:lnTo>
                <a:lnTo>
                  <a:pt x="69872" y="205882"/>
                </a:lnTo>
                <a:lnTo>
                  <a:pt x="104808" y="240090"/>
                </a:lnTo>
                <a:lnTo>
                  <a:pt x="139744" y="263001"/>
                </a:lnTo>
                <a:lnTo>
                  <a:pt x="174680" y="157037"/>
                </a:lnTo>
                <a:lnTo>
                  <a:pt x="209616" y="120920"/>
                </a:lnTo>
                <a:lnTo>
                  <a:pt x="244552" y="267456"/>
                </a:lnTo>
                <a:lnTo>
                  <a:pt x="279488" y="200314"/>
                </a:lnTo>
                <a:lnTo>
                  <a:pt x="314424" y="250273"/>
                </a:lnTo>
                <a:lnTo>
                  <a:pt x="349360" y="358942"/>
                </a:lnTo>
                <a:lnTo>
                  <a:pt x="384296" y="316143"/>
                </a:lnTo>
                <a:lnTo>
                  <a:pt x="419232" y="0"/>
                </a:lnTo>
                <a:lnTo>
                  <a:pt x="454168" y="185994"/>
                </a:lnTo>
                <a:lnTo>
                  <a:pt x="489104" y="124739"/>
                </a:lnTo>
                <a:lnTo>
                  <a:pt x="524040" y="68097"/>
                </a:lnTo>
                <a:lnTo>
                  <a:pt x="558976" y="293390"/>
                </a:lnTo>
                <a:lnTo>
                  <a:pt x="593912" y="261410"/>
                </a:lnTo>
                <a:lnTo>
                  <a:pt x="628848" y="432131"/>
                </a:lnTo>
                <a:lnTo>
                  <a:pt x="663784" y="280344"/>
                </a:lnTo>
                <a:lnTo>
                  <a:pt x="698720" y="379307"/>
                </a:lnTo>
                <a:lnTo>
                  <a:pt x="733656" y="479862"/>
                </a:lnTo>
                <a:lnTo>
                  <a:pt x="768592" y="473657"/>
                </a:lnTo>
                <a:lnTo>
                  <a:pt x="803529" y="485431"/>
                </a:lnTo>
                <a:lnTo>
                  <a:pt x="838465" y="370716"/>
                </a:lnTo>
                <a:lnTo>
                  <a:pt x="873401" y="336985"/>
                </a:lnTo>
                <a:lnTo>
                  <a:pt x="908337" y="302619"/>
                </a:lnTo>
                <a:lnTo>
                  <a:pt x="943273" y="406196"/>
                </a:lnTo>
                <a:lnTo>
                  <a:pt x="978209" y="525685"/>
                </a:lnTo>
                <a:lnTo>
                  <a:pt x="1013145" y="616216"/>
                </a:lnTo>
                <a:lnTo>
                  <a:pt x="1048081" y="690677"/>
                </a:lnTo>
                <a:lnTo>
                  <a:pt x="1083017" y="696087"/>
                </a:lnTo>
                <a:lnTo>
                  <a:pt x="1117953" y="745409"/>
                </a:lnTo>
                <a:lnTo>
                  <a:pt x="1152889" y="830531"/>
                </a:lnTo>
                <a:lnTo>
                  <a:pt x="1187825" y="846601"/>
                </a:lnTo>
                <a:lnTo>
                  <a:pt x="1222761" y="948269"/>
                </a:lnTo>
                <a:lnTo>
                  <a:pt x="1257697" y="806983"/>
                </a:lnTo>
                <a:lnTo>
                  <a:pt x="1292633" y="711361"/>
                </a:lnTo>
                <a:lnTo>
                  <a:pt x="1327569" y="780094"/>
                </a:lnTo>
                <a:lnTo>
                  <a:pt x="1362505" y="793618"/>
                </a:lnTo>
                <a:lnTo>
                  <a:pt x="1397441" y="867125"/>
                </a:lnTo>
                <a:lnTo>
                  <a:pt x="1432377" y="845964"/>
                </a:lnTo>
                <a:lnTo>
                  <a:pt x="1467313" y="894810"/>
                </a:lnTo>
                <a:lnTo>
                  <a:pt x="1502249" y="864898"/>
                </a:lnTo>
                <a:lnTo>
                  <a:pt x="1537185" y="877785"/>
                </a:lnTo>
                <a:lnTo>
                  <a:pt x="1572121" y="898628"/>
                </a:lnTo>
                <a:lnTo>
                  <a:pt x="1607057" y="904833"/>
                </a:lnTo>
                <a:lnTo>
                  <a:pt x="1641994" y="997910"/>
                </a:lnTo>
                <a:lnTo>
                  <a:pt x="1676930" y="726794"/>
                </a:lnTo>
                <a:lnTo>
                  <a:pt x="1711866" y="666493"/>
                </a:lnTo>
                <a:lnTo>
                  <a:pt x="1746802" y="673812"/>
                </a:lnTo>
                <a:lnTo>
                  <a:pt x="1781738" y="699587"/>
                </a:lnTo>
                <a:lnTo>
                  <a:pt x="1816674" y="705156"/>
                </a:lnTo>
                <a:lnTo>
                  <a:pt x="1851610" y="725680"/>
                </a:lnTo>
                <a:lnTo>
                  <a:pt x="1886546" y="779935"/>
                </a:lnTo>
                <a:lnTo>
                  <a:pt x="1921482" y="883354"/>
                </a:lnTo>
                <a:lnTo>
                  <a:pt x="1956418" y="791073"/>
                </a:lnTo>
                <a:lnTo>
                  <a:pt x="1991354" y="831326"/>
                </a:lnTo>
                <a:lnTo>
                  <a:pt x="2026290" y="780254"/>
                </a:lnTo>
                <a:lnTo>
                  <a:pt x="2061226" y="827508"/>
                </a:lnTo>
                <a:lnTo>
                  <a:pt x="2096162" y="677790"/>
                </a:lnTo>
                <a:lnTo>
                  <a:pt x="2131098" y="644696"/>
                </a:lnTo>
                <a:lnTo>
                  <a:pt x="2166034" y="638172"/>
                </a:lnTo>
                <a:lnTo>
                  <a:pt x="2200970" y="743659"/>
                </a:lnTo>
                <a:lnTo>
                  <a:pt x="2235906" y="721703"/>
                </a:lnTo>
                <a:lnTo>
                  <a:pt x="2270842" y="692268"/>
                </a:lnTo>
                <a:lnTo>
                  <a:pt x="2305778" y="720271"/>
                </a:lnTo>
                <a:lnTo>
                  <a:pt x="2340714" y="816848"/>
                </a:lnTo>
                <a:lnTo>
                  <a:pt x="2375650" y="729499"/>
                </a:lnTo>
                <a:lnTo>
                  <a:pt x="2410587" y="786618"/>
                </a:lnTo>
                <a:lnTo>
                  <a:pt x="2445523" y="814302"/>
                </a:lnTo>
                <a:lnTo>
                  <a:pt x="2480459" y="876194"/>
                </a:lnTo>
                <a:lnTo>
                  <a:pt x="2515395" y="716293"/>
                </a:lnTo>
                <a:lnTo>
                  <a:pt x="2550331" y="658379"/>
                </a:lnTo>
                <a:lnTo>
                  <a:pt x="2585267" y="625285"/>
                </a:lnTo>
                <a:lnTo>
                  <a:pt x="2620203" y="631490"/>
                </a:lnTo>
                <a:lnTo>
                  <a:pt x="2655139" y="634990"/>
                </a:lnTo>
                <a:lnTo>
                  <a:pt x="2690075" y="595373"/>
                </a:lnTo>
                <a:lnTo>
                  <a:pt x="2725011" y="674607"/>
                </a:lnTo>
                <a:lnTo>
                  <a:pt x="2759947" y="694814"/>
                </a:lnTo>
                <a:lnTo>
                  <a:pt x="2794883" y="765457"/>
                </a:lnTo>
                <a:lnTo>
                  <a:pt x="2829819" y="742386"/>
                </a:lnTo>
                <a:lnTo>
                  <a:pt x="2864755" y="729499"/>
                </a:lnTo>
                <a:lnTo>
                  <a:pt x="2899691" y="855351"/>
                </a:lnTo>
                <a:lnTo>
                  <a:pt x="2934627" y="564029"/>
                </a:lnTo>
                <a:lnTo>
                  <a:pt x="2969563" y="556710"/>
                </a:lnTo>
                <a:lnTo>
                  <a:pt x="3004499" y="494341"/>
                </a:lnTo>
                <a:lnTo>
                  <a:pt x="3039435" y="622103"/>
                </a:lnTo>
                <a:lnTo>
                  <a:pt x="3074371" y="654083"/>
                </a:lnTo>
                <a:lnTo>
                  <a:pt x="3109307" y="632126"/>
                </a:lnTo>
                <a:lnTo>
                  <a:pt x="3144243" y="583758"/>
                </a:lnTo>
                <a:lnTo>
                  <a:pt x="3179179" y="745409"/>
                </a:lnTo>
                <a:lnTo>
                  <a:pt x="3214116" y="767366"/>
                </a:lnTo>
                <a:lnTo>
                  <a:pt x="3249052" y="796164"/>
                </a:lnTo>
                <a:lnTo>
                  <a:pt x="3283988" y="833713"/>
                </a:lnTo>
                <a:lnTo>
                  <a:pt x="3318924" y="837213"/>
                </a:lnTo>
                <a:lnTo>
                  <a:pt x="3353860" y="693541"/>
                </a:lnTo>
                <a:lnTo>
                  <a:pt x="3388796" y="616216"/>
                </a:lnTo>
                <a:lnTo>
                  <a:pt x="3423732" y="629262"/>
                </a:lnTo>
                <a:lnTo>
                  <a:pt x="3458668" y="654878"/>
                </a:lnTo>
                <a:lnTo>
                  <a:pt x="3493604" y="675085"/>
                </a:lnTo>
                <a:lnTo>
                  <a:pt x="3528540" y="739045"/>
                </a:lnTo>
                <a:lnTo>
                  <a:pt x="3563476" y="754001"/>
                </a:lnTo>
                <a:lnTo>
                  <a:pt x="3598412" y="824326"/>
                </a:lnTo>
                <a:lnTo>
                  <a:pt x="3633348" y="793459"/>
                </a:lnTo>
                <a:lnTo>
                  <a:pt x="3668284" y="891309"/>
                </a:lnTo>
                <a:lnTo>
                  <a:pt x="3703220" y="921380"/>
                </a:lnTo>
                <a:lnTo>
                  <a:pt x="3738156" y="909129"/>
                </a:lnTo>
                <a:lnTo>
                  <a:pt x="3773092" y="775162"/>
                </a:lnTo>
                <a:lnTo>
                  <a:pt x="3808028" y="793459"/>
                </a:lnTo>
                <a:lnTo>
                  <a:pt x="3842964" y="854556"/>
                </a:lnTo>
                <a:lnTo>
                  <a:pt x="3877900" y="1066007"/>
                </a:lnTo>
                <a:lnTo>
                  <a:pt x="3912836" y="959566"/>
                </a:lnTo>
                <a:lnTo>
                  <a:pt x="3947772" y="777231"/>
                </a:lnTo>
                <a:lnTo>
                  <a:pt x="3982708" y="731408"/>
                </a:lnTo>
                <a:lnTo>
                  <a:pt x="4017644" y="752728"/>
                </a:lnTo>
                <a:lnTo>
                  <a:pt x="4052581" y="695132"/>
                </a:lnTo>
                <a:lnTo>
                  <a:pt x="4087517" y="679540"/>
                </a:lnTo>
                <a:lnTo>
                  <a:pt x="4122453" y="764184"/>
                </a:lnTo>
                <a:lnTo>
                  <a:pt x="4157389" y="751296"/>
                </a:lnTo>
                <a:lnTo>
                  <a:pt x="4192325" y="718998"/>
                </a:lnTo>
                <a:lnTo>
                  <a:pt x="4227261" y="765139"/>
                </a:lnTo>
                <a:lnTo>
                  <a:pt x="4262197" y="677471"/>
                </a:lnTo>
                <a:lnTo>
                  <a:pt x="4297133" y="687972"/>
                </a:lnTo>
                <a:lnTo>
                  <a:pt x="4332069" y="637377"/>
                </a:lnTo>
                <a:lnTo>
                  <a:pt x="4367005" y="701815"/>
                </a:lnTo>
                <a:lnTo>
                  <a:pt x="4401941" y="761161"/>
                </a:lnTo>
                <a:lnTo>
                  <a:pt x="4436877" y="821303"/>
                </a:lnTo>
                <a:lnTo>
                  <a:pt x="4471813" y="835463"/>
                </a:lnTo>
                <a:lnTo>
                  <a:pt x="4506749" y="728544"/>
                </a:lnTo>
                <a:lnTo>
                  <a:pt x="4541685" y="669198"/>
                </a:lnTo>
                <a:lnTo>
                  <a:pt x="4576621" y="676835"/>
                </a:lnTo>
                <a:lnTo>
                  <a:pt x="4611557" y="496091"/>
                </a:lnTo>
                <a:lnTo>
                  <a:pt x="4646493" y="416061"/>
                </a:lnTo>
                <a:lnTo>
                  <a:pt x="4681429" y="472702"/>
                </a:lnTo>
                <a:lnTo>
                  <a:pt x="4716365" y="612875"/>
                </a:lnTo>
                <a:lnTo>
                  <a:pt x="4751301" y="541754"/>
                </a:lnTo>
                <a:lnTo>
                  <a:pt x="4786237" y="543982"/>
                </a:lnTo>
                <a:lnTo>
                  <a:pt x="4821174" y="577553"/>
                </a:lnTo>
                <a:lnTo>
                  <a:pt x="4856110" y="710247"/>
                </a:lnTo>
                <a:lnTo>
                  <a:pt x="4891046" y="726158"/>
                </a:lnTo>
                <a:lnTo>
                  <a:pt x="4925982" y="800937"/>
                </a:lnTo>
                <a:lnTo>
                  <a:pt x="4960918" y="759888"/>
                </a:lnTo>
                <a:lnTo>
                  <a:pt x="4995854" y="864420"/>
                </a:lnTo>
                <a:lnTo>
                  <a:pt x="5030790" y="633240"/>
                </a:lnTo>
                <a:lnTo>
                  <a:pt x="5065726" y="652810"/>
                </a:lnTo>
                <a:lnTo>
                  <a:pt x="5100662" y="673653"/>
                </a:lnTo>
                <a:lnTo>
                  <a:pt x="5135598" y="755115"/>
                </a:lnTo>
                <a:lnTo>
                  <a:pt x="5170534" y="700223"/>
                </a:lnTo>
                <a:lnTo>
                  <a:pt x="5205470" y="738886"/>
                </a:lnTo>
                <a:lnTo>
                  <a:pt x="5240406" y="827826"/>
                </a:lnTo>
                <a:lnTo>
                  <a:pt x="5275342" y="873649"/>
                </a:lnTo>
                <a:lnTo>
                  <a:pt x="5310278" y="918357"/>
                </a:lnTo>
                <a:lnTo>
                  <a:pt x="5345214" y="1047233"/>
                </a:lnTo>
                <a:lnTo>
                  <a:pt x="5380150" y="1116603"/>
                </a:lnTo>
                <a:lnTo>
                  <a:pt x="5415086" y="1163380"/>
                </a:lnTo>
                <a:lnTo>
                  <a:pt x="5450022" y="1027663"/>
                </a:lnTo>
                <a:lnTo>
                  <a:pt x="5484958" y="967680"/>
                </a:lnTo>
                <a:lnTo>
                  <a:pt x="5519894" y="945564"/>
                </a:lnTo>
                <a:lnTo>
                  <a:pt x="5554830" y="1044051"/>
                </a:lnTo>
                <a:lnTo>
                  <a:pt x="5589766" y="941587"/>
                </a:lnTo>
                <a:lnTo>
                  <a:pt x="5624703" y="956702"/>
                </a:lnTo>
                <a:lnTo>
                  <a:pt x="5659639" y="1059643"/>
                </a:lnTo>
                <a:lnTo>
                  <a:pt x="5694575" y="1023208"/>
                </a:lnTo>
                <a:lnTo>
                  <a:pt x="5729511" y="1107375"/>
                </a:lnTo>
                <a:lnTo>
                  <a:pt x="5764447" y="1126149"/>
                </a:lnTo>
                <a:lnTo>
                  <a:pt x="5799383" y="999660"/>
                </a:lnTo>
                <a:lnTo>
                  <a:pt x="5834319" y="996955"/>
                </a:lnTo>
                <a:lnTo>
                  <a:pt x="5869255" y="855033"/>
                </a:lnTo>
                <a:lnTo>
                  <a:pt x="5904191" y="772298"/>
                </a:lnTo>
                <a:lnTo>
                  <a:pt x="5939127" y="813507"/>
                </a:lnTo>
                <a:lnTo>
                  <a:pt x="5974063" y="791709"/>
                </a:lnTo>
                <a:lnTo>
                  <a:pt x="6008999" y="824962"/>
                </a:lnTo>
                <a:lnTo>
                  <a:pt x="6043935" y="872535"/>
                </a:lnTo>
                <a:lnTo>
                  <a:pt x="6078871" y="885741"/>
                </a:lnTo>
                <a:lnTo>
                  <a:pt x="6113807" y="1018912"/>
                </a:lnTo>
                <a:lnTo>
                  <a:pt x="6148743" y="953520"/>
                </a:lnTo>
                <a:lnTo>
                  <a:pt x="6183679" y="1010161"/>
                </a:lnTo>
                <a:lnTo>
                  <a:pt x="6218615" y="1030845"/>
                </a:lnTo>
                <a:lnTo>
                  <a:pt x="6253551" y="1004752"/>
                </a:lnTo>
                <a:lnTo>
                  <a:pt x="6288487" y="811597"/>
                </a:lnTo>
                <a:lnTo>
                  <a:pt x="6323423" y="763548"/>
                </a:lnTo>
                <a:lnTo>
                  <a:pt x="6358359" y="767366"/>
                </a:lnTo>
                <a:lnTo>
                  <a:pt x="6393295" y="969430"/>
                </a:lnTo>
                <a:lnTo>
                  <a:pt x="6428232" y="951929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7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957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650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420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113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2537460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Index, 2015 = 100 · monthly, 2011-01 → 2026-05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2528316"/>
            <a:ext cx="4279392" cy="117779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8079" y="2528316"/>
            <a:ext cx="50292" cy="117779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17536" y="2674620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Two windows, one message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2879090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Pickup +12.5% in 6 months, −0.4% in 12 — the fall has stopped.
• Car +6.0% in 6 months, −8.3% in 12 — same shape, weaker level.
• Pickup is 33 pts below its 2015 base, car 12 pts.
• Advance rates set before 2022 price a market that no longer exists.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68630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71556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5385" y="4700016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Bank of Thailand used-vehicle price index (EC_EI_040), 185 monthly points; 6- and 12-month moves computed from the published series, rebased to 2015 = 100. Pickup = confirmed pickup trucks (รถกระบะ), not heavy commercial (BoT Stat-Horizon methodology, 2019). Latest month preliminary.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10B · COLLATERAL SUPPLY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Two vehicle markets, moving opposite ways.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DLT first registrations, AutoX’s own pickup definition — any pickup or PPV, any class. Six- and 12-month windows, side by side.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3" cy="9875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3192"/>
                <a:gridCol w="1924886"/>
                <a:gridCol w="1466580"/>
                <a:gridCol w="1924886"/>
                <a:gridCol w="1466580"/>
                <a:gridCol w="219986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12m 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6-month units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6m YoY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6m trend ex-flag, units/mo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Pickup + PPV รถกระบะ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183,277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−15.3%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85,276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Passenger car 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443,641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+19.8%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233,102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+34.3%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11480" y="2531364"/>
            <a:ext cx="11365992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† flagged months in this window: 2025-12, 2026-01 — registrations pulled forward before an incentive deadline. Only the last is stripped from the trend column; both YoY columns keep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— registrations by month, 2025-08 → 2026-01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415" y="3475052"/>
            <a:ext cx="458845" cy="58031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217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14.9k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2811" y="3459662"/>
            <a:ext cx="458845" cy="59570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1036" y="327678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15.3k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10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5207" y="3539149"/>
            <a:ext cx="458845" cy="51621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3432" y="335626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13.2k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07603" y="3575865"/>
            <a:ext cx="458845" cy="47949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95828" y="339298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12.3k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958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89999" y="3609457"/>
            <a:ext cx="458845" cy="44590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78224" y="342657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11.4k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82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395" y="3342132"/>
            <a:ext cx="458845" cy="713231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60620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18.3k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606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8776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Passenger car — registrations by month, 2025-08 → 2026-01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57711" y="3740421"/>
            <a:ext cx="458845" cy="31494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3557541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32.0k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40107" y="3727489"/>
            <a:ext cx="458845" cy="32787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8332" y="354460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33.3k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83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2503" y="3732400"/>
            <a:ext cx="458845" cy="322963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10728" y="3549520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04899" y="3744367"/>
            <a:ext cx="458845" cy="31099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93124" y="356148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31.6k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931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87295" y="3751335"/>
            <a:ext cx="458845" cy="30402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0" y="356845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30.9k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969691" y="3342132"/>
            <a:ext cx="458845" cy="713231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57916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72.5k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5791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4494276"/>
            <a:ext cx="5568696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4494276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The pickup “trend” is one flagged month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Five months fall in a row, then one month jumps — a bar, not a turn.
• Slope with that month in: +131/mo. Without it: -986/mo.
• Even that month was −14.6% YoY for pickups — still falling.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08776" y="4494276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08776" y="4494276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28232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Most of the car “boom” is one month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28232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6-month car growth: +34.3%. Ex-flag: +11.0%.
• That month alone ran +69.3% YoY — pulled forward, not demand.
• The 12-month figure, +19.8%, is the safer read.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564819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567745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MIXED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6955" y="5661914"/>
            <a:ext cx="10720516" cy="15430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Registrations MEASURED — DLT gdcatalog first registrations, 48 months from 2022-01. Ex-flag figures are our arithmetic on that series — ESTIMATED, a judgement call on which month to trust.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10C · BRAND CONCENTRATION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Two vehicle markets, and only one is holding its shape.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2 pickup brands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ISUZU · was 80.5% a year ago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2 car brands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48.5%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HONDA · down 9.4 points in a year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Third PU brand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10.8%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FORD · next is MITSUBISHI at 5.3%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New car brands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26.8%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BYD + MG + Jaecoo + AION + Deepal · no Thai residual record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— 183,277 registered in 12 months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Passenger car — 443,641 registered in 12 months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+ PPV brand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82,838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45.20%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ISUZU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61,342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33.47%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FORD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19,884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10.85%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9,777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5.33%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GWM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6,381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NISSAN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2,174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1.19%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0.40%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MAZDA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121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0.07%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brand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142,799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32.19%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HONDA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incumbent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72,171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16.27%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BYD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49,990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11.27%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25,839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JAECOO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16,905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16,253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3.66%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AION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15,378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DEEPAL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10,628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2.40%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5051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080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5064861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nameplate grain, trailing 12 months, NATIONAL only — no province column exists. First registrations are the FUTURE collateral pool, not a stock of what is on the road, and not used-vehicle sales.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524347"/>
            <a:ext cx="11365992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524347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6706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Two markets, opposite directions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875121"/>
            <a:ext cx="1103680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Pickup: Toyota + Isuzu hold 78.7%, down only 1.8 points in a year. The pool shrinks; its shape barely changes.
• Car: 9.4 points surrendered in a year. 26.8% of new cars now carry no Thai residual record.
• We know what a five-year-old Hilux is worth. We do not yet know what a five-year-old BYD is worth.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10D · THE NAMEPLATES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Top 5 pickups are 78.0% of the market. The top car is 12.5%.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5 PU nameplates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183,277 pickups and PPVs registered in 12 months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Top 5 PA nameplates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443,641 cars — the same five-model test, less than half the answer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Biggest PU nameplate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HILUX REVO · 57,445 units · -21.5% YoY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Biggest PA nameplate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YARIS ATIV · 55,544 units · +18.3% YoY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PU nameplates — share of the 183,277-unit pickup + PPV market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PA nameplates — share of the 443,641-unit car market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20"/>
                <a:gridCol w="54864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PU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57,445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31.34%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49,425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26.97%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11,916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6.50%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-8.7%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-30.0%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7,989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EVEREST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2316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PA 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12-month units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share of PA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YoY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12.52%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34,669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7.81%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3.73%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+6.3%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14,324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BYD DOLPHIN (435KM-STD)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3.18%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+295.9%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12,502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-28.4%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JAECOO 5 EV LONG RANGE 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12,293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new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93227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96153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945989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the registrar's own ยี่ห้อ + รุ่น grain, trailing 12 months to 2026-01, NATIONAL only. PU shares are over pickup + PPV combined, PA shares over cars, so each is a share of its own market. One caveat that only bites the right-hand table: DLT files many car models per TRIM — 1,235 distinct car nameplate strings against 443,641 cars, Toyota alone filing 172 — so each PA share is a floor. Merging every trim would not close the gap: BYD's entire car volume is 11.3%, still under the single biggest PU nameplate.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557349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978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Top 5 pickup nameplates cover 78.0% of the market — priced off years of Thai resale history.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84629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83257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Top 5 car nameplates cover only 32.5%, and the single biggest is just 12.5%.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119088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053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New brands — BYD, MG, Jaecoo, AION, Deepal — carry no Thai resale record; some registered for the first time this year.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39188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637816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An advance rate is set per model. PU is five rows we can price. PA is a long tail we cannot, yet.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10F · FOUR YEARS OF NAMEPLATES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Pickups entering the road are down 59% since 2022. Cars are up 7%.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Pickups + PPV, 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453,745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first registrations that year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Pickups + PPV,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186,405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−58.9% over four years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Cars, 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388,164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first registrations that year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Cars,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413,968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+6.6% over four years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Pickup + PPV nameplates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Car nameplates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4-yr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145,408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114,556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76,608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60,075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−59%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181,373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127,279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66,266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51,255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27,131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25,636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14,264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19,376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22,394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13,051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12,131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27,697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24,732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10,274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23,061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8,597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8,929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8,249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Nameplate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4-yr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26,404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47,538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53,642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34,822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34,709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14,825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22,442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22,161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22,051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22,348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22,677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15,283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16,344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21,443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19,857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16,469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14,458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23,873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20,583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18,416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12,753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Civic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15,542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13,370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10,679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676241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705502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689957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first registrations at the registrar's own ยี่ห้อ + รุ่น grain, from the yearly roll-up files so the mirror's missing 2023-12 month cannot distort a year. 2022–2025 are the only complete years published. These are vehicles entering the fleet, NOT the stock on the road — no DLT dataset carries brand or model against registered stock, so a total parc by nameplate does not exist and is not shown here. An em-dash means the nameplate was outside that year's top 15, not that none were registered.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285460"/>
            <a:ext cx="11365992" cy="83743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285460"/>
            <a:ext cx="50292" cy="83743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431764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The collateral pool is shrinking faster than it is changing shape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636234"/>
            <a:ext cx="11036808" cy="340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Four years took 267,340 pickups a year out of the flow — 59% — while cars held roughly flat. Fewer new pickups now means a thinner supply of five-year-old pickups to lend against later, and the nameplates are the same ones: this is a volume problem, not a mix problem.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10E · THE SECOND-HAND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Pickups are 17% of the parc — cars 34%, motorcycles 46%.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Pickup stock รถกระบะ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6.98M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registered pickups nationally · -0.77% YoY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Car stock รถยนต์นั่ง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12.98M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+1.81% YoY · +19.3% since 2563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Diesel share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56.3%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of the 44.3M fleet — what the market runs on today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BEV share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0.95%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electrified 2.57% — not a factor this quarter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11480" y="2359152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417320"/>
                <a:gridCol w="1325880"/>
                <a:gridCol w="1325880"/>
                <a:gridCol w="1417320"/>
                <a:gridCol w="1463040"/>
                <a:gridCol w="1463040"/>
                <a:gridCol w="15361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Region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Registered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Moto share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PU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Car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Moto turnover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Central&amp;BKK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15.86M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East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4.15M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33.4%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48.5%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5.21%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Isan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8.04M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North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6.83M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19.4%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5.95%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South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4.82M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411480" y="420624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423550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MEASURED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5385" y="4219955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DLT registered stock and ownership transfers by region and class (PU รถกระบะ · car รถยนต์นั่ง · moto รถจักรยานยนต์), plus MOT fleet totals. Share = class stock ÷ all registered vehicles in the region. Turnover = transfers ÷ registered stock — how much of the parc changes hands a year, the depth a repossessed title sells into.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697729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697729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Small and slow, at the same 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" y="5048503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Pickups are only 17% of the vehicle parc — cars 34%, motorcycles 46% — and still turn over slowest: 5.2–7.6% of pickups change hands a year against 5.6–10.2% for cars, worst in East.
A smaller, slower market means a longer disposal and a wider discount on a repossessed title.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4697729"/>
            <a:ext cx="5568696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08776" y="4697729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8232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Electrification is a clock, not a problem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5048503"/>
            <a:ext cx="5239512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BEVs are 0.9% of the fleet, electrified 2.6% — not a factor today.
But titles resell over five to ten years, and 27% of new cars already carry no Thai resale history. That fleet ages into the used market before 2032.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11 · SO WHAT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Five things the macro picture asks of us.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Restricted Data – Reproduction is prohibited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Call the four-signal provinces first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152144"/>
            <a:ext cx="7799831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อำนาจเจริญ trips all four warning flags. Three more trip three — สุโขทัย, สิงห์บุรี, อุบลราชธานี.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0075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1963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Watch the provinces left behind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161963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Median crop income rose +16.8%, but four provinces fell — all on the coconut (มะพร้าว) belt, worst สมุทรสงคราม at −63.0%.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19798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31686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Track the three crops still falling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31686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Coconut (มะพร้าว), Pineapple (สับปะรด), Sugarcane (อ้อย) keep falling at the farm gate (ราคาที่เกษตรกรขายได้) — 11% of the country’s planted land.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9521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01409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Reprice the vehicle we lend against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01409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Pickup resale is still 33 points below its 2015 level, the slowest-selling class on the road. Five nameplates cover 78% of that market; new car brands do not.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59244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71132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Read two signals as models, not facts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71132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Transport income moves −2.8% on one national fuel number, no Thai freight data behind it. Drought (ภัยแล้ง) is a rainfall model — nobody has walked those districts.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90847"/>
            <a:ext cx="11365992" cy="854456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490847"/>
            <a:ext cx="50292" cy="85445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46371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Scope, stated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841620"/>
            <a:ext cx="11036808" cy="35737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External data only — the economy, crops, water, vehicles. It points at places, never at people; turning a place into a call list is the Assistance tab’s job. Nothing here argues to open, close or expand anything.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5473319"/>
            <a:ext cx="11365992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Vintages — world prices 2026M06 · Thai farm gate 2026-08-28 · Thai price history 2026-08-23 · crop cost of production OAE Cai-up 2568 (crop year 2568/69, OAE forecast Mar 2569) · drought 2026-06-21 · CPI 2026-05 · GDP 2026-Q1 · IMF WEO 2026 · resale index 2026-05 · registrations to 2026-01 · household debt NSO SES 2566 · wages NSO LFS 2568 · telemetry 2026-08-29.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