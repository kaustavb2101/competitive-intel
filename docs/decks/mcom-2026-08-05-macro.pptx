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the Macro tab — external conditions only. The economy, crop prices and the used-vehicle market, all published by someone else. What any of it costs us is the Exposure and Risk conversation; competition and the branch views are separate again.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take one thing: the macro is stable, the crops are mixed, the collateral is deteriorating — and the borrower was already thin before any of it. Scope is external conditions; the book readouts live on Exposure and Risk, not 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slides merged. The economy is fine and the region is not the story — the story is that growth is slow, the fiscal cushion is thin, and arrears are turning up. If relief comes, less of it will come from government this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divergence rows are the point: the world index and the Thai farm gate can face opposite directions, and only one of them is what a Thai grower is paid.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YoY is a poor instrument for a slow decline. Sugar's −13.5% is the fourth year of one move, not a new event.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earns agriculture a section is that its hazards are external and forecastable — price, cost, rainfall — which is rare. The last column is context for how much of it reaches us; the belts themselves are the subject.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present one agriculture slide, present this. Rubber's price is up 38% and it still carries the thinnest margin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rice line out loud: 4.5 million households, price up 12.4%, and still −฿444 a person a month after cost. Cost of production is the variable, not price.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replaces the 2023 annual national survey with current monthly figures by region and occupation. Farming up but poorest; transport down everywhere. Both are reasons to make contact early rather than wait.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double-stressed provinces is a world-price result. สุพรรณบุรี is the worked counter-example — say it rather than presenting a clean zero.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assistance programme comes out of. Four independent external signals; three or more tripped is the shortlist. Say clearly that it points at geographies, not people, and that Assistance does the name-level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Everything before was conditions on the borrower; this is conditions on the security, which is the part with an underwriting consequence.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two windows: pickup +12.5% over six months but −0.4% over twelve, so the fall has stopped rather than reversed. Then the level — still 33 points below its own 2015 base. Direction improving, level still bad.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worth making out loud: the pickup six-month slope is NOT a recovery — strip the flagged January and it is about −986 units a month. Same month inflates the car boom from +11% to +34%. Quote the twelve-month windows.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pickup nameplate on the left table is down double digits — there is no pickup nameplate growing. The commercial point: we know what a five-year-old Hilux is worth. We do not know what a five-year-old BYD or Jaecoo is worth, and a fifth of new cars are now those.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Turnover is the depth a repossession is actually sold into. Pickup is the slowest-turning class in every region, and the East is the extreme.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drill goes from a national number to a district without changing instrument. If someone reaches for 0.94% unemployment as evidence the borrower is fine, this is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 of branches on repeatedly-flooded ground is a hazard flag on the footprint we already run. Not a loss estimate, not an argument to close anything.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scope: external conditions on the network we already run — no open, close or expand recommendation, and no book readout, by design.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9811512" y="0"/>
            <a:ext cx="2377440"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9811512" y="0"/>
            <a:ext cx="109728"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926080" cy="1828800"/>
          </a:xfrm>
          <a:prstGeom prst="rect">
            <a:avLst/>
          </a:prstGeom>
        </p:spPr>
      </p:pic>
      <p:sp>
        <p:nvSpPr>
          <p:cNvPr id="6" name="TextBox 5"/>
          <p:cNvSpPr txBox="1"/>
          <p:nvPr/>
        </p:nvSpPr>
        <p:spPr>
          <a:xfrm>
            <a:off x="685800" y="2743200"/>
            <a:ext cx="8503920" cy="965200"/>
          </a:xfrm>
          <a:prstGeom prst="rect">
            <a:avLst/>
          </a:prstGeom>
          <a:noFill/>
        </p:spPr>
        <p:txBody>
          <a:bodyPr wrap="square" lIns="0" rIns="0" tIns="0" bIns="0" anchor="t">
            <a:noAutofit/>
          </a:bodyPr>
          <a:lstStyle/>
          <a:p>
            <a:pPr algn="l">
              <a:lnSpc>
                <a:spcPts val="3800"/>
              </a:lnSpc>
            </a:pPr>
            <a:r>
              <a:rPr sz="3000" b="1">
                <a:solidFill>
                  <a:srgbClr val="FFFFFF"/>
                </a:solidFill>
                <a:latin typeface="Kanit"/>
              </a:rPr>
              <a:t>Macro: the conditions
we are lending into.</a:t>
            </a:r>
          </a:p>
        </p:txBody>
      </p:sp>
      <p:sp>
        <p:nvSpPr>
          <p:cNvPr id="7" name="TextBox 6"/>
          <p:cNvSpPr txBox="1"/>
          <p:nvPr/>
        </p:nvSpPr>
        <p:spPr>
          <a:xfrm>
            <a:off x="685800" y="4224528"/>
            <a:ext cx="8503920" cy="241300"/>
          </a:xfrm>
          <a:prstGeom prst="rect">
            <a:avLst/>
          </a:prstGeom>
          <a:noFill/>
        </p:spPr>
        <p:txBody>
          <a:bodyPr wrap="square" lIns="0" rIns="0" tIns="0" bIns="0" anchor="t">
            <a:noAutofit/>
          </a:bodyPr>
          <a:lstStyle/>
          <a:p>
            <a:pPr algn="l">
              <a:lnSpc>
                <a:spcPts val="1900"/>
              </a:lnSpc>
            </a:pPr>
            <a:r>
              <a:rPr sz="1300" b="0">
                <a:solidFill>
                  <a:srgbClr val="F5C242"/>
                </a:solidFill>
                <a:latin typeface="Kanit"/>
              </a:rPr>
              <a:t>MCOM · Wednesday 5 August 2026 · AutoX / บริษัท ออโต้ เอกซ์ จำกัด (เงินไชโย)</a:t>
            </a:r>
          </a:p>
        </p:txBody>
      </p:sp>
      <p:sp>
        <p:nvSpPr>
          <p:cNvPr id="8" name="TextBox 7"/>
          <p:cNvSpPr txBox="1"/>
          <p:nvPr/>
        </p:nvSpPr>
        <p:spPr>
          <a:xfrm>
            <a:off x="685800" y="5760720"/>
            <a:ext cx="5486400" cy="268224"/>
          </a:xfrm>
          <a:prstGeom prst="rect">
            <a:avLst/>
          </a:prstGeom>
          <a:noFill/>
        </p:spPr>
        <p:txBody>
          <a:bodyPr wrap="square" lIns="0" rIns="0" tIns="0" bIns="0" anchor="t">
            <a:noAutofit/>
          </a:bodyPr>
          <a:lstStyle/>
          <a:p>
            <a:pPr algn="l">
              <a:lnSpc>
                <a:spcPts val="2112"/>
              </a:lnSpc>
            </a:pPr>
            <a:r>
              <a:rPr sz="1600" b="1">
                <a:solidFill>
                  <a:srgbClr val="FFFFFF"/>
                </a:solidFill>
                <a:latin typeface="Kanit"/>
              </a:rPr>
              <a:t>Aug ’26</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THE ANSWER FIRST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Four questions about the world outside the company.</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93700"/>
          </a:xfrm>
          <a:prstGeom prst="rect">
            <a:avLst/>
          </a:prstGeom>
          <a:noFill/>
        </p:spPr>
        <p:txBody>
          <a:bodyPr wrap="square" lIns="0" rIns="0" tIns="0" bIns="0" anchor="t">
            <a:noAutofit/>
          </a:bodyPr>
          <a:lstStyle/>
          <a:p>
            <a:pPr algn="l">
              <a:lnSpc>
                <a:spcPts val="1550"/>
              </a:lnSpc>
            </a:pPr>
            <a:r>
              <a:rPr sz="1150" b="0">
                <a:solidFill>
                  <a:srgbClr val="606060"/>
                </a:solidFill>
                <a:latin typeface="Kanit"/>
              </a:rPr>
              <a:t>Everything on this tab is external — published by an agency, a ministry or a market, none of it by us. Where a line says what an external move touches, that is one column of context, not the subject.</a:t>
            </a:r>
          </a:p>
        </p:txBody>
      </p:sp>
      <p:sp>
        <p:nvSpPr>
          <p:cNvPr id="10" name="TextBox 9"/>
          <p:cNvSpPr txBox="1"/>
          <p:nvPr/>
        </p:nvSpPr>
        <p:spPr>
          <a:xfrm>
            <a:off x="411480" y="1728724"/>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Is the economy the problem?</a:t>
            </a:r>
          </a:p>
        </p:txBody>
      </p:sp>
      <p:sp>
        <p:nvSpPr>
          <p:cNvPr id="11" name="TextBox 10"/>
          <p:cNvSpPr txBox="1"/>
          <p:nvPr/>
        </p:nvSpPr>
        <p:spPr>
          <a:xfrm>
            <a:off x="3703320" y="1728724"/>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No. Growth and inflation both came in above what the IMF projected for 2026 and the policy rate is 1.00%. But Thailand is projected to grow slowest in ASEAN-5 — 1.5% against Vietnam’s 7.1%, on the narrowest fiscal room in the group. Stable, not strong.</a:t>
            </a:r>
          </a:p>
        </p:txBody>
      </p:sp>
      <p:sp>
        <p:nvSpPr>
          <p:cNvPr id="12" name="Rectangle 11"/>
          <p:cNvSpPr/>
          <p:nvPr/>
        </p:nvSpPr>
        <p:spPr>
          <a:xfrm>
            <a:off x="411480" y="2460244"/>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11480" y="2579116"/>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Are crop prices the problem?</a:t>
            </a:r>
          </a:p>
        </p:txBody>
      </p:sp>
      <p:sp>
        <p:nvSpPr>
          <p:cNvPr id="14" name="TextBox 13"/>
          <p:cNvSpPr txBox="1"/>
          <p:nvPr/>
        </p:nvSpPr>
        <p:spPr>
          <a:xfrm>
            <a:off x="3703320" y="2579116"/>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Not on the world index — but that is the wrong instrument. On the measured Thai farm gate nine commodities are falling, beef by 6.1% while the world index reads +11.8%. And margin matters more than price: netted of cost, a 24% price move becomes a 73% swing in crop income.</a:t>
            </a:r>
          </a:p>
        </p:txBody>
      </p:sp>
      <p:sp>
        <p:nvSpPr>
          <p:cNvPr id="15" name="Rectangle 14"/>
          <p:cNvSpPr/>
          <p:nvPr/>
        </p:nvSpPr>
        <p:spPr>
          <a:xfrm>
            <a:off x="411480" y="3310636"/>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411480" y="3429508"/>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So what is deteriorating?</a:t>
            </a:r>
          </a:p>
        </p:txBody>
      </p:sp>
      <p:sp>
        <p:nvSpPr>
          <p:cNvPr id="17" name="TextBox 16"/>
          <p:cNvSpPr txBox="1"/>
          <p:nvPr/>
        </p:nvSpPr>
        <p:spPr>
          <a:xfrm>
            <a:off x="3703320" y="3429508"/>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The collateral. Used pickup values sit 50% below their peak and 33 points below their own 2015 base, new pickup registrations are down 15.3% on the year, and no pickup nameplate is growing. Pickups turn over more slowly than any other class in every region.</a:t>
            </a:r>
          </a:p>
        </p:txBody>
      </p:sp>
      <p:sp>
        <p:nvSpPr>
          <p:cNvPr id="18" name="Rectangle 17"/>
          <p:cNvSpPr/>
          <p:nvPr/>
        </p:nvSpPr>
        <p:spPr>
          <a:xfrm>
            <a:off x="411480" y="4161028"/>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1480" y="4279900"/>
            <a:ext cx="3017520" cy="204216"/>
          </a:xfrm>
          <a:prstGeom prst="rect">
            <a:avLst/>
          </a:prstGeom>
          <a:noFill/>
        </p:spPr>
        <p:txBody>
          <a:bodyPr wrap="square" lIns="0" rIns="0" tIns="0" bIns="0" anchor="t">
            <a:noAutofit/>
          </a:bodyPr>
          <a:lstStyle/>
          <a:p>
            <a:pPr algn="l">
              <a:lnSpc>
                <a:spcPts val="1608"/>
              </a:lnSpc>
            </a:pPr>
            <a:r>
              <a:rPr sz="1200" b="1">
                <a:solidFill>
                  <a:srgbClr val="1E2F5C"/>
                </a:solidFill>
                <a:latin typeface="Kanit"/>
              </a:rPr>
              <a:t>And the borrower?</a:t>
            </a:r>
          </a:p>
        </p:txBody>
      </p:sp>
      <p:sp>
        <p:nvSpPr>
          <p:cNvPr id="20" name="TextBox 19"/>
          <p:cNvSpPr txBox="1"/>
          <p:nvPr/>
        </p:nvSpPr>
        <p:spPr>
          <a:xfrm>
            <a:off x="3703320" y="4279900"/>
            <a:ext cx="8074151" cy="612648"/>
          </a:xfrm>
          <a:prstGeom prst="rect">
            <a:avLst/>
          </a:prstGeom>
          <a:noFill/>
        </p:spPr>
        <p:txBody>
          <a:bodyPr wrap="square" lIns="0" rIns="0" tIns="0" bIns="0" anchor="t">
            <a:noAutofit/>
          </a:bodyPr>
          <a:lstStyle/>
          <a:p>
            <a:pPr algn="l">
              <a:lnSpc>
                <a:spcPts val="1608"/>
              </a:lnSpc>
            </a:pPr>
            <a:r>
              <a:rPr sz="1200" b="0">
                <a:solidFill>
                  <a:srgbClr val="2A3346"/>
                </a:solidFill>
                <a:latin typeface="Kanit"/>
              </a:rPr>
              <a:t>Thin before any of this. Farming pays ฿7,200–14,200 a month depending on region against a ฿17,700 national wage, three of the five crops with full economics do not cover their own cost, and 60% of households could not cover three months without income. System arrears have risen in three of the last four quarters.</a:t>
            </a:r>
          </a:p>
        </p:txBody>
      </p:sp>
      <p:sp>
        <p:nvSpPr>
          <p:cNvPr id="21" name="Rounded Rectangle 20"/>
          <p:cNvSpPr/>
          <p:nvPr/>
        </p:nvSpPr>
        <p:spPr>
          <a:xfrm>
            <a:off x="411480" y="5230876"/>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11480" y="526013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3" name="TextBox 22"/>
          <p:cNvSpPr txBox="1"/>
          <p:nvPr/>
        </p:nvSpPr>
        <p:spPr>
          <a:xfrm>
            <a:off x="1275385" y="5244592"/>
            <a:ext cx="10502086" cy="325755"/>
          </a:xfrm>
          <a:prstGeom prst="rect">
            <a:avLst/>
          </a:prstGeom>
          <a:noFill/>
        </p:spPr>
        <p:txBody>
          <a:bodyPr wrap="square" lIns="0" rIns="0" tIns="0" bIns="0" anchor="t">
            <a:noAutofit/>
          </a:bodyPr>
          <a:lstStyle/>
          <a:p>
            <a:pPr algn="l">
              <a:lnSpc>
                <a:spcPts val="1282"/>
              </a:lnSpc>
            </a:pPr>
            <a:r>
              <a:rPr sz="950" b="0">
                <a:solidFill>
                  <a:srgbClr val="606060"/>
                </a:solidFill>
                <a:latin typeface="Kanit"/>
              </a:rPr>
              <a:t>NESDC · TPSO · Bank of Thailand · BIS · ECB · IMF · World Bank · NABC · OAE · DLT · MOT · NSO · ThaiWater. Each page carries its own chip and vintage; where a figure is modelled rather than published it is labelled ESTIMATED.</a:t>
            </a:r>
          </a:p>
        </p:txBody>
      </p:sp>
      <p:sp>
        <p:nvSpPr>
          <p:cNvPr id="24" name="TextBox 23"/>
          <p:cNvSpPr txBox="1"/>
          <p:nvPr/>
        </p:nvSpPr>
        <p:spPr>
          <a:xfrm>
            <a:off x="411480" y="5794375"/>
            <a:ext cx="11365992" cy="167640"/>
          </a:xfrm>
          <a:prstGeom prst="rect">
            <a:avLst/>
          </a:prstGeom>
          <a:noFill/>
        </p:spPr>
        <p:txBody>
          <a:bodyPr wrap="square" lIns="0" rIns="0" tIns="0" bIns="0" anchor="t">
            <a:noAutofit/>
          </a:bodyPr>
          <a:lstStyle/>
          <a:p>
            <a:pPr algn="l">
              <a:lnSpc>
                <a:spcPts val="1320"/>
              </a:lnSpc>
            </a:pPr>
            <a:r>
              <a:rPr sz="1000" b="1">
                <a:solidFill>
                  <a:srgbClr val="1E2F5C"/>
                </a:solidFill>
                <a:latin typeface="Kanit"/>
              </a:rPr>
              <a:t>What follows</a:t>
            </a:r>
          </a:p>
        </p:txBody>
      </p:sp>
      <p:sp>
        <p:nvSpPr>
          <p:cNvPr id="25" name="TextBox 24"/>
          <p:cNvSpPr txBox="1"/>
          <p:nvPr/>
        </p:nvSpPr>
        <p:spPr>
          <a:xfrm>
            <a:off x="411480" y="6013831"/>
            <a:ext cx="11365992" cy="355600"/>
          </a:xfrm>
          <a:prstGeom prst="rect">
            <a:avLst/>
          </a:prstGeom>
          <a:noFill/>
        </p:spPr>
        <p:txBody>
          <a:bodyPr wrap="square" lIns="0" rIns="0" tIns="0" bIns="0" anchor="t">
            <a:noAutofit/>
          </a:bodyPr>
          <a:lstStyle/>
          <a:p>
            <a:pPr algn="l">
              <a:lnSpc>
                <a:spcPts val="1400"/>
              </a:lnSpc>
            </a:pPr>
            <a:r>
              <a:rPr sz="1000" b="0">
                <a:solidFill>
                  <a:srgbClr val="606060"/>
                </a:solidFill>
                <a:latin typeface="Kanit"/>
              </a:rPr>
              <a:t>01  the macro backdrop and the region        02–08  agriculture: the farm gate against the world index, the belts, cost of production, income now, drought        09  where to reach out first        10  collateral, in four parts        11–13  conditions at branch grain, and what it asks of 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01 · MACRO OVERLAY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Benign at home, slowest in the region, and system arrears are turning.</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GDP growth</a:t>
            </a:r>
          </a:p>
        </p:txBody>
      </p:sp>
      <p:sp>
        <p:nvSpPr>
          <p:cNvPr id="11" name="TextBox 10"/>
          <p:cNvSpPr txBox="1"/>
          <p:nvPr/>
        </p:nvSpPr>
        <p:spPr>
          <a:xfrm>
            <a:off x="548640" y="1426464"/>
            <a:ext cx="1505711"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+2.8%</a:t>
            </a:r>
          </a:p>
        </p:txBody>
      </p:sp>
      <p:sp>
        <p:nvSpPr>
          <p:cNvPr id="12" name="TextBox 11"/>
          <p:cNvSpPr txBox="1"/>
          <p:nvPr/>
        </p:nvSpPr>
        <p:spPr>
          <a:xfrm>
            <a:off x="54864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YoY · measured quarter, not a projection · NESDC 2026-Q1</a:t>
            </a:r>
          </a:p>
        </p:txBody>
      </p:sp>
      <p:sp>
        <p:nvSpPr>
          <p:cNvPr id="13" name="Rounded Rectangle 12"/>
          <p:cNvSpPr/>
          <p:nvPr/>
        </p:nvSpPr>
        <p:spPr>
          <a:xfrm>
            <a:off x="2328672"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2465832"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Inflation</a:t>
            </a:r>
          </a:p>
        </p:txBody>
      </p:sp>
      <p:sp>
        <p:nvSpPr>
          <p:cNvPr id="15" name="TextBox 14"/>
          <p:cNvSpPr txBox="1"/>
          <p:nvPr/>
        </p:nvSpPr>
        <p:spPr>
          <a:xfrm>
            <a:off x="2465832"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+2.79%</a:t>
            </a:r>
          </a:p>
        </p:txBody>
      </p:sp>
      <p:sp>
        <p:nvSpPr>
          <p:cNvPr id="16" name="TextBox 15"/>
          <p:cNvSpPr txBox="1"/>
          <p:nvPr/>
        </p:nvSpPr>
        <p:spPr>
          <a:xfrm>
            <a:off x="2465832"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headline CPI YoY · TPSO · 2026-05</a:t>
            </a:r>
          </a:p>
        </p:txBody>
      </p:sp>
      <p:sp>
        <p:nvSpPr>
          <p:cNvPr id="17" name="Rounded Rectangle 16"/>
          <p:cNvSpPr/>
          <p:nvPr/>
        </p:nvSpPr>
        <p:spPr>
          <a:xfrm>
            <a:off x="4245864"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383024"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Policy rate</a:t>
            </a:r>
          </a:p>
        </p:txBody>
      </p:sp>
      <p:sp>
        <p:nvSpPr>
          <p:cNvPr id="19" name="TextBox 18"/>
          <p:cNvSpPr txBox="1"/>
          <p:nvPr/>
        </p:nvSpPr>
        <p:spPr>
          <a:xfrm>
            <a:off x="4383024" y="1426464"/>
            <a:ext cx="1505711"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1.00%</a:t>
            </a:r>
          </a:p>
        </p:txBody>
      </p:sp>
      <p:sp>
        <p:nvSpPr>
          <p:cNvPr id="20" name="TextBox 19"/>
          <p:cNvSpPr txBox="1"/>
          <p:nvPr/>
        </p:nvSpPr>
        <p:spPr>
          <a:xfrm>
            <a:off x="4383024"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Bank of Thailand · 2026-06</a:t>
            </a:r>
          </a:p>
        </p:txBody>
      </p:sp>
      <p:sp>
        <p:nvSpPr>
          <p:cNvPr id="21" name="Rounded Rectangle 20"/>
          <p:cNvSpPr/>
          <p:nvPr/>
        </p:nvSpPr>
        <p:spPr>
          <a:xfrm>
            <a:off x="6163056"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300216"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USD / THB</a:t>
            </a:r>
          </a:p>
        </p:txBody>
      </p:sp>
      <p:sp>
        <p:nvSpPr>
          <p:cNvPr id="23" name="TextBox 22"/>
          <p:cNvSpPr txBox="1"/>
          <p:nvPr/>
        </p:nvSpPr>
        <p:spPr>
          <a:xfrm>
            <a:off x="6300216" y="1426464"/>
            <a:ext cx="1505711"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33.47</a:t>
            </a:r>
          </a:p>
        </p:txBody>
      </p:sp>
      <p:sp>
        <p:nvSpPr>
          <p:cNvPr id="24" name="TextBox 23"/>
          <p:cNvSpPr txBox="1"/>
          <p:nvPr/>
        </p:nvSpPr>
        <p:spPr>
          <a:xfrm>
            <a:off x="6300216"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ECB reference · 2026-07-31</a:t>
            </a:r>
          </a:p>
        </p:txBody>
      </p:sp>
      <p:sp>
        <p:nvSpPr>
          <p:cNvPr id="25" name="Rounded Rectangle 24"/>
          <p:cNvSpPr/>
          <p:nvPr/>
        </p:nvSpPr>
        <p:spPr>
          <a:xfrm>
            <a:off x="8080247"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8217408"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8217408" y="1426464"/>
            <a:ext cx="1505711"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87.5%</a:t>
            </a:r>
          </a:p>
        </p:txBody>
      </p:sp>
      <p:sp>
        <p:nvSpPr>
          <p:cNvPr id="28" name="TextBox 27"/>
          <p:cNvSpPr txBox="1"/>
          <p:nvPr/>
        </p:nvSpPr>
        <p:spPr>
          <a:xfrm>
            <a:off x="8217408"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GDP · BIS · 2025-Q4</a:t>
            </a:r>
          </a:p>
        </p:txBody>
      </p:sp>
      <p:sp>
        <p:nvSpPr>
          <p:cNvPr id="29" name="Rounded Rectangle 28"/>
          <p:cNvSpPr/>
          <p:nvPr/>
        </p:nvSpPr>
        <p:spPr>
          <a:xfrm>
            <a:off x="9997440" y="1152144"/>
            <a:ext cx="1780032" cy="1115568"/>
          </a:xfrm>
          <a:prstGeom prst="roundRect">
            <a:avLst>
              <a:gd name="adj" fmla="val 7377"/>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0134600" y="1252728"/>
            <a:ext cx="1505711"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Tourist arrivals</a:t>
            </a:r>
          </a:p>
        </p:txBody>
      </p:sp>
      <p:sp>
        <p:nvSpPr>
          <p:cNvPr id="31" name="TextBox 30"/>
          <p:cNvSpPr txBox="1"/>
          <p:nvPr/>
        </p:nvSpPr>
        <p:spPr>
          <a:xfrm>
            <a:off x="10134600" y="1426464"/>
            <a:ext cx="1505711"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32.2M</a:t>
            </a:r>
          </a:p>
        </p:txBody>
      </p:sp>
      <p:sp>
        <p:nvSpPr>
          <p:cNvPr id="32" name="TextBox 31"/>
          <p:cNvSpPr txBox="1"/>
          <p:nvPr/>
        </p:nvSpPr>
        <p:spPr>
          <a:xfrm>
            <a:off x="10134600" y="1792224"/>
            <a:ext cx="1505711" cy="402335"/>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trailing 12m · −6.6% YoY · BoT 2026-06</a:t>
            </a:r>
          </a:p>
        </p:txBody>
      </p:sp>
      <p:graphicFrame>
        <p:nvGraphicFramePr>
          <p:cNvPr id="33" name="Table 32"/>
          <p:cNvGraphicFramePr>
            <a:graphicFrameLocks noGrp="1"/>
          </p:cNvGraphicFramePr>
          <p:nvPr/>
        </p:nvGraphicFramePr>
        <p:xfrm>
          <a:off x="411480" y="2450591"/>
          <a:ext cx="5897880" cy="1623059"/>
        </p:xfrm>
        <a:graphic>
          <a:graphicData uri="http://schemas.openxmlformats.org/drawingml/2006/table">
            <a:tbl>
              <a:tblPr>
                <a:tableStyleId>{5C22544A-7EE6-4342-B048-85BDC9FD1C3A}</a:tableStyleId>
              </a:tblPr>
              <a:tblGrid>
                <a:gridCol w="1619026"/>
                <a:gridCol w="1002254"/>
                <a:gridCol w="886609"/>
                <a:gridCol w="1156447"/>
                <a:gridCol w="1233544"/>
              </a:tblGrid>
              <a:tr h="329184">
                <a:tc>
                  <a:txBody>
                    <a:bodyPr wrap="square"/>
                    <a:lstStyle/>
                    <a:p>
                      <a:pPr algn="l"/>
                      <a:r>
                        <a:rPr sz="1050" b="1">
                          <a:solidFill>
                            <a:srgbClr val="FFFFFF"/>
                          </a:solidFill>
                          <a:latin typeface="Kanit"/>
                        </a:rPr>
                        <a:t>IMF 2026 projection</a:t>
                      </a:r>
                    </a:p>
                  </a:txBody>
                  <a:tcPr marL="54864" marR="54864" marT="18288" marB="18288" anchor="ctr">
                    <a:solidFill>
                      <a:srgbClr val="1B2A6B"/>
                    </a:solidFill>
                  </a:tcPr>
                </a:tc>
                <a:tc>
                  <a:txBody>
                    <a:bodyPr wrap="square"/>
                    <a:lstStyle/>
                    <a:p>
                      <a:pPr algn="r"/>
                      <a:r>
                        <a:rPr sz="1050" b="1">
                          <a:solidFill>
                            <a:srgbClr val="FFFFFF"/>
                          </a:solidFill>
                          <a:latin typeface="Kanit"/>
                        </a:rPr>
                        <a:t>GDP growth</a:t>
                      </a:r>
                    </a:p>
                  </a:txBody>
                  <a:tcPr marL="54864" marR="54864" marT="18288" marB="18288" anchor="ctr">
                    <a:solidFill>
                      <a:srgbClr val="1B2A6B"/>
                    </a:solidFill>
                  </a:tcPr>
                </a:tc>
                <a:tc>
                  <a:txBody>
                    <a:bodyPr wrap="square"/>
                    <a:lstStyle/>
                    <a:p>
                      <a:pPr algn="r"/>
                      <a:r>
                        <a:rPr sz="1050" b="1">
                          <a:solidFill>
                            <a:srgbClr val="FFFFFF"/>
                          </a:solidFill>
                          <a:latin typeface="Kanit"/>
                        </a:rPr>
                        <a:t>Inflation</a:t>
                      </a:r>
                    </a:p>
                  </a:txBody>
                  <a:tcPr marL="54864" marR="54864" marT="18288" marB="18288" anchor="ctr">
                    <a:solidFill>
                      <a:srgbClr val="1B2A6B"/>
                    </a:solidFill>
                  </a:tcPr>
                </a:tc>
                <a:tc>
                  <a:txBody>
                    <a:bodyPr wrap="square"/>
                    <a:lstStyle/>
                    <a:p>
                      <a:pPr algn="r"/>
                      <a:r>
                        <a:rPr sz="1050" b="1">
                          <a:solidFill>
                            <a:srgbClr val="FFFFFF"/>
                          </a:solidFill>
                          <a:latin typeface="Kanit"/>
                        </a:rPr>
                        <a:t>Unemployment</a:t>
                      </a:r>
                    </a:p>
                  </a:txBody>
                  <a:tcPr marL="54864" marR="54864" marT="18288" marB="18288" anchor="ctr">
                    <a:solidFill>
                      <a:srgbClr val="1B2A6B"/>
                    </a:solidFill>
                  </a:tcPr>
                </a:tc>
                <a:tc>
                  <a:txBody>
                    <a:bodyPr wrap="square"/>
                    <a:lstStyle/>
                    <a:p>
                      <a:pPr algn="r"/>
                      <a:r>
                        <a:rPr sz="1050" b="1">
                          <a:solidFill>
                            <a:srgbClr val="FFFFFF"/>
                          </a:solidFill>
                          <a:latin typeface="Kanit"/>
                        </a:rPr>
                        <a:t>Govt debt/GDP</a:t>
                      </a:r>
                    </a:p>
                  </a:txBody>
                  <a:tcPr marL="54864" marR="54864" marT="18288" marB="18288" anchor="ctr">
                    <a:solidFill>
                      <a:srgbClr val="1B2A6B"/>
                    </a:solidFill>
                  </a:tcPr>
                </a:tc>
              </a:tr>
              <a:tr h="258775">
                <a:tc>
                  <a:txBody>
                    <a:bodyPr wrap="square"/>
                    <a:lstStyle/>
                    <a:p>
                      <a:pPr algn="l"/>
                      <a:r>
                        <a:rPr sz="1000" b="1">
                          <a:solidFill>
                            <a:srgbClr val="1E2F5C"/>
                          </a:solidFill>
                          <a:latin typeface="Kanit"/>
                        </a:rPr>
                        <a:t>Thailand</a:t>
                      </a:r>
                    </a:p>
                  </a:txBody>
                  <a:tcPr marL="54864" marR="54864" marT="18288" marB="18288" anchor="ctr">
                    <a:solidFill>
                      <a:srgbClr val="FFFFFF"/>
                    </a:solidFill>
                  </a:tcPr>
                </a:tc>
                <a:tc>
                  <a:txBody>
                    <a:bodyPr wrap="square"/>
                    <a:lstStyle/>
                    <a:p>
                      <a:pPr algn="r"/>
                      <a:r>
                        <a:rPr sz="1000" b="1">
                          <a:solidFill>
                            <a:srgbClr val="CC0000"/>
                          </a:solidFill>
                          <a:latin typeface="Kanit"/>
                        </a:rPr>
                        <a:t>1.5%</a:t>
                      </a:r>
                    </a:p>
                  </a:txBody>
                  <a:tcPr marL="54864" marR="54864" marT="18288" marB="18288" anchor="ctr">
                    <a:solidFill>
                      <a:srgbClr val="FFFFFF"/>
                    </a:solidFill>
                  </a:tcPr>
                </a:tc>
                <a:tc>
                  <a:txBody>
                    <a:bodyPr wrap="square"/>
                    <a:lstStyle/>
                    <a:p>
                      <a:pPr algn="r"/>
                      <a:r>
                        <a:rPr sz="1000" b="0">
                          <a:solidFill>
                            <a:srgbClr val="1E2F5C"/>
                          </a:solidFill>
                          <a:latin typeface="Kanit"/>
                        </a:rPr>
                        <a:t>0.9%</a:t>
                      </a:r>
                    </a:p>
                  </a:txBody>
                  <a:tcPr marL="54864" marR="54864" marT="18288" marB="18288" anchor="ctr">
                    <a:solidFill>
                      <a:srgbClr val="FFFFFF"/>
                    </a:solidFill>
                  </a:tcPr>
                </a:tc>
                <a:tc>
                  <a:txBody>
                    <a:bodyPr wrap="square"/>
                    <a:lstStyle/>
                    <a:p>
                      <a:pPr algn="r"/>
                      <a:r>
                        <a:rPr sz="1000" b="0">
                          <a:solidFill>
                            <a:srgbClr val="1E2F5C"/>
                          </a:solidFill>
                          <a:latin typeface="Kanit"/>
                        </a:rPr>
                        <a:t>1.0%</a:t>
                      </a:r>
                    </a:p>
                  </a:txBody>
                  <a:tcPr marL="54864" marR="54864" marT="18288" marB="18288" anchor="ctr">
                    <a:solidFill>
                      <a:srgbClr val="FFFFFF"/>
                    </a:solidFill>
                  </a:tcPr>
                </a:tc>
                <a:tc>
                  <a:txBody>
                    <a:bodyPr wrap="square"/>
                    <a:lstStyle/>
                    <a:p>
                      <a:pPr algn="r"/>
                      <a:r>
                        <a:rPr sz="1000" b="0">
                          <a:solidFill>
                            <a:srgbClr val="1E2F5C"/>
                          </a:solidFill>
                          <a:latin typeface="Kanit"/>
                        </a:rPr>
                        <a:t>66.8%</a:t>
                      </a:r>
                    </a:p>
                  </a:txBody>
                  <a:tcPr marL="54864" marR="54864" marT="18288" marB="18288" anchor="ctr">
                    <a:solidFill>
                      <a:srgbClr val="FFFFFF"/>
                    </a:solidFill>
                  </a:tcPr>
                </a:tc>
              </a:tr>
              <a:tr h="258775">
                <a:tc>
                  <a:txBody>
                    <a:bodyPr wrap="square"/>
                    <a:lstStyle/>
                    <a:p>
                      <a:pPr algn="l"/>
                      <a:r>
                        <a:rPr sz="1000" b="0">
                          <a:solidFill>
                            <a:srgbClr val="1E2F5C"/>
                          </a:solidFill>
                          <a:latin typeface="Kanit"/>
                        </a:rPr>
                        <a:t>Vietnam</a:t>
                      </a:r>
                    </a:p>
                  </a:txBody>
                  <a:tcPr marL="54864" marR="54864" marT="18288" marB="18288" anchor="ctr">
                    <a:solidFill>
                      <a:srgbClr val="F7F9FC"/>
                    </a:solidFill>
                  </a:tcPr>
                </a:tc>
                <a:tc>
                  <a:txBody>
                    <a:bodyPr wrap="square"/>
                    <a:lstStyle/>
                    <a:p>
                      <a:pPr algn="r"/>
                      <a:r>
                        <a:rPr sz="1000" b="1">
                          <a:solidFill>
                            <a:srgbClr val="1E2F5C"/>
                          </a:solidFill>
                          <a:latin typeface="Kanit"/>
                        </a:rPr>
                        <a:t>7.1%</a:t>
                      </a:r>
                    </a:p>
                  </a:txBody>
                  <a:tcPr marL="54864" marR="54864" marT="18288" marB="18288" anchor="ctr">
                    <a:solidFill>
                      <a:srgbClr val="F7F9FC"/>
                    </a:solidFill>
                  </a:tcPr>
                </a:tc>
                <a:tc>
                  <a:txBody>
                    <a:bodyPr wrap="square"/>
                    <a:lstStyle/>
                    <a:p>
                      <a:pPr algn="r"/>
                      <a:r>
                        <a:rPr sz="1000" b="0">
                          <a:solidFill>
                            <a:srgbClr val="1E2F5C"/>
                          </a:solidFill>
                          <a:latin typeface="Kanit"/>
                        </a:rPr>
                        <a:t>4.9%</a:t>
                      </a:r>
                    </a:p>
                  </a:txBody>
                  <a:tcPr marL="54864" marR="54864" marT="18288" marB="18288" anchor="ctr">
                    <a:solidFill>
                      <a:srgbClr val="F7F9FC"/>
                    </a:solidFill>
                  </a:tcPr>
                </a:tc>
                <a:tc>
                  <a:txBody>
                    <a:bodyPr wrap="square"/>
                    <a:lstStyle/>
                    <a:p>
                      <a:pPr algn="r"/>
                      <a:r>
                        <a:rPr sz="1000" b="0">
                          <a:solidFill>
                            <a:srgbClr val="1E2F5C"/>
                          </a:solidFill>
                          <a:latin typeface="Kanit"/>
                        </a:rPr>
                        <a:t>2.1%</a:t>
                      </a:r>
                    </a:p>
                  </a:txBody>
                  <a:tcPr marL="54864" marR="54864" marT="18288" marB="18288" anchor="ctr">
                    <a:solidFill>
                      <a:srgbClr val="F7F9FC"/>
                    </a:solidFill>
                  </a:tcPr>
                </a:tc>
                <a:tc>
                  <a:txBody>
                    <a:bodyPr wrap="square"/>
                    <a:lstStyle/>
                    <a:p>
                      <a:pPr algn="r"/>
                      <a:r>
                        <a:rPr sz="1000" b="0">
                          <a:solidFill>
                            <a:srgbClr val="1E2F5C"/>
                          </a:solidFill>
                          <a:latin typeface="Kanit"/>
                        </a:rPr>
                        <a:t>29.8%</a:t>
                      </a:r>
                    </a:p>
                  </a:txBody>
                  <a:tcPr marL="54864" marR="54864" marT="18288" marB="18288" anchor="ctr">
                    <a:solidFill>
                      <a:srgbClr val="F7F9FC"/>
                    </a:solidFill>
                  </a:tcPr>
                </a:tc>
              </a:tr>
              <a:tr h="258775">
                <a:tc>
                  <a:txBody>
                    <a:bodyPr wrap="square"/>
                    <a:lstStyle/>
                    <a:p>
                      <a:pPr algn="l"/>
                      <a:r>
                        <a:rPr sz="1000" b="0">
                          <a:solidFill>
                            <a:srgbClr val="1E2F5C"/>
                          </a:solidFill>
                          <a:latin typeface="Kanit"/>
                        </a:rPr>
                        <a:t>Indonesia</a:t>
                      </a:r>
                    </a:p>
                  </a:txBody>
                  <a:tcPr marL="54864" marR="54864" marT="18288" marB="18288" anchor="ctr">
                    <a:solidFill>
                      <a:srgbClr val="FFFFFF"/>
                    </a:solidFill>
                  </a:tcPr>
                </a:tc>
                <a:tc>
                  <a:txBody>
                    <a:bodyPr wrap="square"/>
                    <a:lstStyle/>
                    <a:p>
                      <a:pPr algn="r"/>
                      <a:r>
                        <a:rPr sz="1000" b="1">
                          <a:solidFill>
                            <a:srgbClr val="1E2F5C"/>
                          </a:solidFill>
                          <a:latin typeface="Kanit"/>
                        </a:rPr>
                        <a:t>5.0%</a:t>
                      </a:r>
                    </a:p>
                  </a:txBody>
                  <a:tcPr marL="54864" marR="54864" marT="18288" marB="18288" anchor="ctr">
                    <a:solidFill>
                      <a:srgbClr val="FFFFFF"/>
                    </a:solidFill>
                  </a:tcPr>
                </a:tc>
                <a:tc>
                  <a:txBody>
                    <a:bodyPr wrap="square"/>
                    <a:lstStyle/>
                    <a:p>
                      <a:pPr algn="r"/>
                      <a:r>
                        <a:rPr sz="1000" b="0">
                          <a:solidFill>
                            <a:srgbClr val="1E2F5C"/>
                          </a:solidFill>
                          <a:latin typeface="Kanit"/>
                        </a:rPr>
                        <a:t>3.0%</a:t>
                      </a:r>
                    </a:p>
                  </a:txBody>
                  <a:tcPr marL="54864" marR="54864" marT="18288" marB="18288" anchor="ctr">
                    <a:solidFill>
                      <a:srgbClr val="FFFFFF"/>
                    </a:solidFill>
                  </a:tcPr>
                </a:tc>
                <a:tc>
                  <a:txBody>
                    <a:bodyPr wrap="square"/>
                    <a:lstStyle/>
                    <a:p>
                      <a:pPr algn="r"/>
                      <a:r>
                        <a:rPr sz="1000" b="0">
                          <a:solidFill>
                            <a:srgbClr val="1E2F5C"/>
                          </a:solidFill>
                          <a:latin typeface="Kanit"/>
                        </a:rPr>
                        <a:t>4.9%</a:t>
                      </a:r>
                    </a:p>
                  </a:txBody>
                  <a:tcPr marL="54864" marR="54864" marT="18288" marB="18288" anchor="ctr">
                    <a:solidFill>
                      <a:srgbClr val="FFFFFF"/>
                    </a:solidFill>
                  </a:tcPr>
                </a:tc>
                <a:tc>
                  <a:txBody>
                    <a:bodyPr wrap="square"/>
                    <a:lstStyle/>
                    <a:p>
                      <a:pPr algn="r"/>
                      <a:r>
                        <a:rPr sz="1000" b="0">
                          <a:solidFill>
                            <a:srgbClr val="1E2F5C"/>
                          </a:solidFill>
                          <a:latin typeface="Kanit"/>
                        </a:rPr>
                        <a:t>41.5%</a:t>
                      </a:r>
                    </a:p>
                  </a:txBody>
                  <a:tcPr marL="54864" marR="54864" marT="18288" marB="18288" anchor="ctr">
                    <a:solidFill>
                      <a:srgbClr val="FFFFFF"/>
                    </a:solidFill>
                  </a:tcPr>
                </a:tc>
              </a:tr>
              <a:tr h="258775">
                <a:tc>
                  <a:txBody>
                    <a:bodyPr wrap="square"/>
                    <a:lstStyle/>
                    <a:p>
                      <a:pPr algn="l"/>
                      <a:r>
                        <a:rPr sz="1000" b="0">
                          <a:solidFill>
                            <a:srgbClr val="1E2F5C"/>
                          </a:solidFill>
                          <a:latin typeface="Kanit"/>
                        </a:rPr>
                        <a:t>Malaysia</a:t>
                      </a:r>
                    </a:p>
                  </a:txBody>
                  <a:tcPr marL="54864" marR="54864" marT="18288" marB="18288" anchor="ctr">
                    <a:solidFill>
                      <a:srgbClr val="F7F9FC"/>
                    </a:solidFill>
                  </a:tcPr>
                </a:tc>
                <a:tc>
                  <a:txBody>
                    <a:bodyPr wrap="square"/>
                    <a:lstStyle/>
                    <a:p>
                      <a:pPr algn="r"/>
                      <a:r>
                        <a:rPr sz="1000" b="1">
                          <a:solidFill>
                            <a:srgbClr val="1E2F5C"/>
                          </a:solidFill>
                          <a:latin typeface="Kanit"/>
                        </a:rPr>
                        <a:t>4.7%</a:t>
                      </a:r>
                    </a:p>
                  </a:txBody>
                  <a:tcPr marL="54864" marR="54864" marT="18288" marB="18288" anchor="ctr">
                    <a:solidFill>
                      <a:srgbClr val="F7F9FC"/>
                    </a:solidFill>
                  </a:tcPr>
                </a:tc>
                <a:tc>
                  <a:txBody>
                    <a:bodyPr wrap="square"/>
                    <a:lstStyle/>
                    <a:p>
                      <a:pPr algn="r"/>
                      <a:r>
                        <a:rPr sz="1000" b="0">
                          <a:solidFill>
                            <a:srgbClr val="1E2F5C"/>
                          </a:solidFill>
                          <a:latin typeface="Kanit"/>
                        </a:rPr>
                        <a:t>1.9%</a:t>
                      </a:r>
                    </a:p>
                  </a:txBody>
                  <a:tcPr marL="54864" marR="54864" marT="18288" marB="18288" anchor="ctr">
                    <a:solidFill>
                      <a:srgbClr val="F7F9FC"/>
                    </a:solidFill>
                  </a:tcPr>
                </a:tc>
                <a:tc>
                  <a:txBody>
                    <a:bodyPr wrap="square"/>
                    <a:lstStyle/>
                    <a:p>
                      <a:pPr algn="r"/>
                      <a:r>
                        <a:rPr sz="1000" b="0">
                          <a:solidFill>
                            <a:srgbClr val="1E2F5C"/>
                          </a:solidFill>
                          <a:latin typeface="Kanit"/>
                        </a:rPr>
                        <a:t>3.0%</a:t>
                      </a:r>
                    </a:p>
                  </a:txBody>
                  <a:tcPr marL="54864" marR="54864" marT="18288" marB="18288" anchor="ctr">
                    <a:solidFill>
                      <a:srgbClr val="F7F9FC"/>
                    </a:solidFill>
                  </a:tcPr>
                </a:tc>
                <a:tc>
                  <a:txBody>
                    <a:bodyPr wrap="square"/>
                    <a:lstStyle/>
                    <a:p>
                      <a:pPr algn="r"/>
                      <a:r>
                        <a:rPr sz="1000" b="0">
                          <a:solidFill>
                            <a:srgbClr val="1E2F5C"/>
                          </a:solidFill>
                          <a:latin typeface="Kanit"/>
                        </a:rPr>
                        <a:t>69.5%</a:t>
                      </a:r>
                    </a:p>
                  </a:txBody>
                  <a:tcPr marL="54864" marR="54864" marT="18288" marB="18288" anchor="ctr">
                    <a:solidFill>
                      <a:srgbClr val="F7F9FC"/>
                    </a:solidFill>
                  </a:tcPr>
                </a:tc>
              </a:tr>
              <a:tr h="258775">
                <a:tc>
                  <a:txBody>
                    <a:bodyPr wrap="square"/>
                    <a:lstStyle/>
                    <a:p>
                      <a:pPr algn="l"/>
                      <a:r>
                        <a:rPr sz="1000" b="0">
                          <a:solidFill>
                            <a:srgbClr val="1E2F5C"/>
                          </a:solidFill>
                          <a:latin typeface="Kanit"/>
                        </a:rPr>
                        <a:t>Philippines</a:t>
                      </a:r>
                    </a:p>
                  </a:txBody>
                  <a:tcPr marL="54864" marR="54864" marT="18288" marB="18288" anchor="ctr">
                    <a:solidFill>
                      <a:srgbClr val="FFFFFF"/>
                    </a:solidFill>
                  </a:tcPr>
                </a:tc>
                <a:tc>
                  <a:txBody>
                    <a:bodyPr wrap="square"/>
                    <a:lstStyle/>
                    <a:p>
                      <a:pPr algn="r"/>
                      <a:r>
                        <a:rPr sz="1000" b="1">
                          <a:solidFill>
                            <a:srgbClr val="1E2F5C"/>
                          </a:solidFill>
                          <a:latin typeface="Kanit"/>
                        </a:rPr>
                        <a:t>4.1%</a:t>
                      </a:r>
                    </a:p>
                  </a:txBody>
                  <a:tcPr marL="54864" marR="54864" marT="18288" marB="18288" anchor="ctr">
                    <a:solidFill>
                      <a:srgbClr val="FFFFFF"/>
                    </a:solidFill>
                  </a:tcPr>
                </a:tc>
                <a:tc>
                  <a:txBody>
                    <a:bodyPr wrap="square"/>
                    <a:lstStyle/>
                    <a:p>
                      <a:pPr algn="r"/>
                      <a:r>
                        <a:rPr sz="1000" b="0">
                          <a:solidFill>
                            <a:srgbClr val="1E2F5C"/>
                          </a:solidFill>
                          <a:latin typeface="Kanit"/>
                        </a:rPr>
                        <a:t>4.3%</a:t>
                      </a:r>
                    </a:p>
                  </a:txBody>
                  <a:tcPr marL="54864" marR="54864" marT="18288" marB="18288" anchor="ctr">
                    <a:solidFill>
                      <a:srgbClr val="FFFFFF"/>
                    </a:solidFill>
                  </a:tcPr>
                </a:tc>
                <a:tc>
                  <a:txBody>
                    <a:bodyPr wrap="square"/>
                    <a:lstStyle/>
                    <a:p>
                      <a:pPr algn="r"/>
                      <a:r>
                        <a:rPr sz="1000" b="0">
                          <a:solidFill>
                            <a:srgbClr val="1E2F5C"/>
                          </a:solidFill>
                          <a:latin typeface="Kanit"/>
                        </a:rPr>
                        <a:t>4.7%</a:t>
                      </a:r>
                    </a:p>
                  </a:txBody>
                  <a:tcPr marL="54864" marR="54864" marT="18288" marB="18288" anchor="ctr">
                    <a:solidFill>
                      <a:srgbClr val="FFFFFF"/>
                    </a:solidFill>
                  </a:tcPr>
                </a:tc>
                <a:tc>
                  <a:txBody>
                    <a:bodyPr wrap="square"/>
                    <a:lstStyle/>
                    <a:p>
                      <a:pPr algn="r"/>
                      <a:r>
                        <a:rPr sz="1000" b="0">
                          <a:solidFill>
                            <a:srgbClr val="1E2F5C"/>
                          </a:solidFill>
                          <a:latin typeface="Kanit"/>
                        </a:rPr>
                        <a:t>60.2%</a:t>
                      </a:r>
                    </a:p>
                  </a:txBody>
                  <a:tcPr marL="54864" marR="54864" marT="18288" marB="18288" anchor="ctr">
                    <a:solidFill>
                      <a:srgbClr val="FFFFFF"/>
                    </a:solidFill>
                  </a:tcPr>
                </a:tc>
              </a:tr>
            </a:tbl>
          </a:graphicData>
        </a:graphic>
      </p:graphicFrame>
      <p:sp>
        <p:nvSpPr>
          <p:cNvPr id="34" name="Rectangle 33"/>
          <p:cNvSpPr/>
          <p:nvPr/>
        </p:nvSpPr>
        <p:spPr>
          <a:xfrm>
            <a:off x="6583680" y="2450591"/>
            <a:ext cx="5193792" cy="155448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Rectangle 34"/>
          <p:cNvSpPr/>
          <p:nvPr/>
        </p:nvSpPr>
        <p:spPr>
          <a:xfrm>
            <a:off x="6967728" y="3730752"/>
            <a:ext cx="4718304"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6601968" y="3662172"/>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2</a:t>
            </a:r>
          </a:p>
        </p:txBody>
      </p:sp>
      <p:sp>
        <p:nvSpPr>
          <p:cNvPr id="37" name="Rectangle 36"/>
          <p:cNvSpPr/>
          <p:nvPr/>
        </p:nvSpPr>
        <p:spPr>
          <a:xfrm>
            <a:off x="6967728" y="2596896"/>
            <a:ext cx="4718304"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601968" y="2528315"/>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6</a:t>
            </a:r>
          </a:p>
        </p:txBody>
      </p:sp>
      <p:sp>
        <p:nvSpPr>
          <p:cNvPr id="39" name="TextBox 38"/>
          <p:cNvSpPr txBox="1"/>
          <p:nvPr/>
        </p:nvSpPr>
        <p:spPr>
          <a:xfrm>
            <a:off x="11050079" y="2578608"/>
            <a:ext cx="544512"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System NPL</a:t>
            </a:r>
          </a:p>
        </p:txBody>
      </p:sp>
      <p:sp>
        <p:nvSpPr>
          <p:cNvPr id="40" name="Rectangle 39"/>
          <p:cNvSpPr/>
          <p:nvPr/>
        </p:nvSpPr>
        <p:spPr>
          <a:xfrm>
            <a:off x="10812335" y="2638044"/>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Freeform 40"/>
          <p:cNvSpPr/>
          <p:nvPr/>
        </p:nvSpPr>
        <p:spPr>
          <a:xfrm>
            <a:off x="6967728" y="2667762"/>
            <a:ext cx="4718304" cy="756848"/>
          </a:xfrm>
          <a:custGeom>
            <a:avLst/>
            <a:gdLst/>
            <a:ahLst/>
            <a:cxnLst/>
            <a:rect l="l" t="t" r="r" b="b"/>
            <a:pathLst>
              <a:path w="4718304" h="756848">
                <a:moveTo>
                  <a:pt x="0" y="328818"/>
                </a:moveTo>
                <a:lnTo>
                  <a:pt x="120982" y="260786"/>
                </a:lnTo>
                <a:lnTo>
                  <a:pt x="241964" y="351495"/>
                </a:lnTo>
                <a:lnTo>
                  <a:pt x="362946" y="374172"/>
                </a:lnTo>
                <a:lnTo>
                  <a:pt x="483928" y="609447"/>
                </a:lnTo>
                <a:lnTo>
                  <a:pt x="604910" y="507400"/>
                </a:lnTo>
                <a:lnTo>
                  <a:pt x="725892" y="606612"/>
                </a:lnTo>
                <a:lnTo>
                  <a:pt x="846875" y="657636"/>
                </a:lnTo>
                <a:lnTo>
                  <a:pt x="967857" y="632124"/>
                </a:lnTo>
                <a:lnTo>
                  <a:pt x="1088839" y="572597"/>
                </a:lnTo>
                <a:lnTo>
                  <a:pt x="1209821" y="606612"/>
                </a:lnTo>
                <a:lnTo>
                  <a:pt x="1330803" y="615116"/>
                </a:lnTo>
                <a:lnTo>
                  <a:pt x="1451785" y="555589"/>
                </a:lnTo>
                <a:lnTo>
                  <a:pt x="1572768" y="515904"/>
                </a:lnTo>
                <a:lnTo>
                  <a:pt x="1693750" y="589605"/>
                </a:lnTo>
                <a:lnTo>
                  <a:pt x="1814732" y="527243"/>
                </a:lnTo>
                <a:lnTo>
                  <a:pt x="1935714" y="598109"/>
                </a:lnTo>
                <a:lnTo>
                  <a:pt x="2056696" y="620786"/>
                </a:lnTo>
                <a:lnTo>
                  <a:pt x="2177678" y="719998"/>
                </a:lnTo>
                <a:lnTo>
                  <a:pt x="2298660" y="756848"/>
                </a:lnTo>
                <a:lnTo>
                  <a:pt x="2419643" y="714329"/>
                </a:lnTo>
                <a:lnTo>
                  <a:pt x="2540625" y="640628"/>
                </a:lnTo>
                <a:lnTo>
                  <a:pt x="2661607" y="479054"/>
                </a:lnTo>
                <a:lnTo>
                  <a:pt x="2782589" y="476219"/>
                </a:lnTo>
                <a:lnTo>
                  <a:pt x="2903571" y="150235"/>
                </a:lnTo>
                <a:lnTo>
                  <a:pt x="3024553" y="0"/>
                </a:lnTo>
                <a:lnTo>
                  <a:pt x="3145536" y="323148"/>
                </a:lnTo>
                <a:lnTo>
                  <a:pt x="3266518" y="433699"/>
                </a:lnTo>
                <a:lnTo>
                  <a:pt x="3387500" y="371337"/>
                </a:lnTo>
                <a:lnTo>
                  <a:pt x="3508482" y="362833"/>
                </a:lnTo>
                <a:lnTo>
                  <a:pt x="3629464" y="583935"/>
                </a:lnTo>
                <a:lnTo>
                  <a:pt x="3750446" y="456377"/>
                </a:lnTo>
                <a:lnTo>
                  <a:pt x="3871428" y="286298"/>
                </a:lnTo>
                <a:lnTo>
                  <a:pt x="3992411" y="201259"/>
                </a:lnTo>
                <a:lnTo>
                  <a:pt x="4113393" y="328818"/>
                </a:lnTo>
                <a:lnTo>
                  <a:pt x="4234375" y="428030"/>
                </a:lnTo>
                <a:lnTo>
                  <a:pt x="4355357" y="379841"/>
                </a:lnTo>
                <a:lnTo>
                  <a:pt x="4476339" y="348660"/>
                </a:lnTo>
                <a:lnTo>
                  <a:pt x="4597321" y="402518"/>
                </a:lnTo>
                <a:lnTo>
                  <a:pt x="4718304" y="359999"/>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147794"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2017</a:t>
            </a:r>
          </a:p>
        </p:txBody>
      </p:sp>
      <p:sp>
        <p:nvSpPr>
          <p:cNvPr id="43" name="TextBox 42"/>
          <p:cNvSpPr txBox="1"/>
          <p:nvPr/>
        </p:nvSpPr>
        <p:spPr>
          <a:xfrm>
            <a:off x="8599580"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2020</a:t>
            </a:r>
          </a:p>
        </p:txBody>
      </p:sp>
      <p:sp>
        <p:nvSpPr>
          <p:cNvPr id="44" name="TextBox 43"/>
          <p:cNvSpPr txBox="1"/>
          <p:nvPr/>
        </p:nvSpPr>
        <p:spPr>
          <a:xfrm>
            <a:off x="10051366"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2023</a:t>
            </a:r>
          </a:p>
        </p:txBody>
      </p:sp>
      <p:sp>
        <p:nvSpPr>
          <p:cNvPr id="45" name="TextBox 44"/>
          <p:cNvSpPr txBox="1"/>
          <p:nvPr/>
        </p:nvSpPr>
        <p:spPr>
          <a:xfrm>
            <a:off x="11503152" y="3803904"/>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46" name="TextBox 45"/>
          <p:cNvSpPr txBox="1"/>
          <p:nvPr/>
        </p:nvSpPr>
        <p:spPr>
          <a:xfrm>
            <a:off x="6601968" y="2459735"/>
            <a:ext cx="5102352"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Thai banking-system NPL, % of loans · 40 quarters</a:t>
            </a:r>
          </a:p>
        </p:txBody>
      </p:sp>
      <p:sp>
        <p:nvSpPr>
          <p:cNvPr id="47" name="Rounded Rectangle 46"/>
          <p:cNvSpPr/>
          <p:nvPr/>
        </p:nvSpPr>
        <p:spPr>
          <a:xfrm>
            <a:off x="411480" y="4169663"/>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8" name="TextBox 47"/>
          <p:cNvSpPr txBox="1"/>
          <p:nvPr/>
        </p:nvSpPr>
        <p:spPr>
          <a:xfrm>
            <a:off x="411480" y="419892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49" name="TextBox 48"/>
          <p:cNvSpPr txBox="1"/>
          <p:nvPr/>
        </p:nvSpPr>
        <p:spPr>
          <a:xfrm>
            <a:off x="1275385" y="4183379"/>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NESDC · TPSO · Bank of Thailand · BIS · ECB, each pulled from the publishing agency. IMF World Economic Outlook 2026 for the peer projections; BoT published NPL ratio — 4.48% at 2026-Q1, from 4.33% the quarter before, +0.24 points on the year, against a 3.08% low in 2021-Q1.</a:t>
            </a:r>
          </a:p>
        </p:txBody>
      </p:sp>
      <p:sp>
        <p:nvSpPr>
          <p:cNvPr id="50" name="Rectangle 49"/>
          <p:cNvSpPr/>
          <p:nvPr/>
        </p:nvSpPr>
        <p:spPr>
          <a:xfrm>
            <a:off x="411480" y="4661154"/>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Rectangle 50"/>
          <p:cNvSpPr/>
          <p:nvPr/>
        </p:nvSpPr>
        <p:spPr>
          <a:xfrm>
            <a:off x="411480" y="4661154"/>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630936" y="4807458"/>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Thailand has already overtaken the IMF’s own 2026 projection</a:t>
            </a:r>
          </a:p>
        </p:txBody>
      </p:sp>
      <p:sp>
        <p:nvSpPr>
          <p:cNvPr id="53" name="TextBox 52"/>
          <p:cNvSpPr txBox="1"/>
          <p:nvPr/>
        </p:nvSpPr>
        <p:spPr>
          <a:xfrm>
            <a:off x="630936" y="5011928"/>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The IMF projected 1.5% growth and 0.9% inflation. The measured outturns are +2.8% and +2.79% — 1.3 and 1.9 points higher. Where a Thai measurement exists we show it instead of the projection.
The one falling chip is tourism: arrivals −6.6% on a trailing-twelve-month basis. That income is a large part of the informal cash economy in the South and on the eastern seaboard, and it shows up in no crop or fleet series.</a:t>
            </a:r>
          </a:p>
        </p:txBody>
      </p:sp>
      <p:sp>
        <p:nvSpPr>
          <p:cNvPr id="54" name="Rectangle 53"/>
          <p:cNvSpPr/>
          <p:nvPr/>
        </p:nvSpPr>
        <p:spPr>
          <a:xfrm>
            <a:off x="6208776" y="4661154"/>
            <a:ext cx="5568696" cy="16883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Rectangle 54"/>
          <p:cNvSpPr/>
          <p:nvPr/>
        </p:nvSpPr>
        <p:spPr>
          <a:xfrm>
            <a:off x="6208776" y="4661154"/>
            <a:ext cx="50292" cy="16883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6428232" y="4807458"/>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Slowest growth, narrowest room to cushion it</a:t>
            </a:r>
          </a:p>
        </p:txBody>
      </p:sp>
      <p:sp>
        <p:nvSpPr>
          <p:cNvPr id="57" name="TextBox 56"/>
          <p:cNvSpPr txBox="1"/>
          <p:nvPr/>
        </p:nvSpPr>
        <p:spPr>
          <a:xfrm>
            <a:off x="6428232" y="5011928"/>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Thailand grows at 1.5% while the region runs 4–7%, so the informal wage most of our borrowers are paid out of will not be lifted by the cycle. And government debt is 66.8% of GDP against Vietnam's 29.8% — the fiscal space for the household relief that carried people through 2020–21 is materially narrower this time.
System arrears have risen in three of the last four quarters. Read that line as a direction, not a benchmark: it is bank loans on a regulatory definition.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02 · COMMODITY BOARD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world index says tailwind. The Thai farm gate does not.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05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The board carries 21 commodities. Seventeen have a measured Thai farm-gate price beside the world index, and nine of those seventeen are negative year on year.</a:t>
            </a:r>
          </a:p>
        </p:txBody>
      </p:sp>
      <p:graphicFrame>
        <p:nvGraphicFramePr>
          <p:cNvPr id="10" name="Table 9"/>
          <p:cNvGraphicFramePr>
            <a:graphicFrameLocks noGrp="1"/>
          </p:cNvGraphicFramePr>
          <p:nvPr/>
        </p:nvGraphicFramePr>
        <p:xfrm>
          <a:off x="411480" y="1488948"/>
          <a:ext cx="11365992" cy="2617011"/>
        </p:xfrm>
        <a:graphic>
          <a:graphicData uri="http://schemas.openxmlformats.org/drawingml/2006/table">
            <a:tbl>
              <a:tblPr>
                <a:tableStyleId>{5C22544A-7EE6-4342-B048-85BDC9FD1C3A}</a:tableStyleId>
              </a:tblPr>
              <a:tblGrid>
                <a:gridCol w="2377440"/>
                <a:gridCol w="1737360"/>
                <a:gridCol w="3108960"/>
                <a:gridCol w="2194560"/>
                <a:gridCol w="1947672"/>
              </a:tblGrid>
              <a:tr h="329184">
                <a:tc>
                  <a:txBody>
                    <a:bodyPr wrap="square"/>
                    <a:lstStyle/>
                    <a:p>
                      <a:pPr algn="l"/>
                      <a:r>
                        <a:rPr sz="1050" b="1">
                          <a:solidFill>
                            <a:srgbClr val="FFFFFF"/>
                          </a:solidFill>
                          <a:latin typeface="Kanit"/>
                        </a:rPr>
                        <a:t>Falling at the farm gate</a:t>
                      </a:r>
                    </a:p>
                  </a:txBody>
                  <a:tcPr marL="54864" marR="54864" marT="18288" marB="18288" anchor="ctr">
                    <a:solidFill>
                      <a:srgbClr val="1B2A6B"/>
                    </a:solidFill>
                  </a:tcPr>
                </a:tc>
                <a:tc>
                  <a:txBody>
                    <a:bodyPr wrap="square"/>
                    <a:lstStyle/>
                    <a:p>
                      <a:pPr algn="l"/>
                      <a:r>
                        <a:rPr sz="1050" b="1">
                          <a:solidFill>
                            <a:srgbClr val="FFFFFF"/>
                          </a:solidFill>
                          <a:latin typeface="Kanit"/>
                        </a:rPr>
                        <a:t>Segment</a:t>
                      </a:r>
                    </a:p>
                  </a:txBody>
                  <a:tcPr marL="54864" marR="54864" marT="18288" marB="18288" anchor="ctr">
                    <a:solidFill>
                      <a:srgbClr val="1B2A6B"/>
                    </a:solidFill>
                  </a:tcPr>
                </a:tc>
                <a:tc>
                  <a:txBody>
                    <a:bodyPr wrap="square"/>
                    <a:lstStyle/>
                    <a:p>
                      <a:pPr algn="l"/>
                      <a:r>
                        <a:rPr sz="1050" b="1">
                          <a:solidFill>
                            <a:srgbClr val="FFFFFF"/>
                          </a:solidFill>
                          <a:latin typeface="Kanit"/>
                        </a:rPr>
                        <a:t>Belt</a:t>
                      </a:r>
                    </a:p>
                  </a:txBody>
                  <a:tcPr marL="54864" marR="54864" marT="18288" marB="18288" anchor="ctr">
                    <a:solidFill>
                      <a:srgbClr val="1B2A6B"/>
                    </a:solidFill>
                  </a:tcPr>
                </a:tc>
                <a:tc>
                  <a:txBody>
                    <a:bodyPr wrap="square"/>
                    <a:lstStyle/>
                    <a:p>
                      <a:pPr algn="r"/>
                      <a:r>
                        <a:rPr sz="1050" b="1">
                          <a:solidFill>
                            <a:srgbClr val="FFFFFF"/>
                          </a:solidFill>
                          <a:latin typeface="Kanit"/>
                        </a:rPr>
                        <a:t>Thai farm-gate YoY</a:t>
                      </a:r>
                    </a:p>
                  </a:txBody>
                  <a:tcPr marL="54864" marR="54864" marT="18288" marB="18288" anchor="ctr">
                    <a:solidFill>
                      <a:srgbClr val="1B2A6B"/>
                    </a:solidFill>
                  </a:tcPr>
                </a:tc>
                <a:tc>
                  <a:txBody>
                    <a:bodyPr wrap="square"/>
                    <a:lstStyle/>
                    <a:p>
                      <a:pPr algn="r"/>
                      <a:r>
                        <a:rPr sz="1050" b="1">
                          <a:solidFill>
                            <a:srgbClr val="FFFFFF"/>
                          </a:solidFill>
                          <a:latin typeface="Kanit"/>
                        </a:rPr>
                        <a:t>World index YoY</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Coconut</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S · E</a:t>
                      </a:r>
                    </a:p>
                  </a:txBody>
                  <a:tcPr marL="54864" marR="54864" marT="18288" marB="18288" anchor="ctr">
                    <a:solidFill>
                      <a:srgbClr val="FFFFFF"/>
                    </a:solidFill>
                  </a:tcPr>
                </a:tc>
                <a:tc>
                  <a:txBody>
                    <a:bodyPr wrap="square"/>
                    <a:lstStyle/>
                    <a:p>
                      <a:pPr algn="r"/>
                      <a:r>
                        <a:rPr sz="1000" b="1">
                          <a:solidFill>
                            <a:srgbClr val="CC0000"/>
                          </a:solidFill>
                          <a:latin typeface="Kanit"/>
                        </a:rPr>
                        <a:t>−70.9%</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Pineapple</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E · W · N</a:t>
                      </a:r>
                    </a:p>
                  </a:txBody>
                  <a:tcPr marL="54864" marR="54864" marT="18288" marB="18288" anchor="ctr">
                    <a:solidFill>
                      <a:srgbClr val="F7F9FC"/>
                    </a:solidFill>
                  </a:tcPr>
                </a:tc>
                <a:tc>
                  <a:txBody>
                    <a:bodyPr wrap="square"/>
                    <a:lstStyle/>
                    <a:p>
                      <a:pPr algn="r"/>
                      <a:r>
                        <a:rPr sz="1000" b="1">
                          <a:solidFill>
                            <a:srgbClr val="CC0000"/>
                          </a:solidFill>
                          <a:latin typeface="Kanit"/>
                        </a:rPr>
                        <a:t>−20.0%</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Sugar</a:t>
                      </a:r>
                    </a:p>
                  </a:txBody>
                  <a:tcPr marL="54864" marR="54864" marT="18288" marB="18288" anchor="ctr">
                    <a:solidFill>
                      <a:srgbClr val="FFFFFF"/>
                    </a:solidFill>
                  </a:tcPr>
                </a:tc>
                <a:tc>
                  <a:txBody>
                    <a:bodyPr wrap="square"/>
                    <a:lstStyle/>
                    <a:p>
                      <a:pPr algn="l"/>
                      <a:r>
                        <a:rPr sz="1000" b="0">
                          <a:solidFill>
                            <a:srgbClr val="1E2F5C"/>
                          </a:solidFill>
                          <a:latin typeface="Kanit"/>
                        </a:rPr>
                        <a:t>Crops</a:t>
                      </a:r>
                    </a:p>
                  </a:txBody>
                  <a:tcPr marL="54864" marR="54864" marT="18288" marB="18288" anchor="ctr">
                    <a:solidFill>
                      <a:srgbClr val="FFFFFF"/>
                    </a:solidFill>
                  </a:tcPr>
                </a:tc>
                <a:tc>
                  <a:txBody>
                    <a:bodyPr wrap="square"/>
                    <a:lstStyle/>
                    <a:p>
                      <a:pPr algn="l"/>
                      <a:r>
                        <a:rPr sz="1000" b="0">
                          <a:solidFill>
                            <a:srgbClr val="1E2F5C"/>
                          </a:solidFill>
                          <a:latin typeface="Kanit"/>
                        </a:rPr>
                        <a:t>Isan · Central</a:t>
                      </a:r>
                    </a:p>
                  </a:txBody>
                  <a:tcPr marL="54864" marR="54864" marT="18288" marB="18288" anchor="ctr">
                    <a:solidFill>
                      <a:srgbClr val="FFFFFF"/>
                    </a:solidFill>
                  </a:tcPr>
                </a:tc>
                <a:tc>
                  <a:txBody>
                    <a:bodyPr wrap="square"/>
                    <a:lstStyle/>
                    <a:p>
                      <a:pPr algn="r"/>
                      <a:r>
                        <a:rPr sz="1000" b="1">
                          <a:solidFill>
                            <a:srgbClr val="CC0000"/>
                          </a:solidFill>
                          <a:latin typeface="Kanit"/>
                        </a:rPr>
                        <a:t>−17.9%</a:t>
                      </a:r>
                    </a:p>
                  </a:txBody>
                  <a:tcPr marL="54864" marR="54864" marT="18288" marB="18288" anchor="ctr">
                    <a:solidFill>
                      <a:srgbClr val="FFFFFF"/>
                    </a:solidFill>
                  </a:tcPr>
                </a:tc>
                <a:tc>
                  <a:txBody>
                    <a:bodyPr wrap="square"/>
                    <a:lstStyle/>
                    <a:p>
                      <a:pPr algn="r"/>
                      <a:r>
                        <a:rPr sz="1000" b="0">
                          <a:solidFill>
                            <a:srgbClr val="CC0000"/>
                          </a:solidFill>
                          <a:latin typeface="Kanit"/>
                        </a:rPr>
                        <a:t>−13.5%</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Rambutan</a:t>
                      </a:r>
                    </a:p>
                  </a:txBody>
                  <a:tcPr marL="54864" marR="54864" marT="18288" marB="18288" anchor="ctr">
                    <a:solidFill>
                      <a:srgbClr val="F7F9FC"/>
                    </a:solidFill>
                  </a:tcPr>
                </a:tc>
                <a:tc>
                  <a:txBody>
                    <a:bodyPr wrap="square"/>
                    <a:lstStyle/>
                    <a:p>
                      <a:pPr algn="l"/>
                      <a:r>
                        <a:rPr sz="1000" b="0">
                          <a:solidFill>
                            <a:srgbClr val="1E2F5C"/>
                          </a:solidFill>
                          <a:latin typeface="Kanit"/>
                        </a:rPr>
                        <a:t>Crops</a:t>
                      </a:r>
                    </a:p>
                  </a:txBody>
                  <a:tcPr marL="54864" marR="54864" marT="18288" marB="18288" anchor="ctr">
                    <a:solidFill>
                      <a:srgbClr val="F7F9FC"/>
                    </a:solidFill>
                  </a:tcPr>
                </a:tc>
                <a:tc>
                  <a:txBody>
                    <a:bodyPr wrap="square"/>
                    <a:lstStyle/>
                    <a:p>
                      <a:pPr algn="l"/>
                      <a:r>
                        <a:rPr sz="1000" b="0">
                          <a:solidFill>
                            <a:srgbClr val="1E2F5C"/>
                          </a:solidFill>
                          <a:latin typeface="Kanit"/>
                        </a:rPr>
                        <a:t>S · E</a:t>
                      </a:r>
                    </a:p>
                  </a:txBody>
                  <a:tcPr marL="54864" marR="54864" marT="18288" marB="18288" anchor="ctr">
                    <a:solidFill>
                      <a:srgbClr val="F7F9FC"/>
                    </a:solidFill>
                  </a:tcPr>
                </a:tc>
                <a:tc>
                  <a:txBody>
                    <a:bodyPr wrap="square"/>
                    <a:lstStyle/>
                    <a:p>
                      <a:pPr algn="r"/>
                      <a:r>
                        <a:rPr sz="1000" b="1">
                          <a:solidFill>
                            <a:srgbClr val="CC0000"/>
                          </a:solidFill>
                          <a:latin typeface="Kanit"/>
                        </a:rPr>
                        <a:t>−13.5%</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Pork</a:t>
                      </a:r>
                    </a:p>
                  </a:txBody>
                  <a:tcPr marL="54864" marR="54864" marT="18288" marB="18288" anchor="ctr">
                    <a:solidFill>
                      <a:srgbClr val="FFFFFF"/>
                    </a:solidFill>
                  </a:tcPr>
                </a:tc>
                <a:tc>
                  <a:txBody>
                    <a:bodyPr wrap="square"/>
                    <a:lstStyle/>
                    <a:p>
                      <a:pPr algn="l"/>
                      <a:r>
                        <a:rPr sz="1000" b="0">
                          <a:solidFill>
                            <a:srgbClr val="1E2F5C"/>
                          </a:solidFill>
                          <a:latin typeface="Kanit"/>
                        </a:rPr>
                        <a:t>Livestock</a:t>
                      </a:r>
                    </a:p>
                  </a:txBody>
                  <a:tcPr marL="54864" marR="54864" marT="18288" marB="18288" anchor="ctr">
                    <a:solidFill>
                      <a:srgbClr val="FFFFFF"/>
                    </a:solidFill>
                  </a:tcPr>
                </a:tc>
                <a:tc>
                  <a:txBody>
                    <a:bodyPr wrap="square"/>
                    <a:lstStyle/>
                    <a:p>
                      <a:pPr algn="l"/>
                      <a:r>
                        <a:rPr sz="1000" b="0">
                          <a:solidFill>
                            <a:srgbClr val="1E2F5C"/>
                          </a:solidFill>
                          <a:latin typeface="Kanit"/>
                        </a:rPr>
                        <a:t>C · W · E</a:t>
                      </a:r>
                    </a:p>
                  </a:txBody>
                  <a:tcPr marL="54864" marR="54864" marT="18288" marB="18288" anchor="ctr">
                    <a:solidFill>
                      <a:srgbClr val="FFFFFF"/>
                    </a:solidFill>
                  </a:tcPr>
                </a:tc>
                <a:tc>
                  <a:txBody>
                    <a:bodyPr wrap="square"/>
                    <a:lstStyle/>
                    <a:p>
                      <a:pPr algn="r"/>
                      <a:r>
                        <a:rPr sz="1000" b="1">
                          <a:solidFill>
                            <a:srgbClr val="CC0000"/>
                          </a:solidFill>
                          <a:latin typeface="Kanit"/>
                        </a:rPr>
                        <a:t>−6.7%</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Beef</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Isan</a:t>
                      </a:r>
                    </a:p>
                  </a:txBody>
                  <a:tcPr marL="54864" marR="54864" marT="18288" marB="18288" anchor="ctr">
                    <a:solidFill>
                      <a:srgbClr val="F7F9FC"/>
                    </a:solidFill>
                  </a:tcPr>
                </a:tc>
                <a:tc>
                  <a:txBody>
                    <a:bodyPr wrap="square"/>
                    <a:lstStyle/>
                    <a:p>
                      <a:pPr algn="r"/>
                      <a:r>
                        <a:rPr sz="1000" b="1">
                          <a:solidFill>
                            <a:srgbClr val="CC0000"/>
                          </a:solidFill>
                          <a:latin typeface="Kanit"/>
                        </a:rPr>
                        <a:t>−6.1%</a:t>
                      </a:r>
                    </a:p>
                  </a:txBody>
                  <a:tcPr marL="54864" marR="54864" marT="18288" marB="18288" anchor="ctr">
                    <a:solidFill>
                      <a:srgbClr val="F7F9FC"/>
                    </a:solidFill>
                  </a:tcPr>
                </a:tc>
                <a:tc>
                  <a:txBody>
                    <a:bodyPr wrap="square"/>
                    <a:lstStyle/>
                    <a:p>
                      <a:pPr algn="r"/>
                      <a:r>
                        <a:rPr sz="1000" b="1">
                          <a:solidFill>
                            <a:srgbClr val="15795F"/>
                          </a:solidFill>
                          <a:latin typeface="Kanit"/>
                        </a:rPr>
                        <a:t>+11.8%</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White shrimp</a:t>
                      </a:r>
                    </a:p>
                  </a:txBody>
                  <a:tcPr marL="54864" marR="54864" marT="18288" marB="18288" anchor="ctr">
                    <a:solidFill>
                      <a:srgbClr val="FFFFFF"/>
                    </a:solidFill>
                  </a:tcPr>
                </a:tc>
                <a:tc>
                  <a:txBody>
                    <a:bodyPr wrap="square"/>
                    <a:lstStyle/>
                    <a:p>
                      <a:pPr algn="l"/>
                      <a:r>
                        <a:rPr sz="1000" b="0">
                          <a:solidFill>
                            <a:srgbClr val="1E2F5C"/>
                          </a:solidFill>
                          <a:latin typeface="Kanit"/>
                        </a:rPr>
                        <a:t>Fisheries</a:t>
                      </a:r>
                    </a:p>
                  </a:txBody>
                  <a:tcPr marL="54864" marR="54864" marT="18288" marB="18288" anchor="ctr">
                    <a:solidFill>
                      <a:srgbClr val="FFFFFF"/>
                    </a:solidFill>
                  </a:tcPr>
                </a:tc>
                <a:tc>
                  <a:txBody>
                    <a:bodyPr wrap="square"/>
                    <a:lstStyle/>
                    <a:p>
                      <a:pPr algn="l"/>
                      <a:r>
                        <a:rPr sz="1000" b="0">
                          <a:solidFill>
                            <a:srgbClr val="1E2F5C"/>
                          </a:solidFill>
                          <a:latin typeface="Kanit"/>
                        </a:rPr>
                        <a:t>S · E coast</a:t>
                      </a:r>
                    </a:p>
                  </a:txBody>
                  <a:tcPr marL="54864" marR="54864" marT="18288" marB="18288" anchor="ctr">
                    <a:solidFill>
                      <a:srgbClr val="FFFFFF"/>
                    </a:solidFill>
                  </a:tcPr>
                </a:tc>
                <a:tc>
                  <a:txBody>
                    <a:bodyPr wrap="square"/>
                    <a:lstStyle/>
                    <a:p>
                      <a:pPr algn="r"/>
                      <a:r>
                        <a:rPr sz="1000" b="1">
                          <a:solidFill>
                            <a:srgbClr val="CC0000"/>
                          </a:solidFill>
                          <a:latin typeface="Kanit"/>
                        </a:rPr>
                        <a:t>−4.3%</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Chicken</a:t>
                      </a:r>
                    </a:p>
                  </a:txBody>
                  <a:tcPr marL="54864" marR="54864" marT="18288" marB="18288" anchor="ctr">
                    <a:solidFill>
                      <a:srgbClr val="F7F9FC"/>
                    </a:solidFill>
                  </a:tcPr>
                </a:tc>
                <a:tc>
                  <a:txBody>
                    <a:bodyPr wrap="square"/>
                    <a:lstStyle/>
                    <a:p>
                      <a:pPr algn="l"/>
                      <a:r>
                        <a:rPr sz="1000" b="0">
                          <a:solidFill>
                            <a:srgbClr val="1E2F5C"/>
                          </a:solidFill>
                          <a:latin typeface="Kanit"/>
                        </a:rPr>
                        <a:t>Livestock</a:t>
                      </a:r>
                    </a:p>
                  </a:txBody>
                  <a:tcPr marL="54864" marR="54864" marT="18288" marB="18288" anchor="ctr">
                    <a:solidFill>
                      <a:srgbClr val="F7F9FC"/>
                    </a:solidFill>
                  </a:tcPr>
                </a:tc>
                <a:tc>
                  <a:txBody>
                    <a:bodyPr wrap="square"/>
                    <a:lstStyle/>
                    <a:p>
                      <a:pPr algn="l"/>
                      <a:r>
                        <a:rPr sz="1000" b="0">
                          <a:solidFill>
                            <a:srgbClr val="1E2F5C"/>
                          </a:solidFill>
                          <a:latin typeface="Kanit"/>
                        </a:rPr>
                        <a:t>C · E</a:t>
                      </a:r>
                    </a:p>
                  </a:txBody>
                  <a:tcPr marL="54864" marR="54864" marT="18288" marB="18288" anchor="ctr">
                    <a:solidFill>
                      <a:srgbClr val="F7F9FC"/>
                    </a:solidFill>
                  </a:tcPr>
                </a:tc>
                <a:tc>
                  <a:txBody>
                    <a:bodyPr wrap="square"/>
                    <a:lstStyle/>
                    <a:p>
                      <a:pPr algn="r"/>
                      <a:r>
                        <a:rPr sz="1000" b="1">
                          <a:solidFill>
                            <a:srgbClr val="CC0000"/>
                          </a:solidFill>
                          <a:latin typeface="Kanit"/>
                        </a:rPr>
                        <a:t>−2.4%</a:t>
                      </a:r>
                    </a:p>
                  </a:txBody>
                  <a:tcPr marL="54864" marR="54864" marT="18288" marB="18288" anchor="ctr">
                    <a:solidFill>
                      <a:srgbClr val="F7F9FC"/>
                    </a:solidFill>
                  </a:tcPr>
                </a:tc>
                <a:tc>
                  <a:txBody>
                    <a:bodyPr wrap="square"/>
                    <a:lstStyle/>
                    <a:p>
                      <a:pPr algn="r"/>
                      <a:r>
                        <a:rPr sz="1000" b="0">
                          <a:solidFill>
                            <a:srgbClr val="606060"/>
                          </a:solidFill>
                          <a:latin typeface="Kanit"/>
                        </a:rPr>
                        <a:t>−0.6%</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Eggs</a:t>
                      </a:r>
                    </a:p>
                  </a:txBody>
                  <a:tcPr marL="54864" marR="54864" marT="18288" marB="18288" anchor="ctr">
                    <a:solidFill>
                      <a:srgbClr val="FFFFFF"/>
                    </a:solidFill>
                  </a:tcPr>
                </a:tc>
                <a:tc>
                  <a:txBody>
                    <a:bodyPr wrap="square"/>
                    <a:lstStyle/>
                    <a:p>
                      <a:pPr algn="l"/>
                      <a:r>
                        <a:rPr sz="1000" b="0">
                          <a:solidFill>
                            <a:srgbClr val="1E2F5C"/>
                          </a:solidFill>
                          <a:latin typeface="Kanit"/>
                        </a:rPr>
                        <a:t>Livestock</a:t>
                      </a:r>
                    </a:p>
                  </a:txBody>
                  <a:tcPr marL="54864" marR="54864" marT="18288" marB="18288" anchor="ctr">
                    <a:solidFill>
                      <a:srgbClr val="FFFFFF"/>
                    </a:solidFill>
                  </a:tcPr>
                </a:tc>
                <a:tc>
                  <a:txBody>
                    <a:bodyPr wrap="square"/>
                    <a:lstStyle/>
                    <a:p>
                      <a:pPr algn="l"/>
                      <a:r>
                        <a:rPr sz="1000" b="0">
                          <a:solidFill>
                            <a:srgbClr val="1E2F5C"/>
                          </a:solidFill>
                          <a:latin typeface="Kanit"/>
                        </a:rPr>
                        <a:t>C · E</a:t>
                      </a:r>
                    </a:p>
                  </a:txBody>
                  <a:tcPr marL="54864" marR="54864" marT="18288" marB="18288" anchor="ctr">
                    <a:solidFill>
                      <a:srgbClr val="FFFFFF"/>
                    </a:solidFill>
                  </a:tcPr>
                </a:tc>
                <a:tc>
                  <a:txBody>
                    <a:bodyPr wrap="square"/>
                    <a:lstStyle/>
                    <a:p>
                      <a:pPr algn="r"/>
                      <a:r>
                        <a:rPr sz="1000" b="1">
                          <a:solidFill>
                            <a:srgbClr val="CC0000"/>
                          </a:solidFill>
                          <a:latin typeface="Kanit"/>
                        </a:rPr>
                        <a:t>−1.7%</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bl>
          </a:graphicData>
        </a:graphic>
      </p:graphicFrame>
      <p:sp>
        <p:nvSpPr>
          <p:cNvPr id="11" name="Rounded Rectangle 10"/>
          <p:cNvSpPr/>
          <p:nvPr/>
        </p:nvSpPr>
        <p:spPr>
          <a:xfrm>
            <a:off x="411480" y="4233976"/>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4263237"/>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4247692"/>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Prices MEASURED — NABC daily and monthly market feeds, Thai farm gate, OCSB announced cane price, World Bank Pink Sheet 2026M06; farm-gate vintage 2026-08-02. The belt column is an ESTIMATED read of where each is produced, and the belts overlap — the same household often keeps poultry and grows rice.</a:t>
            </a:r>
          </a:p>
        </p:txBody>
      </p:sp>
      <p:sp>
        <p:nvSpPr>
          <p:cNvPr id="14" name="Rectangle 13"/>
          <p:cNvSpPr/>
          <p:nvPr/>
        </p:nvSpPr>
        <p:spPr>
          <a:xfrm>
            <a:off x="411480" y="4688890"/>
            <a:ext cx="11365992" cy="854456"/>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688890"/>
            <a:ext cx="50292" cy="854456"/>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4835194"/>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Beef is the row that shows why the world index is the wrong instrument</a:t>
            </a:r>
          </a:p>
        </p:txBody>
      </p:sp>
      <p:sp>
        <p:nvSpPr>
          <p:cNvPr id="17" name="TextBox 16"/>
          <p:cNvSpPr txBox="1"/>
          <p:nvPr/>
        </p:nvSpPr>
        <p:spPr>
          <a:xfrm>
            <a:off x="630936" y="5039664"/>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world beef index is +11.8%. The measured Thai farm-gate price is −6.1% — a 17.9 point divergence. A cattle household in Isan is not experiencing +11.8%. Rubber, palm and cassava run the other way and are genuinely up on both measures.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03 · FIVE YEARS OF PRICE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Sugar has not fallen for a year. It has fallen for four.</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ectangle 8"/>
          <p:cNvSpPr/>
          <p:nvPr/>
        </p:nvSpPr>
        <p:spPr>
          <a:xfrm>
            <a:off x="411480" y="1152144"/>
            <a:ext cx="6903720" cy="278892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795528" y="3666744"/>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29768" y="3598163"/>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40</a:t>
            </a:r>
          </a:p>
        </p:txBody>
      </p:sp>
      <p:sp>
        <p:nvSpPr>
          <p:cNvPr id="12" name="Rectangle 11"/>
          <p:cNvSpPr/>
          <p:nvPr/>
        </p:nvSpPr>
        <p:spPr>
          <a:xfrm>
            <a:off x="795528" y="2778633"/>
            <a:ext cx="6428232" cy="10972"/>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29768" y="2710052"/>
            <a:ext cx="329184" cy="125730"/>
          </a:xfrm>
          <a:prstGeom prst="rect">
            <a:avLst/>
          </a:prstGeom>
          <a:noFill/>
        </p:spPr>
        <p:txBody>
          <a:bodyPr wrap="square" lIns="0" rIns="0" tIns="0" bIns="0" anchor="t">
            <a:noAutofit/>
          </a:bodyPr>
          <a:lstStyle/>
          <a:p>
            <a:pPr algn="r">
              <a:lnSpc>
                <a:spcPts val="990"/>
              </a:lnSpc>
            </a:pPr>
            <a:r>
              <a:rPr sz="750" b="0">
                <a:solidFill>
                  <a:srgbClr val="606060"/>
                </a:solidFill>
                <a:latin typeface="Kanit"/>
              </a:rPr>
              <a:t>100</a:t>
            </a:r>
          </a:p>
        </p:txBody>
      </p:sp>
      <p:sp>
        <p:nvSpPr>
          <p:cNvPr id="14" name="Rectangle 13"/>
          <p:cNvSpPr/>
          <p:nvPr/>
        </p:nvSpPr>
        <p:spPr>
          <a:xfrm>
            <a:off x="795528" y="1298448"/>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29768" y="1229868"/>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200</a:t>
            </a:r>
          </a:p>
        </p:txBody>
      </p:sp>
      <p:sp>
        <p:nvSpPr>
          <p:cNvPr id="16" name="TextBox 15"/>
          <p:cNvSpPr txBox="1"/>
          <p:nvPr/>
        </p:nvSpPr>
        <p:spPr>
          <a:xfrm>
            <a:off x="6867405" y="1280160"/>
            <a:ext cx="264914"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Sugar</a:t>
            </a:r>
          </a:p>
        </p:txBody>
      </p:sp>
      <p:sp>
        <p:nvSpPr>
          <p:cNvPr id="17" name="Rectangle 16"/>
          <p:cNvSpPr/>
          <p:nvPr/>
        </p:nvSpPr>
        <p:spPr>
          <a:xfrm>
            <a:off x="6629661" y="1339596"/>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105086" y="1280160"/>
            <a:ext cx="378271" cy="134112"/>
          </a:xfrm>
          <a:prstGeom prst="rect">
            <a:avLst/>
          </a:prstGeom>
          <a:noFill/>
        </p:spPr>
        <p:txBody>
          <a:bodyPr wrap="square" lIns="0" rIns="0" tIns="0" bIns="0" anchor="t">
            <a:noAutofit/>
          </a:bodyPr>
          <a:lstStyle/>
          <a:p>
            <a:pPr algn="l">
              <a:lnSpc>
                <a:spcPts val="1056"/>
              </a:lnSpc>
            </a:pPr>
            <a:r>
              <a:rPr sz="800" b="1">
                <a:solidFill>
                  <a:srgbClr val="F5C242"/>
                </a:solidFill>
                <a:latin typeface="Kanit"/>
              </a:rPr>
              <a:t>Palm oil</a:t>
            </a:r>
          </a:p>
        </p:txBody>
      </p:sp>
      <p:sp>
        <p:nvSpPr>
          <p:cNvPr id="19" name="Rectangle 18"/>
          <p:cNvSpPr/>
          <p:nvPr/>
        </p:nvSpPr>
        <p:spPr>
          <a:xfrm>
            <a:off x="5867342" y="1339596"/>
            <a:ext cx="164592" cy="25603"/>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5521112" y="1280160"/>
            <a:ext cx="199925" cy="134112"/>
          </a:xfrm>
          <a:prstGeom prst="rect">
            <a:avLst/>
          </a:prstGeom>
          <a:noFill/>
        </p:spPr>
        <p:txBody>
          <a:bodyPr wrap="square" lIns="0" rIns="0" tIns="0" bIns="0" anchor="t">
            <a:noAutofit/>
          </a:bodyPr>
          <a:lstStyle/>
          <a:p>
            <a:pPr algn="l">
              <a:lnSpc>
                <a:spcPts val="1056"/>
              </a:lnSpc>
            </a:pPr>
            <a:r>
              <a:rPr sz="800" b="1">
                <a:solidFill>
                  <a:srgbClr val="1E2F5C"/>
                </a:solidFill>
                <a:latin typeface="Kanit"/>
              </a:rPr>
              <a:t>Rice</a:t>
            </a:r>
          </a:p>
        </p:txBody>
      </p:sp>
      <p:sp>
        <p:nvSpPr>
          <p:cNvPr id="21" name="Rectangle 20"/>
          <p:cNvSpPr/>
          <p:nvPr/>
        </p:nvSpPr>
        <p:spPr>
          <a:xfrm>
            <a:off x="5283368" y="1339596"/>
            <a:ext cx="164592" cy="25603"/>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797488" y="1280160"/>
            <a:ext cx="339576" cy="134112"/>
          </a:xfrm>
          <a:prstGeom prst="rect">
            <a:avLst/>
          </a:prstGeom>
          <a:noFill/>
        </p:spPr>
        <p:txBody>
          <a:bodyPr wrap="square" lIns="0" rIns="0" tIns="0" bIns="0" anchor="t">
            <a:noAutofit/>
          </a:bodyPr>
          <a:lstStyle/>
          <a:p>
            <a:pPr algn="l">
              <a:lnSpc>
                <a:spcPts val="1056"/>
              </a:lnSpc>
            </a:pPr>
            <a:r>
              <a:rPr sz="800" b="1">
                <a:solidFill>
                  <a:srgbClr val="15795F"/>
                </a:solidFill>
                <a:latin typeface="Kanit"/>
              </a:rPr>
              <a:t>Rubber</a:t>
            </a:r>
          </a:p>
        </p:txBody>
      </p:sp>
      <p:sp>
        <p:nvSpPr>
          <p:cNvPr id="23" name="Rectangle 22"/>
          <p:cNvSpPr/>
          <p:nvPr/>
        </p:nvSpPr>
        <p:spPr>
          <a:xfrm>
            <a:off x="4559744" y="1339596"/>
            <a:ext cx="164592" cy="25603"/>
          </a:xfrm>
          <a:prstGeom prst="rect">
            <a:avLst/>
          </a:prstGeom>
          <a:solidFill>
            <a:srgbClr val="1579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Freeform 23"/>
          <p:cNvSpPr/>
          <p:nvPr/>
        </p:nvSpPr>
        <p:spPr>
          <a:xfrm>
            <a:off x="795528" y="1995005"/>
            <a:ext cx="6428232" cy="1131906"/>
          </a:xfrm>
          <a:custGeom>
            <a:avLst/>
            <a:gdLst/>
            <a:ahLst/>
            <a:cxnLst/>
            <a:rect l="l" t="t" r="r" b="b"/>
            <a:pathLst>
              <a:path w="6428232" h="1131906">
                <a:moveTo>
                  <a:pt x="0" y="783628"/>
                </a:moveTo>
                <a:lnTo>
                  <a:pt x="108953" y="759881"/>
                </a:lnTo>
                <a:lnTo>
                  <a:pt x="217906" y="846951"/>
                </a:lnTo>
                <a:lnTo>
                  <a:pt x="326859" y="783628"/>
                </a:lnTo>
                <a:lnTo>
                  <a:pt x="435812" y="736135"/>
                </a:lnTo>
                <a:lnTo>
                  <a:pt x="544765" y="744050"/>
                </a:lnTo>
                <a:lnTo>
                  <a:pt x="653718" y="704473"/>
                </a:lnTo>
                <a:lnTo>
                  <a:pt x="762671" y="593657"/>
                </a:lnTo>
                <a:lnTo>
                  <a:pt x="871624" y="585742"/>
                </a:lnTo>
                <a:lnTo>
                  <a:pt x="980577" y="609488"/>
                </a:lnTo>
                <a:lnTo>
                  <a:pt x="1089530" y="633234"/>
                </a:lnTo>
                <a:lnTo>
                  <a:pt x="1198483" y="656981"/>
                </a:lnTo>
                <a:lnTo>
                  <a:pt x="1307437" y="854866"/>
                </a:lnTo>
                <a:lnTo>
                  <a:pt x="1416390" y="989429"/>
                </a:lnTo>
                <a:lnTo>
                  <a:pt x="1525343" y="1092329"/>
                </a:lnTo>
                <a:lnTo>
                  <a:pt x="1634296" y="1076498"/>
                </a:lnTo>
                <a:lnTo>
                  <a:pt x="1743249" y="1131906"/>
                </a:lnTo>
                <a:lnTo>
                  <a:pt x="1852202" y="1044837"/>
                </a:lnTo>
                <a:lnTo>
                  <a:pt x="1961155" y="973598"/>
                </a:lnTo>
                <a:lnTo>
                  <a:pt x="2070108" y="981513"/>
                </a:lnTo>
                <a:lnTo>
                  <a:pt x="2179061" y="1013175"/>
                </a:lnTo>
                <a:lnTo>
                  <a:pt x="2288014" y="1044837"/>
                </a:lnTo>
                <a:lnTo>
                  <a:pt x="2396967" y="1029006"/>
                </a:lnTo>
                <a:lnTo>
                  <a:pt x="2505920" y="1052752"/>
                </a:lnTo>
                <a:lnTo>
                  <a:pt x="2614874" y="1084414"/>
                </a:lnTo>
                <a:lnTo>
                  <a:pt x="2723827" y="1100245"/>
                </a:lnTo>
                <a:lnTo>
                  <a:pt x="2832780" y="1036921"/>
                </a:lnTo>
                <a:lnTo>
                  <a:pt x="2941733" y="989429"/>
                </a:lnTo>
                <a:lnTo>
                  <a:pt x="3050686" y="941936"/>
                </a:lnTo>
                <a:lnTo>
                  <a:pt x="3159639" y="949851"/>
                </a:lnTo>
                <a:lnTo>
                  <a:pt x="3268592" y="839035"/>
                </a:lnTo>
                <a:lnTo>
                  <a:pt x="3377545" y="664896"/>
                </a:lnTo>
                <a:lnTo>
                  <a:pt x="3486498" y="372025"/>
                </a:lnTo>
                <a:lnTo>
                  <a:pt x="3595451" y="459095"/>
                </a:lnTo>
                <a:lnTo>
                  <a:pt x="3704404" y="561996"/>
                </a:lnTo>
                <a:lnTo>
                  <a:pt x="3813357" y="474926"/>
                </a:lnTo>
                <a:lnTo>
                  <a:pt x="3922311" y="633234"/>
                </a:lnTo>
                <a:lnTo>
                  <a:pt x="4031264" y="372025"/>
                </a:lnTo>
                <a:lnTo>
                  <a:pt x="4140217" y="166224"/>
                </a:lnTo>
                <a:lnTo>
                  <a:pt x="4249170" y="182055"/>
                </a:lnTo>
                <a:lnTo>
                  <a:pt x="4358123" y="451180"/>
                </a:lnTo>
                <a:lnTo>
                  <a:pt x="4467076" y="379941"/>
                </a:lnTo>
                <a:lnTo>
                  <a:pt x="4576029" y="387856"/>
                </a:lnTo>
                <a:lnTo>
                  <a:pt x="4684982" y="356194"/>
                </a:lnTo>
                <a:lnTo>
                  <a:pt x="4793935" y="395772"/>
                </a:lnTo>
                <a:lnTo>
                  <a:pt x="4902888" y="577826"/>
                </a:lnTo>
                <a:lnTo>
                  <a:pt x="5011841" y="530334"/>
                </a:lnTo>
                <a:lnTo>
                  <a:pt x="5120794" y="554080"/>
                </a:lnTo>
                <a:lnTo>
                  <a:pt x="5229748" y="498672"/>
                </a:lnTo>
                <a:lnTo>
                  <a:pt x="5338701" y="561996"/>
                </a:lnTo>
                <a:lnTo>
                  <a:pt x="5447654" y="593657"/>
                </a:lnTo>
                <a:lnTo>
                  <a:pt x="5556607" y="680727"/>
                </a:lnTo>
                <a:lnTo>
                  <a:pt x="5665560" y="656981"/>
                </a:lnTo>
                <a:lnTo>
                  <a:pt x="5774513" y="633234"/>
                </a:lnTo>
                <a:lnTo>
                  <a:pt x="5883466" y="569911"/>
                </a:lnTo>
                <a:lnTo>
                  <a:pt x="5992419" y="474926"/>
                </a:lnTo>
                <a:lnTo>
                  <a:pt x="6101372" y="372025"/>
                </a:lnTo>
                <a:lnTo>
                  <a:pt x="6210325" y="277040"/>
                </a:lnTo>
                <a:lnTo>
                  <a:pt x="6319278" y="134562"/>
                </a:lnTo>
                <a:lnTo>
                  <a:pt x="6428232" y="0"/>
                </a:lnTo>
              </a:path>
            </a:pathLst>
          </a:custGeom>
          <a:noFill/>
          <a:ln w="20320">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795528" y="1899102"/>
            <a:ext cx="6428232" cy="1086899"/>
          </a:xfrm>
          <a:custGeom>
            <a:avLst/>
            <a:gdLst/>
            <a:ahLst/>
            <a:cxnLst/>
            <a:rect l="l" t="t" r="r" b="b"/>
            <a:pathLst>
              <a:path w="6428232" h="1086899">
                <a:moveTo>
                  <a:pt x="0" y="879531"/>
                </a:moveTo>
                <a:lnTo>
                  <a:pt x="108953" y="918859"/>
                </a:lnTo>
                <a:lnTo>
                  <a:pt x="217906" y="929585"/>
                </a:lnTo>
                <a:lnTo>
                  <a:pt x="326859" y="926010"/>
                </a:lnTo>
                <a:lnTo>
                  <a:pt x="435812" y="929585"/>
                </a:lnTo>
                <a:lnTo>
                  <a:pt x="544765" y="929585"/>
                </a:lnTo>
                <a:lnTo>
                  <a:pt x="653718" y="833051"/>
                </a:lnTo>
                <a:lnTo>
                  <a:pt x="762671" y="833051"/>
                </a:lnTo>
                <a:lnTo>
                  <a:pt x="871624" y="850928"/>
                </a:lnTo>
                <a:lnTo>
                  <a:pt x="980577" y="818750"/>
                </a:lnTo>
                <a:lnTo>
                  <a:pt x="1089530" y="700764"/>
                </a:lnTo>
                <a:lnTo>
                  <a:pt x="1198483" y="772271"/>
                </a:lnTo>
                <a:lnTo>
                  <a:pt x="1307437" y="865229"/>
                </a:lnTo>
                <a:lnTo>
                  <a:pt x="1416390" y="818750"/>
                </a:lnTo>
                <a:lnTo>
                  <a:pt x="1525343" y="790147"/>
                </a:lnTo>
                <a:lnTo>
                  <a:pt x="1634296" y="818750"/>
                </a:lnTo>
                <a:lnTo>
                  <a:pt x="1743249" y="786572"/>
                </a:lnTo>
                <a:lnTo>
                  <a:pt x="1852202" y="690038"/>
                </a:lnTo>
                <a:lnTo>
                  <a:pt x="1961155" y="511272"/>
                </a:lnTo>
                <a:lnTo>
                  <a:pt x="2070108" y="600655"/>
                </a:lnTo>
                <a:lnTo>
                  <a:pt x="2179061" y="657860"/>
                </a:lnTo>
                <a:lnTo>
                  <a:pt x="2288014" y="568477"/>
                </a:lnTo>
                <a:lnTo>
                  <a:pt x="2396967" y="536299"/>
                </a:lnTo>
                <a:lnTo>
                  <a:pt x="2505920" y="521998"/>
                </a:lnTo>
                <a:lnTo>
                  <a:pt x="2614874" y="404012"/>
                </a:lnTo>
                <a:lnTo>
                  <a:pt x="2723827" y="89383"/>
                </a:lnTo>
                <a:lnTo>
                  <a:pt x="2832780" y="143013"/>
                </a:lnTo>
                <a:lnTo>
                  <a:pt x="2941733" y="250273"/>
                </a:lnTo>
                <a:lnTo>
                  <a:pt x="3050686" y="221670"/>
                </a:lnTo>
                <a:lnTo>
                  <a:pt x="3159639" y="57206"/>
                </a:lnTo>
                <a:lnTo>
                  <a:pt x="3268592" y="0"/>
                </a:lnTo>
                <a:lnTo>
                  <a:pt x="3377545" y="128712"/>
                </a:lnTo>
                <a:lnTo>
                  <a:pt x="3486498" y="168041"/>
                </a:lnTo>
                <a:lnTo>
                  <a:pt x="3595451" y="243122"/>
                </a:lnTo>
                <a:lnTo>
                  <a:pt x="3704404" y="114411"/>
                </a:lnTo>
                <a:lnTo>
                  <a:pt x="3813357" y="100109"/>
                </a:lnTo>
                <a:lnTo>
                  <a:pt x="3922311" y="250273"/>
                </a:lnTo>
                <a:lnTo>
                  <a:pt x="4031264" y="253848"/>
                </a:lnTo>
                <a:lnTo>
                  <a:pt x="4140217" y="286026"/>
                </a:lnTo>
                <a:lnTo>
                  <a:pt x="4249170" y="518423"/>
                </a:lnTo>
                <a:lnTo>
                  <a:pt x="4358123" y="532724"/>
                </a:lnTo>
                <a:lnTo>
                  <a:pt x="4467076" y="475519"/>
                </a:lnTo>
                <a:lnTo>
                  <a:pt x="4576029" y="650710"/>
                </a:lnTo>
                <a:lnTo>
                  <a:pt x="4684982" y="797298"/>
                </a:lnTo>
                <a:lnTo>
                  <a:pt x="4793935" y="840202"/>
                </a:lnTo>
                <a:lnTo>
                  <a:pt x="4902888" y="875955"/>
                </a:lnTo>
                <a:lnTo>
                  <a:pt x="5011841" y="818750"/>
                </a:lnTo>
                <a:lnTo>
                  <a:pt x="5120794" y="861654"/>
                </a:lnTo>
                <a:lnTo>
                  <a:pt x="5229748" y="958188"/>
                </a:lnTo>
                <a:lnTo>
                  <a:pt x="5338701" y="1018968"/>
                </a:lnTo>
                <a:lnTo>
                  <a:pt x="5447654" y="1022544"/>
                </a:lnTo>
                <a:lnTo>
                  <a:pt x="5556607" y="1086899"/>
                </a:lnTo>
                <a:lnTo>
                  <a:pt x="5665560" y="1043996"/>
                </a:lnTo>
                <a:lnTo>
                  <a:pt x="5774513" y="843777"/>
                </a:lnTo>
                <a:lnTo>
                  <a:pt x="5883466" y="900982"/>
                </a:lnTo>
                <a:lnTo>
                  <a:pt x="5992419" y="897407"/>
                </a:lnTo>
                <a:lnTo>
                  <a:pt x="6101372" y="997516"/>
                </a:lnTo>
                <a:lnTo>
                  <a:pt x="6210325" y="918859"/>
                </a:lnTo>
                <a:lnTo>
                  <a:pt x="6319278" y="786572"/>
                </a:lnTo>
                <a:lnTo>
                  <a:pt x="6428232" y="593504"/>
                </a:lnTo>
              </a:path>
            </a:pathLst>
          </a:custGeom>
          <a:noFill/>
          <a:ln w="20320">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795528" y="1784416"/>
            <a:ext cx="6428232" cy="1354864"/>
          </a:xfrm>
          <a:custGeom>
            <a:avLst/>
            <a:gdLst/>
            <a:ahLst/>
            <a:cxnLst/>
            <a:rect l="l" t="t" r="r" b="b"/>
            <a:pathLst>
              <a:path w="6428232" h="1354864">
                <a:moveTo>
                  <a:pt x="0" y="994217"/>
                </a:moveTo>
                <a:lnTo>
                  <a:pt x="108953" y="884212"/>
                </a:lnTo>
                <a:lnTo>
                  <a:pt x="217906" y="829906"/>
                </a:lnTo>
                <a:lnTo>
                  <a:pt x="326859" y="650279"/>
                </a:lnTo>
                <a:lnTo>
                  <a:pt x="435812" y="607113"/>
                </a:lnTo>
                <a:lnTo>
                  <a:pt x="544765" y="705977"/>
                </a:lnTo>
                <a:lnTo>
                  <a:pt x="653718" y="601543"/>
                </a:lnTo>
                <a:lnTo>
                  <a:pt x="762671" y="355077"/>
                </a:lnTo>
                <a:lnTo>
                  <a:pt x="871624" y="0"/>
                </a:lnTo>
                <a:lnTo>
                  <a:pt x="980577" y="130891"/>
                </a:lnTo>
                <a:lnTo>
                  <a:pt x="1089530" y="83548"/>
                </a:lnTo>
                <a:lnTo>
                  <a:pt x="1198483" y="384319"/>
                </a:lnTo>
                <a:lnTo>
                  <a:pt x="1307437" y="1002571"/>
                </a:lnTo>
                <a:lnTo>
                  <a:pt x="1416390" y="1045738"/>
                </a:lnTo>
                <a:lnTo>
                  <a:pt x="1525343" y="1208655"/>
                </a:lnTo>
                <a:lnTo>
                  <a:pt x="1634296" y="1236505"/>
                </a:lnTo>
                <a:lnTo>
                  <a:pt x="1743249" y="1157134"/>
                </a:lnTo>
                <a:lnTo>
                  <a:pt x="1852202" y="1165489"/>
                </a:lnTo>
                <a:lnTo>
                  <a:pt x="1961155" y="1162704"/>
                </a:lnTo>
                <a:lnTo>
                  <a:pt x="2070108" y="1151564"/>
                </a:lnTo>
                <a:lnTo>
                  <a:pt x="2179061" y="1120930"/>
                </a:lnTo>
                <a:lnTo>
                  <a:pt x="2288014" y="1074979"/>
                </a:lnTo>
                <a:lnTo>
                  <a:pt x="2396967" y="1173844"/>
                </a:lnTo>
                <a:lnTo>
                  <a:pt x="2505920" y="1336762"/>
                </a:lnTo>
                <a:lnTo>
                  <a:pt x="2614874" y="1250429"/>
                </a:lnTo>
                <a:lnTo>
                  <a:pt x="2723827" y="1275493"/>
                </a:lnTo>
                <a:lnTo>
                  <a:pt x="2832780" y="1318660"/>
                </a:lnTo>
                <a:lnTo>
                  <a:pt x="2941733" y="1354864"/>
                </a:lnTo>
                <a:lnTo>
                  <a:pt x="3050686" y="1318660"/>
                </a:lnTo>
                <a:lnTo>
                  <a:pt x="3159639" y="1340939"/>
                </a:lnTo>
                <a:lnTo>
                  <a:pt x="3268592" y="1297773"/>
                </a:lnTo>
                <a:lnTo>
                  <a:pt x="3377545" y="1281063"/>
                </a:lnTo>
                <a:lnTo>
                  <a:pt x="3486498" y="1161312"/>
                </a:lnTo>
                <a:lnTo>
                  <a:pt x="3595451" y="1171059"/>
                </a:lnTo>
                <a:lnTo>
                  <a:pt x="3704404" y="1278278"/>
                </a:lnTo>
                <a:lnTo>
                  <a:pt x="3813357" y="1257391"/>
                </a:lnTo>
                <a:lnTo>
                  <a:pt x="3922311" y="1226757"/>
                </a:lnTo>
                <a:lnTo>
                  <a:pt x="4031264" y="1175236"/>
                </a:lnTo>
                <a:lnTo>
                  <a:pt x="4140217" y="1105613"/>
                </a:lnTo>
                <a:lnTo>
                  <a:pt x="4249170" y="974722"/>
                </a:lnTo>
                <a:lnTo>
                  <a:pt x="4358123" y="846616"/>
                </a:lnTo>
                <a:lnTo>
                  <a:pt x="4467076" y="817374"/>
                </a:lnTo>
                <a:lnTo>
                  <a:pt x="4576029" y="984469"/>
                </a:lnTo>
                <a:lnTo>
                  <a:pt x="4684982" y="988647"/>
                </a:lnTo>
                <a:lnTo>
                  <a:pt x="4793935" y="987254"/>
                </a:lnTo>
                <a:lnTo>
                  <a:pt x="4902888" y="1090296"/>
                </a:lnTo>
                <a:lnTo>
                  <a:pt x="5011841" y="1210048"/>
                </a:lnTo>
                <a:lnTo>
                  <a:pt x="5120794" y="1172451"/>
                </a:lnTo>
                <a:lnTo>
                  <a:pt x="5229748" y="1115361"/>
                </a:lnTo>
                <a:lnTo>
                  <a:pt x="5338701" y="1045738"/>
                </a:lnTo>
                <a:lnTo>
                  <a:pt x="5447654" y="1030420"/>
                </a:lnTo>
                <a:lnTo>
                  <a:pt x="5556607" y="1029028"/>
                </a:lnTo>
                <a:lnTo>
                  <a:pt x="5665560" y="1105613"/>
                </a:lnTo>
                <a:lnTo>
                  <a:pt x="5774513" y="1109791"/>
                </a:lnTo>
                <a:lnTo>
                  <a:pt x="5883466" y="1074979"/>
                </a:lnTo>
                <a:lnTo>
                  <a:pt x="5992419" y="1027636"/>
                </a:lnTo>
                <a:lnTo>
                  <a:pt x="6101372" y="930163"/>
                </a:lnTo>
                <a:lnTo>
                  <a:pt x="6210325" y="878642"/>
                </a:lnTo>
                <a:lnTo>
                  <a:pt x="6319278" y="892567"/>
                </a:lnTo>
                <a:lnTo>
                  <a:pt x="6428232" y="935733"/>
                </a:lnTo>
              </a:path>
            </a:pathLst>
          </a:custGeom>
          <a:noFill/>
          <a:ln w="20320">
            <a:solidFill>
              <a:srgbClr val="F5C2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Freeform 26"/>
          <p:cNvSpPr/>
          <p:nvPr/>
        </p:nvSpPr>
        <p:spPr>
          <a:xfrm>
            <a:off x="795528" y="2057517"/>
            <a:ext cx="6428232" cy="1024743"/>
          </a:xfrm>
          <a:custGeom>
            <a:avLst/>
            <a:gdLst/>
            <a:ahLst/>
            <a:cxnLst/>
            <a:rect l="l" t="t" r="r" b="b"/>
            <a:pathLst>
              <a:path w="6428232" h="1024743">
                <a:moveTo>
                  <a:pt x="0" y="721116"/>
                </a:moveTo>
                <a:lnTo>
                  <a:pt x="108953" y="569302"/>
                </a:lnTo>
                <a:lnTo>
                  <a:pt x="217906" y="569302"/>
                </a:lnTo>
                <a:lnTo>
                  <a:pt x="326859" y="607255"/>
                </a:lnTo>
                <a:lnTo>
                  <a:pt x="435812" y="569302"/>
                </a:lnTo>
                <a:lnTo>
                  <a:pt x="544765" y="607255"/>
                </a:lnTo>
                <a:lnTo>
                  <a:pt x="653718" y="683162"/>
                </a:lnTo>
                <a:lnTo>
                  <a:pt x="762671" y="721116"/>
                </a:lnTo>
                <a:lnTo>
                  <a:pt x="871624" y="607255"/>
                </a:lnTo>
                <a:lnTo>
                  <a:pt x="980577" y="569302"/>
                </a:lnTo>
                <a:lnTo>
                  <a:pt x="1089530" y="569302"/>
                </a:lnTo>
                <a:lnTo>
                  <a:pt x="1198483" y="607255"/>
                </a:lnTo>
                <a:lnTo>
                  <a:pt x="1307437" y="683162"/>
                </a:lnTo>
                <a:lnTo>
                  <a:pt x="1416390" y="721116"/>
                </a:lnTo>
                <a:lnTo>
                  <a:pt x="1525343" y="721116"/>
                </a:lnTo>
                <a:lnTo>
                  <a:pt x="1634296" y="721116"/>
                </a:lnTo>
                <a:lnTo>
                  <a:pt x="1743249" y="645209"/>
                </a:lnTo>
                <a:lnTo>
                  <a:pt x="1852202" y="607255"/>
                </a:lnTo>
                <a:lnTo>
                  <a:pt x="1961155" y="607255"/>
                </a:lnTo>
                <a:lnTo>
                  <a:pt x="2070108" y="493395"/>
                </a:lnTo>
                <a:lnTo>
                  <a:pt x="2179061" y="493395"/>
                </a:lnTo>
                <a:lnTo>
                  <a:pt x="2288014" y="189767"/>
                </a:lnTo>
                <a:lnTo>
                  <a:pt x="2396967" y="75907"/>
                </a:lnTo>
                <a:lnTo>
                  <a:pt x="2505920" y="151814"/>
                </a:lnTo>
                <a:lnTo>
                  <a:pt x="2614874" y="227721"/>
                </a:lnTo>
                <a:lnTo>
                  <a:pt x="2723827" y="189767"/>
                </a:lnTo>
                <a:lnTo>
                  <a:pt x="2832780" y="0"/>
                </a:lnTo>
                <a:lnTo>
                  <a:pt x="2941733" y="37953"/>
                </a:lnTo>
                <a:lnTo>
                  <a:pt x="3050686" y="37953"/>
                </a:lnTo>
                <a:lnTo>
                  <a:pt x="3159639" y="379534"/>
                </a:lnTo>
                <a:lnTo>
                  <a:pt x="3268592" y="379534"/>
                </a:lnTo>
                <a:lnTo>
                  <a:pt x="3377545" y="303627"/>
                </a:lnTo>
                <a:lnTo>
                  <a:pt x="3486498" y="379534"/>
                </a:lnTo>
                <a:lnTo>
                  <a:pt x="3595451" y="493395"/>
                </a:lnTo>
                <a:lnTo>
                  <a:pt x="3704404" y="607255"/>
                </a:lnTo>
                <a:lnTo>
                  <a:pt x="3813357" y="569302"/>
                </a:lnTo>
                <a:lnTo>
                  <a:pt x="3922311" y="569302"/>
                </a:lnTo>
                <a:lnTo>
                  <a:pt x="4031264" y="645209"/>
                </a:lnTo>
                <a:lnTo>
                  <a:pt x="4140217" y="493395"/>
                </a:lnTo>
                <a:lnTo>
                  <a:pt x="4249170" y="455441"/>
                </a:lnTo>
                <a:lnTo>
                  <a:pt x="4358123" y="493395"/>
                </a:lnTo>
                <a:lnTo>
                  <a:pt x="4467076" y="531348"/>
                </a:lnTo>
                <a:lnTo>
                  <a:pt x="4576029" y="683162"/>
                </a:lnTo>
                <a:lnTo>
                  <a:pt x="4684982" y="607255"/>
                </a:lnTo>
                <a:lnTo>
                  <a:pt x="4793935" y="607255"/>
                </a:lnTo>
                <a:lnTo>
                  <a:pt x="4902888" y="683162"/>
                </a:lnTo>
                <a:lnTo>
                  <a:pt x="5011841" y="721116"/>
                </a:lnTo>
                <a:lnTo>
                  <a:pt x="5120794" y="797022"/>
                </a:lnTo>
                <a:lnTo>
                  <a:pt x="5229748" y="797022"/>
                </a:lnTo>
                <a:lnTo>
                  <a:pt x="5338701" y="797022"/>
                </a:lnTo>
                <a:lnTo>
                  <a:pt x="5447654" y="872929"/>
                </a:lnTo>
                <a:lnTo>
                  <a:pt x="5556607" y="910883"/>
                </a:lnTo>
                <a:lnTo>
                  <a:pt x="5665560" y="986790"/>
                </a:lnTo>
                <a:lnTo>
                  <a:pt x="5774513" y="986790"/>
                </a:lnTo>
                <a:lnTo>
                  <a:pt x="5883466" y="986790"/>
                </a:lnTo>
                <a:lnTo>
                  <a:pt x="5992419" y="1024743"/>
                </a:lnTo>
                <a:lnTo>
                  <a:pt x="6101372" y="948836"/>
                </a:lnTo>
                <a:lnTo>
                  <a:pt x="6210325" y="986790"/>
                </a:lnTo>
                <a:lnTo>
                  <a:pt x="6319278" y="910883"/>
                </a:lnTo>
                <a:lnTo>
                  <a:pt x="6428232" y="986790"/>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7"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2021</a:t>
            </a:r>
          </a:p>
        </p:txBody>
      </p:sp>
      <p:sp>
        <p:nvSpPr>
          <p:cNvPr id="29" name="TextBox 28"/>
          <p:cNvSpPr txBox="1"/>
          <p:nvPr/>
        </p:nvSpPr>
        <p:spPr>
          <a:xfrm>
            <a:off x="2573803"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2023</a:t>
            </a:r>
          </a:p>
        </p:txBody>
      </p:sp>
      <p:sp>
        <p:nvSpPr>
          <p:cNvPr id="30" name="TextBox 29"/>
          <p:cNvSpPr txBox="1"/>
          <p:nvPr/>
        </p:nvSpPr>
        <p:spPr>
          <a:xfrm>
            <a:off x="4534959"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2024</a:t>
            </a:r>
          </a:p>
        </p:txBody>
      </p:sp>
      <p:sp>
        <p:nvSpPr>
          <p:cNvPr id="31" name="TextBox 30"/>
          <p:cNvSpPr txBox="1"/>
          <p:nvPr/>
        </p:nvSpPr>
        <p:spPr>
          <a:xfrm>
            <a:off x="6496114" y="3739896"/>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32" name="TextBox 31"/>
          <p:cNvSpPr txBox="1"/>
          <p:nvPr/>
        </p:nvSpPr>
        <p:spPr>
          <a:xfrm>
            <a:off x="429768" y="1161288"/>
            <a:ext cx="681228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World price rebased to 100 at 2021-07 · 60 monthly observations</a:t>
            </a:r>
          </a:p>
        </p:txBody>
      </p:sp>
      <p:sp>
        <p:nvSpPr>
          <p:cNvPr id="33" name="Rectangle 32"/>
          <p:cNvSpPr/>
          <p:nvPr/>
        </p:nvSpPr>
        <p:spPr>
          <a:xfrm>
            <a:off x="7498079" y="1152144"/>
            <a:ext cx="4279392" cy="185851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7498079" y="1152144"/>
            <a:ext cx="50292" cy="185851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7717536" y="1298448"/>
            <a:ext cx="3950207"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A year-on-year number hides the shape</a:t>
            </a:r>
          </a:p>
        </p:txBody>
      </p:sp>
      <p:sp>
        <p:nvSpPr>
          <p:cNvPr id="36" name="TextBox 35"/>
          <p:cNvSpPr txBox="1"/>
          <p:nvPr/>
        </p:nvSpPr>
        <p:spPr>
          <a:xfrm>
            <a:off x="7717536" y="1502918"/>
            <a:ext cx="3950207" cy="136144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Sugar reads −13.5% on the year. Across five it has gone from a 0.58 $/kg peak to 0.32 — roughly 45% off, falling almost continuously since early 2023. A grower who planted against 2023 economics has had three bad years, not one.
Rubber is the mirror image: three years below its 2021 base, recovering only in the last eighteen months. Those households are repairing a balance sheet, not enjoying a windfall.</a:t>
            </a:r>
          </a:p>
        </p:txBody>
      </p:sp>
      <p:graphicFrame>
        <p:nvGraphicFramePr>
          <p:cNvPr id="37" name="Table 36"/>
          <p:cNvGraphicFramePr>
            <a:graphicFrameLocks noGrp="1"/>
          </p:cNvGraphicFramePr>
          <p:nvPr/>
        </p:nvGraphicFramePr>
        <p:xfrm>
          <a:off x="411480" y="4123944"/>
          <a:ext cx="7863840" cy="1345996"/>
        </p:xfrm>
        <a:graphic>
          <a:graphicData uri="http://schemas.openxmlformats.org/drawingml/2006/table">
            <a:tbl>
              <a:tblPr>
                <a:tableStyleId>{5C22544A-7EE6-4342-B048-85BDC9FD1C3A}</a:tableStyleId>
              </a:tblPr>
              <a:tblGrid>
                <a:gridCol w="2377440"/>
                <a:gridCol w="1188720"/>
                <a:gridCol w="1097280"/>
                <a:gridCol w="1005840"/>
                <a:gridCol w="1097280"/>
                <a:gridCol w="1097280"/>
              </a:tblGrid>
              <a:tr h="329184">
                <a:tc>
                  <a:txBody>
                    <a:bodyPr wrap="square"/>
                    <a:lstStyle/>
                    <a:p>
                      <a:pPr algn="l"/>
                      <a:r>
                        <a:rPr sz="1050" b="1">
                          <a:solidFill>
                            <a:srgbClr val="FFFFFF"/>
                          </a:solidFill>
                          <a:latin typeface="Kanit"/>
                        </a:rPr>
                        <a:t>World price, five years</a:t>
                      </a:r>
                    </a:p>
                  </a:txBody>
                  <a:tcPr marL="54864" marR="54864" marT="18288" marB="18288" anchor="ctr">
                    <a:solidFill>
                      <a:srgbClr val="1B2A6B"/>
                    </a:solidFill>
                  </a:tcPr>
                </a:tc>
                <a:tc>
                  <a:txBody>
                    <a:bodyPr wrap="square"/>
                    <a:lstStyle/>
                    <a:p>
                      <a:pPr algn="r"/>
                      <a:r>
                        <a:rPr sz="1050" b="1">
                          <a:solidFill>
                            <a:srgbClr val="FFFFFF"/>
                          </a:solidFill>
                          <a:latin typeface="Kanit"/>
                        </a:rPr>
                        <a:t>of planted area</a:t>
                      </a:r>
                    </a:p>
                  </a:txBody>
                  <a:tcPr marL="54864" marR="54864" marT="18288" marB="18288" anchor="ctr">
                    <a:solidFill>
                      <a:srgbClr val="1B2A6B"/>
                    </a:solidFill>
                  </a:tcPr>
                </a:tc>
                <a:tc>
                  <a:txBody>
                    <a:bodyPr wrap="square"/>
                    <a:lstStyle/>
                    <a:p>
                      <a:pPr algn="r"/>
                      <a:r>
                        <a:rPr sz="1050" b="1">
                          <a:solidFill>
                            <a:srgbClr val="FFFFFF"/>
                          </a:solidFill>
                          <a:latin typeface="Kanit"/>
                        </a:rPr>
                        <a:t>5-yr peak</a:t>
                      </a:r>
                    </a:p>
                  </a:txBody>
                  <a:tcPr marL="54864" marR="54864" marT="18288" marB="18288" anchor="ctr">
                    <a:solidFill>
                      <a:srgbClr val="1B2A6B"/>
                    </a:solidFill>
                  </a:tcPr>
                </a:tc>
                <a:tc>
                  <a:txBody>
                    <a:bodyPr wrap="square"/>
                    <a:lstStyle/>
                    <a:p>
                      <a:pPr algn="r"/>
                      <a:r>
                        <a:rPr sz="1050" b="1">
                          <a:solidFill>
                            <a:srgbClr val="FFFFFF"/>
                          </a:solidFill>
                          <a:latin typeface="Kanit"/>
                        </a:rPr>
                        <a:t>latest</a:t>
                      </a:r>
                    </a:p>
                  </a:txBody>
                  <a:tcPr marL="54864" marR="54864" marT="18288" marB="18288" anchor="ctr">
                    <a:solidFill>
                      <a:srgbClr val="1B2A6B"/>
                    </a:solidFill>
                  </a:tcPr>
                </a:tc>
                <a:tc>
                  <a:txBody>
                    <a:bodyPr wrap="square"/>
                    <a:lstStyle/>
                    <a:p>
                      <a:pPr algn="r"/>
                      <a:r>
                        <a:rPr sz="1050" b="1">
                          <a:solidFill>
                            <a:srgbClr val="FFFFFF"/>
                          </a:solidFill>
                          <a:latin typeface="Kanit"/>
                        </a:rPr>
                        <a:t>off peak</a:t>
                      </a:r>
                    </a:p>
                  </a:txBody>
                  <a:tcPr marL="54864" marR="54864" marT="18288" marB="18288" anchor="ctr">
                    <a:solidFill>
                      <a:srgbClr val="1B2A6B"/>
                    </a:solidFill>
                  </a:tcPr>
                </a:tc>
                <a:tc>
                  <a:txBody>
                    <a:bodyPr wrap="square"/>
                    <a:lstStyle/>
                    <a:p>
                      <a:pPr algn="r"/>
                      <a:r>
                        <a:rPr sz="1050" b="1">
                          <a:solidFill>
                            <a:srgbClr val="FFFFFF"/>
                          </a:solidFill>
                          <a:latin typeface="Kanit"/>
                        </a:rPr>
                        <a:t>vs 5 yrs ago</a:t>
                      </a:r>
                    </a:p>
                  </a:txBody>
                  <a:tcPr marL="54864" marR="54864" marT="18288" marB="18288" anchor="ctr">
                    <a:solidFill>
                      <a:srgbClr val="1B2A6B"/>
                    </a:solidFill>
                  </a:tcPr>
                </a:tc>
              </a:tr>
              <a:tr h="254203">
                <a:tc>
                  <a:txBody>
                    <a:bodyPr wrap="square"/>
                    <a:lstStyle/>
                    <a:p>
                      <a:pPr algn="l"/>
                      <a:r>
                        <a:rPr sz="1000" b="1">
                          <a:solidFill>
                            <a:srgbClr val="1E2F5C"/>
                          </a:solidFill>
                          <a:latin typeface="Kanit"/>
                        </a:rPr>
                        <a:t>Rubber ($/kg)</a:t>
                      </a:r>
                    </a:p>
                  </a:txBody>
                  <a:tcPr marL="54864" marR="54864" marT="18288" marB="18288" anchor="ctr">
                    <a:solidFill>
                      <a:srgbClr val="FFFFFF"/>
                    </a:solidFill>
                  </a:tcPr>
                </a:tc>
                <a:tc>
                  <a:txBody>
                    <a:bodyPr wrap="square"/>
                    <a:lstStyle/>
                    <a:p>
                      <a:pPr algn="r"/>
                      <a:r>
                        <a:rPr sz="1000" b="0">
                          <a:solidFill>
                            <a:srgbClr val="1E2F5C"/>
                          </a:solidFill>
                          <a:latin typeface="Kanit"/>
                        </a:rPr>
                        <a:t>20.4%</a:t>
                      </a:r>
                    </a:p>
                  </a:txBody>
                  <a:tcPr marL="54864" marR="54864" marT="18288" marB="18288" anchor="ctr">
                    <a:solidFill>
                      <a:srgbClr val="FFFFFF"/>
                    </a:solidFill>
                  </a:tcPr>
                </a:tc>
                <a:tc>
                  <a:txBody>
                    <a:bodyPr wrap="square"/>
                    <a:lstStyle/>
                    <a:p>
                      <a:pPr algn="r"/>
                      <a:r>
                        <a:rPr sz="1000" b="0">
                          <a:solidFill>
                            <a:srgbClr val="1E2F5C"/>
                          </a:solidFill>
                          <a:latin typeface="Kanit"/>
                        </a:rPr>
                        <a:t>2.86</a:t>
                      </a:r>
                    </a:p>
                  </a:txBody>
                  <a:tcPr marL="54864" marR="54864" marT="18288" marB="18288" anchor="ctr">
                    <a:solidFill>
                      <a:srgbClr val="FFFFFF"/>
                    </a:solidFill>
                  </a:tcPr>
                </a:tc>
                <a:tc>
                  <a:txBody>
                    <a:bodyPr wrap="square"/>
                    <a:lstStyle/>
                    <a:p>
                      <a:pPr algn="r"/>
                      <a:r>
                        <a:rPr sz="1000" b="1">
                          <a:solidFill>
                            <a:srgbClr val="1E2F5C"/>
                          </a:solidFill>
                          <a:latin typeface="Kanit"/>
                        </a:rPr>
                        <a:t>2.86</a:t>
                      </a:r>
                    </a:p>
                  </a:txBody>
                  <a:tcPr marL="54864" marR="54864" marT="18288" marB="18288" anchor="ctr">
                    <a:solidFill>
                      <a:srgbClr val="FFFFFF"/>
                    </a:solidFill>
                  </a:tcPr>
                </a:tc>
                <a:tc>
                  <a:txBody>
                    <a:bodyPr wrap="square"/>
                    <a:lstStyle/>
                    <a:p>
                      <a:pPr algn="r"/>
                      <a:r>
                        <a:rPr sz="1000" b="1">
                          <a:solidFill>
                            <a:srgbClr val="1E2F5C"/>
                          </a:solidFill>
                          <a:latin typeface="Kanit"/>
                        </a:rPr>
                        <a:t>+0.0%</a:t>
                      </a:r>
                    </a:p>
                  </a:txBody>
                  <a:tcPr marL="54864" marR="54864" marT="18288" marB="18288" anchor="ctr">
                    <a:solidFill>
                      <a:srgbClr val="FFFFFF"/>
                    </a:solidFill>
                  </a:tcPr>
                </a:tc>
                <a:tc>
                  <a:txBody>
                    <a:bodyPr wrap="square"/>
                    <a:lstStyle/>
                    <a:p>
                      <a:pPr algn="r"/>
                      <a:r>
                        <a:rPr sz="1000" b="1">
                          <a:solidFill>
                            <a:srgbClr val="15795F"/>
                          </a:solidFill>
                          <a:latin typeface="Kanit"/>
                        </a:rPr>
                        <a:t>+52.9%</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Rice ($/mt)</a:t>
                      </a:r>
                    </a:p>
                  </a:txBody>
                  <a:tcPr marL="54864" marR="54864" marT="18288" marB="18288" anchor="ctr">
                    <a:solidFill>
                      <a:srgbClr val="F7F9FC"/>
                    </a:solidFill>
                  </a:tcPr>
                </a:tc>
                <a:tc>
                  <a:txBody>
                    <a:bodyPr wrap="square"/>
                    <a:lstStyle/>
                    <a:p>
                      <a:pPr algn="r"/>
                      <a:r>
                        <a:rPr sz="1000" b="0">
                          <a:solidFill>
                            <a:srgbClr val="1E2F5C"/>
                          </a:solidFill>
                          <a:latin typeface="Kanit"/>
                        </a:rPr>
                        <a:t>54.9%</a:t>
                      </a:r>
                    </a:p>
                  </a:txBody>
                  <a:tcPr marL="54864" marR="54864" marT="18288" marB="18288" anchor="ctr">
                    <a:solidFill>
                      <a:srgbClr val="F7F9FC"/>
                    </a:solidFill>
                  </a:tcPr>
                </a:tc>
                <a:tc>
                  <a:txBody>
                    <a:bodyPr wrap="square"/>
                    <a:lstStyle/>
                    <a:p>
                      <a:pPr algn="r"/>
                      <a:r>
                        <a:rPr sz="1000" b="0">
                          <a:solidFill>
                            <a:srgbClr val="1E2F5C"/>
                          </a:solidFill>
                          <a:latin typeface="Kanit"/>
                        </a:rPr>
                        <a:t>660.00</a:t>
                      </a:r>
                    </a:p>
                  </a:txBody>
                  <a:tcPr marL="54864" marR="54864" marT="18288" marB="18288" anchor="ctr">
                    <a:solidFill>
                      <a:srgbClr val="F7F9FC"/>
                    </a:solidFill>
                  </a:tcPr>
                </a:tc>
                <a:tc>
                  <a:txBody>
                    <a:bodyPr wrap="square"/>
                    <a:lstStyle/>
                    <a:p>
                      <a:pPr algn="r"/>
                      <a:r>
                        <a:rPr sz="1000" b="1">
                          <a:solidFill>
                            <a:srgbClr val="1E2F5C"/>
                          </a:solidFill>
                          <a:latin typeface="Kanit"/>
                        </a:rPr>
                        <a:t>494.00</a:t>
                      </a:r>
                    </a:p>
                  </a:txBody>
                  <a:tcPr marL="54864" marR="54864" marT="18288" marB="18288" anchor="ctr">
                    <a:solidFill>
                      <a:srgbClr val="F7F9FC"/>
                    </a:solidFill>
                  </a:tcPr>
                </a:tc>
                <a:tc>
                  <a:txBody>
                    <a:bodyPr wrap="square"/>
                    <a:lstStyle/>
                    <a:p>
                      <a:pPr algn="r"/>
                      <a:r>
                        <a:rPr sz="1000" b="1">
                          <a:solidFill>
                            <a:srgbClr val="CC0000"/>
                          </a:solidFill>
                          <a:latin typeface="Kanit"/>
                        </a:rPr>
                        <a:t>-25.2%</a:t>
                      </a:r>
                    </a:p>
                  </a:txBody>
                  <a:tcPr marL="54864" marR="54864" marT="18288" marB="18288" anchor="ctr">
                    <a:solidFill>
                      <a:srgbClr val="F7F9FC"/>
                    </a:solidFill>
                  </a:tcPr>
                </a:tc>
                <a:tc>
                  <a:txBody>
                    <a:bodyPr wrap="square"/>
                    <a:lstStyle/>
                    <a:p>
                      <a:pPr algn="r"/>
                      <a:r>
                        <a:rPr sz="1000" b="1">
                          <a:solidFill>
                            <a:srgbClr val="15795F"/>
                          </a:solidFill>
                          <a:latin typeface="Kanit"/>
                        </a:rPr>
                        <a:t>+19.3%</a:t>
                      </a:r>
                    </a:p>
                  </a:txBody>
                  <a:tcPr marL="54864" marR="54864" marT="18288" marB="18288" anchor="ctr">
                    <a:solidFill>
                      <a:srgbClr val="F7F9FC"/>
                    </a:solidFill>
                  </a:tcPr>
                </a:tc>
              </a:tr>
              <a:tr h="254203">
                <a:tc>
                  <a:txBody>
                    <a:bodyPr wrap="square"/>
                    <a:lstStyle/>
                    <a:p>
                      <a:pPr algn="l"/>
                      <a:r>
                        <a:rPr sz="1000" b="1">
                          <a:solidFill>
                            <a:srgbClr val="1E2F5C"/>
                          </a:solidFill>
                          <a:latin typeface="Kanit"/>
                        </a:rPr>
                        <a:t>Palm oil ($/mt)</a:t>
                      </a:r>
                    </a:p>
                  </a:txBody>
                  <a:tcPr marL="54864" marR="54864" marT="18288" marB="18288" anchor="ctr">
                    <a:solidFill>
                      <a:srgbClr val="FFFFFF"/>
                    </a:solidFill>
                  </a:tcPr>
                </a:tc>
                <a:tc>
                  <a:txBody>
                    <a:bodyPr wrap="square"/>
                    <a:lstStyle/>
                    <a:p>
                      <a:pPr algn="r"/>
                      <a:r>
                        <a:rPr sz="1000" b="0">
                          <a:solidFill>
                            <a:srgbClr val="1E2F5C"/>
                          </a:solidFill>
                          <a:latin typeface="Kanit"/>
                        </a:rPr>
                        <a:t>5.7%</a:t>
                      </a:r>
                    </a:p>
                  </a:txBody>
                  <a:tcPr marL="54864" marR="54864" marT="18288" marB="18288" anchor="ctr">
                    <a:solidFill>
                      <a:srgbClr val="FFFFFF"/>
                    </a:solidFill>
                  </a:tcPr>
                </a:tc>
                <a:tc>
                  <a:txBody>
                    <a:bodyPr wrap="square"/>
                    <a:lstStyle/>
                    <a:p>
                      <a:pPr algn="r"/>
                      <a:r>
                        <a:rPr sz="1000" b="0">
                          <a:solidFill>
                            <a:srgbClr val="1E2F5C"/>
                          </a:solidFill>
                          <a:latin typeface="Kanit"/>
                        </a:rPr>
                        <a:t>1,777.00</a:t>
                      </a:r>
                    </a:p>
                  </a:txBody>
                  <a:tcPr marL="54864" marR="54864" marT="18288" marB="18288" anchor="ctr">
                    <a:solidFill>
                      <a:srgbClr val="FFFFFF"/>
                    </a:solidFill>
                  </a:tcPr>
                </a:tc>
                <a:tc>
                  <a:txBody>
                    <a:bodyPr wrap="square"/>
                    <a:lstStyle/>
                    <a:p>
                      <a:pPr algn="r"/>
                      <a:r>
                        <a:rPr sz="1000" b="1">
                          <a:solidFill>
                            <a:srgbClr val="1E2F5C"/>
                          </a:solidFill>
                          <a:latin typeface="Kanit"/>
                        </a:rPr>
                        <a:t>1,105.00</a:t>
                      </a:r>
                    </a:p>
                  </a:txBody>
                  <a:tcPr marL="54864" marR="54864" marT="18288" marB="18288" anchor="ctr">
                    <a:solidFill>
                      <a:srgbClr val="FFFFFF"/>
                    </a:solidFill>
                  </a:tcPr>
                </a:tc>
                <a:tc>
                  <a:txBody>
                    <a:bodyPr wrap="square"/>
                    <a:lstStyle/>
                    <a:p>
                      <a:pPr algn="r"/>
                      <a:r>
                        <a:rPr sz="1000" b="1">
                          <a:solidFill>
                            <a:srgbClr val="CC0000"/>
                          </a:solidFill>
                          <a:latin typeface="Kanit"/>
                        </a:rPr>
                        <a:t>-37.8%</a:t>
                      </a:r>
                    </a:p>
                  </a:txBody>
                  <a:tcPr marL="54864" marR="54864" marT="18288" marB="18288" anchor="ctr">
                    <a:solidFill>
                      <a:srgbClr val="FFFFFF"/>
                    </a:solidFill>
                  </a:tcPr>
                </a:tc>
                <a:tc>
                  <a:txBody>
                    <a:bodyPr wrap="square"/>
                    <a:lstStyle/>
                    <a:p>
                      <a:pPr algn="r"/>
                      <a:r>
                        <a:rPr sz="1000" b="1">
                          <a:solidFill>
                            <a:srgbClr val="15795F"/>
                          </a:solidFill>
                          <a:latin typeface="Kanit"/>
                        </a:rPr>
                        <a:t>+4.0%</a:t>
                      </a:r>
                    </a:p>
                  </a:txBody>
                  <a:tcPr marL="54864" marR="54864" marT="18288" marB="18288" anchor="ctr">
                    <a:solidFill>
                      <a:srgbClr val="FFFFFF"/>
                    </a:solidFill>
                  </a:tcPr>
                </a:tc>
              </a:tr>
              <a:tr h="254203">
                <a:tc>
                  <a:txBody>
                    <a:bodyPr wrap="square"/>
                    <a:lstStyle/>
                    <a:p>
                      <a:pPr algn="l"/>
                      <a:r>
                        <a:rPr sz="1000" b="1">
                          <a:solidFill>
                            <a:srgbClr val="1E2F5C"/>
                          </a:solidFill>
                          <a:latin typeface="Kanit"/>
                        </a:rPr>
                        <a:t>Sugar ($/kg)</a:t>
                      </a:r>
                    </a:p>
                  </a:txBody>
                  <a:tcPr marL="54864" marR="54864" marT="18288" marB="18288" anchor="ctr">
                    <a:solidFill>
                      <a:srgbClr val="F7F9FC"/>
                    </a:solidFill>
                  </a:tcPr>
                </a:tc>
                <a:tc>
                  <a:txBody>
                    <a:bodyPr wrap="square"/>
                    <a:lstStyle/>
                    <a:p>
                      <a:pPr algn="r"/>
                      <a:r>
                        <a:rPr sz="1000" b="0">
                          <a:solidFill>
                            <a:srgbClr val="1E2F5C"/>
                          </a:solidFill>
                          <a:latin typeface="Kanit"/>
                        </a:rPr>
                        <a:t>10.0%</a:t>
                      </a:r>
                    </a:p>
                  </a:txBody>
                  <a:tcPr marL="54864" marR="54864" marT="18288" marB="18288" anchor="ctr">
                    <a:solidFill>
                      <a:srgbClr val="F7F9FC"/>
                    </a:solidFill>
                  </a:tcPr>
                </a:tc>
                <a:tc>
                  <a:txBody>
                    <a:bodyPr wrap="square"/>
                    <a:lstStyle/>
                    <a:p>
                      <a:pPr algn="r"/>
                      <a:r>
                        <a:rPr sz="1000" b="0">
                          <a:solidFill>
                            <a:srgbClr val="1E2F5C"/>
                          </a:solidFill>
                          <a:latin typeface="Kanit"/>
                        </a:rPr>
                        <a:t>0.58</a:t>
                      </a:r>
                    </a:p>
                  </a:txBody>
                  <a:tcPr marL="54864" marR="54864" marT="18288" marB="18288" anchor="ctr">
                    <a:solidFill>
                      <a:srgbClr val="F7F9FC"/>
                    </a:solidFill>
                  </a:tcPr>
                </a:tc>
                <a:tc>
                  <a:txBody>
                    <a:bodyPr wrap="square"/>
                    <a:lstStyle/>
                    <a:p>
                      <a:pPr algn="r"/>
                      <a:r>
                        <a:rPr sz="1000" b="1">
                          <a:solidFill>
                            <a:srgbClr val="1E2F5C"/>
                          </a:solidFill>
                          <a:latin typeface="Kanit"/>
                        </a:rPr>
                        <a:t>0.32</a:t>
                      </a:r>
                    </a:p>
                  </a:txBody>
                  <a:tcPr marL="54864" marR="54864" marT="18288" marB="18288" anchor="ctr">
                    <a:solidFill>
                      <a:srgbClr val="F7F9FC"/>
                    </a:solidFill>
                  </a:tcPr>
                </a:tc>
                <a:tc>
                  <a:txBody>
                    <a:bodyPr wrap="square"/>
                    <a:lstStyle/>
                    <a:p>
                      <a:pPr algn="r"/>
                      <a:r>
                        <a:rPr sz="1000" b="1">
                          <a:solidFill>
                            <a:srgbClr val="CC0000"/>
                          </a:solidFill>
                          <a:latin typeface="Kanit"/>
                        </a:rPr>
                        <a:t>-44.8%</a:t>
                      </a:r>
                    </a:p>
                  </a:txBody>
                  <a:tcPr marL="54864" marR="54864" marT="18288" marB="18288" anchor="ctr">
                    <a:solidFill>
                      <a:srgbClr val="F7F9FC"/>
                    </a:solidFill>
                  </a:tcPr>
                </a:tc>
                <a:tc>
                  <a:txBody>
                    <a:bodyPr wrap="square"/>
                    <a:lstStyle/>
                    <a:p>
                      <a:pPr algn="r"/>
                      <a:r>
                        <a:rPr sz="1000" b="1">
                          <a:solidFill>
                            <a:srgbClr val="CC0000"/>
                          </a:solidFill>
                          <a:latin typeface="Kanit"/>
                        </a:rPr>
                        <a:t>-17.9%</a:t>
                      </a:r>
                    </a:p>
                  </a:txBody>
                  <a:tcPr marL="54864" marR="54864" marT="18288" marB="18288" anchor="ctr">
                    <a:solidFill>
                      <a:srgbClr val="F7F9FC"/>
                    </a:solidFill>
                  </a:tcPr>
                </a:tc>
              </a:tr>
            </a:tbl>
          </a:graphicData>
        </a:graphic>
      </p:graphicFrame>
      <p:sp>
        <p:nvSpPr>
          <p:cNvPr id="38" name="Rounded Rectangle 37"/>
          <p:cNvSpPr/>
          <p:nvPr/>
        </p:nvSpPr>
        <p:spPr>
          <a:xfrm>
            <a:off x="411480" y="5634532"/>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411480" y="5663793"/>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40" name="TextBox 39"/>
          <p:cNvSpPr txBox="1"/>
          <p:nvPr/>
        </p:nvSpPr>
        <p:spPr>
          <a:xfrm>
            <a:off x="1275385" y="5648248"/>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World Bank Pink Sheet nominal-USD monthly prices, last 60 observations per series, rebased to 100 at 2021-07 for the chart — the series are quoted in different units and cannot otherwise share an axis. The table is in each series’ own published unit. Nominal, not deflated: five years of Thai CPI sits under every ‘vs 5 yrs ago’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04 · THE CROP BELTS</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Which crop each region grows, and what the price round did to its income.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Crops with a Thai farm-gate price</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8</a:t>
            </a:r>
          </a:p>
        </p:txBody>
      </p:sp>
      <p:sp>
        <p:nvSpPr>
          <p:cNvPr id="12" name="TextBox 11"/>
          <p:cNvSpPr txBox="1"/>
          <p:nvPr/>
        </p:nvSpPr>
        <p:spPr>
          <a:xfrm>
            <a:off x="548640"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rice, rubber, sugarcane, palm, cassava, maize, coconut, pineapple</a:t>
            </a:r>
          </a:p>
        </p:txBody>
      </p:sp>
      <p:sp>
        <p:nvSpPr>
          <p:cNvPr id="13" name="Rounded Rectangle 12"/>
          <p:cNvSpPr/>
          <p:nvPr/>
        </p:nvSpPr>
        <p:spPr>
          <a:xfrm>
            <a:off x="3287268"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Falling at the farm gate</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a:t>
            </a:r>
          </a:p>
        </p:txBody>
      </p:sp>
      <p:sp>
        <p:nvSpPr>
          <p:cNvPr id="16" name="TextBox 15"/>
          <p:cNvSpPr txBox="1"/>
          <p:nvPr/>
        </p:nvSpPr>
        <p:spPr>
          <a:xfrm>
            <a:off x="3424428"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sugarcane −17.9%, coconut −70.9%, pineapple −20.0% year on year</a:t>
            </a:r>
          </a:p>
        </p:txBody>
      </p:sp>
      <p:sp>
        <p:nvSpPr>
          <p:cNvPr id="17" name="Rounded Rectangle 16"/>
          <p:cNvSpPr/>
          <p:nvPr/>
        </p:nvSpPr>
        <p:spPr>
          <a:xfrm>
            <a:off x="6163056"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Median province crop-income shock</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+14.3%</a:t>
            </a:r>
          </a:p>
        </p:txBody>
      </p:sp>
      <p:sp>
        <p:nvSpPr>
          <p:cNvPr id="20" name="TextBox 19"/>
          <p:cNvSpPr txBox="1"/>
          <p:nvPr/>
        </p:nvSpPr>
        <p:spPr>
          <a:xfrm>
            <a:off x="6300216"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most of the country gained from this price round</a:t>
            </a:r>
          </a:p>
        </p:txBody>
      </p:sp>
      <p:sp>
        <p:nvSpPr>
          <p:cNvPr id="21" name="Rounded Rectangle 20"/>
          <p:cNvSpPr/>
          <p:nvPr/>
        </p:nvSpPr>
        <p:spPr>
          <a:xfrm>
            <a:off x="9038844"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Provinces where it went backwards</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4</a:t>
            </a:r>
          </a:p>
        </p:txBody>
      </p:sp>
      <p:sp>
        <p:nvSpPr>
          <p:cNvPr id="24" name="TextBox 23"/>
          <p:cNvSpPr txBox="1"/>
          <p:nvPr/>
        </p:nvSpPr>
        <p:spPr>
          <a:xfrm>
            <a:off x="9176004"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all four are coconut belts on the western gulf</a:t>
            </a:r>
          </a:p>
        </p:txBody>
      </p:sp>
      <p:graphicFrame>
        <p:nvGraphicFramePr>
          <p:cNvPr id="25" name="Table 24"/>
          <p:cNvGraphicFramePr>
            <a:graphicFrameLocks noGrp="1"/>
          </p:cNvGraphicFramePr>
          <p:nvPr/>
        </p:nvGraphicFramePr>
        <p:xfrm>
          <a:off x="411480" y="2377440"/>
          <a:ext cx="5532120" cy="1572764"/>
        </p:xfrm>
        <a:graphic>
          <a:graphicData uri="http://schemas.openxmlformats.org/drawingml/2006/table">
            <a:tbl>
              <a:tblPr>
                <a:tableStyleId>{5C22544A-7EE6-4342-B048-85BDC9FD1C3A}</a:tableStyleId>
              </a:tblPr>
              <a:tblGrid>
                <a:gridCol w="1143000"/>
                <a:gridCol w="685800"/>
                <a:gridCol w="1143000"/>
                <a:gridCol w="960120"/>
                <a:gridCol w="960120"/>
                <a:gridCol w="640080"/>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provs</a:t>
                      </a:r>
                    </a:p>
                  </a:txBody>
                  <a:tcPr marL="54864" marR="54864" marT="18288" marB="18288" anchor="ctr">
                    <a:solidFill>
                      <a:srgbClr val="1B2A6B"/>
                    </a:solidFill>
                  </a:tcPr>
                </a:tc>
                <a:tc>
                  <a:txBody>
                    <a:bodyPr wrap="square"/>
                    <a:lstStyle/>
                    <a:p>
                      <a:pPr algn="r"/>
                      <a:r>
                        <a:rPr sz="1050" b="1">
                          <a:solidFill>
                            <a:srgbClr val="FFFFFF"/>
                          </a:solidFill>
                          <a:latin typeface="Kanit"/>
                        </a:rPr>
                        <a:t>income shock</a:t>
                      </a:r>
                    </a:p>
                  </a:txBody>
                  <a:tcPr marL="54864" marR="54864" marT="18288" marB="18288" anchor="ctr">
                    <a:solidFill>
                      <a:srgbClr val="1B2A6B"/>
                    </a:solidFill>
                  </a:tcPr>
                </a:tc>
                <a:tc>
                  <a:txBody>
                    <a:bodyPr wrap="square"/>
                    <a:lstStyle/>
                    <a:p>
                      <a:pPr algn="r"/>
                      <a:r>
                        <a:rPr sz="1050" b="1">
                          <a:solidFill>
                            <a:srgbClr val="FFFFFF"/>
                          </a:solidFill>
                          <a:latin typeface="Kanit"/>
                        </a:rPr>
                        <a:t>backwards</a:t>
                      </a:r>
                    </a:p>
                  </a:txBody>
                  <a:tcPr marL="54864" marR="54864" marT="18288" marB="18288" anchor="ctr">
                    <a:solidFill>
                      <a:srgbClr val="1B2A6B"/>
                    </a:solidFill>
                  </a:tcPr>
                </a:tc>
                <a:tc>
                  <a:txBody>
                    <a:bodyPr wrap="square"/>
                    <a:lstStyle/>
                    <a:p>
                      <a:pPr algn="l"/>
                      <a:r>
                        <a:rPr sz="1050" b="1">
                          <a:solidFill>
                            <a:srgbClr val="FFFFFF"/>
                          </a:solidFill>
                          <a:latin typeface="Kanit"/>
                        </a:rPr>
                        <a:t>weakest</a:t>
                      </a:r>
                    </a:p>
                  </a:txBody>
                  <a:tcPr marL="54864" marR="54864" marT="18288" marB="18288" anchor="ctr">
                    <a:solidFill>
                      <a:srgbClr val="1B2A6B"/>
                    </a:solidFill>
                  </a:tcPr>
                </a:tc>
                <a:tc>
                  <a:txBody>
                    <a:bodyPr wrap="square"/>
                    <a:lstStyle/>
                    <a:p>
                      <a:pPr algn="r"/>
                      <a:r>
                        <a:rPr sz="1050" b="1">
                          <a:solidFill>
                            <a:srgbClr val="FFFFFF"/>
                          </a:solidFill>
                          <a:latin typeface="Kanit"/>
                        </a:rPr>
                        <a:t/>
                      </a:r>
                    </a:p>
                  </a:txBody>
                  <a:tcPr marL="54864" marR="54864" marT="18288" marB="18288" anchor="ctr">
                    <a:solidFill>
                      <a:srgbClr val="1B2A6B"/>
                    </a:solidFill>
                  </a:tcPr>
                </a:tc>
              </a:tr>
              <a:tr h="248716">
                <a:tc>
                  <a:txBody>
                    <a:bodyPr wrap="square"/>
                    <a:lstStyle/>
                    <a:p>
                      <a:pPr algn="l"/>
                      <a:r>
                        <a:rPr sz="950" b="1">
                          <a:solidFill>
                            <a:srgbClr val="1E2F5C"/>
                          </a:solidFill>
                          <a:latin typeface="Kanit"/>
                        </a:rPr>
                        <a:t>Central&amp;BKK</a:t>
                      </a:r>
                    </a:p>
                  </a:txBody>
                  <a:tcPr marL="54864" marR="54864" marT="18288" marB="18288" anchor="ctr">
                    <a:solidFill>
                      <a:srgbClr val="FFFFFF"/>
                    </a:solidFill>
                  </a:tcPr>
                </a:tc>
                <a:tc>
                  <a:txBody>
                    <a:bodyPr wrap="square"/>
                    <a:lstStyle/>
                    <a:p>
                      <a:pPr algn="r"/>
                      <a:r>
                        <a:rPr sz="950" b="0">
                          <a:solidFill>
                            <a:srgbClr val="1E2F5C"/>
                          </a:solidFill>
                          <a:latin typeface="Kanit"/>
                        </a:rPr>
                        <a:t>19</a:t>
                      </a:r>
                    </a:p>
                  </a:txBody>
                  <a:tcPr marL="54864" marR="54864" marT="18288" marB="18288" anchor="ctr">
                    <a:solidFill>
                      <a:srgbClr val="FFFFFF"/>
                    </a:solidFill>
                  </a:tcPr>
                </a:tc>
                <a:tc>
                  <a:txBody>
                    <a:bodyPr wrap="square"/>
                    <a:lstStyle/>
                    <a:p>
                      <a:pPr algn="r"/>
                      <a:r>
                        <a:rPr sz="950" b="1">
                          <a:solidFill>
                            <a:srgbClr val="15795F"/>
                          </a:solidFill>
                          <a:latin typeface="Kanit"/>
                        </a:rPr>
                        <a:t>+5.0%</a:t>
                      </a:r>
                    </a:p>
                  </a:txBody>
                  <a:tcPr marL="54864" marR="54864" marT="18288" marB="18288" anchor="ctr">
                    <a:solidFill>
                      <a:srgbClr val="FFFFFF"/>
                    </a:solidFill>
                  </a:tcPr>
                </a:tc>
                <a:tc>
                  <a:txBody>
                    <a:bodyPr wrap="square"/>
                    <a:lstStyle/>
                    <a:p>
                      <a:pPr algn="r"/>
                      <a:r>
                        <a:rPr sz="950" b="1">
                          <a:solidFill>
                            <a:srgbClr val="CC0000"/>
                          </a:solidFill>
                          <a:latin typeface="Kanit"/>
                        </a:rPr>
                        <a:t>4</a:t>
                      </a:r>
                    </a:p>
                  </a:txBody>
                  <a:tcPr marL="54864" marR="54864" marT="18288" marB="18288" anchor="ctr">
                    <a:solidFill>
                      <a:srgbClr val="FFFFFF"/>
                    </a:solidFill>
                  </a:tcPr>
                </a:tc>
                <a:tc>
                  <a:txBody>
                    <a:bodyPr wrap="square"/>
                    <a:lstStyle/>
                    <a:p>
                      <a:pPr algn="l"/>
                      <a:r>
                        <a:rPr sz="950" b="0">
                          <a:solidFill>
                            <a:srgbClr val="1E2F5C"/>
                          </a:solidFill>
                          <a:latin typeface="Kanit"/>
                        </a:rPr>
                        <a:t>สมุทรสงคราม</a:t>
                      </a:r>
                    </a:p>
                  </a:txBody>
                  <a:tcPr marL="54864" marR="54864" marT="18288" marB="18288" anchor="ctr">
                    <a:solidFill>
                      <a:srgbClr val="FFFFFF"/>
                    </a:solidFill>
                  </a:tcPr>
                </a:tc>
                <a:tc>
                  <a:txBody>
                    <a:bodyPr wrap="square"/>
                    <a:lstStyle/>
                    <a:p>
                      <a:pPr algn="r"/>
                      <a:r>
                        <a:rPr sz="950" b="1">
                          <a:solidFill>
                            <a:srgbClr val="CC0000"/>
                          </a:solidFill>
                          <a:latin typeface="Kanit"/>
                        </a:rPr>
                        <a:t>-66.4%</a:t>
                      </a:r>
                    </a:p>
                  </a:txBody>
                  <a:tcPr marL="54864" marR="54864" marT="18288" marB="18288" anchor="ctr">
                    <a:solidFill>
                      <a:srgbClr val="FFFFFF"/>
                    </a:solidFill>
                  </a:tcPr>
                </a:tc>
              </a:tr>
              <a:tr h="248716">
                <a:tc>
                  <a:txBody>
                    <a:bodyPr wrap="square"/>
                    <a:lstStyle/>
                    <a:p>
                      <a:pPr algn="l"/>
                      <a:r>
                        <a:rPr sz="950" b="1">
                          <a:solidFill>
                            <a:srgbClr val="1E2F5C"/>
                          </a:solidFill>
                          <a:latin typeface="Kanit"/>
                        </a:rPr>
                        <a:t>North</a:t>
                      </a:r>
                    </a:p>
                  </a:txBody>
                  <a:tcPr marL="54864" marR="54864" marT="18288" marB="18288" anchor="ctr">
                    <a:solidFill>
                      <a:srgbClr val="F7F9FC"/>
                    </a:solidFill>
                  </a:tcPr>
                </a:tc>
                <a:tc>
                  <a:txBody>
                    <a:bodyPr wrap="square"/>
                    <a:lstStyle/>
                    <a:p>
                      <a:pPr algn="r"/>
                      <a:r>
                        <a:rPr sz="950" b="0">
                          <a:solidFill>
                            <a:srgbClr val="1E2F5C"/>
                          </a:solidFill>
                          <a:latin typeface="Kanit"/>
                        </a:rPr>
                        <a:t>17</a:t>
                      </a:r>
                    </a:p>
                  </a:txBody>
                  <a:tcPr marL="54864" marR="54864" marT="18288" marB="18288" anchor="ctr">
                    <a:solidFill>
                      <a:srgbClr val="F7F9FC"/>
                    </a:solidFill>
                  </a:tcPr>
                </a:tc>
                <a:tc>
                  <a:txBody>
                    <a:bodyPr wrap="square"/>
                    <a:lstStyle/>
                    <a:p>
                      <a:pPr algn="r"/>
                      <a:r>
                        <a:rPr sz="950" b="1">
                          <a:solidFill>
                            <a:srgbClr val="15795F"/>
                          </a:solidFill>
                          <a:latin typeface="Kanit"/>
                        </a:rPr>
                        <a:t>+13.2%</a:t>
                      </a:r>
                    </a:p>
                  </a:txBody>
                  <a:tcPr marL="54864" marR="54864" marT="18288" marB="18288" anchor="ctr">
                    <a:solidFill>
                      <a:srgbClr val="F7F9FC"/>
                    </a:solidFill>
                  </a:tcPr>
                </a:tc>
                <a:tc>
                  <a:txBody>
                    <a:bodyPr wrap="square"/>
                    <a:lstStyle/>
                    <a:p>
                      <a:pPr algn="r"/>
                      <a:r>
                        <a:rPr sz="950" b="1">
                          <a:solidFill>
                            <a:srgbClr val="1E2F5C"/>
                          </a:solidFill>
                          <a:latin typeface="Kanit"/>
                        </a:rPr>
                        <a:t>0</a:t>
                      </a:r>
                    </a:p>
                  </a:txBody>
                  <a:tcPr marL="54864" marR="54864" marT="18288" marB="18288" anchor="ctr">
                    <a:solidFill>
                      <a:srgbClr val="F7F9FC"/>
                    </a:solidFill>
                  </a:tcPr>
                </a:tc>
                <a:tc>
                  <a:txBody>
                    <a:bodyPr wrap="square"/>
                    <a:lstStyle/>
                    <a:p>
                      <a:pPr algn="l"/>
                      <a:r>
                        <a:rPr sz="950" b="0">
                          <a:solidFill>
                            <a:srgbClr val="1E2F5C"/>
                          </a:solidFill>
                          <a:latin typeface="Kanit"/>
                        </a:rPr>
                        <a:t>สุโขทัย</a:t>
                      </a:r>
                    </a:p>
                  </a:txBody>
                  <a:tcPr marL="54864" marR="54864" marT="18288" marB="18288" anchor="ctr">
                    <a:solidFill>
                      <a:srgbClr val="F7F9FC"/>
                    </a:solidFill>
                  </a:tcPr>
                </a:tc>
                <a:tc>
                  <a:txBody>
                    <a:bodyPr wrap="square"/>
                    <a:lstStyle/>
                    <a:p>
                      <a:pPr algn="r"/>
                      <a:r>
                        <a:rPr sz="950" b="1">
                          <a:solidFill>
                            <a:srgbClr val="15795F"/>
                          </a:solidFill>
                          <a:latin typeface="Kanit"/>
                        </a:rPr>
                        <a:t>+8.4%</a:t>
                      </a:r>
                    </a:p>
                  </a:txBody>
                  <a:tcPr marL="54864" marR="54864" marT="18288" marB="18288" anchor="ctr">
                    <a:solidFill>
                      <a:srgbClr val="F7F9FC"/>
                    </a:solidFill>
                  </a:tcPr>
                </a:tc>
              </a:tr>
              <a:tr h="248716">
                <a:tc>
                  <a:txBody>
                    <a:bodyPr wrap="square"/>
                    <a:lstStyle/>
                    <a:p>
                      <a:pPr algn="l"/>
                      <a:r>
                        <a:rPr sz="950" b="1">
                          <a:solidFill>
                            <a:srgbClr val="1E2F5C"/>
                          </a:solidFill>
                          <a:latin typeface="Kanit"/>
                        </a:rPr>
                        <a:t>Isan</a:t>
                      </a:r>
                    </a:p>
                  </a:txBody>
                  <a:tcPr marL="54864" marR="54864" marT="18288" marB="18288" anchor="ctr">
                    <a:solidFill>
                      <a:srgbClr val="FFFFFF"/>
                    </a:solidFill>
                  </a:tcPr>
                </a:tc>
                <a:tc>
                  <a:txBody>
                    <a:bodyPr wrap="square"/>
                    <a:lstStyle/>
                    <a:p>
                      <a:pPr algn="r"/>
                      <a:r>
                        <a:rPr sz="950" b="0">
                          <a:solidFill>
                            <a:srgbClr val="1E2F5C"/>
                          </a:solidFill>
                          <a:latin typeface="Kanit"/>
                        </a:rPr>
                        <a:t>20</a:t>
                      </a:r>
                    </a:p>
                  </a:txBody>
                  <a:tcPr marL="54864" marR="54864" marT="18288" marB="18288" anchor="ctr">
                    <a:solidFill>
                      <a:srgbClr val="FFFFFF"/>
                    </a:solidFill>
                  </a:tcPr>
                </a:tc>
                <a:tc>
                  <a:txBody>
                    <a:bodyPr wrap="square"/>
                    <a:lstStyle/>
                    <a:p>
                      <a:pPr algn="r"/>
                      <a:r>
                        <a:rPr sz="950" b="1">
                          <a:solidFill>
                            <a:srgbClr val="15795F"/>
                          </a:solidFill>
                          <a:latin typeface="Kanit"/>
                        </a:rPr>
                        <a:t>+14.7%</a:t>
                      </a:r>
                    </a:p>
                  </a:txBody>
                  <a:tcPr marL="54864" marR="54864" marT="18288" marB="18288" anchor="ctr">
                    <a:solidFill>
                      <a:srgbClr val="FFFFFF"/>
                    </a:solidFill>
                  </a:tcPr>
                </a:tc>
                <a:tc>
                  <a:txBody>
                    <a:bodyPr wrap="square"/>
                    <a:lstStyle/>
                    <a:p>
                      <a:pPr algn="r"/>
                      <a:r>
                        <a:rPr sz="950" b="1">
                          <a:solidFill>
                            <a:srgbClr val="1E2F5C"/>
                          </a:solidFill>
                          <a:latin typeface="Kanit"/>
                        </a:rPr>
                        <a:t>0</a:t>
                      </a:r>
                    </a:p>
                  </a:txBody>
                  <a:tcPr marL="54864" marR="54864" marT="18288" marB="18288" anchor="ctr">
                    <a:solidFill>
                      <a:srgbClr val="FFFFFF"/>
                    </a:solidFill>
                  </a:tcPr>
                </a:tc>
                <a:tc>
                  <a:txBody>
                    <a:bodyPr wrap="square"/>
                    <a:lstStyle/>
                    <a:p>
                      <a:pPr algn="l"/>
                      <a:r>
                        <a:rPr sz="950" b="0">
                          <a:solidFill>
                            <a:srgbClr val="1E2F5C"/>
                          </a:solidFill>
                          <a:latin typeface="Kanit"/>
                        </a:rPr>
                        <a:t>หนองบัวลำภู</a:t>
                      </a:r>
                    </a:p>
                  </a:txBody>
                  <a:tcPr marL="54864" marR="54864" marT="18288" marB="18288" anchor="ctr">
                    <a:solidFill>
                      <a:srgbClr val="FFFFFF"/>
                    </a:solidFill>
                  </a:tcPr>
                </a:tc>
                <a:tc>
                  <a:txBody>
                    <a:bodyPr wrap="square"/>
                    <a:lstStyle/>
                    <a:p>
                      <a:pPr algn="r"/>
                      <a:r>
                        <a:rPr sz="950" b="1">
                          <a:solidFill>
                            <a:srgbClr val="15795F"/>
                          </a:solidFill>
                          <a:latin typeface="Kanit"/>
                        </a:rPr>
                        <a:t>+7.2%</a:t>
                      </a:r>
                    </a:p>
                  </a:txBody>
                  <a:tcPr marL="54864" marR="54864" marT="18288" marB="18288" anchor="ctr">
                    <a:solidFill>
                      <a:srgbClr val="FFFFFF"/>
                    </a:solidFill>
                  </a:tcPr>
                </a:tc>
              </a:tr>
              <a:tr h="248716">
                <a:tc>
                  <a:txBody>
                    <a:bodyPr wrap="square"/>
                    <a:lstStyle/>
                    <a:p>
                      <a:pPr algn="l"/>
                      <a:r>
                        <a:rPr sz="950" b="1">
                          <a:solidFill>
                            <a:srgbClr val="1E2F5C"/>
                          </a:solidFill>
                          <a:latin typeface="Kanit"/>
                        </a:rPr>
                        <a:t>East</a:t>
                      </a:r>
                    </a:p>
                  </a:txBody>
                  <a:tcPr marL="54864" marR="54864" marT="18288" marB="18288" anchor="ctr">
                    <a:solidFill>
                      <a:srgbClr val="F7F9FC"/>
                    </a:solidFill>
                  </a:tcPr>
                </a:tc>
                <a:tc>
                  <a:txBody>
                    <a:bodyPr wrap="square"/>
                    <a:lstStyle/>
                    <a:p>
                      <a:pPr algn="r"/>
                      <a:r>
                        <a:rPr sz="950" b="0">
                          <a:solidFill>
                            <a:srgbClr val="1E2F5C"/>
                          </a:solidFill>
                          <a:latin typeface="Kanit"/>
                        </a:rPr>
                        <a:t>7</a:t>
                      </a:r>
                    </a:p>
                  </a:txBody>
                  <a:tcPr marL="54864" marR="54864" marT="18288" marB="18288" anchor="ctr">
                    <a:solidFill>
                      <a:srgbClr val="F7F9FC"/>
                    </a:solidFill>
                  </a:tcPr>
                </a:tc>
                <a:tc>
                  <a:txBody>
                    <a:bodyPr wrap="square"/>
                    <a:lstStyle/>
                    <a:p>
                      <a:pPr algn="r"/>
                      <a:r>
                        <a:rPr sz="950" b="1">
                          <a:solidFill>
                            <a:srgbClr val="15795F"/>
                          </a:solidFill>
                          <a:latin typeface="Kanit"/>
                        </a:rPr>
                        <a:t>+23.9%</a:t>
                      </a:r>
                    </a:p>
                  </a:txBody>
                  <a:tcPr marL="54864" marR="54864" marT="18288" marB="18288" anchor="ctr">
                    <a:solidFill>
                      <a:srgbClr val="F7F9FC"/>
                    </a:solidFill>
                  </a:tcPr>
                </a:tc>
                <a:tc>
                  <a:txBody>
                    <a:bodyPr wrap="square"/>
                    <a:lstStyle/>
                    <a:p>
                      <a:pPr algn="r"/>
                      <a:r>
                        <a:rPr sz="950" b="1">
                          <a:solidFill>
                            <a:srgbClr val="1E2F5C"/>
                          </a:solidFill>
                          <a:latin typeface="Kanit"/>
                        </a:rPr>
                        <a:t>0</a:t>
                      </a:r>
                    </a:p>
                  </a:txBody>
                  <a:tcPr marL="54864" marR="54864" marT="18288" marB="18288" anchor="ctr">
                    <a:solidFill>
                      <a:srgbClr val="F7F9FC"/>
                    </a:solidFill>
                  </a:tcPr>
                </a:tc>
                <a:tc>
                  <a:txBody>
                    <a:bodyPr wrap="square"/>
                    <a:lstStyle/>
                    <a:p>
                      <a:pPr algn="l"/>
                      <a:r>
                        <a:rPr sz="950" b="0">
                          <a:solidFill>
                            <a:srgbClr val="1E2F5C"/>
                          </a:solidFill>
                          <a:latin typeface="Kanit"/>
                        </a:rPr>
                        <a:t>สระแก้ว</a:t>
                      </a:r>
                    </a:p>
                  </a:txBody>
                  <a:tcPr marL="54864" marR="54864" marT="18288" marB="18288" anchor="ctr">
                    <a:solidFill>
                      <a:srgbClr val="F7F9FC"/>
                    </a:solidFill>
                  </a:tcPr>
                </a:tc>
                <a:tc>
                  <a:txBody>
                    <a:bodyPr wrap="square"/>
                    <a:lstStyle/>
                    <a:p>
                      <a:pPr algn="r"/>
                      <a:r>
                        <a:rPr sz="950" b="1">
                          <a:solidFill>
                            <a:srgbClr val="15795F"/>
                          </a:solidFill>
                          <a:latin typeface="Kanit"/>
                        </a:rPr>
                        <a:t>+9.2%</a:t>
                      </a:r>
                    </a:p>
                  </a:txBody>
                  <a:tcPr marL="54864" marR="54864" marT="18288" marB="18288" anchor="ctr">
                    <a:solidFill>
                      <a:srgbClr val="F7F9FC"/>
                    </a:solidFill>
                  </a:tcPr>
                </a:tc>
              </a:tr>
              <a:tr h="248716">
                <a:tc>
                  <a:txBody>
                    <a:bodyPr wrap="square"/>
                    <a:lstStyle/>
                    <a:p>
                      <a:pPr algn="l"/>
                      <a:r>
                        <a:rPr sz="950" b="1">
                          <a:solidFill>
                            <a:srgbClr val="1E2F5C"/>
                          </a:solidFill>
                          <a:latin typeface="Kanit"/>
                        </a:rPr>
                        <a:t>South</a:t>
                      </a:r>
                    </a:p>
                  </a:txBody>
                  <a:tcPr marL="54864" marR="54864" marT="18288" marB="18288" anchor="ctr">
                    <a:solidFill>
                      <a:srgbClr val="FFFFFF"/>
                    </a:solidFill>
                  </a:tcPr>
                </a:tc>
                <a:tc>
                  <a:txBody>
                    <a:bodyPr wrap="square"/>
                    <a:lstStyle/>
                    <a:p>
                      <a:pPr algn="r"/>
                      <a:r>
                        <a:rPr sz="950" b="0">
                          <a:solidFill>
                            <a:srgbClr val="1E2F5C"/>
                          </a:solidFill>
                          <a:latin typeface="Kanit"/>
                        </a:rPr>
                        <a:t>14</a:t>
                      </a:r>
                    </a:p>
                  </a:txBody>
                  <a:tcPr marL="54864" marR="54864" marT="18288" marB="18288" anchor="ctr">
                    <a:solidFill>
                      <a:srgbClr val="FFFFFF"/>
                    </a:solidFill>
                  </a:tcPr>
                </a:tc>
                <a:tc>
                  <a:txBody>
                    <a:bodyPr wrap="square"/>
                    <a:lstStyle/>
                    <a:p>
                      <a:pPr algn="r"/>
                      <a:r>
                        <a:rPr sz="950" b="1">
                          <a:solidFill>
                            <a:srgbClr val="15795F"/>
                          </a:solidFill>
                          <a:latin typeface="Kanit"/>
                        </a:rPr>
                        <a:t>+34.9%</a:t>
                      </a:r>
                    </a:p>
                  </a:txBody>
                  <a:tcPr marL="54864" marR="54864" marT="18288" marB="18288" anchor="ctr">
                    <a:solidFill>
                      <a:srgbClr val="FFFFFF"/>
                    </a:solidFill>
                  </a:tcPr>
                </a:tc>
                <a:tc>
                  <a:txBody>
                    <a:bodyPr wrap="square"/>
                    <a:lstStyle/>
                    <a:p>
                      <a:pPr algn="r"/>
                      <a:r>
                        <a:rPr sz="950" b="1">
                          <a:solidFill>
                            <a:srgbClr val="1E2F5C"/>
                          </a:solidFill>
                          <a:latin typeface="Kanit"/>
                        </a:rPr>
                        <a:t>0</a:t>
                      </a:r>
                    </a:p>
                  </a:txBody>
                  <a:tcPr marL="54864" marR="54864" marT="18288" marB="18288" anchor="ctr">
                    <a:solidFill>
                      <a:srgbClr val="FFFFFF"/>
                    </a:solidFill>
                  </a:tcPr>
                </a:tc>
                <a:tc>
                  <a:txBody>
                    <a:bodyPr wrap="square"/>
                    <a:lstStyle/>
                    <a:p>
                      <a:pPr algn="l"/>
                      <a:r>
                        <a:rPr sz="950" b="0">
                          <a:solidFill>
                            <a:srgbClr val="1E2F5C"/>
                          </a:solidFill>
                          <a:latin typeface="Kanit"/>
                        </a:rPr>
                        <a:t>ชุมพร</a:t>
                      </a:r>
                    </a:p>
                  </a:txBody>
                  <a:tcPr marL="54864" marR="54864" marT="18288" marB="18288" anchor="ctr">
                    <a:solidFill>
                      <a:srgbClr val="FFFFFF"/>
                    </a:solidFill>
                  </a:tcPr>
                </a:tc>
                <a:tc>
                  <a:txBody>
                    <a:bodyPr wrap="square"/>
                    <a:lstStyle/>
                    <a:p>
                      <a:pPr algn="r"/>
                      <a:r>
                        <a:rPr sz="950" b="1">
                          <a:solidFill>
                            <a:srgbClr val="15795F"/>
                          </a:solidFill>
                          <a:latin typeface="Kanit"/>
                        </a:rPr>
                        <a:t>+31.3%</a:t>
                      </a:r>
                    </a:p>
                  </a:txBody>
                  <a:tcPr marL="54864" marR="54864" marT="18288" marB="18288" anchor="ctr">
                    <a:solidFill>
                      <a:srgbClr val="FFFFFF"/>
                    </a:solidFill>
                  </a:tcPr>
                </a:tc>
              </a:tr>
            </a:tbl>
          </a:graphicData>
        </a:graphic>
      </p:graphicFrame>
      <p:sp>
        <p:nvSpPr>
          <p:cNvPr id="26" name="Rectangle 25"/>
          <p:cNvSpPr/>
          <p:nvPr/>
        </p:nvSpPr>
        <p:spPr>
          <a:xfrm>
            <a:off x="6172200" y="2331720"/>
            <a:ext cx="5605272" cy="236905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172200" y="2331720"/>
            <a:ext cx="50292" cy="236905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6391656" y="2478024"/>
            <a:ext cx="527608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The price round was good for farming almost everywhere</a:t>
            </a:r>
          </a:p>
        </p:txBody>
      </p:sp>
      <p:sp>
        <p:nvSpPr>
          <p:cNvPr id="29" name="TextBox 28"/>
          <p:cNvSpPr txBox="1"/>
          <p:nvPr/>
        </p:nvSpPr>
        <p:spPr>
          <a:xfrm>
            <a:off x="6391656" y="2682494"/>
            <a:ext cx="5276088" cy="18719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Rubber +38%, cassava +57%, palm +32% and rice +12% at the farm gate lifted crop income in every region — the South by 34.9%, the East by 23.9%. On a mix basis this is the best crop year in several.
The exception is narrow and worth naming: four provinces on the western gulf — สมุทรสงคราม, สมุทรสาคร, ราชบุรี and ประจวบคีรีขันธ์ — all coconut, all negative, the worst at −66.4%. A single crop collapsing 70.9% is enough to take a whole province backwards while the national picture improves.
And a gain on a mix basis is not cash in hand: the next slide nets these same prices against cost of production.</a:t>
            </a:r>
          </a:p>
        </p:txBody>
      </p:sp>
      <p:graphicFrame>
        <p:nvGraphicFramePr>
          <p:cNvPr id="30" name="Table 29"/>
          <p:cNvGraphicFramePr>
            <a:graphicFrameLocks noGrp="1"/>
          </p:cNvGraphicFramePr>
          <p:nvPr/>
        </p:nvGraphicFramePr>
        <p:xfrm>
          <a:off x="411480" y="4069080"/>
          <a:ext cx="11365992" cy="1799538"/>
        </p:xfrm>
        <a:graphic>
          <a:graphicData uri="http://schemas.openxmlformats.org/drawingml/2006/table">
            <a:tbl>
              <a:tblPr>
                <a:tableStyleId>{5C22544A-7EE6-4342-B048-85BDC9FD1C3A}</a:tableStyleId>
              </a:tblPr>
              <a:tblGrid>
                <a:gridCol w="1667266"/>
                <a:gridCol w="1000360"/>
                <a:gridCol w="1047996"/>
                <a:gridCol w="2619990"/>
                <a:gridCol w="1619630"/>
                <a:gridCol w="857451"/>
                <a:gridCol w="1000360"/>
                <a:gridCol w="905087"/>
                <a:gridCol w="647852"/>
              </a:tblGrid>
              <a:tr h="329184">
                <a:tc>
                  <a:txBody>
                    <a:bodyPr wrap="square"/>
                    <a:lstStyle/>
                    <a:p>
                      <a:pPr algn="l"/>
                      <a:r>
                        <a:rPr sz="1050" b="1">
                          <a:solidFill>
                            <a:srgbClr val="FFFFFF"/>
                          </a:solidFill>
                          <a:latin typeface="Kanit"/>
                        </a:rPr>
                        <a:t>Largest planted areas</a:t>
                      </a:r>
                    </a:p>
                  </a:txBody>
                  <a:tcPr marL="54864" marR="54864" marT="18288" marB="18288" anchor="ctr">
                    <a:solidFill>
                      <a:srgbClr val="1B2A6B"/>
                    </a:solidFill>
                  </a:tcPr>
                </a:tc>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planted rai</a:t>
                      </a:r>
                    </a:p>
                  </a:txBody>
                  <a:tcPr marL="54864" marR="54864" marT="18288" marB="18288" anchor="ctr">
                    <a:solidFill>
                      <a:srgbClr val="1B2A6B"/>
                    </a:solidFill>
                  </a:tcPr>
                </a:tc>
                <a:tc>
                  <a:txBody>
                    <a:bodyPr wrap="square"/>
                    <a:lstStyle/>
                    <a:p>
                      <a:pPr algn="l"/>
                      <a:r>
                        <a:rPr sz="1050" b="1">
                          <a:solidFill>
                            <a:srgbClr val="FFFFFF"/>
                          </a:solidFill>
                          <a:latin typeface="Kanit"/>
                        </a:rPr>
                        <a:t>lead crop, share, YoY</a:t>
                      </a:r>
                    </a:p>
                  </a:txBody>
                  <a:tcPr marL="54864" marR="54864" marT="18288" marB="18288" anchor="ctr">
                    <a:solidFill>
                      <a:srgbClr val="1B2A6B"/>
                    </a:solidFill>
                  </a:tcPr>
                </a:tc>
                <a:tc>
                  <a:txBody>
                    <a:bodyPr wrap="square"/>
                    <a:lstStyle/>
                    <a:p>
                      <a:pPr algn="l"/>
                      <a:r>
                        <a:rPr sz="1050" b="1">
                          <a:solidFill>
                            <a:srgbClr val="FFFFFF"/>
                          </a:solidFill>
                          <a:latin typeface="Kanit"/>
                        </a:rPr>
                        <a:t>the drag</a:t>
                      </a:r>
                    </a:p>
                  </a:txBody>
                  <a:tcPr marL="54864" marR="54864" marT="18288" marB="18288" anchor="ctr">
                    <a:solidFill>
                      <a:srgbClr val="1B2A6B"/>
                    </a:solidFill>
                  </a:tcPr>
                </a:tc>
                <a:tc>
                  <a:txBody>
                    <a:bodyPr wrap="square"/>
                    <a:lstStyle/>
                    <a:p>
                      <a:pPr algn="r"/>
                      <a:r>
                        <a:rPr sz="1050" b="1">
                          <a:solidFill>
                            <a:srgbClr val="FFFFFF"/>
                          </a:solidFill>
                          <a:latin typeface="Kanit"/>
                        </a:rPr>
                        <a:t>shock</a:t>
                      </a:r>
                    </a:p>
                  </a:txBody>
                  <a:tcPr marL="54864" marR="54864" marT="18288" marB="18288" anchor="ctr">
                    <a:solidFill>
                      <a:srgbClr val="1B2A6B"/>
                    </a:solidFill>
                  </a:tcPr>
                </a:tc>
                <a:tc>
                  <a:txBody>
                    <a:bodyPr wrap="square"/>
                    <a:lstStyle/>
                    <a:p>
                      <a:pPr algn="r"/>
                      <a:r>
                        <a:rPr sz="1050" b="1">
                          <a:solidFill>
                            <a:srgbClr val="FFFFFF"/>
                          </a:solidFill>
                          <a:latin typeface="Kanit"/>
                        </a:rPr>
                        <a:t>farm ฿/mo</a:t>
                      </a:r>
                    </a:p>
                  </a:txBody>
                  <a:tcPr marL="54864" marR="54864" marT="18288" marB="18288" anchor="ctr">
                    <a:solidFill>
                      <a:srgbClr val="1B2A6B"/>
                    </a:solidFill>
                  </a:tcPr>
                </a:tc>
                <a:tc>
                  <a:txBody>
                    <a:bodyPr wrap="square"/>
                    <a:lstStyle/>
                    <a:p>
                      <a:pPr algn="r"/>
                      <a:r>
                        <a:rPr sz="1050" b="1">
                          <a:solidFill>
                            <a:srgbClr val="FFFFFF"/>
                          </a:solidFill>
                          <a:latin typeface="Kanit"/>
                        </a:rPr>
                        <a:t>in baht</a:t>
                      </a:r>
                    </a:p>
                  </a:txBody>
                  <a:tcPr marL="54864" marR="54864" marT="18288" marB="18288" anchor="ctr">
                    <a:solidFill>
                      <a:srgbClr val="1B2A6B"/>
                    </a:solidFill>
                  </a:tcPr>
                </a:tc>
                <a:tc>
                  <a:txBody>
                    <a:bodyPr wrap="square"/>
                    <a:lstStyle/>
                    <a:p>
                      <a:pPr algn="r"/>
                      <a:r>
                        <a:rPr sz="1050" b="1">
                          <a:solidFill>
                            <a:srgbClr val="FFFFFF"/>
                          </a:solidFill>
                          <a:latin typeface="Kanit"/>
                        </a:rPr>
                        <a:t>rain</a:t>
                      </a:r>
                    </a:p>
                  </a:txBody>
                  <a:tcPr marL="54864" marR="54864" marT="18288" marB="18288" anchor="ctr">
                    <a:solidFill>
                      <a:srgbClr val="1B2A6B"/>
                    </a:solidFill>
                  </a:tcPr>
                </a:tc>
              </a:tr>
              <a:tr h="245059">
                <a:tc>
                  <a:txBody>
                    <a:bodyPr wrap="square"/>
                    <a:lstStyle/>
                    <a:p>
                      <a:pPr algn="l"/>
                      <a:r>
                        <a:rPr sz="900" b="1">
                          <a:solidFill>
                            <a:srgbClr val="1E2F5C"/>
                          </a:solidFill>
                          <a:latin typeface="Kanit"/>
                        </a:rPr>
                        <a:t>นครราชสีมา</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0">
                          <a:solidFill>
                            <a:srgbClr val="1E2F5C"/>
                          </a:solidFill>
                          <a:latin typeface="Kanit"/>
                        </a:rPr>
                        <a:t>5.25M</a:t>
                      </a:r>
                    </a:p>
                  </a:txBody>
                  <a:tcPr marL="54864" marR="54864" marT="18288" marB="18288" anchor="ctr">
                    <a:solidFill>
                      <a:srgbClr val="FFFFFF"/>
                    </a:solidFill>
                  </a:tcPr>
                </a:tc>
                <a:tc>
                  <a:txBody>
                    <a:bodyPr wrap="square"/>
                    <a:lstStyle/>
                    <a:p>
                      <a:pPr algn="l"/>
                      <a:r>
                        <a:rPr sz="900" b="0">
                          <a:solidFill>
                            <a:srgbClr val="15795F"/>
                          </a:solidFill>
                          <a:latin typeface="Kanit"/>
                        </a:rPr>
                        <a:t>Rice 67% (+12%)</a:t>
                      </a:r>
                    </a:p>
                  </a:txBody>
                  <a:tcPr marL="54864" marR="54864" marT="18288" marB="18288" anchor="ctr">
                    <a:solidFill>
                      <a:srgbClr val="FFFFFF"/>
                    </a:solidFill>
                  </a:tcPr>
                </a:tc>
                <a:tc>
                  <a:txBody>
                    <a:bodyPr wrap="square"/>
                    <a:lstStyle/>
                    <a:p>
                      <a:pPr algn="l"/>
                      <a:r>
                        <a:rPr sz="900" b="0">
                          <a:solidFill>
                            <a:srgbClr val="CC0000"/>
                          </a:solidFill>
                          <a:latin typeface="Kanit"/>
                        </a:rPr>
                        <a:t>Sugarcane (-18%)</a:t>
                      </a:r>
                    </a:p>
                  </a:txBody>
                  <a:tcPr marL="54864" marR="54864" marT="18288" marB="18288" anchor="ctr">
                    <a:solidFill>
                      <a:srgbClr val="FFFFFF"/>
                    </a:solidFill>
                  </a:tcPr>
                </a:tc>
                <a:tc>
                  <a:txBody>
                    <a:bodyPr wrap="square"/>
                    <a:lstStyle/>
                    <a:p>
                      <a:pPr algn="r"/>
                      <a:r>
                        <a:rPr sz="900" b="1">
                          <a:solidFill>
                            <a:srgbClr val="15795F"/>
                          </a:solidFill>
                          <a:latin typeface="Kanit"/>
                        </a:rPr>
                        <a:t>+14.6%</a:t>
                      </a:r>
                    </a:p>
                  </a:txBody>
                  <a:tcPr marL="54864" marR="54864" marT="18288" marB="18288" anchor="ctr">
                    <a:solidFill>
                      <a:srgbClr val="FFFFFF"/>
                    </a:solidFill>
                  </a:tcPr>
                </a:tc>
                <a:tc>
                  <a:txBody>
                    <a:bodyPr wrap="square"/>
                    <a:lstStyle/>
                    <a:p>
                      <a:pPr algn="r"/>
                      <a:r>
                        <a:rPr sz="900" b="0">
                          <a:solidFill>
                            <a:srgbClr val="1E2F5C"/>
                          </a:solidFill>
                          <a:latin typeface="Kanit"/>
                        </a:rPr>
                        <a:t>8,982</a:t>
                      </a:r>
                    </a:p>
                  </a:txBody>
                  <a:tcPr marL="54864" marR="54864" marT="18288" marB="18288" anchor="ctr">
                    <a:solidFill>
                      <a:srgbClr val="FFFFFF"/>
                    </a:solidFill>
                  </a:tcPr>
                </a:tc>
                <a:tc>
                  <a:txBody>
                    <a:bodyPr wrap="square"/>
                    <a:lstStyle/>
                    <a:p>
                      <a:pPr algn="r"/>
                      <a:r>
                        <a:rPr sz="900" b="1">
                          <a:solidFill>
                            <a:srgbClr val="15795F"/>
                          </a:solidFill>
                          <a:latin typeface="Kanit"/>
                        </a:rPr>
                        <a:t>+719</a:t>
                      </a:r>
                    </a:p>
                  </a:txBody>
                  <a:tcPr marL="54864" marR="54864" marT="18288" marB="18288" anchor="ctr">
                    <a:solidFill>
                      <a:srgbClr val="FFFFFF"/>
                    </a:solidFill>
                  </a:tcPr>
                </a:tc>
                <a:tc>
                  <a:txBody>
                    <a:bodyPr wrap="square"/>
                    <a:lstStyle/>
                    <a:p>
                      <a:pPr algn="r"/>
                      <a:r>
                        <a:rPr sz="900" b="1">
                          <a:solidFill>
                            <a:srgbClr val="1E2F5C"/>
                          </a:solidFill>
                          <a:latin typeface="Kanit"/>
                        </a:rPr>
                        <a:t>96%</a:t>
                      </a:r>
                    </a:p>
                  </a:txBody>
                  <a:tcPr marL="54864" marR="54864" marT="18288" marB="18288" anchor="ctr">
                    <a:solidFill>
                      <a:srgbClr val="FFFFFF"/>
                    </a:solidFill>
                  </a:tcPr>
                </a:tc>
              </a:tr>
              <a:tr h="245059">
                <a:tc>
                  <a:txBody>
                    <a:bodyPr wrap="square"/>
                    <a:lstStyle/>
                    <a:p>
                      <a:pPr algn="l"/>
                      <a:r>
                        <a:rPr sz="900" b="1">
                          <a:solidFill>
                            <a:srgbClr val="1E2F5C"/>
                          </a:solidFill>
                          <a:latin typeface="Kanit"/>
                        </a:rPr>
                        <a:t>อุบลราชธานี</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0">
                          <a:solidFill>
                            <a:srgbClr val="1E2F5C"/>
                          </a:solidFill>
                          <a:latin typeface="Kanit"/>
                        </a:rPr>
                        <a:t>5.21M</a:t>
                      </a:r>
                    </a:p>
                  </a:txBody>
                  <a:tcPr marL="54864" marR="54864" marT="18288" marB="18288" anchor="ctr">
                    <a:solidFill>
                      <a:srgbClr val="F7F9FC"/>
                    </a:solidFill>
                  </a:tcPr>
                </a:tc>
                <a:tc>
                  <a:txBody>
                    <a:bodyPr wrap="square"/>
                    <a:lstStyle/>
                    <a:p>
                      <a:pPr algn="l"/>
                      <a:r>
                        <a:rPr sz="900" b="0">
                          <a:solidFill>
                            <a:srgbClr val="15795F"/>
                          </a:solidFill>
                          <a:latin typeface="Kanit"/>
                        </a:rPr>
                        <a:t>Rice 79% (+12%)</a:t>
                      </a:r>
                    </a:p>
                  </a:txBody>
                  <a:tcPr marL="54864" marR="54864" marT="18288" marB="18288" anchor="ctr">
                    <a:solidFill>
                      <a:srgbClr val="F7F9FC"/>
                    </a:solidFill>
                  </a:tcPr>
                </a:tc>
                <a:tc>
                  <a:txBody>
                    <a:bodyPr wrap="square"/>
                    <a:lstStyle/>
                    <a:p>
                      <a:pPr algn="l"/>
                      <a:r>
                        <a:rPr sz="900" b="0">
                          <a:solidFill>
                            <a:srgbClr val="CC0000"/>
                          </a:solidFill>
                          <a:latin typeface="Kanit"/>
                        </a:rPr>
                        <a:t>Coconut (-71%)</a:t>
                      </a:r>
                    </a:p>
                  </a:txBody>
                  <a:tcPr marL="54864" marR="54864" marT="18288" marB="18288" anchor="ctr">
                    <a:solidFill>
                      <a:srgbClr val="F7F9FC"/>
                    </a:solidFill>
                  </a:tcPr>
                </a:tc>
                <a:tc>
                  <a:txBody>
                    <a:bodyPr wrap="square"/>
                    <a:lstStyle/>
                    <a:p>
                      <a:pPr algn="r"/>
                      <a:r>
                        <a:rPr sz="900" b="1">
                          <a:solidFill>
                            <a:srgbClr val="15795F"/>
                          </a:solidFill>
                          <a:latin typeface="Kanit"/>
                        </a:rPr>
                        <a:t>+18.9%</a:t>
                      </a:r>
                    </a:p>
                  </a:txBody>
                  <a:tcPr marL="54864" marR="54864" marT="18288" marB="18288" anchor="ctr">
                    <a:solidFill>
                      <a:srgbClr val="F7F9FC"/>
                    </a:solidFill>
                  </a:tcPr>
                </a:tc>
                <a:tc>
                  <a:txBody>
                    <a:bodyPr wrap="square"/>
                    <a:lstStyle/>
                    <a:p>
                      <a:pPr algn="r"/>
                      <a:r>
                        <a:rPr sz="900" b="0">
                          <a:solidFill>
                            <a:srgbClr val="1E2F5C"/>
                          </a:solidFill>
                          <a:latin typeface="Kanit"/>
                        </a:rPr>
                        <a:t>7,763</a:t>
                      </a:r>
                    </a:p>
                  </a:txBody>
                  <a:tcPr marL="54864" marR="54864" marT="18288" marB="18288" anchor="ctr">
                    <a:solidFill>
                      <a:srgbClr val="F7F9FC"/>
                    </a:solidFill>
                  </a:tcPr>
                </a:tc>
                <a:tc>
                  <a:txBody>
                    <a:bodyPr wrap="square"/>
                    <a:lstStyle/>
                    <a:p>
                      <a:pPr algn="r"/>
                      <a:r>
                        <a:rPr sz="900" b="1">
                          <a:solidFill>
                            <a:srgbClr val="15795F"/>
                          </a:solidFill>
                          <a:latin typeface="Kanit"/>
                        </a:rPr>
                        <a:t>+809</a:t>
                      </a:r>
                    </a:p>
                  </a:txBody>
                  <a:tcPr marL="54864" marR="54864" marT="18288" marB="18288" anchor="ctr">
                    <a:solidFill>
                      <a:srgbClr val="F7F9FC"/>
                    </a:solidFill>
                  </a:tcPr>
                </a:tc>
                <a:tc>
                  <a:txBody>
                    <a:bodyPr wrap="square"/>
                    <a:lstStyle/>
                    <a:p>
                      <a:pPr algn="r"/>
                      <a:r>
                        <a:rPr sz="900" b="1">
                          <a:solidFill>
                            <a:srgbClr val="CC0000"/>
                          </a:solidFill>
                          <a:latin typeface="Kanit"/>
                        </a:rPr>
                        <a:t>79%</a:t>
                      </a:r>
                    </a:p>
                  </a:txBody>
                  <a:tcPr marL="54864" marR="54864" marT="18288" marB="18288" anchor="ctr">
                    <a:solidFill>
                      <a:srgbClr val="F7F9FC"/>
                    </a:solidFill>
                  </a:tcPr>
                </a:tc>
              </a:tr>
              <a:tr h="245059">
                <a:tc>
                  <a:txBody>
                    <a:bodyPr wrap="square"/>
                    <a:lstStyle/>
                    <a:p>
                      <a:pPr algn="l"/>
                      <a:r>
                        <a:rPr sz="900" b="1">
                          <a:solidFill>
                            <a:srgbClr val="1E2F5C"/>
                          </a:solidFill>
                          <a:latin typeface="Kanit"/>
                        </a:rPr>
                        <a:t>นครสวรรค์</a:t>
                      </a:r>
                    </a:p>
                  </a:txBody>
                  <a:tcPr marL="54864" marR="54864" marT="18288" marB="18288" anchor="ctr">
                    <a:solidFill>
                      <a:srgbClr val="FFFFFF"/>
                    </a:solidFill>
                  </a:tcPr>
                </a:tc>
                <a:tc>
                  <a:txBody>
                    <a:bodyPr wrap="square"/>
                    <a:lstStyle/>
                    <a:p>
                      <a:pPr algn="l"/>
                      <a:r>
                        <a:rPr sz="900" b="0">
                          <a:solidFill>
                            <a:srgbClr val="606060"/>
                          </a:solidFill>
                          <a:latin typeface="Kanit"/>
                        </a:rPr>
                        <a:t>North</a:t>
                      </a:r>
                    </a:p>
                  </a:txBody>
                  <a:tcPr marL="54864" marR="54864" marT="18288" marB="18288" anchor="ctr">
                    <a:solidFill>
                      <a:srgbClr val="FFFFFF"/>
                    </a:solidFill>
                  </a:tcPr>
                </a:tc>
                <a:tc>
                  <a:txBody>
                    <a:bodyPr wrap="square"/>
                    <a:lstStyle/>
                    <a:p>
                      <a:pPr algn="r"/>
                      <a:r>
                        <a:rPr sz="900" b="0">
                          <a:solidFill>
                            <a:srgbClr val="1E2F5C"/>
                          </a:solidFill>
                          <a:latin typeface="Kanit"/>
                        </a:rPr>
                        <a:t>3.97M</a:t>
                      </a:r>
                    </a:p>
                  </a:txBody>
                  <a:tcPr marL="54864" marR="54864" marT="18288" marB="18288" anchor="ctr">
                    <a:solidFill>
                      <a:srgbClr val="FFFFFF"/>
                    </a:solidFill>
                  </a:tcPr>
                </a:tc>
                <a:tc>
                  <a:txBody>
                    <a:bodyPr wrap="square"/>
                    <a:lstStyle/>
                    <a:p>
                      <a:pPr algn="l"/>
                      <a:r>
                        <a:rPr sz="900" b="0">
                          <a:solidFill>
                            <a:srgbClr val="15795F"/>
                          </a:solidFill>
                          <a:latin typeface="Kanit"/>
                        </a:rPr>
                        <a:t>Rice 65% (+12%)</a:t>
                      </a:r>
                    </a:p>
                  </a:txBody>
                  <a:tcPr marL="54864" marR="54864" marT="18288" marB="18288" anchor="ctr">
                    <a:solidFill>
                      <a:srgbClr val="FFFFFF"/>
                    </a:solidFill>
                  </a:tcPr>
                </a:tc>
                <a:tc>
                  <a:txBody>
                    <a:bodyPr wrap="square"/>
                    <a:lstStyle/>
                    <a:p>
                      <a:pPr algn="l"/>
                      <a:r>
                        <a:rPr sz="900" b="0">
                          <a:solidFill>
                            <a:srgbClr val="CC0000"/>
                          </a:solidFill>
                          <a:latin typeface="Kanit"/>
                        </a:rPr>
                        <a:t>Sugarcane (-18%)</a:t>
                      </a:r>
                    </a:p>
                  </a:txBody>
                  <a:tcPr marL="54864" marR="54864" marT="18288" marB="18288" anchor="ctr">
                    <a:solidFill>
                      <a:srgbClr val="FFFFFF"/>
                    </a:solidFill>
                  </a:tcPr>
                </a:tc>
                <a:tc>
                  <a:txBody>
                    <a:bodyPr wrap="square"/>
                    <a:lstStyle/>
                    <a:p>
                      <a:pPr algn="r"/>
                      <a:r>
                        <a:rPr sz="900" b="1">
                          <a:solidFill>
                            <a:srgbClr val="15795F"/>
                          </a:solidFill>
                          <a:latin typeface="Kanit"/>
                        </a:rPr>
                        <a:t>+9.2%</a:t>
                      </a:r>
                    </a:p>
                  </a:txBody>
                  <a:tcPr marL="54864" marR="54864" marT="18288" marB="18288" anchor="ctr">
                    <a:solidFill>
                      <a:srgbClr val="FFFFFF"/>
                    </a:solidFill>
                  </a:tcPr>
                </a:tc>
                <a:tc>
                  <a:txBody>
                    <a:bodyPr wrap="square"/>
                    <a:lstStyle/>
                    <a:p>
                      <a:pPr algn="r"/>
                      <a:r>
                        <a:rPr sz="900" b="0">
                          <a:solidFill>
                            <a:srgbClr val="1E2F5C"/>
                          </a:solidFill>
                          <a:latin typeface="Kanit"/>
                        </a:rPr>
                        <a:t>10,777</a:t>
                      </a:r>
                    </a:p>
                  </a:txBody>
                  <a:tcPr marL="54864" marR="54864" marT="18288" marB="18288" anchor="ctr">
                    <a:solidFill>
                      <a:srgbClr val="FFFFFF"/>
                    </a:solidFill>
                  </a:tcPr>
                </a:tc>
                <a:tc>
                  <a:txBody>
                    <a:bodyPr wrap="square"/>
                    <a:lstStyle/>
                    <a:p>
                      <a:pPr algn="r"/>
                      <a:r>
                        <a:rPr sz="900" b="1">
                          <a:solidFill>
                            <a:srgbClr val="15795F"/>
                          </a:solidFill>
                          <a:latin typeface="Kanit"/>
                        </a:rPr>
                        <a:t>+546</a:t>
                      </a:r>
                    </a:p>
                  </a:txBody>
                  <a:tcPr marL="54864" marR="54864" marT="18288" marB="18288" anchor="ctr">
                    <a:solidFill>
                      <a:srgbClr val="FFFFFF"/>
                    </a:solidFill>
                  </a:tcPr>
                </a:tc>
                <a:tc>
                  <a:txBody>
                    <a:bodyPr wrap="square"/>
                    <a:lstStyle/>
                    <a:p>
                      <a:pPr algn="r"/>
                      <a:r>
                        <a:rPr sz="900" b="1">
                          <a:solidFill>
                            <a:srgbClr val="CC0000"/>
                          </a:solidFill>
                          <a:latin typeface="Kanit"/>
                        </a:rPr>
                        <a:t>81%</a:t>
                      </a:r>
                    </a:p>
                  </a:txBody>
                  <a:tcPr marL="54864" marR="54864" marT="18288" marB="18288" anchor="ctr">
                    <a:solidFill>
                      <a:srgbClr val="FFFFFF"/>
                    </a:solidFill>
                  </a:tcPr>
                </a:tc>
              </a:tr>
              <a:tr h="245059">
                <a:tc>
                  <a:txBody>
                    <a:bodyPr wrap="square"/>
                    <a:lstStyle/>
                    <a:p>
                      <a:pPr algn="l"/>
                      <a:r>
                        <a:rPr sz="900" b="1">
                          <a:solidFill>
                            <a:srgbClr val="1E2F5C"/>
                          </a:solidFill>
                          <a:latin typeface="Kanit"/>
                        </a:rPr>
                        <a:t>สุราษฎร์ธานี</a:t>
                      </a:r>
                    </a:p>
                  </a:txBody>
                  <a:tcPr marL="54864" marR="54864" marT="18288" marB="18288" anchor="ctr">
                    <a:solidFill>
                      <a:srgbClr val="F7F9FC"/>
                    </a:solidFill>
                  </a:tcPr>
                </a:tc>
                <a:tc>
                  <a:txBody>
                    <a:bodyPr wrap="square"/>
                    <a:lstStyle/>
                    <a:p>
                      <a:pPr algn="l"/>
                      <a:r>
                        <a:rPr sz="900" b="0">
                          <a:solidFill>
                            <a:srgbClr val="606060"/>
                          </a:solidFill>
                          <a:latin typeface="Kanit"/>
                        </a:rPr>
                        <a:t>South</a:t>
                      </a:r>
                    </a:p>
                  </a:txBody>
                  <a:tcPr marL="54864" marR="54864" marT="18288" marB="18288" anchor="ctr">
                    <a:solidFill>
                      <a:srgbClr val="F7F9FC"/>
                    </a:solidFill>
                  </a:tcPr>
                </a:tc>
                <a:tc>
                  <a:txBody>
                    <a:bodyPr wrap="square"/>
                    <a:lstStyle/>
                    <a:p>
                      <a:pPr algn="r"/>
                      <a:r>
                        <a:rPr sz="900" b="0">
                          <a:solidFill>
                            <a:srgbClr val="1E2F5C"/>
                          </a:solidFill>
                          <a:latin typeface="Kanit"/>
                        </a:rPr>
                        <a:t>3.80M</a:t>
                      </a:r>
                    </a:p>
                  </a:txBody>
                  <a:tcPr marL="54864" marR="54864" marT="18288" marB="18288" anchor="ctr">
                    <a:solidFill>
                      <a:srgbClr val="F7F9FC"/>
                    </a:solidFill>
                  </a:tcPr>
                </a:tc>
                <a:tc>
                  <a:txBody>
                    <a:bodyPr wrap="square"/>
                    <a:lstStyle/>
                    <a:p>
                      <a:pPr algn="l"/>
                      <a:r>
                        <a:rPr sz="900" b="0">
                          <a:solidFill>
                            <a:srgbClr val="15795F"/>
                          </a:solidFill>
                          <a:latin typeface="Kanit"/>
                        </a:rPr>
                        <a:t>Rubber 60% (+38%)</a:t>
                      </a:r>
                    </a:p>
                  </a:txBody>
                  <a:tcPr marL="54864" marR="54864" marT="18288" marB="18288" anchor="ctr">
                    <a:solidFill>
                      <a:srgbClr val="F7F9FC"/>
                    </a:solidFill>
                  </a:tcPr>
                </a:tc>
                <a:tc>
                  <a:txBody>
                    <a:bodyPr wrap="square"/>
                    <a:lstStyle/>
                    <a:p>
                      <a:pPr algn="l"/>
                      <a:r>
                        <a:rPr sz="900" b="0">
                          <a:solidFill>
                            <a:srgbClr val="CC0000"/>
                          </a:solidFill>
                          <a:latin typeface="Kanit"/>
                        </a:rPr>
                        <a:t>Coconut (-71%)</a:t>
                      </a:r>
                    </a:p>
                  </a:txBody>
                  <a:tcPr marL="54864" marR="54864" marT="18288" marB="18288" anchor="ctr">
                    <a:solidFill>
                      <a:srgbClr val="F7F9FC"/>
                    </a:solidFill>
                  </a:tcPr>
                </a:tc>
                <a:tc>
                  <a:txBody>
                    <a:bodyPr wrap="square"/>
                    <a:lstStyle/>
                    <a:p>
                      <a:pPr algn="r"/>
                      <a:r>
                        <a:rPr sz="900" b="1">
                          <a:solidFill>
                            <a:srgbClr val="15795F"/>
                          </a:solidFill>
                          <a:latin typeface="Kanit"/>
                        </a:rPr>
                        <a:t>+34.6%</a:t>
                      </a:r>
                    </a:p>
                  </a:txBody>
                  <a:tcPr marL="54864" marR="54864" marT="18288" marB="18288" anchor="ctr">
                    <a:solidFill>
                      <a:srgbClr val="F7F9FC"/>
                    </a:solidFill>
                  </a:tcPr>
                </a:tc>
                <a:tc>
                  <a:txBody>
                    <a:bodyPr wrap="square"/>
                    <a:lstStyle/>
                    <a:p>
                      <a:pPr algn="r"/>
                      <a:r>
                        <a:rPr sz="900" b="0">
                          <a:solidFill>
                            <a:srgbClr val="1E2F5C"/>
                          </a:solidFill>
                          <a:latin typeface="Kanit"/>
                        </a:rPr>
                        <a:t>11,426</a:t>
                      </a:r>
                    </a:p>
                  </a:txBody>
                  <a:tcPr marL="54864" marR="54864" marT="18288" marB="18288" anchor="ctr">
                    <a:solidFill>
                      <a:srgbClr val="F7F9FC"/>
                    </a:solidFill>
                  </a:tcPr>
                </a:tc>
                <a:tc>
                  <a:txBody>
                    <a:bodyPr wrap="square"/>
                    <a:lstStyle/>
                    <a:p>
                      <a:pPr algn="r"/>
                      <a:r>
                        <a:rPr sz="900" b="1">
                          <a:solidFill>
                            <a:srgbClr val="15795F"/>
                          </a:solidFill>
                          <a:latin typeface="Kanit"/>
                        </a:rPr>
                        <a:t>+2,175</a:t>
                      </a:r>
                    </a:p>
                  </a:txBody>
                  <a:tcPr marL="54864" marR="54864" marT="18288" marB="18288" anchor="ctr">
                    <a:solidFill>
                      <a:srgbClr val="F7F9FC"/>
                    </a:solidFill>
                  </a:tcPr>
                </a:tc>
                <a:tc>
                  <a:txBody>
                    <a:bodyPr wrap="square"/>
                    <a:lstStyle/>
                    <a:p>
                      <a:pPr algn="r"/>
                      <a:r>
                        <a:rPr sz="900" b="1">
                          <a:solidFill>
                            <a:srgbClr val="1E2F5C"/>
                          </a:solidFill>
                          <a:latin typeface="Kanit"/>
                        </a:rPr>
                        <a:t>99%</a:t>
                      </a:r>
                    </a:p>
                  </a:txBody>
                  <a:tcPr marL="54864" marR="54864" marT="18288" marB="18288" anchor="ctr">
                    <a:solidFill>
                      <a:srgbClr val="F7F9FC"/>
                    </a:solidFill>
                  </a:tcPr>
                </a:tc>
              </a:tr>
              <a:tr h="245059">
                <a:tc>
                  <a:txBody>
                    <a:bodyPr wrap="square"/>
                    <a:lstStyle/>
                    <a:p>
                      <a:pPr algn="l"/>
                      <a:r>
                        <a:rPr sz="900" b="1">
                          <a:solidFill>
                            <a:srgbClr val="1E2F5C"/>
                          </a:solidFill>
                          <a:latin typeface="Kanit"/>
                        </a:rPr>
                        <a:t>บุรีรัมย์</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0">
                          <a:solidFill>
                            <a:srgbClr val="1E2F5C"/>
                          </a:solidFill>
                          <a:latin typeface="Kanit"/>
                        </a:rPr>
                        <a:t>3.65M</a:t>
                      </a:r>
                    </a:p>
                  </a:txBody>
                  <a:tcPr marL="54864" marR="54864" marT="18288" marB="18288" anchor="ctr">
                    <a:solidFill>
                      <a:srgbClr val="FFFFFF"/>
                    </a:solidFill>
                  </a:tcPr>
                </a:tc>
                <a:tc>
                  <a:txBody>
                    <a:bodyPr wrap="square"/>
                    <a:lstStyle/>
                    <a:p>
                      <a:pPr algn="l"/>
                      <a:r>
                        <a:rPr sz="900" b="0">
                          <a:solidFill>
                            <a:srgbClr val="15795F"/>
                          </a:solidFill>
                          <a:latin typeface="Kanit"/>
                        </a:rPr>
                        <a:t>Rice 82% (+12%)</a:t>
                      </a:r>
                    </a:p>
                  </a:txBody>
                  <a:tcPr marL="54864" marR="54864" marT="18288" marB="18288" anchor="ctr">
                    <a:solidFill>
                      <a:srgbClr val="FFFFFF"/>
                    </a:solidFill>
                  </a:tcPr>
                </a:tc>
                <a:tc>
                  <a:txBody>
                    <a:bodyPr wrap="square"/>
                    <a:lstStyle/>
                    <a:p>
                      <a:pPr algn="l"/>
                      <a:r>
                        <a:rPr sz="900" b="0">
                          <a:solidFill>
                            <a:srgbClr val="CC0000"/>
                          </a:solidFill>
                          <a:latin typeface="Kanit"/>
                        </a:rPr>
                        <a:t>Sugarcane (-18%)</a:t>
                      </a:r>
                    </a:p>
                  </a:txBody>
                  <a:tcPr marL="54864" marR="54864" marT="18288" marB="18288" anchor="ctr">
                    <a:solidFill>
                      <a:srgbClr val="FFFFFF"/>
                    </a:solidFill>
                  </a:tcPr>
                </a:tc>
                <a:tc>
                  <a:txBody>
                    <a:bodyPr wrap="square"/>
                    <a:lstStyle/>
                    <a:p>
                      <a:pPr algn="r"/>
                      <a:r>
                        <a:rPr sz="900" b="1">
                          <a:solidFill>
                            <a:srgbClr val="15795F"/>
                          </a:solidFill>
                          <a:latin typeface="Kanit"/>
                        </a:rPr>
                        <a:t>+14.9%</a:t>
                      </a:r>
                    </a:p>
                  </a:txBody>
                  <a:tcPr marL="54864" marR="54864" marT="18288" marB="18288" anchor="ctr">
                    <a:solidFill>
                      <a:srgbClr val="FFFFFF"/>
                    </a:solidFill>
                  </a:tcPr>
                </a:tc>
                <a:tc>
                  <a:txBody>
                    <a:bodyPr wrap="square"/>
                    <a:lstStyle/>
                    <a:p>
                      <a:pPr algn="r"/>
                      <a:r>
                        <a:rPr sz="900" b="0">
                          <a:solidFill>
                            <a:srgbClr val="1E2F5C"/>
                          </a:solidFill>
                          <a:latin typeface="Kanit"/>
                        </a:rPr>
                        <a:t>7,557</a:t>
                      </a:r>
                    </a:p>
                  </a:txBody>
                  <a:tcPr marL="54864" marR="54864" marT="18288" marB="18288" anchor="ctr">
                    <a:solidFill>
                      <a:srgbClr val="FFFFFF"/>
                    </a:solidFill>
                  </a:tcPr>
                </a:tc>
                <a:tc>
                  <a:txBody>
                    <a:bodyPr wrap="square"/>
                    <a:lstStyle/>
                    <a:p>
                      <a:pPr algn="r"/>
                      <a:r>
                        <a:rPr sz="900" b="1">
                          <a:solidFill>
                            <a:srgbClr val="15795F"/>
                          </a:solidFill>
                          <a:latin typeface="Kanit"/>
                        </a:rPr>
                        <a:t>+621</a:t>
                      </a:r>
                    </a:p>
                  </a:txBody>
                  <a:tcPr marL="54864" marR="54864" marT="18288" marB="18288" anchor="ctr">
                    <a:solidFill>
                      <a:srgbClr val="FFFFFF"/>
                    </a:solidFill>
                  </a:tcPr>
                </a:tc>
                <a:tc>
                  <a:txBody>
                    <a:bodyPr wrap="square"/>
                    <a:lstStyle/>
                    <a:p>
                      <a:pPr algn="r"/>
                      <a:r>
                        <a:rPr sz="900" b="1">
                          <a:solidFill>
                            <a:srgbClr val="CC0000"/>
                          </a:solidFill>
                          <a:latin typeface="Kanit"/>
                        </a:rPr>
                        <a:t>84%</a:t>
                      </a:r>
                    </a:p>
                  </a:txBody>
                  <a:tcPr marL="54864" marR="54864" marT="18288" marB="18288" anchor="ctr">
                    <a:solidFill>
                      <a:srgbClr val="FFFFFF"/>
                    </a:solidFill>
                  </a:tcPr>
                </a:tc>
              </a:tr>
              <a:tr h="245059">
                <a:tc>
                  <a:txBody>
                    <a:bodyPr wrap="square"/>
                    <a:lstStyle/>
                    <a:p>
                      <a:pPr algn="l"/>
                      <a:r>
                        <a:rPr sz="900" b="1">
                          <a:solidFill>
                            <a:srgbClr val="1E2F5C"/>
                          </a:solidFill>
                          <a:latin typeface="Kanit"/>
                        </a:rPr>
                        <a:t>สุรินทร์</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0">
                          <a:solidFill>
                            <a:srgbClr val="1E2F5C"/>
                          </a:solidFill>
                          <a:latin typeface="Kanit"/>
                        </a:rPr>
                        <a:t>3.57M</a:t>
                      </a:r>
                    </a:p>
                  </a:txBody>
                  <a:tcPr marL="54864" marR="54864" marT="18288" marB="18288" anchor="ctr">
                    <a:solidFill>
                      <a:srgbClr val="F7F9FC"/>
                    </a:solidFill>
                  </a:tcPr>
                </a:tc>
                <a:tc>
                  <a:txBody>
                    <a:bodyPr wrap="square"/>
                    <a:lstStyle/>
                    <a:p>
                      <a:pPr algn="l"/>
                      <a:r>
                        <a:rPr sz="900" b="0">
                          <a:solidFill>
                            <a:srgbClr val="15795F"/>
                          </a:solidFill>
                          <a:latin typeface="Kanit"/>
                        </a:rPr>
                        <a:t>Rice 88% (+12%)</a:t>
                      </a:r>
                    </a:p>
                  </a:txBody>
                  <a:tcPr marL="54864" marR="54864" marT="18288" marB="18288" anchor="ctr">
                    <a:solidFill>
                      <a:srgbClr val="F7F9FC"/>
                    </a:solidFill>
                  </a:tcPr>
                </a:tc>
                <a:tc>
                  <a:txBody>
                    <a:bodyPr wrap="square"/>
                    <a:lstStyle/>
                    <a:p>
                      <a:pPr algn="l"/>
                      <a:r>
                        <a:rPr sz="900" b="0">
                          <a:solidFill>
                            <a:srgbClr val="CC0000"/>
                          </a:solidFill>
                          <a:latin typeface="Kanit"/>
                        </a:rPr>
                        <a:t>Sugarcane (-18%)</a:t>
                      </a:r>
                    </a:p>
                  </a:txBody>
                  <a:tcPr marL="54864" marR="54864" marT="18288" marB="18288" anchor="ctr">
                    <a:solidFill>
                      <a:srgbClr val="F7F9FC"/>
                    </a:solidFill>
                  </a:tcPr>
                </a:tc>
                <a:tc>
                  <a:txBody>
                    <a:bodyPr wrap="square"/>
                    <a:lstStyle/>
                    <a:p>
                      <a:pPr algn="r"/>
                      <a:r>
                        <a:rPr sz="900" b="1">
                          <a:solidFill>
                            <a:srgbClr val="15795F"/>
                          </a:solidFill>
                          <a:latin typeface="Kanit"/>
                        </a:rPr>
                        <a:t>+13.8%</a:t>
                      </a:r>
                    </a:p>
                  </a:txBody>
                  <a:tcPr marL="54864" marR="54864" marT="18288" marB="18288" anchor="ctr">
                    <a:solidFill>
                      <a:srgbClr val="F7F9FC"/>
                    </a:solidFill>
                  </a:tcPr>
                </a:tc>
                <a:tc>
                  <a:txBody>
                    <a:bodyPr wrap="square"/>
                    <a:lstStyle/>
                    <a:p>
                      <a:pPr algn="r"/>
                      <a:r>
                        <a:rPr sz="900" b="0">
                          <a:solidFill>
                            <a:srgbClr val="1E2F5C"/>
                          </a:solidFill>
                          <a:latin typeface="Kanit"/>
                        </a:rPr>
                        <a:t>6,510</a:t>
                      </a:r>
                    </a:p>
                  </a:txBody>
                  <a:tcPr marL="54864" marR="54864" marT="18288" marB="18288" anchor="ctr">
                    <a:solidFill>
                      <a:srgbClr val="F7F9FC"/>
                    </a:solidFill>
                  </a:tcPr>
                </a:tc>
                <a:tc>
                  <a:txBody>
                    <a:bodyPr wrap="square"/>
                    <a:lstStyle/>
                    <a:p>
                      <a:pPr algn="r"/>
                      <a:r>
                        <a:rPr sz="900" b="1">
                          <a:solidFill>
                            <a:srgbClr val="15795F"/>
                          </a:solidFill>
                          <a:latin typeface="Kanit"/>
                        </a:rPr>
                        <a:t>+495</a:t>
                      </a:r>
                    </a:p>
                  </a:txBody>
                  <a:tcPr marL="54864" marR="54864" marT="18288" marB="18288" anchor="ctr">
                    <a:solidFill>
                      <a:srgbClr val="F7F9FC"/>
                    </a:solidFill>
                  </a:tcPr>
                </a:tc>
                <a:tc>
                  <a:txBody>
                    <a:bodyPr wrap="square"/>
                    <a:lstStyle/>
                    <a:p>
                      <a:pPr algn="r"/>
                      <a:r>
                        <a:rPr sz="900" b="1">
                          <a:solidFill>
                            <a:srgbClr val="CC0000"/>
                          </a:solidFill>
                          <a:latin typeface="Kanit"/>
                        </a:rPr>
                        <a:t>76%</a:t>
                      </a:r>
                    </a:p>
                  </a:txBody>
                  <a:tcPr marL="54864" marR="54864" marT="18288" marB="18288" anchor="ctr">
                    <a:solidFill>
                      <a:srgbClr val="F7F9FC"/>
                    </a:solidFill>
                  </a:tcPr>
                </a:tc>
              </a:tr>
            </a:tbl>
          </a:graphicData>
        </a:graphic>
      </p:graphicFrame>
      <p:sp>
        <p:nvSpPr>
          <p:cNvPr id="31" name="Rounded Rectangle 30"/>
          <p:cNvSpPr/>
          <p:nvPr/>
        </p:nvSpPr>
        <p:spPr>
          <a:xfrm>
            <a:off x="411480" y="5996635"/>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411480" y="602589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33" name="TextBox 32"/>
          <p:cNvSpPr txBox="1"/>
          <p:nvPr/>
        </p:nvSpPr>
        <p:spPr>
          <a:xfrm>
            <a:off x="1056955" y="6010351"/>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Planted area and crop mix MEASURED (OAE, by province); farm-gate price moves MEASURED (NABC/OCSB); farm income level MEASURED (NSO/OAE, baht per month). The income shock is ESTIMATED — each province's crop mix weighted by the measured price move, expressed as a percentage of its measured farm income and as the baht that implies. Six of 77 provinces shown, ordered by planted area.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05 · MARGIN, NOT PRICE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Price is the headline. Cost decides whether they pay us.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graphicFrame>
        <p:nvGraphicFramePr>
          <p:cNvPr id="9" name="Table 8"/>
          <p:cNvGraphicFramePr>
            <a:graphicFrameLocks noGrp="1"/>
          </p:cNvGraphicFramePr>
          <p:nvPr/>
        </p:nvGraphicFramePr>
        <p:xfrm>
          <a:off x="411480" y="1152144"/>
          <a:ext cx="11365991" cy="2487168"/>
        </p:xfrm>
        <a:graphic>
          <a:graphicData uri="http://schemas.openxmlformats.org/drawingml/2006/table">
            <a:tbl>
              <a:tblPr>
                <a:tableStyleId>{5C22544A-7EE6-4342-B048-85BDC9FD1C3A}</a:tableStyleId>
              </a:tblPr>
              <a:tblGrid>
                <a:gridCol w="1845759"/>
                <a:gridCol w="1554324"/>
                <a:gridCol w="1651469"/>
                <a:gridCol w="1457178"/>
                <a:gridCol w="1457178"/>
                <a:gridCol w="2040050"/>
                <a:gridCol w="1360033"/>
              </a:tblGrid>
              <a:tr h="329184">
                <a:tc>
                  <a:txBody>
                    <a:bodyPr wrap="square"/>
                    <a:lstStyle/>
                    <a:p>
                      <a:pPr algn="l"/>
                      <a:r>
                        <a:rPr sz="1050" b="1">
                          <a:solidFill>
                            <a:srgbClr val="FFFFFF"/>
                          </a:solidFill>
                          <a:latin typeface="Kanit"/>
                        </a:rPr>
                        <a:t>Crop</a:t>
                      </a:r>
                    </a:p>
                  </a:txBody>
                  <a:tcPr marL="54864" marR="54864" marT="18288" marB="18288" anchor="ctr">
                    <a:solidFill>
                      <a:srgbClr val="1B2A6B"/>
                    </a:solidFill>
                  </a:tcPr>
                </a:tc>
                <a:tc>
                  <a:txBody>
                    <a:bodyPr wrap="square"/>
                    <a:lstStyle/>
                    <a:p>
                      <a:pPr algn="r"/>
                      <a:r>
                        <a:rPr sz="1050" b="1">
                          <a:solidFill>
                            <a:srgbClr val="FFFFFF"/>
                          </a:solidFill>
                          <a:latin typeface="Kanit"/>
                        </a:rPr>
                        <a:t>of planted area</a:t>
                      </a:r>
                    </a:p>
                  </a:txBody>
                  <a:tcPr marL="54864" marR="54864" marT="18288" marB="18288" anchor="ctr">
                    <a:solidFill>
                      <a:srgbClr val="1B2A6B"/>
                    </a:solidFill>
                  </a:tcPr>
                </a:tc>
                <a:tc>
                  <a:txBody>
                    <a:bodyPr wrap="square"/>
                    <a:lstStyle/>
                    <a:p>
                      <a:pPr algn="r"/>
                      <a:r>
                        <a:rPr sz="1050" b="1">
                          <a:solidFill>
                            <a:srgbClr val="FFFFFF"/>
                          </a:solidFill>
                          <a:latin typeface="Kanit"/>
                        </a:rPr>
                        <a:t>Farm-gate YoY</a:t>
                      </a:r>
                    </a:p>
                  </a:txBody>
                  <a:tcPr marL="54864" marR="54864" marT="18288" marB="18288" anchor="ctr">
                    <a:solidFill>
                      <a:srgbClr val="1B2A6B"/>
                    </a:solidFill>
                  </a:tcPr>
                </a:tc>
                <a:tc>
                  <a:txBody>
                    <a:bodyPr wrap="square"/>
                    <a:lstStyle/>
                    <a:p>
                      <a:pPr algn="r"/>
                      <a:r>
                        <a:rPr sz="1050" b="1">
                          <a:solidFill>
                            <a:srgbClr val="FFFFFF"/>
                          </a:solidFill>
                          <a:latin typeface="Kanit"/>
                        </a:rPr>
                        <a:t>Price ฿/kg</a:t>
                      </a:r>
                    </a:p>
                  </a:txBody>
                  <a:tcPr marL="54864" marR="54864" marT="18288" marB="18288" anchor="ctr">
                    <a:solidFill>
                      <a:srgbClr val="1B2A6B"/>
                    </a:solidFill>
                  </a:tcPr>
                </a:tc>
                <a:tc>
                  <a:txBody>
                    <a:bodyPr wrap="square"/>
                    <a:lstStyle/>
                    <a:p>
                      <a:pPr algn="r"/>
                      <a:r>
                        <a:rPr sz="1050" b="1">
                          <a:solidFill>
                            <a:srgbClr val="FFFFFF"/>
                          </a:solidFill>
                          <a:latin typeface="Kanit"/>
                        </a:rPr>
                        <a:t>Cost ฿/kg</a:t>
                      </a:r>
                    </a:p>
                  </a:txBody>
                  <a:tcPr marL="54864" marR="54864" marT="18288" marB="18288" anchor="ctr">
                    <a:solidFill>
                      <a:srgbClr val="1B2A6B"/>
                    </a:solidFill>
                  </a:tcPr>
                </a:tc>
                <a:tc>
                  <a:txBody>
                    <a:bodyPr wrap="square"/>
                    <a:lstStyle/>
                    <a:p>
                      <a:pPr algn="r"/>
                      <a:r>
                        <a:rPr sz="1050" b="1">
                          <a:solidFill>
                            <a:srgbClr val="FFFFFF"/>
                          </a:solidFill>
                          <a:latin typeface="Kanit"/>
                        </a:rPr>
                        <a:t>Margin ฿/rai</a:t>
                      </a:r>
                    </a:p>
                  </a:txBody>
                  <a:tcPr marL="54864" marR="54864" marT="18288" marB="18288" anchor="ctr">
                    <a:solidFill>
                      <a:srgbClr val="1B2A6B"/>
                    </a:solidFill>
                  </a:tcPr>
                </a:tc>
                <a:tc>
                  <a:txBody>
                    <a:bodyPr wrap="square"/>
                    <a:lstStyle/>
                    <a:p>
                      <a:pPr algn="r"/>
                      <a:r>
                        <a:rPr sz="1050" b="1">
                          <a:solidFill>
                            <a:srgbClr val="FFFFFF"/>
                          </a:solidFill>
                          <a:latin typeface="Kanit"/>
                        </a:rPr>
                        <a:t>Margin %</a:t>
                      </a:r>
                    </a:p>
                  </a:txBody>
                  <a:tcPr marL="54864" marR="54864" marT="18288" marB="18288" anchor="ctr">
                    <a:solidFill>
                      <a:srgbClr val="1B2A6B"/>
                    </a:solidFill>
                  </a:tcPr>
                </a:tc>
              </a:tr>
              <a:tr h="269748">
                <a:tc>
                  <a:txBody>
                    <a:bodyPr wrap="square"/>
                    <a:lstStyle/>
                    <a:p>
                      <a:pPr algn="l"/>
                      <a:r>
                        <a:rPr sz="1000" b="1">
                          <a:solidFill>
                            <a:srgbClr val="1E2F5C"/>
                          </a:solidFill>
                          <a:latin typeface="Kanit"/>
                        </a:rPr>
                        <a:t>Rice</a:t>
                      </a:r>
                    </a:p>
                  </a:txBody>
                  <a:tcPr marL="54864" marR="54864" marT="18288" marB="18288" anchor="ctr">
                    <a:solidFill>
                      <a:srgbClr val="FFFFFF"/>
                    </a:solidFill>
                  </a:tcPr>
                </a:tc>
                <a:tc>
                  <a:txBody>
                    <a:bodyPr wrap="square"/>
                    <a:lstStyle/>
                    <a:p>
                      <a:pPr algn="r"/>
                      <a:r>
                        <a:rPr sz="1000" b="0">
                          <a:solidFill>
                            <a:srgbClr val="1E2F5C"/>
                          </a:solidFill>
                          <a:latin typeface="Kanit"/>
                        </a:rPr>
                        <a:t>54.9%</a:t>
                      </a:r>
                    </a:p>
                  </a:txBody>
                  <a:tcPr marL="54864" marR="54864" marT="18288" marB="18288" anchor="ctr">
                    <a:solidFill>
                      <a:srgbClr val="FFFFFF"/>
                    </a:solidFill>
                  </a:tcPr>
                </a:tc>
                <a:tc>
                  <a:txBody>
                    <a:bodyPr wrap="square"/>
                    <a:lstStyle/>
                    <a:p>
                      <a:pPr algn="r"/>
                      <a:r>
                        <a:rPr sz="1000" b="1">
                          <a:solidFill>
                            <a:srgbClr val="15795F"/>
                          </a:solidFill>
                          <a:latin typeface="Kanit"/>
                        </a:rPr>
                        <a:t>+12.4%</a:t>
                      </a:r>
                    </a:p>
                  </a:txBody>
                  <a:tcPr marL="54864" marR="54864" marT="18288" marB="18288" anchor="ctr">
                    <a:solidFill>
                      <a:srgbClr val="FFFFFF"/>
                    </a:solidFill>
                  </a:tcPr>
                </a:tc>
                <a:tc>
                  <a:txBody>
                    <a:bodyPr wrap="square"/>
                    <a:lstStyle/>
                    <a:p>
                      <a:pPr algn="r"/>
                      <a:r>
                        <a:rPr sz="1000" b="0">
                          <a:solidFill>
                            <a:srgbClr val="1E2F5C"/>
                          </a:solidFill>
                          <a:latin typeface="Kanit"/>
                        </a:rPr>
                        <a:t>17.74</a:t>
                      </a:r>
                    </a:p>
                  </a:txBody>
                  <a:tcPr marL="54864" marR="54864" marT="18288" marB="18288" anchor="ctr">
                    <a:solidFill>
                      <a:srgbClr val="FFFFFF"/>
                    </a:solidFill>
                  </a:tcPr>
                </a:tc>
                <a:tc>
                  <a:txBody>
                    <a:bodyPr wrap="square"/>
                    <a:lstStyle/>
                    <a:p>
                      <a:pPr algn="r"/>
                      <a:r>
                        <a:rPr sz="1000" b="0">
                          <a:solidFill>
                            <a:srgbClr val="1E2F5C"/>
                          </a:solidFill>
                          <a:latin typeface="Kanit"/>
                        </a:rPr>
                        <a:t>8.68</a:t>
                      </a:r>
                    </a:p>
                  </a:txBody>
                  <a:tcPr marL="54864" marR="54864" marT="18288" marB="18288" anchor="ctr">
                    <a:solidFill>
                      <a:srgbClr val="FFFFFF"/>
                    </a:solidFill>
                  </a:tcPr>
                </a:tc>
                <a:tc>
                  <a:txBody>
                    <a:bodyPr wrap="square"/>
                    <a:lstStyle/>
                    <a:p>
                      <a:pPr algn="r"/>
                      <a:r>
                        <a:rPr sz="1000" b="1">
                          <a:solidFill>
                            <a:srgbClr val="1E2F5C"/>
                          </a:solidFill>
                          <a:latin typeface="Kanit"/>
                        </a:rPr>
                        <a:t>4,850</a:t>
                      </a:r>
                    </a:p>
                  </a:txBody>
                  <a:tcPr marL="54864" marR="54864" marT="18288" marB="18288" anchor="ctr">
                    <a:solidFill>
                      <a:srgbClr val="FFFFFF"/>
                    </a:solidFill>
                  </a:tcPr>
                </a:tc>
                <a:tc>
                  <a:txBody>
                    <a:bodyPr wrap="square"/>
                    <a:lstStyle/>
                    <a:p>
                      <a:pPr algn="r"/>
                      <a:r>
                        <a:rPr sz="1000" b="1">
                          <a:solidFill>
                            <a:srgbClr val="15795F"/>
                          </a:solidFill>
                          <a:latin typeface="Kanit"/>
                        </a:rPr>
                        <a:t>51.1%</a:t>
                      </a:r>
                    </a:p>
                  </a:txBody>
                  <a:tcPr marL="54864" marR="54864" marT="18288" marB="18288" anchor="ctr">
                    <a:solidFill>
                      <a:srgbClr val="FFFFFF"/>
                    </a:solidFill>
                  </a:tcPr>
                </a:tc>
              </a:tr>
              <a:tr h="269748">
                <a:tc>
                  <a:txBody>
                    <a:bodyPr wrap="square"/>
                    <a:lstStyle/>
                    <a:p>
                      <a:pPr algn="l"/>
                      <a:r>
                        <a:rPr sz="1000" b="1">
                          <a:solidFill>
                            <a:srgbClr val="1E2F5C"/>
                          </a:solidFill>
                          <a:latin typeface="Kanit"/>
                        </a:rPr>
                        <a:t>Rubber</a:t>
                      </a:r>
                    </a:p>
                  </a:txBody>
                  <a:tcPr marL="54864" marR="54864" marT="18288" marB="18288" anchor="ctr">
                    <a:solidFill>
                      <a:srgbClr val="F7F9FC"/>
                    </a:solidFill>
                  </a:tcPr>
                </a:tc>
                <a:tc>
                  <a:txBody>
                    <a:bodyPr wrap="square"/>
                    <a:lstStyle/>
                    <a:p>
                      <a:pPr algn="r"/>
                      <a:r>
                        <a:rPr sz="1000" b="0">
                          <a:solidFill>
                            <a:srgbClr val="1E2F5C"/>
                          </a:solidFill>
                          <a:latin typeface="Kanit"/>
                        </a:rPr>
                        <a:t>20.4%</a:t>
                      </a:r>
                    </a:p>
                  </a:txBody>
                  <a:tcPr marL="54864" marR="54864" marT="18288" marB="18288" anchor="ctr">
                    <a:solidFill>
                      <a:srgbClr val="F7F9FC"/>
                    </a:solidFill>
                  </a:tcPr>
                </a:tc>
                <a:tc>
                  <a:txBody>
                    <a:bodyPr wrap="square"/>
                    <a:lstStyle/>
                    <a:p>
                      <a:pPr algn="r"/>
                      <a:r>
                        <a:rPr sz="1000" b="1">
                          <a:solidFill>
                            <a:srgbClr val="15795F"/>
                          </a:solidFill>
                          <a:latin typeface="Kanit"/>
                        </a:rPr>
                        <a:t>+38.0%</a:t>
                      </a:r>
                    </a:p>
                  </a:txBody>
                  <a:tcPr marL="54864" marR="54864" marT="18288" marB="18288" anchor="ctr">
                    <a:solidFill>
                      <a:srgbClr val="F7F9FC"/>
                    </a:solidFill>
                  </a:tcPr>
                </a:tc>
                <a:tc>
                  <a:txBody>
                    <a:bodyPr wrap="square"/>
                    <a:lstStyle/>
                    <a:p>
                      <a:pPr algn="r"/>
                      <a:r>
                        <a:rPr sz="1000" b="0">
                          <a:solidFill>
                            <a:srgbClr val="1E2F5C"/>
                          </a:solidFill>
                          <a:latin typeface="Kanit"/>
                        </a:rPr>
                        <a:t>84.08</a:t>
                      </a:r>
                    </a:p>
                  </a:txBody>
                  <a:tcPr marL="54864" marR="54864" marT="18288" marB="18288" anchor="ctr">
                    <a:solidFill>
                      <a:srgbClr val="F7F9FC"/>
                    </a:solidFill>
                  </a:tcPr>
                </a:tc>
                <a:tc>
                  <a:txBody>
                    <a:bodyPr wrap="square"/>
                    <a:lstStyle/>
                    <a:p>
                      <a:pPr algn="r"/>
                      <a:r>
                        <a:rPr sz="1000" b="0">
                          <a:solidFill>
                            <a:srgbClr val="1E2F5C"/>
                          </a:solidFill>
                          <a:latin typeface="Kanit"/>
                        </a:rPr>
                        <a:t>63.18</a:t>
                      </a:r>
                    </a:p>
                  </a:txBody>
                  <a:tcPr marL="54864" marR="54864" marT="18288" marB="18288" anchor="ctr">
                    <a:solidFill>
                      <a:srgbClr val="F7F9FC"/>
                    </a:solidFill>
                  </a:tcPr>
                </a:tc>
                <a:tc>
                  <a:txBody>
                    <a:bodyPr wrap="square"/>
                    <a:lstStyle/>
                    <a:p>
                      <a:pPr algn="r"/>
                      <a:r>
                        <a:rPr sz="1000" b="1">
                          <a:solidFill>
                            <a:srgbClr val="1E2F5C"/>
                          </a:solidFill>
                          <a:latin typeface="Kanit"/>
                        </a:rPr>
                        <a:t>4,514</a:t>
                      </a:r>
                    </a:p>
                  </a:txBody>
                  <a:tcPr marL="54864" marR="54864" marT="18288" marB="18288" anchor="ctr">
                    <a:solidFill>
                      <a:srgbClr val="F7F9FC"/>
                    </a:solidFill>
                  </a:tcPr>
                </a:tc>
                <a:tc>
                  <a:txBody>
                    <a:bodyPr wrap="square"/>
                    <a:lstStyle/>
                    <a:p>
                      <a:pPr algn="r"/>
                      <a:r>
                        <a:rPr sz="1000" b="1">
                          <a:solidFill>
                            <a:srgbClr val="F5C242"/>
                          </a:solidFill>
                          <a:latin typeface="Kanit"/>
                        </a:rPr>
                        <a:t>24.9%</a:t>
                      </a:r>
                    </a:p>
                  </a:txBody>
                  <a:tcPr marL="54864" marR="54864" marT="18288" marB="18288" anchor="ctr">
                    <a:solidFill>
                      <a:srgbClr val="F7F9FC"/>
                    </a:solidFill>
                  </a:tcPr>
                </a:tc>
              </a:tr>
              <a:tr h="269748">
                <a:tc>
                  <a:txBody>
                    <a:bodyPr wrap="square"/>
                    <a:lstStyle/>
                    <a:p>
                      <a:pPr algn="l"/>
                      <a:r>
                        <a:rPr sz="1000" b="1">
                          <a:solidFill>
                            <a:srgbClr val="1E2F5C"/>
                          </a:solidFill>
                          <a:latin typeface="Kanit"/>
                        </a:rPr>
                        <a:t>Sugarcane</a:t>
                      </a:r>
                    </a:p>
                  </a:txBody>
                  <a:tcPr marL="54864" marR="54864" marT="18288" marB="18288" anchor="ctr">
                    <a:solidFill>
                      <a:srgbClr val="FFFFFF"/>
                    </a:solidFill>
                  </a:tcPr>
                </a:tc>
                <a:tc>
                  <a:txBody>
                    <a:bodyPr wrap="square"/>
                    <a:lstStyle/>
                    <a:p>
                      <a:pPr algn="r"/>
                      <a:r>
                        <a:rPr sz="1000" b="0">
                          <a:solidFill>
                            <a:srgbClr val="1E2F5C"/>
                          </a:solidFill>
                          <a:latin typeface="Kanit"/>
                        </a:rPr>
                        <a:t>10.0%</a:t>
                      </a:r>
                    </a:p>
                  </a:txBody>
                  <a:tcPr marL="54864" marR="54864" marT="18288" marB="18288" anchor="ctr">
                    <a:solidFill>
                      <a:srgbClr val="FFFFFF"/>
                    </a:solidFill>
                  </a:tcPr>
                </a:tc>
                <a:tc>
                  <a:txBody>
                    <a:bodyPr wrap="square"/>
                    <a:lstStyle/>
                    <a:p>
                      <a:pPr algn="r"/>
                      <a:r>
                        <a:rPr sz="1000" b="1">
                          <a:solidFill>
                            <a:srgbClr val="CC0000"/>
                          </a:solidFill>
                          <a:latin typeface="Kanit"/>
                        </a:rPr>
                        <a:t>-17.9%</a:t>
                      </a:r>
                    </a:p>
                  </a:txBody>
                  <a:tcPr marL="54864" marR="54864" marT="18288" marB="18288" anchor="ctr">
                    <a:solidFill>
                      <a:srgbClr val="FFFFFF"/>
                    </a:solidFill>
                  </a:tcPr>
                </a:tc>
                <a:tc>
                  <a:txBody>
                    <a:bodyPr wrap="square"/>
                    <a:lstStyle/>
                    <a:p>
                      <a:pPr algn="r"/>
                      <a:r>
                        <a:rPr sz="1000" b="0">
                          <a:solidFill>
                            <a:srgbClr val="1E2F5C"/>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a:t>
                      </a:r>
                    </a:p>
                  </a:txBody>
                  <a:tcPr marL="54864" marR="54864" marT="18288" marB="18288" anchor="ctr">
                    <a:solidFill>
                      <a:srgbClr val="FFFFFF"/>
                    </a:solidFill>
                  </a:tcPr>
                </a:tc>
                <a:tc>
                  <a:txBody>
                    <a:bodyPr wrap="square"/>
                    <a:lstStyle/>
                    <a:p>
                      <a:pPr algn="r"/>
                      <a:r>
                        <a:rPr sz="1000" b="0">
                          <a:solidFill>
                            <a:srgbClr val="CC0000"/>
                          </a:solidFill>
                          <a:latin typeface="Kanit"/>
                        </a:rPr>
                        <a:t>no cost series</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69748">
                <a:tc>
                  <a:txBody>
                    <a:bodyPr wrap="square"/>
                    <a:lstStyle/>
                    <a:p>
                      <a:pPr algn="l"/>
                      <a:r>
                        <a:rPr sz="1000" b="1">
                          <a:solidFill>
                            <a:srgbClr val="1E2F5C"/>
                          </a:solidFill>
                          <a:latin typeface="Kanit"/>
                        </a:rPr>
                        <a:t>Oil palm</a:t>
                      </a:r>
                    </a:p>
                  </a:txBody>
                  <a:tcPr marL="54864" marR="54864" marT="18288" marB="18288" anchor="ctr">
                    <a:solidFill>
                      <a:srgbClr val="F7F9FC"/>
                    </a:solidFill>
                  </a:tcPr>
                </a:tc>
                <a:tc>
                  <a:txBody>
                    <a:bodyPr wrap="square"/>
                    <a:lstStyle/>
                    <a:p>
                      <a:pPr algn="r"/>
                      <a:r>
                        <a:rPr sz="1000" b="0">
                          <a:solidFill>
                            <a:srgbClr val="1E2F5C"/>
                          </a:solidFill>
                          <a:latin typeface="Kanit"/>
                        </a:rPr>
                        <a:t>5.7%</a:t>
                      </a:r>
                    </a:p>
                  </a:txBody>
                  <a:tcPr marL="54864" marR="54864" marT="18288" marB="18288" anchor="ctr">
                    <a:solidFill>
                      <a:srgbClr val="F7F9FC"/>
                    </a:solidFill>
                  </a:tcPr>
                </a:tc>
                <a:tc>
                  <a:txBody>
                    <a:bodyPr wrap="square"/>
                    <a:lstStyle/>
                    <a:p>
                      <a:pPr algn="r"/>
                      <a:r>
                        <a:rPr sz="1000" b="1">
                          <a:solidFill>
                            <a:srgbClr val="15795F"/>
                          </a:solidFill>
                          <a:latin typeface="Kanit"/>
                        </a:rPr>
                        <a:t>+31.8%</a:t>
                      </a:r>
                    </a:p>
                  </a:txBody>
                  <a:tcPr marL="54864" marR="54864" marT="18288" marB="18288" anchor="ctr">
                    <a:solidFill>
                      <a:srgbClr val="F7F9FC"/>
                    </a:solidFill>
                  </a:tcPr>
                </a:tc>
                <a:tc>
                  <a:txBody>
                    <a:bodyPr wrap="square"/>
                    <a:lstStyle/>
                    <a:p>
                      <a:pPr algn="r"/>
                      <a:r>
                        <a:rPr sz="1000" b="0">
                          <a:solidFill>
                            <a:srgbClr val="1E2F5C"/>
                          </a:solidFill>
                          <a:latin typeface="Kanit"/>
                        </a:rPr>
                        <a:t>8.65</a:t>
                      </a:r>
                    </a:p>
                  </a:txBody>
                  <a:tcPr marL="54864" marR="54864" marT="18288" marB="18288" anchor="ctr">
                    <a:solidFill>
                      <a:srgbClr val="F7F9FC"/>
                    </a:solidFill>
                  </a:tcPr>
                </a:tc>
                <a:tc>
                  <a:txBody>
                    <a:bodyPr wrap="square"/>
                    <a:lstStyle/>
                    <a:p>
                      <a:pPr algn="r"/>
                      <a:r>
                        <a:rPr sz="1000" b="0">
                          <a:solidFill>
                            <a:srgbClr val="1E2F5C"/>
                          </a:solidFill>
                          <a:latin typeface="Kanit"/>
                        </a:rPr>
                        <a:t>3.01</a:t>
                      </a:r>
                    </a:p>
                  </a:txBody>
                  <a:tcPr marL="54864" marR="54864" marT="18288" marB="18288" anchor="ctr">
                    <a:solidFill>
                      <a:srgbClr val="F7F9FC"/>
                    </a:solidFill>
                  </a:tcPr>
                </a:tc>
                <a:tc>
                  <a:txBody>
                    <a:bodyPr wrap="square"/>
                    <a:lstStyle/>
                    <a:p>
                      <a:pPr algn="r"/>
                      <a:r>
                        <a:rPr sz="1000" b="1">
                          <a:solidFill>
                            <a:srgbClr val="1E2F5C"/>
                          </a:solidFill>
                          <a:latin typeface="Kanit"/>
                        </a:rPr>
                        <a:t>18,505</a:t>
                      </a:r>
                    </a:p>
                  </a:txBody>
                  <a:tcPr marL="54864" marR="54864" marT="18288" marB="18288" anchor="ctr">
                    <a:solidFill>
                      <a:srgbClr val="F7F9FC"/>
                    </a:solidFill>
                  </a:tcPr>
                </a:tc>
                <a:tc>
                  <a:txBody>
                    <a:bodyPr wrap="square"/>
                    <a:lstStyle/>
                    <a:p>
                      <a:pPr algn="r"/>
                      <a:r>
                        <a:rPr sz="1000" b="1">
                          <a:solidFill>
                            <a:srgbClr val="15795F"/>
                          </a:solidFill>
                          <a:latin typeface="Kanit"/>
                        </a:rPr>
                        <a:t>65.2%</a:t>
                      </a:r>
                    </a:p>
                  </a:txBody>
                  <a:tcPr marL="54864" marR="54864" marT="18288" marB="18288" anchor="ctr">
                    <a:solidFill>
                      <a:srgbClr val="F7F9FC"/>
                    </a:solidFill>
                  </a:tcPr>
                </a:tc>
              </a:tr>
              <a:tr h="269748">
                <a:tc>
                  <a:txBody>
                    <a:bodyPr wrap="square"/>
                    <a:lstStyle/>
                    <a:p>
                      <a:pPr algn="l"/>
                      <a:r>
                        <a:rPr sz="1000" b="1">
                          <a:solidFill>
                            <a:srgbClr val="1E2F5C"/>
                          </a:solidFill>
                          <a:latin typeface="Kanit"/>
                        </a:rPr>
                        <a:t>Cassava</a:t>
                      </a:r>
                    </a:p>
                  </a:txBody>
                  <a:tcPr marL="54864" marR="54864" marT="18288" marB="18288" anchor="ctr">
                    <a:solidFill>
                      <a:srgbClr val="FFFFFF"/>
                    </a:solidFill>
                  </a:tcPr>
                </a:tc>
                <a:tc>
                  <a:txBody>
                    <a:bodyPr wrap="square"/>
                    <a:lstStyle/>
                    <a:p>
                      <a:pPr algn="r"/>
                      <a:r>
                        <a:rPr sz="1000" b="0">
                          <a:solidFill>
                            <a:srgbClr val="1E2F5C"/>
                          </a:solidFill>
                          <a:latin typeface="Kanit"/>
                        </a:rPr>
                        <a:t>4.3%</a:t>
                      </a:r>
                    </a:p>
                  </a:txBody>
                  <a:tcPr marL="54864" marR="54864" marT="18288" marB="18288" anchor="ctr">
                    <a:solidFill>
                      <a:srgbClr val="FFFFFF"/>
                    </a:solidFill>
                  </a:tcPr>
                </a:tc>
                <a:tc>
                  <a:txBody>
                    <a:bodyPr wrap="square"/>
                    <a:lstStyle/>
                    <a:p>
                      <a:pPr algn="r"/>
                      <a:r>
                        <a:rPr sz="1000" b="1">
                          <a:solidFill>
                            <a:srgbClr val="15795F"/>
                          </a:solidFill>
                          <a:latin typeface="Kanit"/>
                        </a:rPr>
                        <a:t>+57.3%</a:t>
                      </a:r>
                    </a:p>
                  </a:txBody>
                  <a:tcPr marL="54864" marR="54864" marT="18288" marB="18288" anchor="ctr">
                    <a:solidFill>
                      <a:srgbClr val="FFFFFF"/>
                    </a:solidFill>
                  </a:tcPr>
                </a:tc>
                <a:tc>
                  <a:txBody>
                    <a:bodyPr wrap="square"/>
                    <a:lstStyle/>
                    <a:p>
                      <a:pPr algn="r"/>
                      <a:r>
                        <a:rPr sz="1000" b="0">
                          <a:solidFill>
                            <a:srgbClr val="1E2F5C"/>
                          </a:solidFill>
                          <a:latin typeface="Kanit"/>
                        </a:rPr>
                        <a:t>3.50</a:t>
                      </a:r>
                    </a:p>
                  </a:txBody>
                  <a:tcPr marL="54864" marR="54864" marT="18288" marB="18288" anchor="ctr">
                    <a:solidFill>
                      <a:srgbClr val="FFFFFF"/>
                    </a:solidFill>
                  </a:tcPr>
                </a:tc>
                <a:tc>
                  <a:txBody>
                    <a:bodyPr wrap="square"/>
                    <a:lstStyle/>
                    <a:p>
                      <a:pPr algn="r"/>
                      <a:r>
                        <a:rPr sz="1000" b="0">
                          <a:solidFill>
                            <a:srgbClr val="1E2F5C"/>
                          </a:solidFill>
                          <a:latin typeface="Kanit"/>
                        </a:rPr>
                        <a:t>2.13</a:t>
                      </a:r>
                    </a:p>
                  </a:txBody>
                  <a:tcPr marL="54864" marR="54864" marT="18288" marB="18288" anchor="ctr">
                    <a:solidFill>
                      <a:srgbClr val="FFFFFF"/>
                    </a:solidFill>
                  </a:tcPr>
                </a:tc>
                <a:tc>
                  <a:txBody>
                    <a:bodyPr wrap="square"/>
                    <a:lstStyle/>
                    <a:p>
                      <a:pPr algn="r"/>
                      <a:r>
                        <a:rPr sz="1000" b="1">
                          <a:solidFill>
                            <a:srgbClr val="1E2F5C"/>
                          </a:solidFill>
                          <a:latin typeface="Kanit"/>
                        </a:rPr>
                        <a:t>4,342</a:t>
                      </a:r>
                    </a:p>
                  </a:txBody>
                  <a:tcPr marL="54864" marR="54864" marT="18288" marB="18288" anchor="ctr">
                    <a:solidFill>
                      <a:srgbClr val="FFFFFF"/>
                    </a:solidFill>
                  </a:tcPr>
                </a:tc>
                <a:tc>
                  <a:txBody>
                    <a:bodyPr wrap="square"/>
                    <a:lstStyle/>
                    <a:p>
                      <a:pPr algn="r"/>
                      <a:r>
                        <a:rPr sz="1000" b="1">
                          <a:solidFill>
                            <a:srgbClr val="F5C242"/>
                          </a:solidFill>
                          <a:latin typeface="Kanit"/>
                        </a:rPr>
                        <a:t>39.1%</a:t>
                      </a:r>
                    </a:p>
                  </a:txBody>
                  <a:tcPr marL="54864" marR="54864" marT="18288" marB="18288" anchor="ctr">
                    <a:solidFill>
                      <a:srgbClr val="FFFFFF"/>
                    </a:solidFill>
                  </a:tcPr>
                </a:tc>
              </a:tr>
              <a:tr h="269748">
                <a:tc>
                  <a:txBody>
                    <a:bodyPr wrap="square"/>
                    <a:lstStyle/>
                    <a:p>
                      <a:pPr algn="l"/>
                      <a:r>
                        <a:rPr sz="1000" b="1">
                          <a:solidFill>
                            <a:srgbClr val="1E2F5C"/>
                          </a:solidFill>
                          <a:latin typeface="Kanit"/>
                        </a:rPr>
                        <a:t>Maize</a:t>
                      </a:r>
                    </a:p>
                  </a:txBody>
                  <a:tcPr marL="54864" marR="54864" marT="18288" marB="18288" anchor="ctr">
                    <a:solidFill>
                      <a:srgbClr val="F7F9FC"/>
                    </a:solidFill>
                  </a:tcPr>
                </a:tc>
                <a:tc>
                  <a:txBody>
                    <a:bodyPr wrap="square"/>
                    <a:lstStyle/>
                    <a:p>
                      <a:pPr algn="r"/>
                      <a:r>
                        <a:rPr sz="1000" b="0">
                          <a:solidFill>
                            <a:srgbClr val="1E2F5C"/>
                          </a:solidFill>
                          <a:latin typeface="Kanit"/>
                        </a:rPr>
                        <a:t>4.0%</a:t>
                      </a:r>
                    </a:p>
                  </a:txBody>
                  <a:tcPr marL="54864" marR="54864" marT="18288" marB="18288" anchor="ctr">
                    <a:solidFill>
                      <a:srgbClr val="F7F9FC"/>
                    </a:solidFill>
                  </a:tcPr>
                </a:tc>
                <a:tc>
                  <a:txBody>
                    <a:bodyPr wrap="square"/>
                    <a:lstStyle/>
                    <a:p>
                      <a:pPr algn="r"/>
                      <a:r>
                        <a:rPr sz="1000" b="1">
                          <a:solidFill>
                            <a:srgbClr val="15795F"/>
                          </a:solidFill>
                          <a:latin typeface="Kanit"/>
                        </a:rPr>
                        <a:t>+11.3%</a:t>
                      </a:r>
                    </a:p>
                  </a:txBody>
                  <a:tcPr marL="54864" marR="54864" marT="18288" marB="18288" anchor="ctr">
                    <a:solidFill>
                      <a:srgbClr val="F7F9FC"/>
                    </a:solidFill>
                  </a:tcPr>
                </a:tc>
                <a:tc>
                  <a:txBody>
                    <a:bodyPr wrap="square"/>
                    <a:lstStyle/>
                    <a:p>
                      <a:pPr algn="r"/>
                      <a:r>
                        <a:rPr sz="1000" b="0">
                          <a:solidFill>
                            <a:srgbClr val="1E2F5C"/>
                          </a:solidFill>
                          <a:latin typeface="Kanit"/>
                        </a:rPr>
                        <a:t>10.68</a:t>
                      </a:r>
                    </a:p>
                  </a:txBody>
                  <a:tcPr marL="54864" marR="54864" marT="18288" marB="18288" anchor="ctr">
                    <a:solidFill>
                      <a:srgbClr val="F7F9FC"/>
                    </a:solidFill>
                  </a:tcPr>
                </a:tc>
                <a:tc>
                  <a:txBody>
                    <a:bodyPr wrap="square"/>
                    <a:lstStyle/>
                    <a:p>
                      <a:pPr algn="r"/>
                      <a:r>
                        <a:rPr sz="1000" b="0">
                          <a:solidFill>
                            <a:srgbClr val="1E2F5C"/>
                          </a:solidFill>
                          <a:latin typeface="Kanit"/>
                        </a:rPr>
                        <a:t>6.76</a:t>
                      </a:r>
                    </a:p>
                  </a:txBody>
                  <a:tcPr marL="54864" marR="54864" marT="18288" marB="18288" anchor="ctr">
                    <a:solidFill>
                      <a:srgbClr val="F7F9FC"/>
                    </a:solidFill>
                  </a:tcPr>
                </a:tc>
                <a:tc>
                  <a:txBody>
                    <a:bodyPr wrap="square"/>
                    <a:lstStyle/>
                    <a:p>
                      <a:pPr algn="r"/>
                      <a:r>
                        <a:rPr sz="1000" b="1">
                          <a:solidFill>
                            <a:srgbClr val="1E2F5C"/>
                          </a:solidFill>
                          <a:latin typeface="Kanit"/>
                        </a:rPr>
                        <a:t>3,148</a:t>
                      </a:r>
                    </a:p>
                  </a:txBody>
                  <a:tcPr marL="54864" marR="54864" marT="18288" marB="18288" anchor="ctr">
                    <a:solidFill>
                      <a:srgbClr val="F7F9FC"/>
                    </a:solidFill>
                  </a:tcPr>
                </a:tc>
                <a:tc>
                  <a:txBody>
                    <a:bodyPr wrap="square"/>
                    <a:lstStyle/>
                    <a:p>
                      <a:pPr algn="r"/>
                      <a:r>
                        <a:rPr sz="1000" b="1">
                          <a:solidFill>
                            <a:srgbClr val="F5C242"/>
                          </a:solidFill>
                          <a:latin typeface="Kanit"/>
                        </a:rPr>
                        <a:t>36.7%</a:t>
                      </a:r>
                    </a:p>
                  </a:txBody>
                  <a:tcPr marL="54864" marR="54864" marT="18288" marB="18288" anchor="ctr">
                    <a:solidFill>
                      <a:srgbClr val="F7F9FC"/>
                    </a:solidFill>
                  </a:tcPr>
                </a:tc>
              </a:tr>
              <a:tr h="269748">
                <a:tc>
                  <a:txBody>
                    <a:bodyPr wrap="square"/>
                    <a:lstStyle/>
                    <a:p>
                      <a:pPr algn="l"/>
                      <a:r>
                        <a:rPr sz="1000" b="1">
                          <a:solidFill>
                            <a:srgbClr val="1E2F5C"/>
                          </a:solidFill>
                          <a:latin typeface="Kanit"/>
                        </a:rPr>
                        <a:t>Coconut</a:t>
                      </a:r>
                    </a:p>
                  </a:txBody>
                  <a:tcPr marL="54864" marR="54864" marT="18288" marB="18288" anchor="ctr">
                    <a:solidFill>
                      <a:srgbClr val="FFFFFF"/>
                    </a:solidFill>
                  </a:tcPr>
                </a:tc>
                <a:tc>
                  <a:txBody>
                    <a:bodyPr wrap="square"/>
                    <a:lstStyle/>
                    <a:p>
                      <a:pPr algn="r"/>
                      <a:r>
                        <a:rPr sz="1000" b="0">
                          <a:solidFill>
                            <a:srgbClr val="1E2F5C"/>
                          </a:solidFill>
                          <a:latin typeface="Kanit"/>
                        </a:rPr>
                        <a:t>0.5%</a:t>
                      </a:r>
                    </a:p>
                  </a:txBody>
                  <a:tcPr marL="54864" marR="54864" marT="18288" marB="18288" anchor="ctr">
                    <a:solidFill>
                      <a:srgbClr val="FFFFFF"/>
                    </a:solidFill>
                  </a:tcPr>
                </a:tc>
                <a:tc>
                  <a:txBody>
                    <a:bodyPr wrap="square"/>
                    <a:lstStyle/>
                    <a:p>
                      <a:pPr algn="r"/>
                      <a:r>
                        <a:rPr sz="1000" b="1">
                          <a:solidFill>
                            <a:srgbClr val="CC0000"/>
                          </a:solidFill>
                          <a:latin typeface="Kanit"/>
                        </a:rPr>
                        <a:t>-70.9%</a:t>
                      </a:r>
                    </a:p>
                  </a:txBody>
                  <a:tcPr marL="54864" marR="54864" marT="18288" marB="18288" anchor="ctr">
                    <a:solidFill>
                      <a:srgbClr val="FFFFFF"/>
                    </a:solidFill>
                  </a:tcPr>
                </a:tc>
                <a:tc>
                  <a:txBody>
                    <a:bodyPr wrap="square"/>
                    <a:lstStyle/>
                    <a:p>
                      <a:pPr algn="r"/>
                      <a:r>
                        <a:rPr sz="1000" b="0">
                          <a:solidFill>
                            <a:srgbClr val="1E2F5C"/>
                          </a:solidFill>
                          <a:latin typeface="Kanit"/>
                        </a:rPr>
                        <a:t>—</a:t>
                      </a:r>
                    </a:p>
                  </a:txBody>
                  <a:tcPr marL="54864" marR="54864" marT="18288" marB="18288" anchor="ctr">
                    <a:solidFill>
                      <a:srgbClr val="FFFFFF"/>
                    </a:solidFill>
                  </a:tcPr>
                </a:tc>
                <a:tc>
                  <a:txBody>
                    <a:bodyPr wrap="square"/>
                    <a:lstStyle/>
                    <a:p>
                      <a:pPr algn="r"/>
                      <a:r>
                        <a:rPr sz="1000" b="0">
                          <a:solidFill>
                            <a:srgbClr val="1E2F5C"/>
                          </a:solidFill>
                          <a:latin typeface="Kanit"/>
                        </a:rPr>
                        <a:t>—</a:t>
                      </a:r>
                    </a:p>
                  </a:txBody>
                  <a:tcPr marL="54864" marR="54864" marT="18288" marB="18288" anchor="ctr">
                    <a:solidFill>
                      <a:srgbClr val="FFFFFF"/>
                    </a:solidFill>
                  </a:tcPr>
                </a:tc>
                <a:tc>
                  <a:txBody>
                    <a:bodyPr wrap="square"/>
                    <a:lstStyle/>
                    <a:p>
                      <a:pPr algn="r"/>
                      <a:r>
                        <a:rPr sz="1000" b="0">
                          <a:solidFill>
                            <a:srgbClr val="CC0000"/>
                          </a:solidFill>
                          <a:latin typeface="Kanit"/>
                        </a:rPr>
                        <a:t>no cost series</a:t>
                      </a:r>
                    </a:p>
                  </a:txBody>
                  <a:tcPr marL="54864" marR="54864" marT="18288" marB="18288" anchor="ctr">
                    <a:solidFill>
                      <a:srgbClr val="FFFFFF"/>
                    </a:solidFill>
                  </a:tcPr>
                </a:tc>
                <a:tc>
                  <a:txBody>
                    <a:bodyPr wrap="square"/>
                    <a:lstStyle/>
                    <a:p>
                      <a:pPr algn="r"/>
                      <a:r>
                        <a:rPr sz="1000" b="0">
                          <a:solidFill>
                            <a:srgbClr val="606060"/>
                          </a:solidFill>
                          <a:latin typeface="Kanit"/>
                        </a:rPr>
                        <a:t>—</a:t>
                      </a:r>
                    </a:p>
                  </a:txBody>
                  <a:tcPr marL="54864" marR="54864" marT="18288" marB="18288" anchor="ctr">
                    <a:solidFill>
                      <a:srgbClr val="FFFFFF"/>
                    </a:solidFill>
                  </a:tcPr>
                </a:tc>
              </a:tr>
              <a:tr h="269748">
                <a:tc>
                  <a:txBody>
                    <a:bodyPr wrap="square"/>
                    <a:lstStyle/>
                    <a:p>
                      <a:pPr algn="l"/>
                      <a:r>
                        <a:rPr sz="1000" b="1">
                          <a:solidFill>
                            <a:srgbClr val="1E2F5C"/>
                          </a:solidFill>
                          <a:latin typeface="Kanit"/>
                        </a:rPr>
                        <a:t>Pineapple</a:t>
                      </a:r>
                    </a:p>
                  </a:txBody>
                  <a:tcPr marL="54864" marR="54864" marT="18288" marB="18288" anchor="ctr">
                    <a:solidFill>
                      <a:srgbClr val="F7F9FC"/>
                    </a:solidFill>
                  </a:tcPr>
                </a:tc>
                <a:tc>
                  <a:txBody>
                    <a:bodyPr wrap="square"/>
                    <a:lstStyle/>
                    <a:p>
                      <a:pPr algn="r"/>
                      <a:r>
                        <a:rPr sz="1000" b="0">
                          <a:solidFill>
                            <a:srgbClr val="1E2F5C"/>
                          </a:solidFill>
                          <a:latin typeface="Kanit"/>
                        </a:rPr>
                        <a:t>0.1%</a:t>
                      </a:r>
                    </a:p>
                  </a:txBody>
                  <a:tcPr marL="54864" marR="54864" marT="18288" marB="18288" anchor="ctr">
                    <a:solidFill>
                      <a:srgbClr val="F7F9FC"/>
                    </a:solidFill>
                  </a:tcPr>
                </a:tc>
                <a:tc>
                  <a:txBody>
                    <a:bodyPr wrap="square"/>
                    <a:lstStyle/>
                    <a:p>
                      <a:pPr algn="r"/>
                      <a:r>
                        <a:rPr sz="1000" b="1">
                          <a:solidFill>
                            <a:srgbClr val="CC0000"/>
                          </a:solidFill>
                          <a:latin typeface="Kanit"/>
                        </a:rPr>
                        <a:t>-20.0%</a:t>
                      </a:r>
                    </a:p>
                  </a:txBody>
                  <a:tcPr marL="54864" marR="54864" marT="18288" marB="18288" anchor="ctr">
                    <a:solidFill>
                      <a:srgbClr val="F7F9FC"/>
                    </a:solidFill>
                  </a:tcPr>
                </a:tc>
                <a:tc>
                  <a:txBody>
                    <a:bodyPr wrap="square"/>
                    <a:lstStyle/>
                    <a:p>
                      <a:pPr algn="r"/>
                      <a:r>
                        <a:rPr sz="1000" b="0">
                          <a:solidFill>
                            <a:srgbClr val="1E2F5C"/>
                          </a:solidFill>
                          <a:latin typeface="Kanit"/>
                        </a:rPr>
                        <a:t>—</a:t>
                      </a:r>
                    </a:p>
                  </a:txBody>
                  <a:tcPr marL="54864" marR="54864" marT="18288" marB="18288" anchor="ctr">
                    <a:solidFill>
                      <a:srgbClr val="F7F9FC"/>
                    </a:solidFill>
                  </a:tcPr>
                </a:tc>
                <a:tc>
                  <a:txBody>
                    <a:bodyPr wrap="square"/>
                    <a:lstStyle/>
                    <a:p>
                      <a:pPr algn="r"/>
                      <a:r>
                        <a:rPr sz="1000" b="0">
                          <a:solidFill>
                            <a:srgbClr val="1E2F5C"/>
                          </a:solidFill>
                          <a:latin typeface="Kanit"/>
                        </a:rPr>
                        <a:t>—</a:t>
                      </a:r>
                    </a:p>
                  </a:txBody>
                  <a:tcPr marL="54864" marR="54864" marT="18288" marB="18288" anchor="ctr">
                    <a:solidFill>
                      <a:srgbClr val="F7F9FC"/>
                    </a:solidFill>
                  </a:tcPr>
                </a:tc>
                <a:tc>
                  <a:txBody>
                    <a:bodyPr wrap="square"/>
                    <a:lstStyle/>
                    <a:p>
                      <a:pPr algn="r"/>
                      <a:r>
                        <a:rPr sz="1000" b="0">
                          <a:solidFill>
                            <a:srgbClr val="CC0000"/>
                          </a:solidFill>
                          <a:latin typeface="Kanit"/>
                        </a:rPr>
                        <a:t>no cost series</a:t>
                      </a:r>
                    </a:p>
                  </a:txBody>
                  <a:tcPr marL="54864" marR="54864" marT="18288" marB="18288" anchor="ctr">
                    <a:solidFill>
                      <a:srgbClr val="F7F9FC"/>
                    </a:solidFill>
                  </a:tcPr>
                </a:tc>
                <a:tc>
                  <a:txBody>
                    <a:bodyPr wrap="square"/>
                    <a:lstStyle/>
                    <a:p>
                      <a:pPr algn="r"/>
                      <a:r>
                        <a:rPr sz="1000" b="0">
                          <a:solidFill>
                            <a:srgbClr val="606060"/>
                          </a:solidFill>
                          <a:latin typeface="Kanit"/>
                        </a:rPr>
                        <a:t>—</a:t>
                      </a:r>
                    </a:p>
                  </a:txBody>
                  <a:tcPr marL="54864" marR="54864" marT="18288" marB="18288" anchor="ctr">
                    <a:solidFill>
                      <a:srgbClr val="F7F9FC"/>
                    </a:solidFill>
                  </a:tcPr>
                </a:tc>
              </a:tr>
            </a:tbl>
          </a:graphicData>
        </a:graphic>
      </p:graphicFrame>
      <p:sp>
        <p:nvSpPr>
          <p:cNvPr id="10" name="Rounded Rectangle 9"/>
          <p:cNvSpPr/>
          <p:nvPr/>
        </p:nvSpPr>
        <p:spPr>
          <a:xfrm>
            <a:off x="411480" y="3785615"/>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411480" y="381487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2" name="TextBox 11"/>
          <p:cNvSpPr txBox="1"/>
          <p:nvPr/>
        </p:nvSpPr>
        <p:spPr>
          <a:xfrm>
            <a:off x="1056955" y="3799331"/>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Farm-gate prices MEASURED (NABC / OAE / OCSB). Costs MEASURED from OAE cost-of-production returns — rice direct for crop year 2567/68, the others derived from cost per tonne for 2568. Margin per rai is the arithmetic of the two and is ESTIMATED.</a:t>
            </a:r>
          </a:p>
        </p:txBody>
      </p:sp>
      <p:sp>
        <p:nvSpPr>
          <p:cNvPr id="13" name="Rectangle 12"/>
          <p:cNvSpPr/>
          <p:nvPr/>
        </p:nvSpPr>
        <p:spPr>
          <a:xfrm>
            <a:off x="411480" y="4258818"/>
            <a:ext cx="11365992" cy="8374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411480" y="4258818"/>
            <a:ext cx="50292" cy="8374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30936" y="4405122"/>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three crops with no cost series are the three whose prices are falling</a:t>
            </a:r>
          </a:p>
        </p:txBody>
      </p:sp>
      <p:sp>
        <p:nvSpPr>
          <p:cNvPr id="16" name="TextBox 15"/>
          <p:cNvSpPr txBox="1"/>
          <p:nvPr/>
        </p:nvSpPr>
        <p:spPr>
          <a:xfrm>
            <a:off x="630936" y="4609591"/>
            <a:ext cx="11036808" cy="3403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Sugarcane (−17.9%), coconut (−70.9%) and pineapple (−20.0%) are the only crops here without an OAE cost series, so their margin cannot be computed. They are Between them they are 12.2% of the country’s planted area. We can see the price move and cannot see whether it has taken the grower below cost.</a:t>
            </a:r>
          </a:p>
        </p:txBody>
      </p:sp>
      <p:sp>
        <p:nvSpPr>
          <p:cNvPr id="17" name="Rectangle 16"/>
          <p:cNvSpPr/>
          <p:nvPr/>
        </p:nvSpPr>
        <p:spPr>
          <a:xfrm>
            <a:off x="411480" y="5224272"/>
            <a:ext cx="11365992" cy="837438"/>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411480" y="5224272"/>
            <a:ext cx="50292" cy="837438"/>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30936" y="5370576"/>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Why margin is the number that matters</a:t>
            </a:r>
          </a:p>
        </p:txBody>
      </p:sp>
      <p:sp>
        <p:nvSpPr>
          <p:cNvPr id="20" name="TextBox 19"/>
          <p:cNvSpPr txBox="1"/>
          <p:nvPr/>
        </p:nvSpPr>
        <p:spPr>
          <a:xfrm>
            <a:off x="630936" y="5575045"/>
            <a:ext cx="11036808" cy="3403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Netted of cost, a 24.3% move in crop prices becomes a 73.2% swing in crop income nationally — about three times the headline. Palm at 65.2% margin can absorb a price fall that would wipe out rubber at 24.9%, whose price is up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06 · FARMING AT A LOSS</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Three of the five crops with full economics do not cover their own cost.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OAE publishes yield, price and cost of production per crop. Netted out per household, and divided by the people in it, this is what a month of farming that crop is actually worth right now.</a:t>
            </a:r>
          </a:p>
        </p:txBody>
      </p:sp>
      <p:graphicFrame>
        <p:nvGraphicFramePr>
          <p:cNvPr id="10" name="Table 9"/>
          <p:cNvGraphicFramePr>
            <a:graphicFrameLocks noGrp="1"/>
          </p:cNvGraphicFramePr>
          <p:nvPr/>
        </p:nvGraphicFramePr>
        <p:xfrm>
          <a:off x="411480" y="1679448"/>
          <a:ext cx="11365992" cy="1700784"/>
        </p:xfrm>
        <a:graphic>
          <a:graphicData uri="http://schemas.openxmlformats.org/drawingml/2006/table">
            <a:tbl>
              <a:tblPr>
                <a:tableStyleId>{5C22544A-7EE6-4342-B048-85BDC9FD1C3A}</a:tableStyleId>
              </a:tblPr>
              <a:tblGrid>
                <a:gridCol w="1645920"/>
                <a:gridCol w="1371600"/>
                <a:gridCol w="1188720"/>
                <a:gridCol w="914400"/>
                <a:gridCol w="1280160"/>
                <a:gridCol w="1828800"/>
                <a:gridCol w="1737360"/>
                <a:gridCol w="1399032"/>
              </a:tblGrid>
              <a:tr h="329184">
                <a:tc>
                  <a:txBody>
                    <a:bodyPr wrap="square"/>
                    <a:lstStyle/>
                    <a:p>
                      <a:pPr algn="l"/>
                      <a:r>
                        <a:rPr sz="1050" b="1">
                          <a:solidFill>
                            <a:srgbClr val="FFFFFF"/>
                          </a:solidFill>
                          <a:latin typeface="Kanit"/>
                        </a:rPr>
                        <a:t>Crop</a:t>
                      </a:r>
                    </a:p>
                  </a:txBody>
                  <a:tcPr marL="54864" marR="54864" marT="18288" marB="18288" anchor="ctr">
                    <a:solidFill>
                      <a:srgbClr val="1B2A6B"/>
                    </a:solidFill>
                  </a:tcPr>
                </a:tc>
                <a:tc>
                  <a:txBody>
                    <a:bodyPr wrap="square"/>
                    <a:lstStyle/>
                    <a:p>
                      <a:pPr algn="r"/>
                      <a:r>
                        <a:rPr sz="1050" b="1">
                          <a:solidFill>
                            <a:srgbClr val="FFFFFF"/>
                          </a:solidFill>
                          <a:latin typeface="Kanit"/>
                        </a:rPr>
                        <a:t>households</a:t>
                      </a:r>
                    </a:p>
                  </a:txBody>
                  <a:tcPr marL="54864" marR="54864" marT="18288" marB="18288" anchor="ctr">
                    <a:solidFill>
                      <a:srgbClr val="1B2A6B"/>
                    </a:solidFill>
                  </a:tcPr>
                </a:tc>
                <a:tc>
                  <a:txBody>
                    <a:bodyPr wrap="square"/>
                    <a:lstStyle/>
                    <a:p>
                      <a:pPr algn="r"/>
                      <a:r>
                        <a:rPr sz="1050" b="1">
                          <a:solidFill>
                            <a:srgbClr val="FFFFFF"/>
                          </a:solidFill>
                          <a:latin typeface="Kanit"/>
                        </a:rPr>
                        <a:t>area (rai)</a:t>
                      </a:r>
                    </a:p>
                  </a:txBody>
                  <a:tcPr marL="54864" marR="54864" marT="18288" marB="18288" anchor="ctr">
                    <a:solidFill>
                      <a:srgbClr val="1B2A6B"/>
                    </a:solidFill>
                  </a:tcPr>
                </a:tc>
                <a:tc>
                  <a:txBody>
                    <a:bodyPr wrap="square"/>
                    <a:lstStyle/>
                    <a:p>
                      <a:pPr algn="r"/>
                      <a:r>
                        <a:rPr sz="1050" b="1">
                          <a:solidFill>
                            <a:srgbClr val="FFFFFF"/>
                          </a:solidFill>
                          <a:latin typeface="Kanit"/>
                        </a:rPr>
                        <a:t>฿/kg</a:t>
                      </a:r>
                    </a:p>
                  </a:txBody>
                  <a:tcPr marL="54864" marR="54864" marT="18288" marB="18288" anchor="ctr">
                    <a:solidFill>
                      <a:srgbClr val="1B2A6B"/>
                    </a:solidFill>
                  </a:tcPr>
                </a:tc>
                <a:tc>
                  <a:txBody>
                    <a:bodyPr wrap="square"/>
                    <a:lstStyle/>
                    <a:p>
                      <a:pPr algn="r"/>
                      <a:r>
                        <a:rPr sz="1050" b="1">
                          <a:solidFill>
                            <a:srgbClr val="FFFFFF"/>
                          </a:solidFill>
                          <a:latin typeface="Kanit"/>
                        </a:rPr>
                        <a:t>kg per rai</a:t>
                      </a:r>
                    </a:p>
                  </a:txBody>
                  <a:tcPr marL="54864" marR="54864" marT="18288" marB="18288" anchor="ctr">
                    <a:solidFill>
                      <a:srgbClr val="1B2A6B"/>
                    </a:solidFill>
                  </a:tcPr>
                </a:tc>
                <a:tc>
                  <a:txBody>
                    <a:bodyPr wrap="square"/>
                    <a:lstStyle/>
                    <a:p>
                      <a:pPr algn="r"/>
                      <a:r>
                        <a:rPr sz="1050" b="1">
                          <a:solidFill>
                            <a:srgbClr val="FFFFFF"/>
                          </a:solidFill>
                          <a:latin typeface="Kanit"/>
                        </a:rPr>
                        <a:t>gross ฿/person/mo</a:t>
                      </a:r>
                    </a:p>
                  </a:txBody>
                  <a:tcPr marL="54864" marR="54864" marT="18288" marB="18288" anchor="ctr">
                    <a:solidFill>
                      <a:srgbClr val="1B2A6B"/>
                    </a:solidFill>
                  </a:tcPr>
                </a:tc>
                <a:tc>
                  <a:txBody>
                    <a:bodyPr wrap="square"/>
                    <a:lstStyle/>
                    <a:p>
                      <a:pPr algn="r"/>
                      <a:r>
                        <a:rPr sz="1050" b="1">
                          <a:solidFill>
                            <a:srgbClr val="FFFFFF"/>
                          </a:solidFill>
                          <a:latin typeface="Kanit"/>
                        </a:rPr>
                        <a:t>net ฿/person/mo</a:t>
                      </a:r>
                    </a:p>
                  </a:txBody>
                  <a:tcPr marL="54864" marR="54864" marT="18288" marB="18288" anchor="ctr">
                    <a:solidFill>
                      <a:srgbClr val="1B2A6B"/>
                    </a:solidFill>
                  </a:tcPr>
                </a:tc>
                <a:tc>
                  <a:txBody>
                    <a:bodyPr wrap="square"/>
                    <a:lstStyle/>
                    <a:p>
                      <a:pPr algn="l"/>
                      <a:r>
                        <a:rPr sz="1050" b="1">
                          <a:solidFill>
                            <a:srgbClr val="FFFFFF"/>
                          </a:solidFill>
                          <a:latin typeface="Kanit"/>
                        </a:rPr>
                        <a:t>verdict</a:t>
                      </a:r>
                    </a:p>
                  </a:txBody>
                  <a:tcPr marL="54864" marR="54864" marT="18288" marB="18288" anchor="ctr">
                    <a:solidFill>
                      <a:srgbClr val="1B2A6B"/>
                    </a:solidFill>
                  </a:tcPr>
                </a:tc>
              </a:tr>
              <a:tr h="274320">
                <a:tc>
                  <a:txBody>
                    <a:bodyPr wrap="square"/>
                    <a:lstStyle/>
                    <a:p>
                      <a:pPr algn="l"/>
                      <a:r>
                        <a:rPr sz="1000" b="1">
                          <a:solidFill>
                            <a:srgbClr val="1E2F5C"/>
                          </a:solidFill>
                          <a:latin typeface="Kanit"/>
                        </a:rPr>
                        <a:t>Cassava</a:t>
                      </a:r>
                    </a:p>
                  </a:txBody>
                  <a:tcPr marL="54864" marR="54864" marT="18288" marB="18288" anchor="ctr">
                    <a:solidFill>
                      <a:srgbClr val="FFFFFF"/>
                    </a:solidFill>
                  </a:tcPr>
                </a:tc>
                <a:tc>
                  <a:txBody>
                    <a:bodyPr wrap="square"/>
                    <a:lstStyle/>
                    <a:p>
                      <a:pPr algn="r"/>
                      <a:r>
                        <a:rPr sz="1000" b="0">
                          <a:solidFill>
                            <a:srgbClr val="1E2F5C"/>
                          </a:solidFill>
                          <a:latin typeface="Kanit"/>
                        </a:rPr>
                        <a:t>639,648</a:t>
                      </a:r>
                    </a:p>
                  </a:txBody>
                  <a:tcPr marL="54864" marR="54864" marT="18288" marB="18288" anchor="ctr">
                    <a:solidFill>
                      <a:srgbClr val="FFFFFF"/>
                    </a:solidFill>
                  </a:tcPr>
                </a:tc>
                <a:tc>
                  <a:txBody>
                    <a:bodyPr wrap="square"/>
                    <a:lstStyle/>
                    <a:p>
                      <a:pPr algn="r"/>
                      <a:r>
                        <a:rPr sz="1000" b="0">
                          <a:solidFill>
                            <a:srgbClr val="1E2F5C"/>
                          </a:solidFill>
                          <a:latin typeface="Kanit"/>
                        </a:rPr>
                        <a:t>8.5M</a:t>
                      </a:r>
                    </a:p>
                  </a:txBody>
                  <a:tcPr marL="54864" marR="54864" marT="18288" marB="18288" anchor="ctr">
                    <a:solidFill>
                      <a:srgbClr val="FFFFFF"/>
                    </a:solidFill>
                  </a:tcPr>
                </a:tc>
                <a:tc>
                  <a:txBody>
                    <a:bodyPr wrap="square"/>
                    <a:lstStyle/>
                    <a:p>
                      <a:pPr algn="r"/>
                      <a:r>
                        <a:rPr sz="1000" b="0">
                          <a:solidFill>
                            <a:srgbClr val="1E2F5C"/>
                          </a:solidFill>
                          <a:latin typeface="Kanit"/>
                        </a:rPr>
                        <a:t>2.22</a:t>
                      </a:r>
                    </a:p>
                  </a:txBody>
                  <a:tcPr marL="54864" marR="54864" marT="18288" marB="18288" anchor="ctr">
                    <a:solidFill>
                      <a:srgbClr val="FFFFFF"/>
                    </a:solidFill>
                  </a:tcPr>
                </a:tc>
                <a:tc>
                  <a:txBody>
                    <a:bodyPr wrap="square"/>
                    <a:lstStyle/>
                    <a:p>
                      <a:pPr algn="r"/>
                      <a:r>
                        <a:rPr sz="1000" b="0">
                          <a:solidFill>
                            <a:srgbClr val="1E2F5C"/>
                          </a:solidFill>
                          <a:latin typeface="Kanit"/>
                        </a:rPr>
                        <a:t>3,169</a:t>
                      </a:r>
                    </a:p>
                  </a:txBody>
                  <a:tcPr marL="54864" marR="54864" marT="18288" marB="18288" anchor="ctr">
                    <a:solidFill>
                      <a:srgbClr val="FFFFFF"/>
                    </a:solidFill>
                  </a:tcPr>
                </a:tc>
                <a:tc>
                  <a:txBody>
                    <a:bodyPr wrap="square"/>
                    <a:lstStyle/>
                    <a:p>
                      <a:pPr algn="r"/>
                      <a:r>
                        <a:rPr sz="1000" b="0">
                          <a:solidFill>
                            <a:srgbClr val="1E2F5C"/>
                          </a:solidFill>
                          <a:latin typeface="Kanit"/>
                        </a:rPr>
                        <a:t>4,874</a:t>
                      </a:r>
                    </a:p>
                  </a:txBody>
                  <a:tcPr marL="54864" marR="54864" marT="18288" marB="18288" anchor="ctr">
                    <a:solidFill>
                      <a:srgbClr val="FFFFFF"/>
                    </a:solidFill>
                  </a:tcPr>
                </a:tc>
                <a:tc>
                  <a:txBody>
                    <a:bodyPr wrap="square"/>
                    <a:lstStyle/>
                    <a:p>
                      <a:pPr algn="r"/>
                      <a:r>
                        <a:rPr sz="1000" b="1">
                          <a:solidFill>
                            <a:srgbClr val="CC0000"/>
                          </a:solidFill>
                          <a:latin typeface="Kanit"/>
                        </a:rPr>
                        <a:t>-702</a:t>
                      </a:r>
                    </a:p>
                  </a:txBody>
                  <a:tcPr marL="54864" marR="54864" marT="18288" marB="18288" anchor="ctr">
                    <a:solidFill>
                      <a:srgbClr val="FFFFFF"/>
                    </a:solidFill>
                  </a:tcPr>
                </a:tc>
                <a:tc>
                  <a:txBody>
                    <a:bodyPr wrap="square"/>
                    <a:lstStyle/>
                    <a:p>
                      <a:pPr algn="l"/>
                      <a:r>
                        <a:rPr sz="1000" b="1">
                          <a:solidFill>
                            <a:srgbClr val="CC0000"/>
                          </a:solidFill>
                          <a:latin typeface="Kanit"/>
                        </a:rPr>
                        <a:t>at a loss</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Rice</a:t>
                      </a:r>
                    </a:p>
                  </a:txBody>
                  <a:tcPr marL="54864" marR="54864" marT="18288" marB="18288" anchor="ctr">
                    <a:solidFill>
                      <a:srgbClr val="F7F9FC"/>
                    </a:solidFill>
                  </a:tcPr>
                </a:tc>
                <a:tc>
                  <a:txBody>
                    <a:bodyPr wrap="square"/>
                    <a:lstStyle/>
                    <a:p>
                      <a:pPr algn="r"/>
                      <a:r>
                        <a:rPr sz="1000" b="0">
                          <a:solidFill>
                            <a:srgbClr val="1E2F5C"/>
                          </a:solidFill>
                          <a:latin typeface="Kanit"/>
                        </a:rPr>
                        <a:t>4,532,663</a:t>
                      </a:r>
                    </a:p>
                  </a:txBody>
                  <a:tcPr marL="54864" marR="54864" marT="18288" marB="18288" anchor="ctr">
                    <a:solidFill>
                      <a:srgbClr val="F7F9FC"/>
                    </a:solidFill>
                  </a:tcPr>
                </a:tc>
                <a:tc>
                  <a:txBody>
                    <a:bodyPr wrap="square"/>
                    <a:lstStyle/>
                    <a:p>
                      <a:pPr algn="r"/>
                      <a:r>
                        <a:rPr sz="1000" b="0">
                          <a:solidFill>
                            <a:srgbClr val="1E2F5C"/>
                          </a:solidFill>
                          <a:latin typeface="Kanit"/>
                        </a:rPr>
                        <a:t>61.3M</a:t>
                      </a:r>
                    </a:p>
                  </a:txBody>
                  <a:tcPr marL="54864" marR="54864" marT="18288" marB="18288" anchor="ctr">
                    <a:solidFill>
                      <a:srgbClr val="F7F9FC"/>
                    </a:solidFill>
                  </a:tcPr>
                </a:tc>
                <a:tc>
                  <a:txBody>
                    <a:bodyPr wrap="square"/>
                    <a:lstStyle/>
                    <a:p>
                      <a:pPr algn="r"/>
                      <a:r>
                        <a:rPr sz="1000" b="0">
                          <a:solidFill>
                            <a:srgbClr val="1E2F5C"/>
                          </a:solidFill>
                          <a:latin typeface="Kanit"/>
                        </a:rPr>
                        <a:t>8.11</a:t>
                      </a:r>
                    </a:p>
                  </a:txBody>
                  <a:tcPr marL="54864" marR="54864" marT="18288" marB="18288" anchor="ctr">
                    <a:solidFill>
                      <a:srgbClr val="F7F9FC"/>
                    </a:solidFill>
                  </a:tcPr>
                </a:tc>
                <a:tc>
                  <a:txBody>
                    <a:bodyPr wrap="square"/>
                    <a:lstStyle/>
                    <a:p>
                      <a:pPr algn="r"/>
                      <a:r>
                        <a:rPr sz="1000" b="0">
                          <a:solidFill>
                            <a:srgbClr val="1E2F5C"/>
                          </a:solidFill>
                          <a:latin typeface="Kanit"/>
                        </a:rPr>
                        <a:t>440</a:t>
                      </a:r>
                    </a:p>
                  </a:txBody>
                  <a:tcPr marL="54864" marR="54864" marT="18288" marB="18288" anchor="ctr">
                    <a:solidFill>
                      <a:srgbClr val="F7F9FC"/>
                    </a:solidFill>
                  </a:tcPr>
                </a:tc>
                <a:tc>
                  <a:txBody>
                    <a:bodyPr wrap="square"/>
                    <a:lstStyle/>
                    <a:p>
                      <a:pPr algn="r"/>
                      <a:r>
                        <a:rPr sz="1000" b="0">
                          <a:solidFill>
                            <a:srgbClr val="1E2F5C"/>
                          </a:solidFill>
                          <a:latin typeface="Kanit"/>
                        </a:rPr>
                        <a:t>2,512</a:t>
                      </a:r>
                    </a:p>
                  </a:txBody>
                  <a:tcPr marL="54864" marR="54864" marT="18288" marB="18288" anchor="ctr">
                    <a:solidFill>
                      <a:srgbClr val="F7F9FC"/>
                    </a:solidFill>
                  </a:tcPr>
                </a:tc>
                <a:tc>
                  <a:txBody>
                    <a:bodyPr wrap="square"/>
                    <a:lstStyle/>
                    <a:p>
                      <a:pPr algn="r"/>
                      <a:r>
                        <a:rPr sz="1000" b="1">
                          <a:solidFill>
                            <a:srgbClr val="CC0000"/>
                          </a:solidFill>
                          <a:latin typeface="Kanit"/>
                        </a:rPr>
                        <a:t>-444</a:t>
                      </a:r>
                    </a:p>
                  </a:txBody>
                  <a:tcPr marL="54864" marR="54864" marT="18288" marB="18288" anchor="ctr">
                    <a:solidFill>
                      <a:srgbClr val="F7F9FC"/>
                    </a:solidFill>
                  </a:tcPr>
                </a:tc>
                <a:tc>
                  <a:txBody>
                    <a:bodyPr wrap="square"/>
                    <a:lstStyle/>
                    <a:p>
                      <a:pPr algn="l"/>
                      <a:r>
                        <a:rPr sz="1000" b="1">
                          <a:solidFill>
                            <a:srgbClr val="CC0000"/>
                          </a:solidFill>
                          <a:latin typeface="Kanit"/>
                        </a:rPr>
                        <a:t>at a loss</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Rubber</a:t>
                      </a:r>
                    </a:p>
                  </a:txBody>
                  <a:tcPr marL="54864" marR="54864" marT="18288" marB="18288" anchor="ctr">
                    <a:solidFill>
                      <a:srgbClr val="FFFFFF"/>
                    </a:solidFill>
                  </a:tcPr>
                </a:tc>
                <a:tc>
                  <a:txBody>
                    <a:bodyPr wrap="square"/>
                    <a:lstStyle/>
                    <a:p>
                      <a:pPr algn="r"/>
                      <a:r>
                        <a:rPr sz="1000" b="0">
                          <a:solidFill>
                            <a:srgbClr val="1E2F5C"/>
                          </a:solidFill>
                          <a:latin typeface="Kanit"/>
                        </a:rPr>
                        <a:t>1,633,782</a:t>
                      </a:r>
                    </a:p>
                  </a:txBody>
                  <a:tcPr marL="54864" marR="54864" marT="18288" marB="18288" anchor="ctr">
                    <a:solidFill>
                      <a:srgbClr val="FFFFFF"/>
                    </a:solidFill>
                  </a:tcPr>
                </a:tc>
                <a:tc>
                  <a:txBody>
                    <a:bodyPr wrap="square"/>
                    <a:lstStyle/>
                    <a:p>
                      <a:pPr algn="r"/>
                      <a:r>
                        <a:rPr sz="1000" b="0">
                          <a:solidFill>
                            <a:srgbClr val="1E2F5C"/>
                          </a:solidFill>
                          <a:latin typeface="Kanit"/>
                        </a:rPr>
                        <a:t>22.4M</a:t>
                      </a:r>
                    </a:p>
                  </a:txBody>
                  <a:tcPr marL="54864" marR="54864" marT="18288" marB="18288" anchor="ctr">
                    <a:solidFill>
                      <a:srgbClr val="FFFFFF"/>
                    </a:solidFill>
                  </a:tcPr>
                </a:tc>
                <a:tc>
                  <a:txBody>
                    <a:bodyPr wrap="square"/>
                    <a:lstStyle/>
                    <a:p>
                      <a:pPr algn="r"/>
                      <a:r>
                        <a:rPr sz="1000" b="0">
                          <a:solidFill>
                            <a:srgbClr val="1E2F5C"/>
                          </a:solidFill>
                          <a:latin typeface="Kanit"/>
                        </a:rPr>
                        <a:t>60.72</a:t>
                      </a:r>
                    </a:p>
                  </a:txBody>
                  <a:tcPr marL="54864" marR="54864" marT="18288" marB="18288" anchor="ctr">
                    <a:solidFill>
                      <a:srgbClr val="FFFFFF"/>
                    </a:solidFill>
                  </a:tcPr>
                </a:tc>
                <a:tc>
                  <a:txBody>
                    <a:bodyPr wrap="square"/>
                    <a:lstStyle/>
                    <a:p>
                      <a:pPr algn="r"/>
                      <a:r>
                        <a:rPr sz="1000" b="0">
                          <a:solidFill>
                            <a:srgbClr val="1E2F5C"/>
                          </a:solidFill>
                          <a:latin typeface="Kanit"/>
                        </a:rPr>
                        <a:t>216</a:t>
                      </a:r>
                    </a:p>
                  </a:txBody>
                  <a:tcPr marL="54864" marR="54864" marT="18288" marB="18288" anchor="ctr">
                    <a:solidFill>
                      <a:srgbClr val="FFFFFF"/>
                    </a:solidFill>
                  </a:tcPr>
                </a:tc>
                <a:tc>
                  <a:txBody>
                    <a:bodyPr wrap="square"/>
                    <a:lstStyle/>
                    <a:p>
                      <a:pPr algn="r"/>
                      <a:r>
                        <a:rPr sz="1000" b="0">
                          <a:solidFill>
                            <a:srgbClr val="1E2F5C"/>
                          </a:solidFill>
                          <a:latin typeface="Kanit"/>
                        </a:rPr>
                        <a:t>9,363</a:t>
                      </a:r>
                    </a:p>
                  </a:txBody>
                  <a:tcPr marL="54864" marR="54864" marT="18288" marB="18288" anchor="ctr">
                    <a:solidFill>
                      <a:srgbClr val="FFFFFF"/>
                    </a:solidFill>
                  </a:tcPr>
                </a:tc>
                <a:tc>
                  <a:txBody>
                    <a:bodyPr wrap="square"/>
                    <a:lstStyle/>
                    <a:p>
                      <a:pPr algn="r"/>
                      <a:r>
                        <a:rPr sz="1000" b="1">
                          <a:solidFill>
                            <a:srgbClr val="CC0000"/>
                          </a:solidFill>
                          <a:latin typeface="Kanit"/>
                        </a:rPr>
                        <a:t>-379</a:t>
                      </a:r>
                    </a:p>
                  </a:txBody>
                  <a:tcPr marL="54864" marR="54864" marT="18288" marB="18288" anchor="ctr">
                    <a:solidFill>
                      <a:srgbClr val="FFFFFF"/>
                    </a:solidFill>
                  </a:tcPr>
                </a:tc>
                <a:tc>
                  <a:txBody>
                    <a:bodyPr wrap="square"/>
                    <a:lstStyle/>
                    <a:p>
                      <a:pPr algn="l"/>
                      <a:r>
                        <a:rPr sz="1000" b="1">
                          <a:solidFill>
                            <a:srgbClr val="CC0000"/>
                          </a:solidFill>
                          <a:latin typeface="Kanit"/>
                        </a:rPr>
                        <a:t>at a loss</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Maize</a:t>
                      </a:r>
                    </a:p>
                  </a:txBody>
                  <a:tcPr marL="54864" marR="54864" marT="18288" marB="18288" anchor="ctr">
                    <a:solidFill>
                      <a:srgbClr val="F7F9FC"/>
                    </a:solidFill>
                  </a:tcPr>
                </a:tc>
                <a:tc>
                  <a:txBody>
                    <a:bodyPr wrap="square"/>
                    <a:lstStyle/>
                    <a:p>
                      <a:pPr algn="r"/>
                      <a:r>
                        <a:rPr sz="1000" b="0">
                          <a:solidFill>
                            <a:srgbClr val="1E2F5C"/>
                          </a:solidFill>
                          <a:latin typeface="Kanit"/>
                        </a:rPr>
                        <a:t>406,092</a:t>
                      </a:r>
                    </a:p>
                  </a:txBody>
                  <a:tcPr marL="54864" marR="54864" marT="18288" marB="18288" anchor="ctr">
                    <a:solidFill>
                      <a:srgbClr val="F7F9FC"/>
                    </a:solidFill>
                  </a:tcPr>
                </a:tc>
                <a:tc>
                  <a:txBody>
                    <a:bodyPr wrap="square"/>
                    <a:lstStyle/>
                    <a:p>
                      <a:pPr algn="r"/>
                      <a:r>
                        <a:rPr sz="1000" b="0">
                          <a:solidFill>
                            <a:srgbClr val="1E2F5C"/>
                          </a:solidFill>
                          <a:latin typeface="Kanit"/>
                        </a:rPr>
                        <a:t>6.3M</a:t>
                      </a:r>
                    </a:p>
                  </a:txBody>
                  <a:tcPr marL="54864" marR="54864" marT="18288" marB="18288" anchor="ctr">
                    <a:solidFill>
                      <a:srgbClr val="F7F9FC"/>
                    </a:solidFill>
                  </a:tcPr>
                </a:tc>
                <a:tc>
                  <a:txBody>
                    <a:bodyPr wrap="square"/>
                    <a:lstStyle/>
                    <a:p>
                      <a:pPr algn="r"/>
                      <a:r>
                        <a:rPr sz="1000" b="0">
                          <a:solidFill>
                            <a:srgbClr val="1E2F5C"/>
                          </a:solidFill>
                          <a:latin typeface="Kanit"/>
                        </a:rPr>
                        <a:t>7.69</a:t>
                      </a:r>
                    </a:p>
                  </a:txBody>
                  <a:tcPr marL="54864" marR="54864" marT="18288" marB="18288" anchor="ctr">
                    <a:solidFill>
                      <a:srgbClr val="F7F9FC"/>
                    </a:solidFill>
                  </a:tcPr>
                </a:tc>
                <a:tc>
                  <a:txBody>
                    <a:bodyPr wrap="square"/>
                    <a:lstStyle/>
                    <a:p>
                      <a:pPr algn="r"/>
                      <a:r>
                        <a:rPr sz="1000" b="0">
                          <a:solidFill>
                            <a:srgbClr val="1E2F5C"/>
                          </a:solidFill>
                          <a:latin typeface="Kanit"/>
                        </a:rPr>
                        <a:t>803</a:t>
                      </a:r>
                    </a:p>
                  </a:txBody>
                  <a:tcPr marL="54864" marR="54864" marT="18288" marB="18288" anchor="ctr">
                    <a:solidFill>
                      <a:srgbClr val="F7F9FC"/>
                    </a:solidFill>
                  </a:tcPr>
                </a:tc>
                <a:tc>
                  <a:txBody>
                    <a:bodyPr wrap="square"/>
                    <a:lstStyle/>
                    <a:p>
                      <a:pPr algn="r"/>
                      <a:r>
                        <a:rPr sz="1000" b="0">
                          <a:solidFill>
                            <a:srgbClr val="1E2F5C"/>
                          </a:solidFill>
                          <a:latin typeface="Kanit"/>
                        </a:rPr>
                        <a:t>4,986</a:t>
                      </a:r>
                    </a:p>
                  </a:txBody>
                  <a:tcPr marL="54864" marR="54864" marT="18288" marB="18288" anchor="ctr">
                    <a:solidFill>
                      <a:srgbClr val="F7F9FC"/>
                    </a:solidFill>
                  </a:tcPr>
                </a:tc>
                <a:tc>
                  <a:txBody>
                    <a:bodyPr wrap="square"/>
                    <a:lstStyle/>
                    <a:p>
                      <a:pPr algn="r"/>
                      <a:r>
                        <a:rPr sz="1000" b="1">
                          <a:solidFill>
                            <a:srgbClr val="15795F"/>
                          </a:solidFill>
                          <a:latin typeface="Kanit"/>
                        </a:rPr>
                        <a:t>+603</a:t>
                      </a:r>
                    </a:p>
                  </a:txBody>
                  <a:tcPr marL="54864" marR="54864" marT="18288" marB="18288" anchor="ctr">
                    <a:solidFill>
                      <a:srgbClr val="F7F9FC"/>
                    </a:solidFill>
                  </a:tcPr>
                </a:tc>
                <a:tc>
                  <a:txBody>
                    <a:bodyPr wrap="square"/>
                    <a:lstStyle/>
                    <a:p>
                      <a:pPr algn="l"/>
                      <a:r>
                        <a:rPr sz="1000" b="1">
                          <a:solidFill>
                            <a:srgbClr val="15795F"/>
                          </a:solidFill>
                          <a:latin typeface="Kanit"/>
                        </a:rPr>
                        <a:t>covers cost</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Oil palm</a:t>
                      </a:r>
                    </a:p>
                  </a:txBody>
                  <a:tcPr marL="54864" marR="54864" marT="18288" marB="18288" anchor="ctr">
                    <a:solidFill>
                      <a:srgbClr val="FFFFFF"/>
                    </a:solidFill>
                  </a:tcPr>
                </a:tc>
                <a:tc>
                  <a:txBody>
                    <a:bodyPr wrap="square"/>
                    <a:lstStyle/>
                    <a:p>
                      <a:pPr algn="r"/>
                      <a:r>
                        <a:rPr sz="1000" b="0">
                          <a:solidFill>
                            <a:srgbClr val="1E2F5C"/>
                          </a:solidFill>
                          <a:latin typeface="Kanit"/>
                        </a:rPr>
                        <a:t>452,988</a:t>
                      </a:r>
                    </a:p>
                  </a:txBody>
                  <a:tcPr marL="54864" marR="54864" marT="18288" marB="18288" anchor="ctr">
                    <a:solidFill>
                      <a:srgbClr val="FFFFFF"/>
                    </a:solidFill>
                  </a:tcPr>
                </a:tc>
                <a:tc>
                  <a:txBody>
                    <a:bodyPr wrap="square"/>
                    <a:lstStyle/>
                    <a:p>
                      <a:pPr algn="r"/>
                      <a:r>
                        <a:rPr sz="1000" b="0">
                          <a:solidFill>
                            <a:srgbClr val="1E2F5C"/>
                          </a:solidFill>
                          <a:latin typeface="Kanit"/>
                        </a:rPr>
                        <a:t>6.4M</a:t>
                      </a:r>
                    </a:p>
                  </a:txBody>
                  <a:tcPr marL="54864" marR="54864" marT="18288" marB="18288" anchor="ctr">
                    <a:solidFill>
                      <a:srgbClr val="FFFFFF"/>
                    </a:solidFill>
                  </a:tcPr>
                </a:tc>
                <a:tc>
                  <a:txBody>
                    <a:bodyPr wrap="square"/>
                    <a:lstStyle/>
                    <a:p>
                      <a:pPr algn="r"/>
                      <a:r>
                        <a:rPr sz="1000" b="0">
                          <a:solidFill>
                            <a:srgbClr val="1E2F5C"/>
                          </a:solidFill>
                          <a:latin typeface="Kanit"/>
                        </a:rPr>
                        <a:t>6.09</a:t>
                      </a:r>
                    </a:p>
                  </a:txBody>
                  <a:tcPr marL="54864" marR="54864" marT="18288" marB="18288" anchor="ctr">
                    <a:solidFill>
                      <a:srgbClr val="FFFFFF"/>
                    </a:solidFill>
                  </a:tcPr>
                </a:tc>
                <a:tc>
                  <a:txBody>
                    <a:bodyPr wrap="square"/>
                    <a:lstStyle/>
                    <a:p>
                      <a:pPr algn="r"/>
                      <a:r>
                        <a:rPr sz="1000" b="0">
                          <a:solidFill>
                            <a:srgbClr val="1E2F5C"/>
                          </a:solidFill>
                          <a:latin typeface="Kanit"/>
                        </a:rPr>
                        <a:t>3,281</a:t>
                      </a:r>
                    </a:p>
                  </a:txBody>
                  <a:tcPr marL="54864" marR="54864" marT="18288" marB="18288" anchor="ctr">
                    <a:solidFill>
                      <a:srgbClr val="FFFFFF"/>
                    </a:solidFill>
                  </a:tcPr>
                </a:tc>
                <a:tc>
                  <a:txBody>
                    <a:bodyPr wrap="square"/>
                    <a:lstStyle/>
                    <a:p>
                      <a:pPr algn="r"/>
                      <a:r>
                        <a:rPr sz="1000" b="0">
                          <a:solidFill>
                            <a:srgbClr val="1E2F5C"/>
                          </a:solidFill>
                          <a:latin typeface="Kanit"/>
                        </a:rPr>
                        <a:t>14,802</a:t>
                      </a:r>
                    </a:p>
                  </a:txBody>
                  <a:tcPr marL="54864" marR="54864" marT="18288" marB="18288" anchor="ctr">
                    <a:solidFill>
                      <a:srgbClr val="FFFFFF"/>
                    </a:solidFill>
                  </a:tcPr>
                </a:tc>
                <a:tc>
                  <a:txBody>
                    <a:bodyPr wrap="square"/>
                    <a:lstStyle/>
                    <a:p>
                      <a:pPr algn="r"/>
                      <a:r>
                        <a:rPr sz="1000" b="1">
                          <a:solidFill>
                            <a:srgbClr val="15795F"/>
                          </a:solidFill>
                          <a:latin typeface="Kanit"/>
                        </a:rPr>
                        <a:t>+7,486</a:t>
                      </a:r>
                    </a:p>
                  </a:txBody>
                  <a:tcPr marL="54864" marR="54864" marT="18288" marB="18288" anchor="ctr">
                    <a:solidFill>
                      <a:srgbClr val="FFFFFF"/>
                    </a:solidFill>
                  </a:tcPr>
                </a:tc>
                <a:tc>
                  <a:txBody>
                    <a:bodyPr wrap="square"/>
                    <a:lstStyle/>
                    <a:p>
                      <a:pPr algn="l"/>
                      <a:r>
                        <a:rPr sz="1000" b="1">
                          <a:solidFill>
                            <a:srgbClr val="15795F"/>
                          </a:solidFill>
                          <a:latin typeface="Kanit"/>
                        </a:rPr>
                        <a:t>covers cost</a:t>
                      </a:r>
                    </a:p>
                  </a:txBody>
                  <a:tcPr marL="54864" marR="54864" marT="18288" marB="18288" anchor="ctr">
                    <a:solidFill>
                      <a:srgbClr val="FFFFFF"/>
                    </a:solidFill>
                  </a:tcPr>
                </a:tc>
              </a:tr>
            </a:tbl>
          </a:graphicData>
        </a:graphic>
      </p:graphicFrame>
      <p:sp>
        <p:nvSpPr>
          <p:cNvPr id="11" name="Rounded Rectangle 10"/>
          <p:cNvSpPr/>
          <p:nvPr/>
        </p:nvSpPr>
        <p:spPr>
          <a:xfrm>
            <a:off x="411480" y="3526536"/>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355579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3540252"/>
            <a:ext cx="1072051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OAE — 2568 (crop year 2568/69, OAE forecast Mar 2569). Households, area, yield, price and cost of production all MEASURED. Net per person per month is our arithmetic on those MEASURED inputs and is therefore ESTIMATED; national economics are applied flat to every province except where a province publishes its own yield. Only these five crops have a full cost series — sugarcane, coconut and pineapple do not, which is why they are absent.</a:t>
            </a:r>
          </a:p>
        </p:txBody>
      </p:sp>
      <p:sp>
        <p:nvSpPr>
          <p:cNvPr id="14" name="Rectangle 13"/>
          <p:cNvSpPr/>
          <p:nvPr/>
        </p:nvSpPr>
        <p:spPr>
          <a:xfrm>
            <a:off x="411480" y="4172330"/>
            <a:ext cx="5568696" cy="151815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172330"/>
            <a:ext cx="50292" cy="151815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4318635"/>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Rice is the one that matters most, and it is negative</a:t>
            </a:r>
          </a:p>
        </p:txBody>
      </p:sp>
      <p:sp>
        <p:nvSpPr>
          <p:cNvPr id="17" name="TextBox 16"/>
          <p:cNvSpPr txBox="1"/>
          <p:nvPr/>
        </p:nvSpPr>
        <p:spPr>
          <a:xfrm>
            <a:off x="630936" y="4523104"/>
            <a:ext cx="5239512" cy="10210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4.53 million households — by far the largest farming population in the country — growing a crop that returns −฿444 per person per month once cost of production is netted off, on a price that is UP 12.4% year on year.
A rising price and a negative margin at the same time is the whole argument for reading cost, not price. Rubber (−฿379) and cassava (−฿702) are in the same position.</a:t>
            </a:r>
          </a:p>
        </p:txBody>
      </p:sp>
      <p:sp>
        <p:nvSpPr>
          <p:cNvPr id="18" name="Rectangle 17"/>
          <p:cNvSpPr/>
          <p:nvPr/>
        </p:nvSpPr>
        <p:spPr>
          <a:xfrm>
            <a:off x="6208776" y="4172330"/>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208776" y="4172330"/>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428232" y="4318635"/>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Palm is the exception, and it is small</a:t>
            </a:r>
          </a:p>
        </p:txBody>
      </p:sp>
      <p:sp>
        <p:nvSpPr>
          <p:cNvPr id="21" name="TextBox 20"/>
          <p:cNvSpPr txBox="1"/>
          <p:nvPr/>
        </p:nvSpPr>
        <p:spPr>
          <a:xfrm>
            <a:off x="6428232" y="4523104"/>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Oil palm returns +฿7,486 per person per month — twelve times maize, the only other crop in the black. But it is 453,000 households against rice's 4.53 million, and it is concentrated in the South.
So the geography of who is under water is not subtle: rice and cassava provinces in Isan and the North are, palm provinces in the South are not. That is where a pre-emptive conversation is worth having.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07 · INCOME RIGHT NOW, BY REGION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Monthly income by occupation, and which way it just moved.</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The annual farm survey is a national mean two crop years old. This is the current monthly picture: measured wage and income levels by region and occupation, with the move the latest price round has already put through them.</a:t>
            </a:r>
          </a:p>
        </p:txBody>
      </p:sp>
      <p:graphicFrame>
        <p:nvGraphicFramePr>
          <p:cNvPr id="10" name="Table 9"/>
          <p:cNvGraphicFramePr>
            <a:graphicFrameLocks noGrp="1"/>
          </p:cNvGraphicFramePr>
          <p:nvPr/>
        </p:nvGraphicFramePr>
        <p:xfrm>
          <a:off x="411480" y="1679448"/>
          <a:ext cx="11365989" cy="1700784"/>
        </p:xfrm>
        <a:graphic>
          <a:graphicData uri="http://schemas.openxmlformats.org/drawingml/2006/table">
            <a:tbl>
              <a:tblPr>
                <a:tableStyleId>{5C22544A-7EE6-4342-B048-85BDC9FD1C3A}</a:tableStyleId>
              </a:tblPr>
              <a:tblGrid>
                <a:gridCol w="1289419"/>
                <a:gridCol w="1107945"/>
                <a:gridCol w="907369"/>
                <a:gridCol w="1107945"/>
                <a:gridCol w="907369"/>
                <a:gridCol w="1107945"/>
                <a:gridCol w="907369"/>
                <a:gridCol w="1107945"/>
                <a:gridCol w="907369"/>
                <a:gridCol w="1107945"/>
                <a:gridCol w="907369"/>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Farming ฿/mo</a:t>
                      </a:r>
                    </a:p>
                  </a:txBody>
                  <a:tcPr marL="54864" marR="54864" marT="18288" marB="18288" anchor="ctr">
                    <a:solidFill>
                      <a:srgbClr val="1B2A6B"/>
                    </a:solidFill>
                  </a:tcPr>
                </a:tc>
                <a:tc>
                  <a:txBody>
                    <a:bodyPr wrap="square"/>
                    <a:lstStyle/>
                    <a:p>
                      <a:pPr algn="r"/>
                      <a:r>
                        <a:rPr sz="1050" b="1">
                          <a:solidFill>
                            <a:srgbClr val="FFFFFF"/>
                          </a:solidFill>
                          <a:latin typeface="Kanit"/>
                        </a:rPr>
                        <a:t>move</a:t>
                      </a:r>
                    </a:p>
                  </a:txBody>
                  <a:tcPr marL="54864" marR="54864" marT="18288" marB="18288" anchor="ctr">
                    <a:solidFill>
                      <a:srgbClr val="1B2A6B"/>
                    </a:solidFill>
                  </a:tcPr>
                </a:tc>
                <a:tc>
                  <a:txBody>
                    <a:bodyPr wrap="square"/>
                    <a:lstStyle/>
                    <a:p>
                      <a:pPr algn="r"/>
                      <a:r>
                        <a:rPr sz="1050" b="1">
                          <a:solidFill>
                            <a:srgbClr val="FFFFFF"/>
                          </a:solidFill>
                          <a:latin typeface="Kanit"/>
                        </a:rPr>
                        <a:t>Factory ฿/mo</a:t>
                      </a:r>
                    </a:p>
                  </a:txBody>
                  <a:tcPr marL="54864" marR="54864" marT="18288" marB="18288" anchor="ctr">
                    <a:solidFill>
                      <a:srgbClr val="1B2A6B"/>
                    </a:solidFill>
                  </a:tcPr>
                </a:tc>
                <a:tc>
                  <a:txBody>
                    <a:bodyPr wrap="square"/>
                    <a:lstStyle/>
                    <a:p>
                      <a:pPr algn="r"/>
                      <a:r>
                        <a:rPr sz="1050" b="1">
                          <a:solidFill>
                            <a:srgbClr val="FFFFFF"/>
                          </a:solidFill>
                          <a:latin typeface="Kanit"/>
                        </a:rPr>
                        <a:t>move</a:t>
                      </a:r>
                    </a:p>
                  </a:txBody>
                  <a:tcPr marL="54864" marR="54864" marT="18288" marB="18288" anchor="ctr">
                    <a:solidFill>
                      <a:srgbClr val="1B2A6B"/>
                    </a:solidFill>
                  </a:tcPr>
                </a:tc>
                <a:tc>
                  <a:txBody>
                    <a:bodyPr wrap="square"/>
                    <a:lstStyle/>
                    <a:p>
                      <a:pPr algn="r"/>
                      <a:r>
                        <a:rPr sz="1050" b="1">
                          <a:solidFill>
                            <a:srgbClr val="FFFFFF"/>
                          </a:solidFill>
                          <a:latin typeface="Kanit"/>
                        </a:rPr>
                        <a:t>Transport ฿/mo</a:t>
                      </a:r>
                    </a:p>
                  </a:txBody>
                  <a:tcPr marL="54864" marR="54864" marT="18288" marB="18288" anchor="ctr">
                    <a:solidFill>
                      <a:srgbClr val="1B2A6B"/>
                    </a:solidFill>
                  </a:tcPr>
                </a:tc>
                <a:tc>
                  <a:txBody>
                    <a:bodyPr wrap="square"/>
                    <a:lstStyle/>
                    <a:p>
                      <a:pPr algn="r"/>
                      <a:r>
                        <a:rPr sz="1050" b="1">
                          <a:solidFill>
                            <a:srgbClr val="FFFFFF"/>
                          </a:solidFill>
                          <a:latin typeface="Kanit"/>
                        </a:rPr>
                        <a:t>move</a:t>
                      </a:r>
                    </a:p>
                  </a:txBody>
                  <a:tcPr marL="54864" marR="54864" marT="18288" marB="18288" anchor="ctr">
                    <a:solidFill>
                      <a:srgbClr val="1B2A6B"/>
                    </a:solidFill>
                  </a:tcPr>
                </a:tc>
                <a:tc>
                  <a:txBody>
                    <a:bodyPr wrap="square"/>
                    <a:lstStyle/>
                    <a:p>
                      <a:pPr algn="r"/>
                      <a:r>
                        <a:rPr sz="1050" b="1">
                          <a:solidFill>
                            <a:srgbClr val="FFFFFF"/>
                          </a:solidFill>
                          <a:latin typeface="Kanit"/>
                        </a:rPr>
                        <a:t>SME ฿/mo</a:t>
                      </a:r>
                    </a:p>
                  </a:txBody>
                  <a:tcPr marL="54864" marR="54864" marT="18288" marB="18288" anchor="ctr">
                    <a:solidFill>
                      <a:srgbClr val="1B2A6B"/>
                    </a:solidFill>
                  </a:tcPr>
                </a:tc>
                <a:tc>
                  <a:txBody>
                    <a:bodyPr wrap="square"/>
                    <a:lstStyle/>
                    <a:p>
                      <a:pPr algn="r"/>
                      <a:r>
                        <a:rPr sz="1050" b="1">
                          <a:solidFill>
                            <a:srgbClr val="FFFFFF"/>
                          </a:solidFill>
                          <a:latin typeface="Kanit"/>
                        </a:rPr>
                        <a:t>move</a:t>
                      </a:r>
                    </a:p>
                  </a:txBody>
                  <a:tcPr marL="54864" marR="54864" marT="18288" marB="18288" anchor="ctr">
                    <a:solidFill>
                      <a:srgbClr val="1B2A6B"/>
                    </a:solidFill>
                  </a:tcPr>
                </a:tc>
                <a:tc>
                  <a:txBody>
                    <a:bodyPr wrap="square"/>
                    <a:lstStyle/>
                    <a:p>
                      <a:pPr algn="r"/>
                      <a:r>
                        <a:rPr sz="1050" b="1">
                          <a:solidFill>
                            <a:srgbClr val="FFFFFF"/>
                          </a:solidFill>
                          <a:latin typeface="Kanit"/>
                        </a:rPr>
                        <a:t>Office ฿/mo</a:t>
                      </a:r>
                    </a:p>
                  </a:txBody>
                  <a:tcPr marL="54864" marR="54864" marT="18288" marB="18288" anchor="ctr">
                    <a:solidFill>
                      <a:srgbClr val="1B2A6B"/>
                    </a:solidFill>
                  </a:tcPr>
                </a:tc>
                <a:tc>
                  <a:txBody>
                    <a:bodyPr wrap="square"/>
                    <a:lstStyle/>
                    <a:p>
                      <a:pPr algn="r"/>
                      <a:r>
                        <a:rPr sz="1050" b="1">
                          <a:solidFill>
                            <a:srgbClr val="FFFFFF"/>
                          </a:solidFill>
                          <a:latin typeface="Kanit"/>
                        </a:rPr>
                        <a:t>move</a:t>
                      </a:r>
                    </a:p>
                  </a:txBody>
                  <a:tcPr marL="54864" marR="54864" marT="18288" marB="18288" anchor="ctr">
                    <a:solidFill>
                      <a:srgbClr val="1B2A6B"/>
                    </a:solidFill>
                  </a:tcPr>
                </a:tc>
              </a:tr>
              <a:tr h="274320">
                <a:tc>
                  <a:txBody>
                    <a:bodyPr wrap="square"/>
                    <a:lstStyle/>
                    <a:p>
                      <a:pPr algn="l"/>
                      <a:r>
                        <a:rPr sz="900" b="1">
                          <a:solidFill>
                            <a:srgbClr val="1E2F5C"/>
                          </a:solidFill>
                          <a:latin typeface="Kanit"/>
                        </a:rPr>
                        <a:t>Central&amp;BKK</a:t>
                      </a:r>
                    </a:p>
                  </a:txBody>
                  <a:tcPr marL="54864" marR="54864" marT="18288" marB="18288" anchor="ctr">
                    <a:solidFill>
                      <a:srgbClr val="FFFFFF"/>
                    </a:solidFill>
                  </a:tcPr>
                </a:tc>
                <a:tc>
                  <a:txBody>
                    <a:bodyPr wrap="square"/>
                    <a:lstStyle/>
                    <a:p>
                      <a:pPr algn="r"/>
                      <a:r>
                        <a:rPr sz="900" b="0">
                          <a:solidFill>
                            <a:srgbClr val="1E2F5C"/>
                          </a:solidFill>
                          <a:latin typeface="Kanit"/>
                        </a:rPr>
                        <a:t>9,559</a:t>
                      </a:r>
                    </a:p>
                  </a:txBody>
                  <a:tcPr marL="54864" marR="54864" marT="18288" marB="18288" anchor="ctr">
                    <a:solidFill>
                      <a:srgbClr val="FFFFFF"/>
                    </a:solidFill>
                  </a:tcPr>
                </a:tc>
                <a:tc>
                  <a:txBody>
                    <a:bodyPr wrap="square"/>
                    <a:lstStyle/>
                    <a:p>
                      <a:pPr algn="r"/>
                      <a:r>
                        <a:rPr sz="900" b="1">
                          <a:solidFill>
                            <a:srgbClr val="15795F"/>
                          </a:solidFill>
                          <a:latin typeface="Kanit"/>
                        </a:rPr>
                        <a:t>+8.9%</a:t>
                      </a:r>
                    </a:p>
                  </a:txBody>
                  <a:tcPr marL="54864" marR="54864" marT="18288" marB="18288" anchor="ctr">
                    <a:solidFill>
                      <a:srgbClr val="FFFFFF"/>
                    </a:solidFill>
                  </a:tcPr>
                </a:tc>
                <a:tc>
                  <a:txBody>
                    <a:bodyPr wrap="square"/>
                    <a:lstStyle/>
                    <a:p>
                      <a:pPr algn="r"/>
                      <a:r>
                        <a:rPr sz="900" b="0">
                          <a:solidFill>
                            <a:srgbClr val="1E2F5C"/>
                          </a:solidFill>
                          <a:latin typeface="Kanit"/>
                        </a:rPr>
                        <a:t>17,309</a:t>
                      </a:r>
                    </a:p>
                  </a:txBody>
                  <a:tcPr marL="54864" marR="54864" marT="18288" marB="18288" anchor="ctr">
                    <a:solidFill>
                      <a:srgbClr val="FFFFFF"/>
                    </a:solidFill>
                  </a:tcPr>
                </a:tc>
                <a:tc>
                  <a:txBody>
                    <a:bodyPr wrap="square"/>
                    <a:lstStyle/>
                    <a:p>
                      <a:pPr algn="r"/>
                      <a:r>
                        <a:rPr sz="900" b="1">
                          <a:solidFill>
                            <a:srgbClr val="CC0000"/>
                          </a:solidFill>
                          <a:latin typeface="Kanit"/>
                        </a:rPr>
                        <a:t>-0.6%</a:t>
                      </a:r>
                    </a:p>
                  </a:txBody>
                  <a:tcPr marL="54864" marR="54864" marT="18288" marB="18288" anchor="ctr">
                    <a:solidFill>
                      <a:srgbClr val="FFFFFF"/>
                    </a:solidFill>
                  </a:tcPr>
                </a:tc>
                <a:tc>
                  <a:txBody>
                    <a:bodyPr wrap="square"/>
                    <a:lstStyle/>
                    <a:p>
                      <a:pPr algn="r"/>
                      <a:r>
                        <a:rPr sz="900" b="0">
                          <a:solidFill>
                            <a:srgbClr val="1E2F5C"/>
                          </a:solidFill>
                          <a:latin typeface="Kanit"/>
                        </a:rPr>
                        <a:t>16,040</a:t>
                      </a:r>
                    </a:p>
                  </a:txBody>
                  <a:tcPr marL="54864" marR="54864" marT="18288" marB="18288" anchor="ctr">
                    <a:solidFill>
                      <a:srgbClr val="FFFFFF"/>
                    </a:solidFill>
                  </a:tcPr>
                </a:tc>
                <a:tc>
                  <a:txBody>
                    <a:bodyPr wrap="square"/>
                    <a:lstStyle/>
                    <a:p>
                      <a:pPr algn="r"/>
                      <a:r>
                        <a:rPr sz="900" b="1">
                          <a:solidFill>
                            <a:srgbClr val="CC0000"/>
                          </a:solidFill>
                          <a:latin typeface="Kanit"/>
                        </a:rPr>
                        <a:t>-3.3%</a:t>
                      </a:r>
                    </a:p>
                  </a:txBody>
                  <a:tcPr marL="54864" marR="54864" marT="18288" marB="18288" anchor="ctr">
                    <a:solidFill>
                      <a:srgbClr val="FFFFFF"/>
                    </a:solidFill>
                  </a:tcPr>
                </a:tc>
                <a:tc>
                  <a:txBody>
                    <a:bodyPr wrap="square"/>
                    <a:lstStyle/>
                    <a:p>
                      <a:pPr algn="r"/>
                      <a:r>
                        <a:rPr sz="900" b="0">
                          <a:solidFill>
                            <a:srgbClr val="1E2F5C"/>
                          </a:solidFill>
                          <a:latin typeface="Kanit"/>
                        </a:rPr>
                        <a:t>16,168</a:t>
                      </a:r>
                    </a:p>
                  </a:txBody>
                  <a:tcPr marL="54864" marR="54864" marT="18288" marB="18288" anchor="ctr">
                    <a:solidFill>
                      <a:srgbClr val="FFFFFF"/>
                    </a:solidFill>
                  </a:tcPr>
                </a:tc>
                <a:tc>
                  <a:txBody>
                    <a:bodyPr wrap="square"/>
                    <a:lstStyle/>
                    <a:p>
                      <a:pPr algn="r"/>
                      <a:r>
                        <a:rPr sz="900" b="1">
                          <a:solidFill>
                            <a:srgbClr val="606060"/>
                          </a:solidFill>
                          <a:latin typeface="Kanit"/>
                        </a:rPr>
                        <a:t>+0.0%</a:t>
                      </a:r>
                    </a:p>
                  </a:txBody>
                  <a:tcPr marL="54864" marR="54864" marT="18288" marB="18288" anchor="ctr">
                    <a:solidFill>
                      <a:srgbClr val="FFFFFF"/>
                    </a:solidFill>
                  </a:tcPr>
                </a:tc>
                <a:tc>
                  <a:txBody>
                    <a:bodyPr wrap="square"/>
                    <a:lstStyle/>
                    <a:p>
                      <a:pPr algn="r"/>
                      <a:r>
                        <a:rPr sz="900" b="0">
                          <a:solidFill>
                            <a:srgbClr val="1E2F5C"/>
                          </a:solidFill>
                          <a:latin typeface="Kanit"/>
                        </a:rPr>
                        <a:t>18,380</a:t>
                      </a:r>
                    </a:p>
                  </a:txBody>
                  <a:tcPr marL="54864" marR="54864" marT="18288" marB="18288" anchor="ctr">
                    <a:solidFill>
                      <a:srgbClr val="FFFFFF"/>
                    </a:solidFill>
                  </a:tcPr>
                </a:tc>
                <a:tc>
                  <a:txBody>
                    <a:bodyPr wrap="square"/>
                    <a:lstStyle/>
                    <a:p>
                      <a:pPr algn="r"/>
                      <a:r>
                        <a:rPr sz="900" b="1">
                          <a:solidFill>
                            <a:srgbClr val="606060"/>
                          </a:solidFill>
                          <a:latin typeface="Kanit"/>
                        </a:rPr>
                        <a:t>+0.0%</a:t>
                      </a:r>
                    </a:p>
                  </a:txBody>
                  <a:tcPr marL="54864" marR="54864" marT="18288" marB="18288" anchor="ctr">
                    <a:solidFill>
                      <a:srgbClr val="FFFFFF"/>
                    </a:solidFill>
                  </a:tcPr>
                </a:tc>
              </a:tr>
              <a:tr h="274320">
                <a:tc>
                  <a:txBody>
                    <a:bodyPr wrap="square"/>
                    <a:lstStyle/>
                    <a:p>
                      <a:pPr algn="l"/>
                      <a:r>
                        <a:rPr sz="900" b="1">
                          <a:solidFill>
                            <a:srgbClr val="1E2F5C"/>
                          </a:solidFill>
                          <a:latin typeface="Kanit"/>
                        </a:rPr>
                        <a:t>East</a:t>
                      </a:r>
                    </a:p>
                  </a:txBody>
                  <a:tcPr marL="54864" marR="54864" marT="18288" marB="18288" anchor="ctr">
                    <a:solidFill>
                      <a:srgbClr val="F7F9FC"/>
                    </a:solidFill>
                  </a:tcPr>
                </a:tc>
                <a:tc>
                  <a:txBody>
                    <a:bodyPr wrap="square"/>
                    <a:lstStyle/>
                    <a:p>
                      <a:pPr algn="r"/>
                      <a:r>
                        <a:rPr sz="900" b="0">
                          <a:solidFill>
                            <a:srgbClr val="1E2F5C"/>
                          </a:solidFill>
                          <a:latin typeface="Kanit"/>
                        </a:rPr>
                        <a:t>14,213</a:t>
                      </a:r>
                    </a:p>
                  </a:txBody>
                  <a:tcPr marL="54864" marR="54864" marT="18288" marB="18288" anchor="ctr">
                    <a:solidFill>
                      <a:srgbClr val="F7F9FC"/>
                    </a:solidFill>
                  </a:tcPr>
                </a:tc>
                <a:tc>
                  <a:txBody>
                    <a:bodyPr wrap="square"/>
                    <a:lstStyle/>
                    <a:p>
                      <a:pPr algn="r"/>
                      <a:r>
                        <a:rPr sz="900" b="1">
                          <a:solidFill>
                            <a:srgbClr val="15795F"/>
                          </a:solidFill>
                          <a:latin typeface="Kanit"/>
                        </a:rPr>
                        <a:t>+12.5%</a:t>
                      </a:r>
                    </a:p>
                  </a:txBody>
                  <a:tcPr marL="54864" marR="54864" marT="18288" marB="18288" anchor="ctr">
                    <a:solidFill>
                      <a:srgbClr val="F7F9FC"/>
                    </a:solidFill>
                  </a:tcPr>
                </a:tc>
                <a:tc>
                  <a:txBody>
                    <a:bodyPr wrap="square"/>
                    <a:lstStyle/>
                    <a:p>
                      <a:pPr algn="r"/>
                      <a:r>
                        <a:rPr sz="900" b="0">
                          <a:solidFill>
                            <a:srgbClr val="1E2F5C"/>
                          </a:solidFill>
                          <a:latin typeface="Kanit"/>
                        </a:rPr>
                        <a:t>17,883</a:t>
                      </a:r>
                    </a:p>
                  </a:txBody>
                  <a:tcPr marL="54864" marR="54864" marT="18288" marB="18288" anchor="ctr">
                    <a:solidFill>
                      <a:srgbClr val="F7F9FC"/>
                    </a:solidFill>
                  </a:tcPr>
                </a:tc>
                <a:tc>
                  <a:txBody>
                    <a:bodyPr wrap="square"/>
                    <a:lstStyle/>
                    <a:p>
                      <a:pPr algn="r"/>
                      <a:r>
                        <a:rPr sz="900" b="1">
                          <a:solidFill>
                            <a:srgbClr val="CC0000"/>
                          </a:solidFill>
                          <a:latin typeface="Kanit"/>
                        </a:rPr>
                        <a:t>-0.6%</a:t>
                      </a:r>
                    </a:p>
                  </a:txBody>
                  <a:tcPr marL="54864" marR="54864" marT="18288" marB="18288" anchor="ctr">
                    <a:solidFill>
                      <a:srgbClr val="F7F9FC"/>
                    </a:solidFill>
                  </a:tcPr>
                </a:tc>
                <a:tc>
                  <a:txBody>
                    <a:bodyPr wrap="square"/>
                    <a:lstStyle/>
                    <a:p>
                      <a:pPr algn="r"/>
                      <a:r>
                        <a:rPr sz="900" b="0">
                          <a:solidFill>
                            <a:srgbClr val="1E2F5C"/>
                          </a:solidFill>
                          <a:latin typeface="Kanit"/>
                        </a:rPr>
                        <a:t>16,595</a:t>
                      </a:r>
                    </a:p>
                  </a:txBody>
                  <a:tcPr marL="54864" marR="54864" marT="18288" marB="18288" anchor="ctr">
                    <a:solidFill>
                      <a:srgbClr val="F7F9FC"/>
                    </a:solidFill>
                  </a:tcPr>
                </a:tc>
                <a:tc>
                  <a:txBody>
                    <a:bodyPr wrap="square"/>
                    <a:lstStyle/>
                    <a:p>
                      <a:pPr algn="r"/>
                      <a:r>
                        <a:rPr sz="900" b="1">
                          <a:solidFill>
                            <a:srgbClr val="CC0000"/>
                          </a:solidFill>
                          <a:latin typeface="Kanit"/>
                        </a:rPr>
                        <a:t>-3.3%</a:t>
                      </a:r>
                    </a:p>
                  </a:txBody>
                  <a:tcPr marL="54864" marR="54864" marT="18288" marB="18288" anchor="ctr">
                    <a:solidFill>
                      <a:srgbClr val="F7F9FC"/>
                    </a:solidFill>
                  </a:tcPr>
                </a:tc>
                <a:tc>
                  <a:txBody>
                    <a:bodyPr wrap="square"/>
                    <a:lstStyle/>
                    <a:p>
                      <a:pPr algn="r"/>
                      <a:r>
                        <a:rPr sz="900" b="0">
                          <a:solidFill>
                            <a:srgbClr val="1E2F5C"/>
                          </a:solidFill>
                          <a:latin typeface="Kanit"/>
                        </a:rPr>
                        <a:t>12,393</a:t>
                      </a:r>
                    </a:p>
                  </a:txBody>
                  <a:tcPr marL="54864" marR="54864" marT="18288" marB="18288" anchor="ctr">
                    <a:solidFill>
                      <a:srgbClr val="F7F9FC"/>
                    </a:solidFill>
                  </a:tcPr>
                </a:tc>
                <a:tc>
                  <a:txBody>
                    <a:bodyPr wrap="square"/>
                    <a:lstStyle/>
                    <a:p>
                      <a:pPr algn="r"/>
                      <a:r>
                        <a:rPr sz="900" b="1">
                          <a:solidFill>
                            <a:srgbClr val="606060"/>
                          </a:solidFill>
                          <a:latin typeface="Kanit"/>
                        </a:rPr>
                        <a:t>+0.4%</a:t>
                      </a:r>
                    </a:p>
                  </a:txBody>
                  <a:tcPr marL="54864" marR="54864" marT="18288" marB="18288" anchor="ctr">
                    <a:solidFill>
                      <a:srgbClr val="F7F9FC"/>
                    </a:solidFill>
                  </a:tcPr>
                </a:tc>
                <a:tc>
                  <a:txBody>
                    <a:bodyPr wrap="square"/>
                    <a:lstStyle/>
                    <a:p>
                      <a:pPr algn="r"/>
                      <a:r>
                        <a:rPr sz="900" b="0">
                          <a:solidFill>
                            <a:srgbClr val="1E2F5C"/>
                          </a:solidFill>
                          <a:latin typeface="Kanit"/>
                        </a:rPr>
                        <a:t>15,958</a:t>
                      </a:r>
                    </a:p>
                  </a:txBody>
                  <a:tcPr marL="54864" marR="54864" marT="18288" marB="18288" anchor="ctr">
                    <a:solidFill>
                      <a:srgbClr val="F7F9FC"/>
                    </a:solidFill>
                  </a:tcPr>
                </a:tc>
                <a:tc>
                  <a:txBody>
                    <a:bodyPr wrap="square"/>
                    <a:lstStyle/>
                    <a:p>
                      <a:pPr algn="r"/>
                      <a:r>
                        <a:rPr sz="900" b="1">
                          <a:solidFill>
                            <a:srgbClr val="606060"/>
                          </a:solidFill>
                          <a:latin typeface="Kanit"/>
                        </a:rPr>
                        <a:t>+0.0%</a:t>
                      </a:r>
                    </a:p>
                  </a:txBody>
                  <a:tcPr marL="54864" marR="54864" marT="18288" marB="18288" anchor="ctr">
                    <a:solidFill>
                      <a:srgbClr val="F7F9FC"/>
                    </a:solidFill>
                  </a:tcPr>
                </a:tc>
              </a:tr>
              <a:tr h="274320">
                <a:tc>
                  <a:txBody>
                    <a:bodyPr wrap="square"/>
                    <a:lstStyle/>
                    <a:p>
                      <a:pPr algn="l"/>
                      <a:r>
                        <a:rPr sz="900" b="1">
                          <a:solidFill>
                            <a:srgbClr val="1E2F5C"/>
                          </a:solidFill>
                          <a:latin typeface="Kanit"/>
                        </a:rPr>
                        <a:t>North</a:t>
                      </a:r>
                    </a:p>
                  </a:txBody>
                  <a:tcPr marL="54864" marR="54864" marT="18288" marB="18288" anchor="ctr">
                    <a:solidFill>
                      <a:srgbClr val="FFFFFF"/>
                    </a:solidFill>
                  </a:tcPr>
                </a:tc>
                <a:tc>
                  <a:txBody>
                    <a:bodyPr wrap="square"/>
                    <a:lstStyle/>
                    <a:p>
                      <a:pPr algn="r"/>
                      <a:r>
                        <a:rPr sz="900" b="0">
                          <a:solidFill>
                            <a:srgbClr val="1E2F5C"/>
                          </a:solidFill>
                          <a:latin typeface="Kanit"/>
                        </a:rPr>
                        <a:t>7,157</a:t>
                      </a:r>
                    </a:p>
                  </a:txBody>
                  <a:tcPr marL="54864" marR="54864" marT="18288" marB="18288" anchor="ctr">
                    <a:solidFill>
                      <a:srgbClr val="FFFFFF"/>
                    </a:solidFill>
                  </a:tcPr>
                </a:tc>
                <a:tc>
                  <a:txBody>
                    <a:bodyPr wrap="square"/>
                    <a:lstStyle/>
                    <a:p>
                      <a:pPr algn="r"/>
                      <a:r>
                        <a:rPr sz="900" b="1">
                          <a:solidFill>
                            <a:srgbClr val="15795F"/>
                          </a:solidFill>
                          <a:latin typeface="Kanit"/>
                        </a:rPr>
                        <a:t>+9.2%</a:t>
                      </a:r>
                    </a:p>
                  </a:txBody>
                  <a:tcPr marL="54864" marR="54864" marT="18288" marB="18288" anchor="ctr">
                    <a:solidFill>
                      <a:srgbClr val="FFFFFF"/>
                    </a:solidFill>
                  </a:tcPr>
                </a:tc>
                <a:tc>
                  <a:txBody>
                    <a:bodyPr wrap="square"/>
                    <a:lstStyle/>
                    <a:p>
                      <a:pPr algn="r"/>
                      <a:r>
                        <a:rPr sz="900" b="0">
                          <a:solidFill>
                            <a:srgbClr val="1E2F5C"/>
                          </a:solidFill>
                          <a:latin typeface="Kanit"/>
                        </a:rPr>
                        <a:t>13,147</a:t>
                      </a:r>
                    </a:p>
                  </a:txBody>
                  <a:tcPr marL="54864" marR="54864" marT="18288" marB="18288" anchor="ctr">
                    <a:solidFill>
                      <a:srgbClr val="FFFFFF"/>
                    </a:solidFill>
                  </a:tcPr>
                </a:tc>
                <a:tc>
                  <a:txBody>
                    <a:bodyPr wrap="square"/>
                    <a:lstStyle/>
                    <a:p>
                      <a:pPr algn="r"/>
                      <a:r>
                        <a:rPr sz="900" b="1">
                          <a:solidFill>
                            <a:srgbClr val="CC0000"/>
                          </a:solidFill>
                          <a:latin typeface="Kanit"/>
                        </a:rPr>
                        <a:t>-0.6%</a:t>
                      </a:r>
                    </a:p>
                  </a:txBody>
                  <a:tcPr marL="54864" marR="54864" marT="18288" marB="18288" anchor="ctr">
                    <a:solidFill>
                      <a:srgbClr val="FFFFFF"/>
                    </a:solidFill>
                  </a:tcPr>
                </a:tc>
                <a:tc>
                  <a:txBody>
                    <a:bodyPr wrap="square"/>
                    <a:lstStyle/>
                    <a:p>
                      <a:pPr algn="r"/>
                      <a:r>
                        <a:rPr sz="900" b="0">
                          <a:solidFill>
                            <a:srgbClr val="1E2F5C"/>
                          </a:solidFill>
                          <a:latin typeface="Kanit"/>
                        </a:rPr>
                        <a:t>13,772</a:t>
                      </a:r>
                    </a:p>
                  </a:txBody>
                  <a:tcPr marL="54864" marR="54864" marT="18288" marB="18288" anchor="ctr">
                    <a:solidFill>
                      <a:srgbClr val="FFFFFF"/>
                    </a:solidFill>
                  </a:tcPr>
                </a:tc>
                <a:tc>
                  <a:txBody>
                    <a:bodyPr wrap="square"/>
                    <a:lstStyle/>
                    <a:p>
                      <a:pPr algn="r"/>
                      <a:r>
                        <a:rPr sz="900" b="1">
                          <a:solidFill>
                            <a:srgbClr val="CC0000"/>
                          </a:solidFill>
                          <a:latin typeface="Kanit"/>
                        </a:rPr>
                        <a:t>-3.3%</a:t>
                      </a:r>
                    </a:p>
                  </a:txBody>
                  <a:tcPr marL="54864" marR="54864" marT="18288" marB="18288" anchor="ctr">
                    <a:solidFill>
                      <a:srgbClr val="FFFFFF"/>
                    </a:solidFill>
                  </a:tcPr>
                </a:tc>
                <a:tc>
                  <a:txBody>
                    <a:bodyPr wrap="square"/>
                    <a:lstStyle/>
                    <a:p>
                      <a:pPr algn="r"/>
                      <a:r>
                        <a:rPr sz="900" b="0">
                          <a:solidFill>
                            <a:srgbClr val="1E2F5C"/>
                          </a:solidFill>
                          <a:latin typeface="Kanit"/>
                        </a:rPr>
                        <a:t>11,285</a:t>
                      </a:r>
                    </a:p>
                  </a:txBody>
                  <a:tcPr marL="54864" marR="54864" marT="18288" marB="18288" anchor="ctr">
                    <a:solidFill>
                      <a:srgbClr val="FFFFFF"/>
                    </a:solidFill>
                  </a:tcPr>
                </a:tc>
                <a:tc>
                  <a:txBody>
                    <a:bodyPr wrap="square"/>
                    <a:lstStyle/>
                    <a:p>
                      <a:pPr algn="r"/>
                      <a:r>
                        <a:rPr sz="900" b="1">
                          <a:solidFill>
                            <a:srgbClr val="606060"/>
                          </a:solidFill>
                          <a:latin typeface="Kanit"/>
                        </a:rPr>
                        <a:t>+0.1%</a:t>
                      </a:r>
                    </a:p>
                  </a:txBody>
                  <a:tcPr marL="54864" marR="54864" marT="18288" marB="18288" anchor="ctr">
                    <a:solidFill>
                      <a:srgbClr val="FFFFFF"/>
                    </a:solidFill>
                  </a:tcPr>
                </a:tc>
                <a:tc>
                  <a:txBody>
                    <a:bodyPr wrap="square"/>
                    <a:lstStyle/>
                    <a:p>
                      <a:pPr algn="r"/>
                      <a:r>
                        <a:rPr sz="900" b="0">
                          <a:solidFill>
                            <a:srgbClr val="1E2F5C"/>
                          </a:solidFill>
                          <a:latin typeface="Kanit"/>
                        </a:rPr>
                        <a:t>16,169</a:t>
                      </a:r>
                    </a:p>
                  </a:txBody>
                  <a:tcPr marL="54864" marR="54864" marT="18288" marB="18288" anchor="ctr">
                    <a:solidFill>
                      <a:srgbClr val="FFFFFF"/>
                    </a:solidFill>
                  </a:tcPr>
                </a:tc>
                <a:tc>
                  <a:txBody>
                    <a:bodyPr wrap="square"/>
                    <a:lstStyle/>
                    <a:p>
                      <a:pPr algn="r"/>
                      <a:r>
                        <a:rPr sz="900" b="1">
                          <a:solidFill>
                            <a:srgbClr val="606060"/>
                          </a:solidFill>
                          <a:latin typeface="Kanit"/>
                        </a:rPr>
                        <a:t>+0.0%</a:t>
                      </a:r>
                    </a:p>
                  </a:txBody>
                  <a:tcPr marL="54864" marR="54864" marT="18288" marB="18288" anchor="ctr">
                    <a:solidFill>
                      <a:srgbClr val="FFFFFF"/>
                    </a:solidFill>
                  </a:tcPr>
                </a:tc>
              </a:tr>
              <a:tr h="274320">
                <a:tc>
                  <a:txBody>
                    <a:bodyPr wrap="square"/>
                    <a:lstStyle/>
                    <a:p>
                      <a:pPr algn="l"/>
                      <a:r>
                        <a:rPr sz="900" b="1">
                          <a:solidFill>
                            <a:srgbClr val="1E2F5C"/>
                          </a:solidFill>
                          <a:latin typeface="Kanit"/>
                        </a:rPr>
                        <a:t>Isan</a:t>
                      </a:r>
                    </a:p>
                  </a:txBody>
                  <a:tcPr marL="54864" marR="54864" marT="18288" marB="18288" anchor="ctr">
                    <a:solidFill>
                      <a:srgbClr val="F7F9FC"/>
                    </a:solidFill>
                  </a:tcPr>
                </a:tc>
                <a:tc>
                  <a:txBody>
                    <a:bodyPr wrap="square"/>
                    <a:lstStyle/>
                    <a:p>
                      <a:pPr algn="r"/>
                      <a:r>
                        <a:rPr sz="900" b="0">
                          <a:solidFill>
                            <a:srgbClr val="1E2F5C"/>
                          </a:solidFill>
                          <a:latin typeface="Kanit"/>
                        </a:rPr>
                        <a:t>8,030</a:t>
                      </a:r>
                    </a:p>
                  </a:txBody>
                  <a:tcPr marL="54864" marR="54864" marT="18288" marB="18288" anchor="ctr">
                    <a:solidFill>
                      <a:srgbClr val="F7F9FC"/>
                    </a:solidFill>
                  </a:tcPr>
                </a:tc>
                <a:tc>
                  <a:txBody>
                    <a:bodyPr wrap="square"/>
                    <a:lstStyle/>
                    <a:p>
                      <a:pPr algn="r"/>
                      <a:r>
                        <a:rPr sz="900" b="1">
                          <a:solidFill>
                            <a:srgbClr val="15795F"/>
                          </a:solidFill>
                          <a:latin typeface="Kanit"/>
                        </a:rPr>
                        <a:t>+9.1%</a:t>
                      </a:r>
                    </a:p>
                  </a:txBody>
                  <a:tcPr marL="54864" marR="54864" marT="18288" marB="18288" anchor="ctr">
                    <a:solidFill>
                      <a:srgbClr val="F7F9FC"/>
                    </a:solidFill>
                  </a:tcPr>
                </a:tc>
                <a:tc>
                  <a:txBody>
                    <a:bodyPr wrap="square"/>
                    <a:lstStyle/>
                    <a:p>
                      <a:pPr algn="r"/>
                      <a:r>
                        <a:rPr sz="900" b="0">
                          <a:solidFill>
                            <a:srgbClr val="1E2F5C"/>
                          </a:solidFill>
                          <a:latin typeface="Kanit"/>
                        </a:rPr>
                        <a:t>12,406</a:t>
                      </a:r>
                    </a:p>
                  </a:txBody>
                  <a:tcPr marL="54864" marR="54864" marT="18288" marB="18288" anchor="ctr">
                    <a:solidFill>
                      <a:srgbClr val="F7F9FC"/>
                    </a:solidFill>
                  </a:tcPr>
                </a:tc>
                <a:tc>
                  <a:txBody>
                    <a:bodyPr wrap="square"/>
                    <a:lstStyle/>
                    <a:p>
                      <a:pPr algn="r"/>
                      <a:r>
                        <a:rPr sz="900" b="1">
                          <a:solidFill>
                            <a:srgbClr val="CC0000"/>
                          </a:solidFill>
                          <a:latin typeface="Kanit"/>
                        </a:rPr>
                        <a:t>-0.6%</a:t>
                      </a:r>
                    </a:p>
                  </a:txBody>
                  <a:tcPr marL="54864" marR="54864" marT="18288" marB="18288" anchor="ctr">
                    <a:solidFill>
                      <a:srgbClr val="F7F9FC"/>
                    </a:solidFill>
                  </a:tcPr>
                </a:tc>
                <a:tc>
                  <a:txBody>
                    <a:bodyPr wrap="square"/>
                    <a:lstStyle/>
                    <a:p>
                      <a:pPr algn="r"/>
                      <a:r>
                        <a:rPr sz="900" b="0">
                          <a:solidFill>
                            <a:srgbClr val="1E2F5C"/>
                          </a:solidFill>
                          <a:latin typeface="Kanit"/>
                        </a:rPr>
                        <a:t>13,670</a:t>
                      </a:r>
                    </a:p>
                  </a:txBody>
                  <a:tcPr marL="54864" marR="54864" marT="18288" marB="18288" anchor="ctr">
                    <a:solidFill>
                      <a:srgbClr val="F7F9FC"/>
                    </a:solidFill>
                  </a:tcPr>
                </a:tc>
                <a:tc>
                  <a:txBody>
                    <a:bodyPr wrap="square"/>
                    <a:lstStyle/>
                    <a:p>
                      <a:pPr algn="r"/>
                      <a:r>
                        <a:rPr sz="900" b="1">
                          <a:solidFill>
                            <a:srgbClr val="CC0000"/>
                          </a:solidFill>
                          <a:latin typeface="Kanit"/>
                        </a:rPr>
                        <a:t>-3.3%</a:t>
                      </a:r>
                    </a:p>
                  </a:txBody>
                  <a:tcPr marL="54864" marR="54864" marT="18288" marB="18288" anchor="ctr">
                    <a:solidFill>
                      <a:srgbClr val="F7F9FC"/>
                    </a:solidFill>
                  </a:tcPr>
                </a:tc>
                <a:tc>
                  <a:txBody>
                    <a:bodyPr wrap="square"/>
                    <a:lstStyle/>
                    <a:p>
                      <a:pPr algn="r"/>
                      <a:r>
                        <a:rPr sz="900" b="0">
                          <a:solidFill>
                            <a:srgbClr val="1E2F5C"/>
                          </a:solidFill>
                          <a:latin typeface="Kanit"/>
                        </a:rPr>
                        <a:t>11,137</a:t>
                      </a:r>
                    </a:p>
                  </a:txBody>
                  <a:tcPr marL="54864" marR="54864" marT="18288" marB="18288" anchor="ctr">
                    <a:solidFill>
                      <a:srgbClr val="F7F9FC"/>
                    </a:solidFill>
                  </a:tcPr>
                </a:tc>
                <a:tc>
                  <a:txBody>
                    <a:bodyPr wrap="square"/>
                    <a:lstStyle/>
                    <a:p>
                      <a:pPr algn="r"/>
                      <a:r>
                        <a:rPr sz="900" b="1">
                          <a:solidFill>
                            <a:srgbClr val="606060"/>
                          </a:solidFill>
                          <a:latin typeface="Kanit"/>
                        </a:rPr>
                        <a:t>+0.0%</a:t>
                      </a:r>
                    </a:p>
                  </a:txBody>
                  <a:tcPr marL="54864" marR="54864" marT="18288" marB="18288" anchor="ctr">
                    <a:solidFill>
                      <a:srgbClr val="F7F9FC"/>
                    </a:solidFill>
                  </a:tcPr>
                </a:tc>
                <a:tc>
                  <a:txBody>
                    <a:bodyPr wrap="square"/>
                    <a:lstStyle/>
                    <a:p>
                      <a:pPr algn="r"/>
                      <a:r>
                        <a:rPr sz="900" b="0">
                          <a:solidFill>
                            <a:srgbClr val="1E2F5C"/>
                          </a:solidFill>
                          <a:latin typeface="Kanit"/>
                        </a:rPr>
                        <a:t>17,141</a:t>
                      </a:r>
                    </a:p>
                  </a:txBody>
                  <a:tcPr marL="54864" marR="54864" marT="18288" marB="18288" anchor="ctr">
                    <a:solidFill>
                      <a:srgbClr val="F7F9FC"/>
                    </a:solidFill>
                  </a:tcPr>
                </a:tc>
                <a:tc>
                  <a:txBody>
                    <a:bodyPr wrap="square"/>
                    <a:lstStyle/>
                    <a:p>
                      <a:pPr algn="r"/>
                      <a:r>
                        <a:rPr sz="900" b="1">
                          <a:solidFill>
                            <a:srgbClr val="606060"/>
                          </a:solidFill>
                          <a:latin typeface="Kanit"/>
                        </a:rPr>
                        <a:t>+0.0%</a:t>
                      </a:r>
                    </a:p>
                  </a:txBody>
                  <a:tcPr marL="54864" marR="54864" marT="18288" marB="18288" anchor="ctr">
                    <a:solidFill>
                      <a:srgbClr val="F7F9FC"/>
                    </a:solidFill>
                  </a:tcPr>
                </a:tc>
              </a:tr>
              <a:tr h="274320">
                <a:tc>
                  <a:txBody>
                    <a:bodyPr wrap="square"/>
                    <a:lstStyle/>
                    <a:p>
                      <a:pPr algn="l"/>
                      <a:r>
                        <a:rPr sz="900" b="1">
                          <a:solidFill>
                            <a:srgbClr val="1E2F5C"/>
                          </a:solidFill>
                          <a:latin typeface="Kanit"/>
                        </a:rPr>
                        <a:t>South</a:t>
                      </a:r>
                    </a:p>
                  </a:txBody>
                  <a:tcPr marL="54864" marR="54864" marT="18288" marB="18288" anchor="ctr">
                    <a:solidFill>
                      <a:srgbClr val="FFFFFF"/>
                    </a:solidFill>
                  </a:tcPr>
                </a:tc>
                <a:tc>
                  <a:txBody>
                    <a:bodyPr wrap="square"/>
                    <a:lstStyle/>
                    <a:p>
                      <a:pPr algn="r"/>
                      <a:r>
                        <a:rPr sz="900" b="0">
                          <a:solidFill>
                            <a:srgbClr val="1E2F5C"/>
                          </a:solidFill>
                          <a:latin typeface="Kanit"/>
                        </a:rPr>
                        <a:t>7,972</a:t>
                      </a:r>
                    </a:p>
                  </a:txBody>
                  <a:tcPr marL="54864" marR="54864" marT="18288" marB="18288" anchor="ctr">
                    <a:solidFill>
                      <a:srgbClr val="FFFFFF"/>
                    </a:solidFill>
                  </a:tcPr>
                </a:tc>
                <a:tc>
                  <a:txBody>
                    <a:bodyPr wrap="square"/>
                    <a:lstStyle/>
                    <a:p>
                      <a:pPr algn="r"/>
                      <a:r>
                        <a:rPr sz="900" b="1">
                          <a:solidFill>
                            <a:srgbClr val="15795F"/>
                          </a:solidFill>
                          <a:latin typeface="Kanit"/>
                        </a:rPr>
                        <a:t>+14.3%</a:t>
                      </a:r>
                    </a:p>
                  </a:txBody>
                  <a:tcPr marL="54864" marR="54864" marT="18288" marB="18288" anchor="ctr">
                    <a:solidFill>
                      <a:srgbClr val="FFFFFF"/>
                    </a:solidFill>
                  </a:tcPr>
                </a:tc>
                <a:tc>
                  <a:txBody>
                    <a:bodyPr wrap="square"/>
                    <a:lstStyle/>
                    <a:p>
                      <a:pPr algn="r"/>
                      <a:r>
                        <a:rPr sz="900" b="0">
                          <a:solidFill>
                            <a:srgbClr val="1E2F5C"/>
                          </a:solidFill>
                          <a:latin typeface="Kanit"/>
                        </a:rPr>
                        <a:t>14,133</a:t>
                      </a:r>
                    </a:p>
                  </a:txBody>
                  <a:tcPr marL="54864" marR="54864" marT="18288" marB="18288" anchor="ctr">
                    <a:solidFill>
                      <a:srgbClr val="FFFFFF"/>
                    </a:solidFill>
                  </a:tcPr>
                </a:tc>
                <a:tc>
                  <a:txBody>
                    <a:bodyPr wrap="square"/>
                    <a:lstStyle/>
                    <a:p>
                      <a:pPr algn="r"/>
                      <a:r>
                        <a:rPr sz="900" b="1">
                          <a:solidFill>
                            <a:srgbClr val="CC0000"/>
                          </a:solidFill>
                          <a:latin typeface="Kanit"/>
                        </a:rPr>
                        <a:t>-0.6%</a:t>
                      </a:r>
                    </a:p>
                  </a:txBody>
                  <a:tcPr marL="54864" marR="54864" marT="18288" marB="18288" anchor="ctr">
                    <a:solidFill>
                      <a:srgbClr val="FFFFFF"/>
                    </a:solidFill>
                  </a:tcPr>
                </a:tc>
                <a:tc>
                  <a:txBody>
                    <a:bodyPr wrap="square"/>
                    <a:lstStyle/>
                    <a:p>
                      <a:pPr algn="r"/>
                      <a:r>
                        <a:rPr sz="900" b="0">
                          <a:solidFill>
                            <a:srgbClr val="1E2F5C"/>
                          </a:solidFill>
                          <a:latin typeface="Kanit"/>
                        </a:rPr>
                        <a:t>13,933</a:t>
                      </a:r>
                    </a:p>
                  </a:txBody>
                  <a:tcPr marL="54864" marR="54864" marT="18288" marB="18288" anchor="ctr">
                    <a:solidFill>
                      <a:srgbClr val="FFFFFF"/>
                    </a:solidFill>
                  </a:tcPr>
                </a:tc>
                <a:tc>
                  <a:txBody>
                    <a:bodyPr wrap="square"/>
                    <a:lstStyle/>
                    <a:p>
                      <a:pPr algn="r"/>
                      <a:r>
                        <a:rPr sz="900" b="1">
                          <a:solidFill>
                            <a:srgbClr val="CC0000"/>
                          </a:solidFill>
                          <a:latin typeface="Kanit"/>
                        </a:rPr>
                        <a:t>-3.3%</a:t>
                      </a:r>
                    </a:p>
                  </a:txBody>
                  <a:tcPr marL="54864" marR="54864" marT="18288" marB="18288" anchor="ctr">
                    <a:solidFill>
                      <a:srgbClr val="FFFFFF"/>
                    </a:solidFill>
                  </a:tcPr>
                </a:tc>
                <a:tc>
                  <a:txBody>
                    <a:bodyPr wrap="square"/>
                    <a:lstStyle/>
                    <a:p>
                      <a:pPr algn="r"/>
                      <a:r>
                        <a:rPr sz="900" b="0">
                          <a:solidFill>
                            <a:srgbClr val="1E2F5C"/>
                          </a:solidFill>
                          <a:latin typeface="Kanit"/>
                        </a:rPr>
                        <a:t>10,711</a:t>
                      </a:r>
                    </a:p>
                  </a:txBody>
                  <a:tcPr marL="54864" marR="54864" marT="18288" marB="18288" anchor="ctr">
                    <a:solidFill>
                      <a:srgbClr val="FFFFFF"/>
                    </a:solidFill>
                  </a:tcPr>
                </a:tc>
                <a:tc>
                  <a:txBody>
                    <a:bodyPr wrap="square"/>
                    <a:lstStyle/>
                    <a:p>
                      <a:pPr algn="r"/>
                      <a:r>
                        <a:rPr sz="900" b="1">
                          <a:solidFill>
                            <a:srgbClr val="15795F"/>
                          </a:solidFill>
                          <a:latin typeface="Kanit"/>
                        </a:rPr>
                        <a:t>+0.5%</a:t>
                      </a:r>
                    </a:p>
                  </a:txBody>
                  <a:tcPr marL="54864" marR="54864" marT="18288" marB="18288" anchor="ctr">
                    <a:solidFill>
                      <a:srgbClr val="FFFFFF"/>
                    </a:solidFill>
                  </a:tcPr>
                </a:tc>
                <a:tc>
                  <a:txBody>
                    <a:bodyPr wrap="square"/>
                    <a:lstStyle/>
                    <a:p>
                      <a:pPr algn="r"/>
                      <a:r>
                        <a:rPr sz="900" b="0">
                          <a:solidFill>
                            <a:srgbClr val="1E2F5C"/>
                          </a:solidFill>
                          <a:latin typeface="Kanit"/>
                        </a:rPr>
                        <a:t>16,841</a:t>
                      </a:r>
                    </a:p>
                  </a:txBody>
                  <a:tcPr marL="54864" marR="54864" marT="18288" marB="18288" anchor="ctr">
                    <a:solidFill>
                      <a:srgbClr val="FFFFFF"/>
                    </a:solidFill>
                  </a:tcPr>
                </a:tc>
                <a:tc>
                  <a:txBody>
                    <a:bodyPr wrap="square"/>
                    <a:lstStyle/>
                    <a:p>
                      <a:pPr algn="r"/>
                      <a:r>
                        <a:rPr sz="900" b="1">
                          <a:solidFill>
                            <a:srgbClr val="606060"/>
                          </a:solidFill>
                          <a:latin typeface="Kanit"/>
                        </a:rPr>
                        <a:t>+0.0%</a:t>
                      </a:r>
                    </a:p>
                  </a:txBody>
                  <a:tcPr marL="54864" marR="54864" marT="18288" marB="18288" anchor="ctr">
                    <a:solidFill>
                      <a:srgbClr val="FFFFFF"/>
                    </a:solidFill>
                  </a:tcPr>
                </a:tc>
              </a:tr>
            </a:tbl>
          </a:graphicData>
        </a:graphic>
      </p:graphicFrame>
      <p:sp>
        <p:nvSpPr>
          <p:cNvPr id="11" name="Rounded Rectangle 10"/>
          <p:cNvSpPr/>
          <p:nvPr/>
        </p:nvSpPr>
        <p:spPr>
          <a:xfrm>
            <a:off x="411480" y="3544824"/>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3574084"/>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3558540"/>
            <a:ext cx="1072051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Income levels MEASURED — NSO Labour Force Survey wages and OAE farm income, by province, in baht per month. The move is ESTIMATED: our model of what the latest measured price round does to each occupation's income. Only farming and SME income are modelled with a per-province driver — factory, transport and office carry a single national move, which is why those three columns repeat down the table. Region figures are the mean of their provinces.</a:t>
            </a:r>
          </a:p>
        </p:txBody>
      </p:sp>
      <p:sp>
        <p:nvSpPr>
          <p:cNvPr id="14" name="Rectangle 13"/>
          <p:cNvSpPr/>
          <p:nvPr/>
        </p:nvSpPr>
        <p:spPr>
          <a:xfrm>
            <a:off x="411480" y="4190619"/>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190619"/>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4336923"/>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Farming is the only occupation moving up, and it is the poorest</a:t>
            </a:r>
          </a:p>
        </p:txBody>
      </p:sp>
      <p:sp>
        <p:nvSpPr>
          <p:cNvPr id="17" name="TextBox 16"/>
          <p:cNvSpPr txBox="1"/>
          <p:nvPr/>
        </p:nvSpPr>
        <p:spPr>
          <a:xfrm>
            <a:off x="630936" y="4541393"/>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Agriculture is the best-moving occupation in every region — the price round has been kind to it. It is also the lowest-paid: around ฿7,700–9,000 a month against ฿17,700 for the national wage headline.
A good month on a very low base is not the same as resilience. This is the group with the least room between income and instalment, which is why it should be watched even when its arrow is green.</a:t>
            </a:r>
          </a:p>
        </p:txBody>
      </p:sp>
      <p:sp>
        <p:nvSpPr>
          <p:cNvPr id="18" name="Rectangle 17"/>
          <p:cNvSpPr/>
          <p:nvPr/>
        </p:nvSpPr>
        <p:spPr>
          <a:xfrm>
            <a:off x="6208776" y="4190619"/>
            <a:ext cx="5568696" cy="151815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208776" y="4190619"/>
            <a:ext cx="50292" cy="151815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428232" y="4336923"/>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Transport is falling in every region</a:t>
            </a:r>
          </a:p>
        </p:txBody>
      </p:sp>
      <p:sp>
        <p:nvSpPr>
          <p:cNvPr id="21" name="TextBox 20"/>
          <p:cNvSpPr txBox="1"/>
          <p:nvPr/>
        </p:nvSpPr>
        <p:spPr>
          <a:xfrm>
            <a:off x="6428232" y="4541393"/>
            <a:ext cx="5239512" cy="10210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Transport is the worst-moving occupation across the board — Central&amp;BKK at -3.28%. Fuel and freight rates move it, and neither is in the crop data.
It is also an occupation whose vehicle IS the income, so a squeeze there has a different character: the asset cannot be given up without ending the earning. That is the population where an early conversation is worth more than a late collection.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08 · DROUGHT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36.4% of districts are dry, and it lands on the rice belt.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in drought</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338</a:t>
            </a:r>
          </a:p>
        </p:txBody>
      </p:sp>
      <p:sp>
        <p:nvSpPr>
          <p:cNvPr id="12" name="TextBox 11"/>
          <p:cNvSpPr txBox="1"/>
          <p:nvPr/>
        </p:nvSpPr>
        <p:spPr>
          <a:xfrm>
            <a:off x="548640"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928 (36.4%) · SPEI mean -0.84</a:t>
            </a:r>
          </a:p>
        </p:txBody>
      </p:sp>
      <p:sp>
        <p:nvSpPr>
          <p:cNvPr id="13" name="Rounded Rectangle 12"/>
          <p:cNvSpPr/>
          <p:nvPr/>
        </p:nvSpPr>
        <p:spPr>
          <a:xfrm>
            <a:off x="3287268"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Extreme band</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2</a:t>
            </a:r>
          </a:p>
        </p:txBody>
      </p:sp>
      <p:sp>
        <p:nvSpPr>
          <p:cNvPr id="16" name="TextBox 15"/>
          <p:cNvSpPr txBox="1"/>
          <p:nvPr/>
        </p:nvSpPr>
        <p:spPr>
          <a:xfrm>
            <a:off x="3424428"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districts at the extreme drought band</a:t>
            </a:r>
          </a:p>
        </p:txBody>
      </p:sp>
      <p:sp>
        <p:nvSpPr>
          <p:cNvPr id="17" name="Rounded Rectangle 16"/>
          <p:cNvSpPr/>
          <p:nvPr/>
        </p:nvSpPr>
        <p:spPr>
          <a:xfrm>
            <a:off x="6163056"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District-crop cells</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318</a:t>
            </a:r>
          </a:p>
        </p:txBody>
      </p:sp>
      <p:sp>
        <p:nvSpPr>
          <p:cNvPr id="20" name="TextBox 19"/>
          <p:cNvSpPr txBox="1"/>
          <p:nvPr/>
        </p:nvSpPr>
        <p:spPr>
          <a:xfrm>
            <a:off x="6300216"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3,295 measured cells at severe drought or worse</a:t>
            </a:r>
          </a:p>
        </p:txBody>
      </p:sp>
      <p:sp>
        <p:nvSpPr>
          <p:cNvPr id="21" name="Rounded Rectangle 20"/>
          <p:cNvSpPr/>
          <p:nvPr/>
        </p:nvSpPr>
        <p:spPr>
          <a:xfrm>
            <a:off x="9038844" y="1152144"/>
            <a:ext cx="2738628" cy="1005840"/>
          </a:xfrm>
          <a:prstGeom prst="roundRect">
            <a:avLst>
              <a:gd name="adj" fmla="val 8181"/>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Double-stressed</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0</a:t>
            </a:r>
          </a:p>
        </p:txBody>
      </p:sp>
      <p:sp>
        <p:nvSpPr>
          <p:cNvPr id="24" name="TextBox 23"/>
          <p:cNvSpPr txBox="1"/>
          <p:nvPr/>
        </p:nvSpPr>
        <p:spPr>
          <a:xfrm>
            <a:off x="9176004" y="1792224"/>
            <a:ext cx="2464308" cy="292608"/>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on the world-price test — see the note below</a:t>
            </a:r>
          </a:p>
        </p:txBody>
      </p:sp>
      <p:graphicFrame>
        <p:nvGraphicFramePr>
          <p:cNvPr id="25" name="Table 24"/>
          <p:cNvGraphicFramePr>
            <a:graphicFrameLocks noGrp="1"/>
          </p:cNvGraphicFramePr>
          <p:nvPr/>
        </p:nvGraphicFramePr>
        <p:xfrm>
          <a:off x="411480" y="2340864"/>
          <a:ext cx="11365991" cy="1909266"/>
        </p:xfrm>
        <a:graphic>
          <a:graphicData uri="http://schemas.openxmlformats.org/drawingml/2006/table">
            <a:tbl>
              <a:tblPr>
                <a:tableStyleId>{5C22544A-7EE6-4342-B048-85BDC9FD1C3A}</a:tableStyleId>
              </a:tblPr>
              <a:tblGrid>
                <a:gridCol w="2119083"/>
                <a:gridCol w="2119083"/>
                <a:gridCol w="2311727"/>
                <a:gridCol w="1926439"/>
                <a:gridCol w="1348508"/>
                <a:gridCol w="1541151"/>
              </a:tblGrid>
              <a:tr h="329184">
                <a:tc>
                  <a:txBody>
                    <a:bodyPr wrap="square"/>
                    <a:lstStyle/>
                    <a:p>
                      <a:pPr algn="l"/>
                      <a:r>
                        <a:rPr sz="1050" b="1">
                          <a:solidFill>
                            <a:srgbClr val="FFFFFF"/>
                          </a:solidFill>
                          <a:latin typeface="Kanit"/>
                        </a:rPr>
                        <a:t>Province</a:t>
                      </a:r>
                    </a:p>
                  </a:txBody>
                  <a:tcPr marL="54864" marR="54864" marT="18288" marB="18288" anchor="ctr">
                    <a:solidFill>
                      <a:srgbClr val="1B2A6B"/>
                    </a:solidFill>
                  </a:tcPr>
                </a:tc>
                <a:tc>
                  <a:txBody>
                    <a:bodyPr wrap="square"/>
                    <a:lstStyle/>
                    <a:p>
                      <a:pPr algn="l"/>
                      <a:r>
                        <a:rPr sz="1050" b="1">
                          <a:solidFill>
                            <a:srgbClr val="FFFFFF"/>
                          </a:solidFill>
                          <a:latin typeface="Kanit"/>
                        </a:rPr>
                        <a:t>District</a:t>
                      </a:r>
                    </a:p>
                  </a:txBody>
                  <a:tcPr marL="54864" marR="54864" marT="18288" marB="18288" anchor="ctr">
                    <a:solidFill>
                      <a:srgbClr val="1B2A6B"/>
                    </a:solidFill>
                  </a:tcPr>
                </a:tc>
                <a:tc>
                  <a:txBody>
                    <a:bodyPr wrap="square"/>
                    <a:lstStyle/>
                    <a:p>
                      <a:pPr algn="l"/>
                      <a:r>
                        <a:rPr sz="1050" b="1">
                          <a:solidFill>
                            <a:srgbClr val="FFFFFF"/>
                          </a:solidFill>
                          <a:latin typeface="Kanit"/>
                        </a:rPr>
                        <a:t>Crop</a:t>
                      </a:r>
                    </a:p>
                  </a:txBody>
                  <a:tcPr marL="54864" marR="54864" marT="18288" marB="18288" anchor="ctr">
                    <a:solidFill>
                      <a:srgbClr val="1B2A6B"/>
                    </a:solidFill>
                  </a:tcPr>
                </a:tc>
                <a:tc>
                  <a:txBody>
                    <a:bodyPr wrap="square"/>
                    <a:lstStyle/>
                    <a:p>
                      <a:pPr algn="r"/>
                      <a:r>
                        <a:rPr sz="1050" b="1">
                          <a:solidFill>
                            <a:srgbClr val="FFFFFF"/>
                          </a:solidFill>
                          <a:latin typeface="Kanit"/>
                        </a:rPr>
                        <a:t>Planted (rai)</a:t>
                      </a:r>
                    </a:p>
                  </a:txBody>
                  <a:tcPr marL="54864" marR="54864" marT="18288" marB="18288" anchor="ctr">
                    <a:solidFill>
                      <a:srgbClr val="1B2A6B"/>
                    </a:solidFill>
                  </a:tcPr>
                </a:tc>
                <a:tc>
                  <a:txBody>
                    <a:bodyPr wrap="square"/>
                    <a:lstStyle/>
                    <a:p>
                      <a:pPr algn="r"/>
                      <a:r>
                        <a:rPr sz="1050" b="1">
                          <a:solidFill>
                            <a:srgbClr val="FFFFFF"/>
                          </a:solidFill>
                          <a:latin typeface="Kanit"/>
                        </a:rPr>
                        <a:t>SPEI</a:t>
                      </a:r>
                    </a:p>
                  </a:txBody>
                  <a:tcPr marL="54864" marR="54864" marT="18288" marB="18288" anchor="ctr">
                    <a:solidFill>
                      <a:srgbClr val="1B2A6B"/>
                    </a:solidFill>
                  </a:tcPr>
                </a:tc>
                <a:tc>
                  <a:txBody>
                    <a:bodyPr wrap="square"/>
                    <a:lstStyle/>
                    <a:p>
                      <a:pPr algn="l"/>
                      <a:r>
                        <a:rPr sz="1050" b="1">
                          <a:solidFill>
                            <a:srgbClr val="FFFFFF"/>
                          </a:solidFill>
                          <a:latin typeface="Kanit"/>
                        </a:rPr>
                        <a:t>Band</a:t>
                      </a:r>
                    </a:p>
                  </a:txBody>
                  <a:tcPr marL="54864" marR="54864" marT="18288" marB="18288" anchor="ctr">
                    <a:solidFill>
                      <a:srgbClr val="1B2A6B"/>
                    </a:solidFill>
                  </a:tcPr>
                </a:tc>
              </a:tr>
              <a:tr h="263347">
                <a:tc>
                  <a:txBody>
                    <a:bodyPr wrap="square"/>
                    <a:lstStyle/>
                    <a:p>
                      <a:pPr algn="l"/>
                      <a:r>
                        <a:rPr sz="1000" b="1">
                          <a:solidFill>
                            <a:srgbClr val="1E2F5C"/>
                          </a:solidFill>
                          <a:latin typeface="Kanit"/>
                        </a:rPr>
                        <a:t>สระแก้ว</a:t>
                      </a:r>
                    </a:p>
                  </a:txBody>
                  <a:tcPr marL="54864" marR="54864" marT="18288" marB="18288" anchor="ctr">
                    <a:solidFill>
                      <a:srgbClr val="FFFFFF"/>
                    </a:solidFill>
                  </a:tcPr>
                </a:tc>
                <a:tc>
                  <a:txBody>
                    <a:bodyPr wrap="square"/>
                    <a:lstStyle/>
                    <a:p>
                      <a:pPr algn="l"/>
                      <a:r>
                        <a:rPr sz="1000" b="0">
                          <a:solidFill>
                            <a:srgbClr val="1E2F5C"/>
                          </a:solidFill>
                          <a:latin typeface="Kanit"/>
                        </a:rPr>
                        <a:t>ตาพระยา</a:t>
                      </a:r>
                    </a:p>
                  </a:txBody>
                  <a:tcPr marL="54864" marR="54864" marT="18288" marB="18288" anchor="ctr">
                    <a:solidFill>
                      <a:srgbClr val="FFFFFF"/>
                    </a:solidFill>
                  </a:tcPr>
                </a:tc>
                <a:tc>
                  <a:txBody>
                    <a:bodyPr wrap="square"/>
                    <a:lstStyle/>
                    <a:p>
                      <a:pPr algn="l"/>
                      <a:r>
                        <a:rPr sz="1000" b="0">
                          <a:solidFill>
                            <a:srgbClr val="1E2F5C"/>
                          </a:solidFill>
                          <a:latin typeface="Kanit"/>
                        </a:rPr>
                        <a:t>ข้าวนาปี</a:t>
                      </a:r>
                    </a:p>
                  </a:txBody>
                  <a:tcPr marL="54864" marR="54864" marT="18288" marB="18288" anchor="ctr">
                    <a:solidFill>
                      <a:srgbClr val="FFFFFF"/>
                    </a:solidFill>
                  </a:tcPr>
                </a:tc>
                <a:tc>
                  <a:txBody>
                    <a:bodyPr wrap="square"/>
                    <a:lstStyle/>
                    <a:p>
                      <a:pPr algn="r"/>
                      <a:r>
                        <a:rPr sz="1000" b="0">
                          <a:solidFill>
                            <a:srgbClr val="1E2F5C"/>
                          </a:solidFill>
                          <a:latin typeface="Kanit"/>
                        </a:rPr>
                        <a:t>213,392</a:t>
                      </a:r>
                    </a:p>
                  </a:txBody>
                  <a:tcPr marL="54864" marR="54864" marT="18288" marB="18288" anchor="ctr">
                    <a:solidFill>
                      <a:srgbClr val="FFFFFF"/>
                    </a:solidFill>
                  </a:tcPr>
                </a:tc>
                <a:tc>
                  <a:txBody>
                    <a:bodyPr wrap="square"/>
                    <a:lstStyle/>
                    <a:p>
                      <a:pPr algn="r"/>
                      <a:r>
                        <a:rPr sz="1000" b="1">
                          <a:solidFill>
                            <a:srgbClr val="CC0000"/>
                          </a:solidFill>
                          <a:latin typeface="Kanit"/>
                        </a:rPr>
                        <a:t>-1.70</a:t>
                      </a:r>
                    </a:p>
                  </a:txBody>
                  <a:tcPr marL="54864" marR="54864" marT="18288" marB="18288" anchor="ctr">
                    <a:solidFill>
                      <a:srgbClr val="FFFFFF"/>
                    </a:solidFill>
                  </a:tcPr>
                </a:tc>
                <a:tc>
                  <a:txBody>
                    <a:bodyPr wrap="square"/>
                    <a:lstStyle/>
                    <a:p>
                      <a:pPr algn="l"/>
                      <a:r>
                        <a:rPr sz="1000" b="0">
                          <a:solidFill>
                            <a:srgbClr val="CC0000"/>
                          </a:solidFill>
                          <a:latin typeface="Kanit"/>
                        </a:rPr>
                        <a:t>severe</a:t>
                      </a:r>
                    </a:p>
                  </a:txBody>
                  <a:tcPr marL="54864" marR="54864" marT="18288" marB="18288" anchor="ctr">
                    <a:solidFill>
                      <a:srgbClr val="FFFFFF"/>
                    </a:solidFill>
                  </a:tcPr>
                </a:tc>
              </a:tr>
              <a:tr h="263347">
                <a:tc>
                  <a:txBody>
                    <a:bodyPr wrap="square"/>
                    <a:lstStyle/>
                    <a:p>
                      <a:pPr algn="l"/>
                      <a:r>
                        <a:rPr sz="1000" b="1">
                          <a:solidFill>
                            <a:srgbClr val="1E2F5C"/>
                          </a:solidFill>
                          <a:latin typeface="Kanit"/>
                        </a:rPr>
                        <a:t>สระแก้ว</a:t>
                      </a:r>
                    </a:p>
                  </a:txBody>
                  <a:tcPr marL="54864" marR="54864" marT="18288" marB="18288" anchor="ctr">
                    <a:solidFill>
                      <a:srgbClr val="F7F9FC"/>
                    </a:solidFill>
                  </a:tcPr>
                </a:tc>
                <a:tc>
                  <a:txBody>
                    <a:bodyPr wrap="square"/>
                    <a:lstStyle/>
                    <a:p>
                      <a:pPr algn="l"/>
                      <a:r>
                        <a:rPr sz="1000" b="0">
                          <a:solidFill>
                            <a:srgbClr val="1E2F5C"/>
                          </a:solidFill>
                          <a:latin typeface="Kanit"/>
                        </a:rPr>
                        <a:t>อรัญประเทศ</a:t>
                      </a:r>
                    </a:p>
                  </a:txBody>
                  <a:tcPr marL="54864" marR="54864" marT="18288" marB="18288" anchor="ctr">
                    <a:solidFill>
                      <a:srgbClr val="F7F9FC"/>
                    </a:solidFill>
                  </a:tcPr>
                </a:tc>
                <a:tc>
                  <a:txBody>
                    <a:bodyPr wrap="square"/>
                    <a:lstStyle/>
                    <a:p>
                      <a:pPr algn="l"/>
                      <a:r>
                        <a:rPr sz="1000" b="0">
                          <a:solidFill>
                            <a:srgbClr val="1E2F5C"/>
                          </a:solidFill>
                          <a:latin typeface="Kanit"/>
                        </a:rPr>
                        <a:t>ข้าวนาปี</a:t>
                      </a:r>
                    </a:p>
                  </a:txBody>
                  <a:tcPr marL="54864" marR="54864" marT="18288" marB="18288" anchor="ctr">
                    <a:solidFill>
                      <a:srgbClr val="F7F9FC"/>
                    </a:solidFill>
                  </a:tcPr>
                </a:tc>
                <a:tc>
                  <a:txBody>
                    <a:bodyPr wrap="square"/>
                    <a:lstStyle/>
                    <a:p>
                      <a:pPr algn="r"/>
                      <a:r>
                        <a:rPr sz="1000" b="0">
                          <a:solidFill>
                            <a:srgbClr val="1E2F5C"/>
                          </a:solidFill>
                          <a:latin typeface="Kanit"/>
                        </a:rPr>
                        <a:t>158,047</a:t>
                      </a:r>
                    </a:p>
                  </a:txBody>
                  <a:tcPr marL="54864" marR="54864" marT="18288" marB="18288" anchor="ctr">
                    <a:solidFill>
                      <a:srgbClr val="F7F9FC"/>
                    </a:solidFill>
                  </a:tcPr>
                </a:tc>
                <a:tc>
                  <a:txBody>
                    <a:bodyPr wrap="square"/>
                    <a:lstStyle/>
                    <a:p>
                      <a:pPr algn="r"/>
                      <a:r>
                        <a:rPr sz="1000" b="1">
                          <a:solidFill>
                            <a:srgbClr val="CC0000"/>
                          </a:solidFill>
                          <a:latin typeface="Kanit"/>
                        </a:rPr>
                        <a:t>-1.51</a:t>
                      </a:r>
                    </a:p>
                  </a:txBody>
                  <a:tcPr marL="54864" marR="54864" marT="18288" marB="18288" anchor="ctr">
                    <a:solidFill>
                      <a:srgbClr val="F7F9FC"/>
                    </a:solidFill>
                  </a:tcPr>
                </a:tc>
                <a:tc>
                  <a:txBody>
                    <a:bodyPr wrap="square"/>
                    <a:lstStyle/>
                    <a:p>
                      <a:pPr algn="l"/>
                      <a:r>
                        <a:rPr sz="1000" b="0">
                          <a:solidFill>
                            <a:srgbClr val="CC0000"/>
                          </a:solidFill>
                          <a:latin typeface="Kanit"/>
                        </a:rPr>
                        <a:t>severe</a:t>
                      </a:r>
                    </a:p>
                  </a:txBody>
                  <a:tcPr marL="54864" marR="54864" marT="18288" marB="18288" anchor="ctr">
                    <a:solidFill>
                      <a:srgbClr val="F7F9FC"/>
                    </a:solidFill>
                  </a:tcPr>
                </a:tc>
              </a:tr>
              <a:tr h="263347">
                <a:tc>
                  <a:txBody>
                    <a:bodyPr wrap="square"/>
                    <a:lstStyle/>
                    <a:p>
                      <a:pPr algn="l"/>
                      <a:r>
                        <a:rPr sz="1000" b="1">
                          <a:solidFill>
                            <a:srgbClr val="1E2F5C"/>
                          </a:solidFill>
                          <a:latin typeface="Kanit"/>
                        </a:rPr>
                        <a:t>นครราชสีมา</a:t>
                      </a:r>
                    </a:p>
                  </a:txBody>
                  <a:tcPr marL="54864" marR="54864" marT="18288" marB="18288" anchor="ctr">
                    <a:solidFill>
                      <a:srgbClr val="FFFFFF"/>
                    </a:solidFill>
                  </a:tcPr>
                </a:tc>
                <a:tc>
                  <a:txBody>
                    <a:bodyPr wrap="square"/>
                    <a:lstStyle/>
                    <a:p>
                      <a:pPr algn="l"/>
                      <a:r>
                        <a:rPr sz="1000" b="0">
                          <a:solidFill>
                            <a:srgbClr val="1E2F5C"/>
                          </a:solidFill>
                          <a:latin typeface="Kanit"/>
                        </a:rPr>
                        <a:t>หนองบุญมาก</a:t>
                      </a:r>
                    </a:p>
                  </a:txBody>
                  <a:tcPr marL="54864" marR="54864" marT="18288" marB="18288" anchor="ctr">
                    <a:solidFill>
                      <a:srgbClr val="FFFFFF"/>
                    </a:solidFill>
                  </a:tcPr>
                </a:tc>
                <a:tc>
                  <a:txBody>
                    <a:bodyPr wrap="square"/>
                    <a:lstStyle/>
                    <a:p>
                      <a:pPr algn="l"/>
                      <a:r>
                        <a:rPr sz="1000" b="0">
                          <a:solidFill>
                            <a:srgbClr val="1E2F5C"/>
                          </a:solidFill>
                          <a:latin typeface="Kanit"/>
                        </a:rPr>
                        <a:t>มันสำปะหลังโรงงาน</a:t>
                      </a:r>
                    </a:p>
                  </a:txBody>
                  <a:tcPr marL="54864" marR="54864" marT="18288" marB="18288" anchor="ctr">
                    <a:solidFill>
                      <a:srgbClr val="FFFFFF"/>
                    </a:solidFill>
                  </a:tcPr>
                </a:tc>
                <a:tc>
                  <a:txBody>
                    <a:bodyPr wrap="square"/>
                    <a:lstStyle/>
                    <a:p>
                      <a:pPr algn="r"/>
                      <a:r>
                        <a:rPr sz="1000" b="0">
                          <a:solidFill>
                            <a:srgbClr val="1E2F5C"/>
                          </a:solidFill>
                          <a:latin typeface="Kanit"/>
                        </a:rPr>
                        <a:t>150,409</a:t>
                      </a:r>
                    </a:p>
                  </a:txBody>
                  <a:tcPr marL="54864" marR="54864" marT="18288" marB="18288" anchor="ctr">
                    <a:solidFill>
                      <a:srgbClr val="FFFFFF"/>
                    </a:solidFill>
                  </a:tcPr>
                </a:tc>
                <a:tc>
                  <a:txBody>
                    <a:bodyPr wrap="square"/>
                    <a:lstStyle/>
                    <a:p>
                      <a:pPr algn="r"/>
                      <a:r>
                        <a:rPr sz="1000" b="1">
                          <a:solidFill>
                            <a:srgbClr val="CC0000"/>
                          </a:solidFill>
                          <a:latin typeface="Kanit"/>
                        </a:rPr>
                        <a:t>-1.62</a:t>
                      </a:r>
                    </a:p>
                  </a:txBody>
                  <a:tcPr marL="54864" marR="54864" marT="18288" marB="18288" anchor="ctr">
                    <a:solidFill>
                      <a:srgbClr val="FFFFFF"/>
                    </a:solidFill>
                  </a:tcPr>
                </a:tc>
                <a:tc>
                  <a:txBody>
                    <a:bodyPr wrap="square"/>
                    <a:lstStyle/>
                    <a:p>
                      <a:pPr algn="l"/>
                      <a:r>
                        <a:rPr sz="1000" b="0">
                          <a:solidFill>
                            <a:srgbClr val="CC0000"/>
                          </a:solidFill>
                          <a:latin typeface="Kanit"/>
                        </a:rPr>
                        <a:t>severe</a:t>
                      </a:r>
                    </a:p>
                  </a:txBody>
                  <a:tcPr marL="54864" marR="54864" marT="18288" marB="18288" anchor="ctr">
                    <a:solidFill>
                      <a:srgbClr val="FFFFFF"/>
                    </a:solidFill>
                  </a:tcPr>
                </a:tc>
              </a:tr>
              <a:tr h="263347">
                <a:tc>
                  <a:txBody>
                    <a:bodyPr wrap="square"/>
                    <a:lstStyle/>
                    <a:p>
                      <a:pPr algn="l"/>
                      <a:r>
                        <a:rPr sz="1000" b="1">
                          <a:solidFill>
                            <a:srgbClr val="1E2F5C"/>
                          </a:solidFill>
                          <a:latin typeface="Kanit"/>
                        </a:rPr>
                        <a:t>ชัยภูมิ</a:t>
                      </a:r>
                    </a:p>
                  </a:txBody>
                  <a:tcPr marL="54864" marR="54864" marT="18288" marB="18288" anchor="ctr">
                    <a:solidFill>
                      <a:srgbClr val="F7F9FC"/>
                    </a:solidFill>
                  </a:tcPr>
                </a:tc>
                <a:tc>
                  <a:txBody>
                    <a:bodyPr wrap="square"/>
                    <a:lstStyle/>
                    <a:p>
                      <a:pPr algn="l"/>
                      <a:r>
                        <a:rPr sz="1000" b="0">
                          <a:solidFill>
                            <a:srgbClr val="1E2F5C"/>
                          </a:solidFill>
                          <a:latin typeface="Kanit"/>
                        </a:rPr>
                        <a:t>คอนสวรรค์</a:t>
                      </a:r>
                    </a:p>
                  </a:txBody>
                  <a:tcPr marL="54864" marR="54864" marT="18288" marB="18288" anchor="ctr">
                    <a:solidFill>
                      <a:srgbClr val="F7F9FC"/>
                    </a:solidFill>
                  </a:tcPr>
                </a:tc>
                <a:tc>
                  <a:txBody>
                    <a:bodyPr wrap="square"/>
                    <a:lstStyle/>
                    <a:p>
                      <a:pPr algn="l"/>
                      <a:r>
                        <a:rPr sz="1000" b="0">
                          <a:solidFill>
                            <a:srgbClr val="1E2F5C"/>
                          </a:solidFill>
                          <a:latin typeface="Kanit"/>
                        </a:rPr>
                        <a:t>ข้าวนาปี</a:t>
                      </a:r>
                    </a:p>
                  </a:txBody>
                  <a:tcPr marL="54864" marR="54864" marT="18288" marB="18288" anchor="ctr">
                    <a:solidFill>
                      <a:srgbClr val="F7F9FC"/>
                    </a:solidFill>
                  </a:tcPr>
                </a:tc>
                <a:tc>
                  <a:txBody>
                    <a:bodyPr wrap="square"/>
                    <a:lstStyle/>
                    <a:p>
                      <a:pPr algn="r"/>
                      <a:r>
                        <a:rPr sz="1000" b="0">
                          <a:solidFill>
                            <a:srgbClr val="1E2F5C"/>
                          </a:solidFill>
                          <a:latin typeface="Kanit"/>
                        </a:rPr>
                        <a:t>143,322</a:t>
                      </a:r>
                    </a:p>
                  </a:txBody>
                  <a:tcPr marL="54864" marR="54864" marT="18288" marB="18288" anchor="ctr">
                    <a:solidFill>
                      <a:srgbClr val="F7F9FC"/>
                    </a:solidFill>
                  </a:tcPr>
                </a:tc>
                <a:tc>
                  <a:txBody>
                    <a:bodyPr wrap="square"/>
                    <a:lstStyle/>
                    <a:p>
                      <a:pPr algn="r"/>
                      <a:r>
                        <a:rPr sz="1000" b="1">
                          <a:solidFill>
                            <a:srgbClr val="CC0000"/>
                          </a:solidFill>
                          <a:latin typeface="Kanit"/>
                        </a:rPr>
                        <a:t>-1.51</a:t>
                      </a:r>
                    </a:p>
                  </a:txBody>
                  <a:tcPr marL="54864" marR="54864" marT="18288" marB="18288" anchor="ctr">
                    <a:solidFill>
                      <a:srgbClr val="F7F9FC"/>
                    </a:solidFill>
                  </a:tcPr>
                </a:tc>
                <a:tc>
                  <a:txBody>
                    <a:bodyPr wrap="square"/>
                    <a:lstStyle/>
                    <a:p>
                      <a:pPr algn="l"/>
                      <a:r>
                        <a:rPr sz="1000" b="0">
                          <a:solidFill>
                            <a:srgbClr val="CC0000"/>
                          </a:solidFill>
                          <a:latin typeface="Kanit"/>
                        </a:rPr>
                        <a:t>severe</a:t>
                      </a:r>
                    </a:p>
                  </a:txBody>
                  <a:tcPr marL="54864" marR="54864" marT="18288" marB="18288" anchor="ctr">
                    <a:solidFill>
                      <a:srgbClr val="F7F9FC"/>
                    </a:solidFill>
                  </a:tcPr>
                </a:tc>
              </a:tr>
              <a:tr h="263347">
                <a:tc>
                  <a:txBody>
                    <a:bodyPr wrap="square"/>
                    <a:lstStyle/>
                    <a:p>
                      <a:pPr algn="l"/>
                      <a:r>
                        <a:rPr sz="1000" b="1">
                          <a:solidFill>
                            <a:srgbClr val="1E2F5C"/>
                          </a:solidFill>
                          <a:latin typeface="Kanit"/>
                        </a:rPr>
                        <a:t>ระยอง</a:t>
                      </a:r>
                    </a:p>
                  </a:txBody>
                  <a:tcPr marL="54864" marR="54864" marT="18288" marB="18288" anchor="ctr">
                    <a:solidFill>
                      <a:srgbClr val="FFFFFF"/>
                    </a:solidFill>
                  </a:tcPr>
                </a:tc>
                <a:tc>
                  <a:txBody>
                    <a:bodyPr wrap="square"/>
                    <a:lstStyle/>
                    <a:p>
                      <a:pPr algn="l"/>
                      <a:r>
                        <a:rPr sz="1000" b="0">
                          <a:solidFill>
                            <a:srgbClr val="1E2F5C"/>
                          </a:solidFill>
                          <a:latin typeface="Kanit"/>
                        </a:rPr>
                        <a:t>แกลง</a:t>
                      </a:r>
                    </a:p>
                  </a:txBody>
                  <a:tcPr marL="54864" marR="54864" marT="18288" marB="18288" anchor="ctr">
                    <a:solidFill>
                      <a:srgbClr val="FFFFFF"/>
                    </a:solidFill>
                  </a:tcPr>
                </a:tc>
                <a:tc>
                  <a:txBody>
                    <a:bodyPr wrap="square"/>
                    <a:lstStyle/>
                    <a:p>
                      <a:pPr algn="l"/>
                      <a:r>
                        <a:rPr sz="1000" b="0">
                          <a:solidFill>
                            <a:srgbClr val="1E2F5C"/>
                          </a:solidFill>
                          <a:latin typeface="Kanit"/>
                        </a:rPr>
                        <a:t>ยางพารา</a:t>
                      </a:r>
                    </a:p>
                  </a:txBody>
                  <a:tcPr marL="54864" marR="54864" marT="18288" marB="18288" anchor="ctr">
                    <a:solidFill>
                      <a:srgbClr val="FFFFFF"/>
                    </a:solidFill>
                  </a:tcPr>
                </a:tc>
                <a:tc>
                  <a:txBody>
                    <a:bodyPr wrap="square"/>
                    <a:lstStyle/>
                    <a:p>
                      <a:pPr algn="r"/>
                      <a:r>
                        <a:rPr sz="1000" b="0">
                          <a:solidFill>
                            <a:srgbClr val="1E2F5C"/>
                          </a:solidFill>
                          <a:latin typeface="Kanit"/>
                        </a:rPr>
                        <a:t>121,783</a:t>
                      </a:r>
                    </a:p>
                  </a:txBody>
                  <a:tcPr marL="54864" marR="54864" marT="18288" marB="18288" anchor="ctr">
                    <a:solidFill>
                      <a:srgbClr val="FFFFFF"/>
                    </a:solidFill>
                  </a:tcPr>
                </a:tc>
                <a:tc>
                  <a:txBody>
                    <a:bodyPr wrap="square"/>
                    <a:lstStyle/>
                    <a:p>
                      <a:pPr algn="r"/>
                      <a:r>
                        <a:rPr sz="1000" b="1">
                          <a:solidFill>
                            <a:srgbClr val="CC0000"/>
                          </a:solidFill>
                          <a:latin typeface="Kanit"/>
                        </a:rPr>
                        <a:t>-1.75</a:t>
                      </a:r>
                    </a:p>
                  </a:txBody>
                  <a:tcPr marL="54864" marR="54864" marT="18288" marB="18288" anchor="ctr">
                    <a:solidFill>
                      <a:srgbClr val="FFFFFF"/>
                    </a:solidFill>
                  </a:tcPr>
                </a:tc>
                <a:tc>
                  <a:txBody>
                    <a:bodyPr wrap="square"/>
                    <a:lstStyle/>
                    <a:p>
                      <a:pPr algn="l"/>
                      <a:r>
                        <a:rPr sz="1000" b="0">
                          <a:solidFill>
                            <a:srgbClr val="CC0000"/>
                          </a:solidFill>
                          <a:latin typeface="Kanit"/>
                        </a:rPr>
                        <a:t>severe</a:t>
                      </a:r>
                    </a:p>
                  </a:txBody>
                  <a:tcPr marL="54864" marR="54864" marT="18288" marB="18288" anchor="ctr">
                    <a:solidFill>
                      <a:srgbClr val="FFFFFF"/>
                    </a:solidFill>
                  </a:tcPr>
                </a:tc>
              </a:tr>
              <a:tr h="263347">
                <a:tc>
                  <a:txBody>
                    <a:bodyPr wrap="square"/>
                    <a:lstStyle/>
                    <a:p>
                      <a:pPr algn="l"/>
                      <a:r>
                        <a:rPr sz="1000" b="1">
                          <a:solidFill>
                            <a:srgbClr val="1E2F5C"/>
                          </a:solidFill>
                          <a:latin typeface="Kanit"/>
                        </a:rPr>
                        <a:t>นครราชสีมา</a:t>
                      </a:r>
                    </a:p>
                  </a:txBody>
                  <a:tcPr marL="54864" marR="54864" marT="18288" marB="18288" anchor="ctr">
                    <a:solidFill>
                      <a:srgbClr val="F7F9FC"/>
                    </a:solidFill>
                  </a:tcPr>
                </a:tc>
                <a:tc>
                  <a:txBody>
                    <a:bodyPr wrap="square"/>
                    <a:lstStyle/>
                    <a:p>
                      <a:pPr algn="l"/>
                      <a:r>
                        <a:rPr sz="1000" b="0">
                          <a:solidFill>
                            <a:srgbClr val="1E2F5C"/>
                          </a:solidFill>
                          <a:latin typeface="Kanit"/>
                        </a:rPr>
                        <a:t>เสิงสาง</a:t>
                      </a:r>
                    </a:p>
                  </a:txBody>
                  <a:tcPr marL="54864" marR="54864" marT="18288" marB="18288" anchor="ctr">
                    <a:solidFill>
                      <a:srgbClr val="F7F9FC"/>
                    </a:solidFill>
                  </a:tcPr>
                </a:tc>
                <a:tc>
                  <a:txBody>
                    <a:bodyPr wrap="square"/>
                    <a:lstStyle/>
                    <a:p>
                      <a:pPr algn="l"/>
                      <a:r>
                        <a:rPr sz="1000" b="0">
                          <a:solidFill>
                            <a:srgbClr val="1E2F5C"/>
                          </a:solidFill>
                          <a:latin typeface="Kanit"/>
                        </a:rPr>
                        <a:t>มันสำปะหลังโรงงาน</a:t>
                      </a:r>
                    </a:p>
                  </a:txBody>
                  <a:tcPr marL="54864" marR="54864" marT="18288" marB="18288" anchor="ctr">
                    <a:solidFill>
                      <a:srgbClr val="F7F9FC"/>
                    </a:solidFill>
                  </a:tcPr>
                </a:tc>
                <a:tc>
                  <a:txBody>
                    <a:bodyPr wrap="square"/>
                    <a:lstStyle/>
                    <a:p>
                      <a:pPr algn="r"/>
                      <a:r>
                        <a:rPr sz="1000" b="0">
                          <a:solidFill>
                            <a:srgbClr val="1E2F5C"/>
                          </a:solidFill>
                          <a:latin typeface="Kanit"/>
                        </a:rPr>
                        <a:t>120,512</a:t>
                      </a:r>
                    </a:p>
                  </a:txBody>
                  <a:tcPr marL="54864" marR="54864" marT="18288" marB="18288" anchor="ctr">
                    <a:solidFill>
                      <a:srgbClr val="F7F9FC"/>
                    </a:solidFill>
                  </a:tcPr>
                </a:tc>
                <a:tc>
                  <a:txBody>
                    <a:bodyPr wrap="square"/>
                    <a:lstStyle/>
                    <a:p>
                      <a:pPr algn="r"/>
                      <a:r>
                        <a:rPr sz="1000" b="1">
                          <a:solidFill>
                            <a:srgbClr val="CC0000"/>
                          </a:solidFill>
                          <a:latin typeface="Kanit"/>
                        </a:rPr>
                        <a:t>-1.66</a:t>
                      </a:r>
                    </a:p>
                  </a:txBody>
                  <a:tcPr marL="54864" marR="54864" marT="18288" marB="18288" anchor="ctr">
                    <a:solidFill>
                      <a:srgbClr val="F7F9FC"/>
                    </a:solidFill>
                  </a:tcPr>
                </a:tc>
                <a:tc>
                  <a:txBody>
                    <a:bodyPr wrap="square"/>
                    <a:lstStyle/>
                    <a:p>
                      <a:pPr algn="l"/>
                      <a:r>
                        <a:rPr sz="1000" b="0">
                          <a:solidFill>
                            <a:srgbClr val="CC0000"/>
                          </a:solidFill>
                          <a:latin typeface="Kanit"/>
                        </a:rPr>
                        <a:t>severe</a:t>
                      </a:r>
                    </a:p>
                  </a:txBody>
                  <a:tcPr marL="54864" marR="54864" marT="18288" marB="18288" anchor="ctr">
                    <a:solidFill>
                      <a:srgbClr val="F7F9FC"/>
                    </a:solidFill>
                  </a:tcPr>
                </a:tc>
              </a:tr>
            </a:tbl>
          </a:graphicData>
        </a:graphic>
      </p:graphicFrame>
      <p:sp>
        <p:nvSpPr>
          <p:cNvPr id="26" name="Rounded Rectangle 25"/>
          <p:cNvSpPr/>
          <p:nvPr/>
        </p:nvSpPr>
        <p:spPr>
          <a:xfrm>
            <a:off x="411480" y="4396435"/>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11480" y="442569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28" name="TextBox 27"/>
          <p:cNvSpPr txBox="1"/>
          <p:nvPr/>
        </p:nvSpPr>
        <p:spPr>
          <a:xfrm>
            <a:off x="1056955" y="4410151"/>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Planted area MEASURED (OAE — 3,295 amphoe crop rows). Drought is a MODELLED SPEI index derived from rainfall and evapotranspiration: the best national-coverage signal available, but nobody has walked those districts.</a:t>
            </a:r>
          </a:p>
        </p:txBody>
      </p:sp>
      <p:sp>
        <p:nvSpPr>
          <p:cNvPr id="29" name="Rectangle 28"/>
          <p:cNvSpPr/>
          <p:nvPr/>
        </p:nvSpPr>
        <p:spPr>
          <a:xfrm>
            <a:off x="411480" y="4851349"/>
            <a:ext cx="11365992" cy="854456"/>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4851349"/>
            <a:ext cx="50292" cy="854456"/>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30936" y="4997653"/>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สุพรรณบุรี is the coincidence to watch</a:t>
            </a:r>
          </a:p>
        </p:txBody>
      </p:sp>
      <p:sp>
        <p:nvSpPr>
          <p:cNvPr id="32" name="TextBox 31"/>
          <p:cNvSpPr txBox="1"/>
          <p:nvPr/>
        </p:nvSpPr>
        <p:spPr>
          <a:xfrm>
            <a:off x="630936" y="5202123"/>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Drought 0.95 — effectively the top of the scale — and a third of its planted area is sugarcane, at a −17.9% farm gate. The formal double-stress count reads zero because that test is scored on world prices; on the Thai farm gate this province is drought and falling price at once.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09 · WHERE TO REACH OUT FIRST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Ranking provinces on stress nobody can see from a payment file.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Four independent external signals, none of them a repayment record: how indebted the household already is, how many people cannot find work, whether the crop underneath the province covers its cost, and whether the rain arrived. Three or more tripped is a province to contact before it deteriorates, not after.</a:t>
            </a:r>
          </a:p>
        </p:txBody>
      </p:sp>
      <p:graphicFrame>
        <p:nvGraphicFramePr>
          <p:cNvPr id="10" name="Table 9"/>
          <p:cNvGraphicFramePr>
            <a:graphicFrameLocks noGrp="1"/>
          </p:cNvGraphicFramePr>
          <p:nvPr/>
        </p:nvGraphicFramePr>
        <p:xfrm>
          <a:off x="411480" y="1679448"/>
          <a:ext cx="11365992" cy="2362808"/>
        </p:xfrm>
        <a:graphic>
          <a:graphicData uri="http://schemas.openxmlformats.org/drawingml/2006/table">
            <a:tbl>
              <a:tblPr>
                <a:tableStyleId>{5C22544A-7EE6-4342-B048-85BDC9FD1C3A}</a:tableStyleId>
              </a:tblPr>
              <a:tblGrid>
                <a:gridCol w="1691640"/>
                <a:gridCol w="1051560"/>
                <a:gridCol w="1371600"/>
                <a:gridCol w="1371600"/>
                <a:gridCol w="1554480"/>
                <a:gridCol w="1371600"/>
                <a:gridCol w="1280160"/>
                <a:gridCol w="960120"/>
                <a:gridCol w="713232"/>
              </a:tblGrid>
              <a:tr h="329184">
                <a:tc>
                  <a:txBody>
                    <a:bodyPr wrap="square"/>
                    <a:lstStyle/>
                    <a:p>
                      <a:pPr algn="l"/>
                      <a:r>
                        <a:rPr sz="1050" b="1">
                          <a:solidFill>
                            <a:srgbClr val="FFFFFF"/>
                          </a:solidFill>
                          <a:latin typeface="Kanit"/>
                        </a:rPr>
                        <a:t>Province</a:t>
                      </a:r>
                    </a:p>
                  </a:txBody>
                  <a:tcPr marL="54864" marR="54864" marT="18288" marB="18288" anchor="ctr">
                    <a:solidFill>
                      <a:srgbClr val="1B2A6B"/>
                    </a:solidFill>
                  </a:tcPr>
                </a:tc>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household debt</a:t>
                      </a:r>
                    </a:p>
                  </a:txBody>
                  <a:tcPr marL="54864" marR="54864" marT="18288" marB="18288" anchor="ctr">
                    <a:solidFill>
                      <a:srgbClr val="1B2A6B"/>
                    </a:solidFill>
                  </a:tcPr>
                </a:tc>
                <a:tc>
                  <a:txBody>
                    <a:bodyPr wrap="square"/>
                    <a:lstStyle/>
                    <a:p>
                      <a:pPr algn="r"/>
                      <a:r>
                        <a:rPr sz="1050" b="1">
                          <a:solidFill>
                            <a:srgbClr val="FFFFFF"/>
                          </a:solidFill>
                          <a:latin typeface="Kanit"/>
                        </a:rPr>
                        <a:t>unemployment</a:t>
                      </a:r>
                    </a:p>
                  </a:txBody>
                  <a:tcPr marL="54864" marR="54864" marT="18288" marB="18288" anchor="ctr">
                    <a:solidFill>
                      <a:srgbClr val="1B2A6B"/>
                    </a:solidFill>
                  </a:tcPr>
                </a:tc>
                <a:tc>
                  <a:txBody>
                    <a:bodyPr wrap="square"/>
                    <a:lstStyle/>
                    <a:p>
                      <a:pPr algn="l"/>
                      <a:r>
                        <a:rPr sz="1050" b="1">
                          <a:solidFill>
                            <a:srgbClr val="FFFFFF"/>
                          </a:solidFill>
                          <a:latin typeface="Kanit"/>
                        </a:rPr>
                        <a:t>lead crop</a:t>
                      </a:r>
                    </a:p>
                  </a:txBody>
                  <a:tcPr marL="54864" marR="54864" marT="18288" marB="18288" anchor="ctr">
                    <a:solidFill>
                      <a:srgbClr val="1B2A6B"/>
                    </a:solidFill>
                  </a:tcPr>
                </a:tc>
                <a:tc>
                  <a:txBody>
                    <a:bodyPr wrap="square"/>
                    <a:lstStyle/>
                    <a:p>
                      <a:pPr algn="l"/>
                      <a:r>
                        <a:rPr sz="1050" b="1">
                          <a:solidFill>
                            <a:srgbClr val="FFFFFF"/>
                          </a:solidFill>
                          <a:latin typeface="Kanit"/>
                        </a:rPr>
                        <a:t>crop economics</a:t>
                      </a:r>
                    </a:p>
                  </a:txBody>
                  <a:tcPr marL="54864" marR="54864" marT="18288" marB="18288" anchor="ctr">
                    <a:solidFill>
                      <a:srgbClr val="1B2A6B"/>
                    </a:solidFill>
                  </a:tcPr>
                </a:tc>
                <a:tc>
                  <a:txBody>
                    <a:bodyPr wrap="square"/>
                    <a:lstStyle/>
                    <a:p>
                      <a:pPr algn="r"/>
                      <a:r>
                        <a:rPr sz="1050" b="1">
                          <a:solidFill>
                            <a:srgbClr val="FFFFFF"/>
                          </a:solidFill>
                          <a:latin typeface="Kanit"/>
                        </a:rPr>
                        <a:t>rain vs normal</a:t>
                      </a:r>
                    </a:p>
                  </a:txBody>
                  <a:tcPr marL="54864" marR="54864" marT="18288" marB="18288" anchor="ctr">
                    <a:solidFill>
                      <a:srgbClr val="1B2A6B"/>
                    </a:solidFill>
                  </a:tcPr>
                </a:tc>
                <a:tc>
                  <a:txBody>
                    <a:bodyPr wrap="square"/>
                    <a:lstStyle/>
                    <a:p>
                      <a:pPr algn="r"/>
                      <a:r>
                        <a:rPr sz="1050" b="1">
                          <a:solidFill>
                            <a:srgbClr val="FFFFFF"/>
                          </a:solidFill>
                          <a:latin typeface="Kanit"/>
                        </a:rPr>
                        <a:t>farm ฿/mo</a:t>
                      </a:r>
                    </a:p>
                  </a:txBody>
                  <a:tcPr marL="54864" marR="54864" marT="18288" marB="18288" anchor="ctr">
                    <a:solidFill>
                      <a:srgbClr val="1B2A6B"/>
                    </a:solidFill>
                  </a:tcPr>
                </a:tc>
                <a:tc>
                  <a:txBody>
                    <a:bodyPr wrap="square"/>
                    <a:lstStyle/>
                    <a:p>
                      <a:pPr algn="r"/>
                      <a:r>
                        <a:rPr sz="1050" b="1">
                          <a:solidFill>
                            <a:srgbClr val="FFFFFF"/>
                          </a:solidFill>
                          <a:latin typeface="Kanit"/>
                        </a:rPr>
                        <a:t>tripped</a:t>
                      </a:r>
                    </a:p>
                  </a:txBody>
                  <a:tcPr marL="54864" marR="54864" marT="18288" marB="18288" anchor="ctr">
                    <a:solidFill>
                      <a:srgbClr val="1B2A6B"/>
                    </a:solidFill>
                  </a:tcPr>
                </a:tc>
              </a:tr>
              <a:tr h="254203">
                <a:tc>
                  <a:txBody>
                    <a:bodyPr wrap="square"/>
                    <a:lstStyle/>
                    <a:p>
                      <a:pPr algn="l"/>
                      <a:r>
                        <a:rPr sz="900" b="1">
                          <a:solidFill>
                            <a:srgbClr val="1E2F5C"/>
                          </a:solidFill>
                          <a:latin typeface="Kanit"/>
                        </a:rPr>
                        <a:t>อำนาจเจริญ</a:t>
                      </a:r>
                    </a:p>
                  </a:txBody>
                  <a:tcPr marL="54864" marR="54864" marT="18288" marB="18288" anchor="ctr">
                    <a:solidFill>
                      <a:srgbClr val="FFFFFF"/>
                    </a:solidFill>
                  </a:tcPr>
                </a:tc>
                <a:tc>
                  <a:txBody>
                    <a:bodyPr wrap="square"/>
                    <a:lstStyle/>
                    <a:p>
                      <a:pPr algn="l"/>
                      <a:r>
                        <a:rPr sz="900" b="0">
                          <a:solidFill>
                            <a:srgbClr val="606060"/>
                          </a:solidFill>
                          <a:latin typeface="Kanit"/>
                        </a:rPr>
                        <a:t>Isan</a:t>
                      </a:r>
                    </a:p>
                  </a:txBody>
                  <a:tcPr marL="54864" marR="54864" marT="18288" marB="18288" anchor="ctr">
                    <a:solidFill>
                      <a:srgbClr val="FFFFFF"/>
                    </a:solidFill>
                  </a:tcPr>
                </a:tc>
                <a:tc>
                  <a:txBody>
                    <a:bodyPr wrap="square"/>
                    <a:lstStyle/>
                    <a:p>
                      <a:pPr algn="r"/>
                      <a:r>
                        <a:rPr sz="900" b="1">
                          <a:solidFill>
                            <a:srgbClr val="CC0000"/>
                          </a:solidFill>
                          <a:latin typeface="Kanit"/>
                        </a:rPr>
                        <a:t>114%</a:t>
                      </a:r>
                    </a:p>
                  </a:txBody>
                  <a:tcPr marL="54864" marR="54864" marT="18288" marB="18288" anchor="ctr">
                    <a:solidFill>
                      <a:srgbClr val="FFFFFF"/>
                    </a:solidFill>
                  </a:tcPr>
                </a:tc>
                <a:tc>
                  <a:txBody>
                    <a:bodyPr wrap="square"/>
                    <a:lstStyle/>
                    <a:p>
                      <a:pPr algn="r"/>
                      <a:r>
                        <a:rPr sz="900" b="1">
                          <a:solidFill>
                            <a:srgbClr val="CC0000"/>
                          </a:solidFill>
                          <a:latin typeface="Kanit"/>
                        </a:rPr>
                        <a:t>2.84%</a:t>
                      </a:r>
                    </a:p>
                  </a:txBody>
                  <a:tcPr marL="54864" marR="54864" marT="18288" marB="18288" anchor="ctr">
                    <a:solidFill>
                      <a:srgbClr val="FFFFFF"/>
                    </a:solidFill>
                  </a:tcPr>
                </a:tc>
                <a:tc>
                  <a:txBody>
                    <a:bodyPr wrap="square"/>
                    <a:lstStyle/>
                    <a:p>
                      <a:pPr algn="l"/>
                      <a:r>
                        <a:rPr sz="900" b="0">
                          <a:solidFill>
                            <a:srgbClr val="1E2F5C"/>
                          </a:solidFill>
                          <a:latin typeface="Kanit"/>
                        </a:rPr>
                        <a:t>Rice 91%</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CC0000"/>
                          </a:solidFill>
                          <a:latin typeface="Kanit"/>
                        </a:rPr>
                        <a:t>86%</a:t>
                      </a:r>
                    </a:p>
                  </a:txBody>
                  <a:tcPr marL="54864" marR="54864" marT="18288" marB="18288" anchor="ctr">
                    <a:solidFill>
                      <a:srgbClr val="FFFFFF"/>
                    </a:solidFill>
                  </a:tcPr>
                </a:tc>
                <a:tc>
                  <a:txBody>
                    <a:bodyPr wrap="square"/>
                    <a:lstStyle/>
                    <a:p>
                      <a:pPr algn="r"/>
                      <a:r>
                        <a:rPr sz="900" b="0">
                          <a:solidFill>
                            <a:srgbClr val="1E2F5C"/>
                          </a:solidFill>
                          <a:latin typeface="Kanit"/>
                        </a:rPr>
                        <a:t>6,896</a:t>
                      </a:r>
                    </a:p>
                  </a:txBody>
                  <a:tcPr marL="54864" marR="54864" marT="18288" marB="18288" anchor="ctr">
                    <a:solidFill>
                      <a:srgbClr val="FFFFFF"/>
                    </a:solidFill>
                  </a:tcPr>
                </a:tc>
                <a:tc>
                  <a:txBody>
                    <a:bodyPr wrap="square"/>
                    <a:lstStyle/>
                    <a:p>
                      <a:pPr algn="r"/>
                      <a:r>
                        <a:rPr sz="900" b="1">
                          <a:solidFill>
                            <a:srgbClr val="CC0000"/>
                          </a:solidFill>
                          <a:latin typeface="Kanit"/>
                        </a:rPr>
                        <a:t>4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นครพนม</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1">
                          <a:solidFill>
                            <a:srgbClr val="1E2F5C"/>
                          </a:solidFill>
                          <a:latin typeface="Kanit"/>
                        </a:rPr>
                        <a:t>91%</a:t>
                      </a:r>
                    </a:p>
                  </a:txBody>
                  <a:tcPr marL="54864" marR="54864" marT="18288" marB="18288" anchor="ctr">
                    <a:solidFill>
                      <a:srgbClr val="F7F9FC"/>
                    </a:solidFill>
                  </a:tcPr>
                </a:tc>
                <a:tc>
                  <a:txBody>
                    <a:bodyPr wrap="square"/>
                    <a:lstStyle/>
                    <a:p>
                      <a:pPr algn="r"/>
                      <a:r>
                        <a:rPr sz="900" b="1">
                          <a:solidFill>
                            <a:srgbClr val="CC0000"/>
                          </a:solidFill>
                          <a:latin typeface="Kanit"/>
                        </a:rPr>
                        <a:t>2.32%</a:t>
                      </a:r>
                    </a:p>
                  </a:txBody>
                  <a:tcPr marL="54864" marR="54864" marT="18288" marB="18288" anchor="ctr">
                    <a:solidFill>
                      <a:srgbClr val="F7F9FC"/>
                    </a:solidFill>
                  </a:tcPr>
                </a:tc>
                <a:tc>
                  <a:txBody>
                    <a:bodyPr wrap="square"/>
                    <a:lstStyle/>
                    <a:p>
                      <a:pPr algn="l"/>
                      <a:r>
                        <a:rPr sz="900" b="0">
                          <a:solidFill>
                            <a:srgbClr val="1E2F5C"/>
                          </a:solidFill>
                          <a:latin typeface="Kanit"/>
                        </a:rPr>
                        <a:t>Rice 80%</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1E2F5C"/>
                          </a:solidFill>
                          <a:latin typeface="Kanit"/>
                        </a:rPr>
                        <a:t>94%</a:t>
                      </a:r>
                    </a:p>
                  </a:txBody>
                  <a:tcPr marL="54864" marR="54864" marT="18288" marB="18288" anchor="ctr">
                    <a:solidFill>
                      <a:srgbClr val="F7F9FC"/>
                    </a:solidFill>
                  </a:tcPr>
                </a:tc>
                <a:tc>
                  <a:txBody>
                    <a:bodyPr wrap="square"/>
                    <a:lstStyle/>
                    <a:p>
                      <a:pPr algn="r"/>
                      <a:r>
                        <a:rPr sz="900" b="0">
                          <a:solidFill>
                            <a:srgbClr val="1E2F5C"/>
                          </a:solidFill>
                          <a:latin typeface="Kanit"/>
                        </a:rPr>
                        <a:t>6,061</a:t>
                      </a:r>
                    </a:p>
                  </a:txBody>
                  <a:tcPr marL="54864" marR="54864" marT="18288" marB="18288" anchor="ctr">
                    <a:solidFill>
                      <a:srgbClr val="F7F9FC"/>
                    </a:solidFill>
                  </a:tcPr>
                </a:tc>
                <a:tc>
                  <a:txBody>
                    <a:bodyPr wrap="square"/>
                    <a:lstStyle/>
                    <a:p>
                      <a:pPr algn="r"/>
                      <a:r>
                        <a:rPr sz="900" b="1">
                          <a:solidFill>
                            <a:srgbClr val="F5C242"/>
                          </a:solidFill>
                          <a:latin typeface="Kanit"/>
                        </a:rPr>
                        <a:t>2 of 4</a:t>
                      </a:r>
                    </a:p>
                  </a:txBody>
                  <a:tcPr marL="54864" marR="54864" marT="18288" marB="18288" anchor="ctr">
                    <a:solidFill>
                      <a:srgbClr val="F7F9FC"/>
                    </a:solidFill>
                  </a:tcPr>
                </a:tc>
              </a:tr>
              <a:tr h="254203">
                <a:tc>
                  <a:txBody>
                    <a:bodyPr wrap="square"/>
                    <a:lstStyle/>
                    <a:p>
                      <a:pPr algn="l"/>
                      <a:r>
                        <a:rPr sz="900" b="1">
                          <a:solidFill>
                            <a:srgbClr val="1E2F5C"/>
                          </a:solidFill>
                          <a:latin typeface="Kanit"/>
                        </a:rPr>
                        <a:t>กำแพงเพชร</a:t>
                      </a:r>
                    </a:p>
                  </a:txBody>
                  <a:tcPr marL="54864" marR="54864" marT="18288" marB="18288" anchor="ctr">
                    <a:solidFill>
                      <a:srgbClr val="FFFFFF"/>
                    </a:solidFill>
                  </a:tcPr>
                </a:tc>
                <a:tc>
                  <a:txBody>
                    <a:bodyPr wrap="square"/>
                    <a:lstStyle/>
                    <a:p>
                      <a:pPr algn="l"/>
                      <a:r>
                        <a:rPr sz="900" b="0">
                          <a:solidFill>
                            <a:srgbClr val="606060"/>
                          </a:solidFill>
                          <a:latin typeface="Kanit"/>
                        </a:rPr>
                        <a:t>North</a:t>
                      </a:r>
                    </a:p>
                  </a:txBody>
                  <a:tcPr marL="54864" marR="54864" marT="18288" marB="18288" anchor="ctr">
                    <a:solidFill>
                      <a:srgbClr val="FFFFFF"/>
                    </a:solidFill>
                  </a:tcPr>
                </a:tc>
                <a:tc>
                  <a:txBody>
                    <a:bodyPr wrap="square"/>
                    <a:lstStyle/>
                    <a:p>
                      <a:pPr algn="r"/>
                      <a:r>
                        <a:rPr sz="900" b="1">
                          <a:solidFill>
                            <a:srgbClr val="1E2F5C"/>
                          </a:solidFill>
                          <a:latin typeface="Kanit"/>
                        </a:rPr>
                        <a:t>83%</a:t>
                      </a:r>
                    </a:p>
                  </a:txBody>
                  <a:tcPr marL="54864" marR="54864" marT="18288" marB="18288" anchor="ctr">
                    <a:solidFill>
                      <a:srgbClr val="FFFFFF"/>
                    </a:solidFill>
                  </a:tcPr>
                </a:tc>
                <a:tc>
                  <a:txBody>
                    <a:bodyPr wrap="square"/>
                    <a:lstStyle/>
                    <a:p>
                      <a:pPr algn="r"/>
                      <a:r>
                        <a:rPr sz="900" b="1">
                          <a:solidFill>
                            <a:srgbClr val="CC0000"/>
                          </a:solidFill>
                          <a:latin typeface="Kanit"/>
                        </a:rPr>
                        <a:t>2.11%</a:t>
                      </a:r>
                    </a:p>
                  </a:txBody>
                  <a:tcPr marL="54864" marR="54864" marT="18288" marB="18288" anchor="ctr">
                    <a:solidFill>
                      <a:srgbClr val="FFFFFF"/>
                    </a:solidFill>
                  </a:tcPr>
                </a:tc>
                <a:tc>
                  <a:txBody>
                    <a:bodyPr wrap="square"/>
                    <a:lstStyle/>
                    <a:p>
                      <a:pPr algn="l"/>
                      <a:r>
                        <a:rPr sz="900" b="0">
                          <a:solidFill>
                            <a:srgbClr val="1E2F5C"/>
                          </a:solidFill>
                          <a:latin typeface="Kanit"/>
                        </a:rPr>
                        <a:t>Rice 97%</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1E2F5C"/>
                          </a:solidFill>
                          <a:latin typeface="Kanit"/>
                        </a:rPr>
                        <a:t>94%</a:t>
                      </a:r>
                    </a:p>
                  </a:txBody>
                  <a:tcPr marL="54864" marR="54864" marT="18288" marB="18288" anchor="ctr">
                    <a:solidFill>
                      <a:srgbClr val="FFFFFF"/>
                    </a:solidFill>
                  </a:tcPr>
                </a:tc>
                <a:tc>
                  <a:txBody>
                    <a:bodyPr wrap="square"/>
                    <a:lstStyle/>
                    <a:p>
                      <a:pPr algn="r"/>
                      <a:r>
                        <a:rPr sz="900" b="0">
                          <a:solidFill>
                            <a:srgbClr val="1E2F5C"/>
                          </a:solidFill>
                          <a:latin typeface="Kanit"/>
                        </a:rPr>
                        <a:t>7,919</a:t>
                      </a:r>
                    </a:p>
                  </a:txBody>
                  <a:tcPr marL="54864" marR="54864" marT="18288" marB="18288" anchor="ctr">
                    <a:solidFill>
                      <a:srgbClr val="FFFFFF"/>
                    </a:solidFill>
                  </a:tcPr>
                </a:tc>
                <a:tc>
                  <a:txBody>
                    <a:bodyPr wrap="square"/>
                    <a:lstStyle/>
                    <a:p>
                      <a:pPr algn="r"/>
                      <a:r>
                        <a:rPr sz="900" b="1">
                          <a:solidFill>
                            <a:srgbClr val="F5C242"/>
                          </a:solidFill>
                          <a:latin typeface="Kanit"/>
                        </a:rPr>
                        <a:t>2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สุโขทัย</a:t>
                      </a:r>
                    </a:p>
                  </a:txBody>
                  <a:tcPr marL="54864" marR="54864" marT="18288" marB="18288" anchor="ctr">
                    <a:solidFill>
                      <a:srgbClr val="F7F9FC"/>
                    </a:solidFill>
                  </a:tcPr>
                </a:tc>
                <a:tc>
                  <a:txBody>
                    <a:bodyPr wrap="square"/>
                    <a:lstStyle/>
                    <a:p>
                      <a:pPr algn="l"/>
                      <a:r>
                        <a:rPr sz="900" b="0">
                          <a:solidFill>
                            <a:srgbClr val="606060"/>
                          </a:solidFill>
                          <a:latin typeface="Kanit"/>
                        </a:rPr>
                        <a:t>North</a:t>
                      </a:r>
                    </a:p>
                  </a:txBody>
                  <a:tcPr marL="54864" marR="54864" marT="18288" marB="18288" anchor="ctr">
                    <a:solidFill>
                      <a:srgbClr val="F7F9FC"/>
                    </a:solidFill>
                  </a:tcPr>
                </a:tc>
                <a:tc>
                  <a:txBody>
                    <a:bodyPr wrap="square"/>
                    <a:lstStyle/>
                    <a:p>
                      <a:pPr algn="r"/>
                      <a:r>
                        <a:rPr sz="900" b="1">
                          <a:solidFill>
                            <a:srgbClr val="1E2F5C"/>
                          </a:solidFill>
                          <a:latin typeface="Kanit"/>
                        </a:rPr>
                        <a:t>77%</a:t>
                      </a:r>
                    </a:p>
                  </a:txBody>
                  <a:tcPr marL="54864" marR="54864" marT="18288" marB="18288" anchor="ctr">
                    <a:solidFill>
                      <a:srgbClr val="F7F9FC"/>
                    </a:solidFill>
                  </a:tcPr>
                </a:tc>
                <a:tc>
                  <a:txBody>
                    <a:bodyPr wrap="square"/>
                    <a:lstStyle/>
                    <a:p>
                      <a:pPr algn="r"/>
                      <a:r>
                        <a:rPr sz="900" b="1">
                          <a:solidFill>
                            <a:srgbClr val="CC0000"/>
                          </a:solidFill>
                          <a:latin typeface="Kanit"/>
                        </a:rPr>
                        <a:t>2.12%</a:t>
                      </a:r>
                    </a:p>
                  </a:txBody>
                  <a:tcPr marL="54864" marR="54864" marT="18288" marB="18288" anchor="ctr">
                    <a:solidFill>
                      <a:srgbClr val="F7F9FC"/>
                    </a:solidFill>
                  </a:tcPr>
                </a:tc>
                <a:tc>
                  <a:txBody>
                    <a:bodyPr wrap="square"/>
                    <a:lstStyle/>
                    <a:p>
                      <a:pPr algn="l"/>
                      <a:r>
                        <a:rPr sz="900" b="0">
                          <a:solidFill>
                            <a:srgbClr val="1E2F5C"/>
                          </a:solidFill>
                          <a:latin typeface="Kanit"/>
                        </a:rPr>
                        <a:t>Rice 95%</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CC0000"/>
                          </a:solidFill>
                          <a:latin typeface="Kanit"/>
                        </a:rPr>
                        <a:t>72%</a:t>
                      </a:r>
                    </a:p>
                  </a:txBody>
                  <a:tcPr marL="54864" marR="54864" marT="18288" marB="18288" anchor="ctr">
                    <a:solidFill>
                      <a:srgbClr val="F7F9FC"/>
                    </a:solidFill>
                  </a:tcPr>
                </a:tc>
                <a:tc>
                  <a:txBody>
                    <a:bodyPr wrap="square"/>
                    <a:lstStyle/>
                    <a:p>
                      <a:pPr algn="r"/>
                      <a:r>
                        <a:rPr sz="900" b="0">
                          <a:solidFill>
                            <a:srgbClr val="1E2F5C"/>
                          </a:solidFill>
                          <a:latin typeface="Kanit"/>
                        </a:rPr>
                        <a:t>8,815</a:t>
                      </a:r>
                    </a:p>
                  </a:txBody>
                  <a:tcPr marL="54864" marR="54864" marT="18288" marB="18288" anchor="ctr">
                    <a:solidFill>
                      <a:srgbClr val="F7F9FC"/>
                    </a:solidFill>
                  </a:tcPr>
                </a:tc>
                <a:tc>
                  <a:txBody>
                    <a:bodyPr wrap="square"/>
                    <a:lstStyle/>
                    <a:p>
                      <a:pPr algn="r"/>
                      <a:r>
                        <a:rPr sz="900" b="1">
                          <a:solidFill>
                            <a:srgbClr val="CC0000"/>
                          </a:solidFill>
                          <a:latin typeface="Kanit"/>
                        </a:rPr>
                        <a:t>3 of 4</a:t>
                      </a:r>
                    </a:p>
                  </a:txBody>
                  <a:tcPr marL="54864" marR="54864" marT="18288" marB="18288" anchor="ctr">
                    <a:solidFill>
                      <a:srgbClr val="F7F9FC"/>
                    </a:solidFill>
                  </a:tcPr>
                </a:tc>
              </a:tr>
              <a:tr h="254203">
                <a:tc>
                  <a:txBody>
                    <a:bodyPr wrap="square"/>
                    <a:lstStyle/>
                    <a:p>
                      <a:pPr algn="l"/>
                      <a:r>
                        <a:rPr sz="900" b="1">
                          <a:solidFill>
                            <a:srgbClr val="1E2F5C"/>
                          </a:solidFill>
                          <a:latin typeface="Kanit"/>
                        </a:rPr>
                        <a:t>นราธิวาส</a:t>
                      </a:r>
                    </a:p>
                  </a:txBody>
                  <a:tcPr marL="54864" marR="54864" marT="18288" marB="18288" anchor="ctr">
                    <a:solidFill>
                      <a:srgbClr val="FFFFFF"/>
                    </a:solidFill>
                  </a:tcPr>
                </a:tc>
                <a:tc>
                  <a:txBody>
                    <a:bodyPr wrap="square"/>
                    <a:lstStyle/>
                    <a:p>
                      <a:pPr algn="l"/>
                      <a:r>
                        <a:rPr sz="900" b="0">
                          <a:solidFill>
                            <a:srgbClr val="606060"/>
                          </a:solidFill>
                          <a:latin typeface="Kanit"/>
                        </a:rPr>
                        <a:t>South</a:t>
                      </a:r>
                    </a:p>
                  </a:txBody>
                  <a:tcPr marL="54864" marR="54864" marT="18288" marB="18288" anchor="ctr">
                    <a:solidFill>
                      <a:srgbClr val="FFFFFF"/>
                    </a:solidFill>
                  </a:tcPr>
                </a:tc>
                <a:tc>
                  <a:txBody>
                    <a:bodyPr wrap="square"/>
                    <a:lstStyle/>
                    <a:p>
                      <a:pPr algn="r"/>
                      <a:r>
                        <a:rPr sz="900" b="1">
                          <a:solidFill>
                            <a:srgbClr val="1E2F5C"/>
                          </a:solidFill>
                          <a:latin typeface="Kanit"/>
                        </a:rPr>
                        <a:t>74%</a:t>
                      </a:r>
                    </a:p>
                  </a:txBody>
                  <a:tcPr marL="54864" marR="54864" marT="18288" marB="18288" anchor="ctr">
                    <a:solidFill>
                      <a:srgbClr val="FFFFFF"/>
                    </a:solidFill>
                  </a:tcPr>
                </a:tc>
                <a:tc>
                  <a:txBody>
                    <a:bodyPr wrap="square"/>
                    <a:lstStyle/>
                    <a:p>
                      <a:pPr algn="r"/>
                      <a:r>
                        <a:rPr sz="900" b="1">
                          <a:solidFill>
                            <a:srgbClr val="CC0000"/>
                          </a:solidFill>
                          <a:latin typeface="Kanit"/>
                        </a:rPr>
                        <a:t>2.43%</a:t>
                      </a:r>
                    </a:p>
                  </a:txBody>
                  <a:tcPr marL="54864" marR="54864" marT="18288" marB="18288" anchor="ctr">
                    <a:solidFill>
                      <a:srgbClr val="FFFFFF"/>
                    </a:solidFill>
                  </a:tcPr>
                </a:tc>
                <a:tc>
                  <a:txBody>
                    <a:bodyPr wrap="square"/>
                    <a:lstStyle/>
                    <a:p>
                      <a:pPr algn="l"/>
                      <a:r>
                        <a:rPr sz="900" b="0">
                          <a:solidFill>
                            <a:srgbClr val="1E2F5C"/>
                          </a:solidFill>
                          <a:latin typeface="Kanit"/>
                        </a:rPr>
                        <a:t>Rubber 90%</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1E2F5C"/>
                          </a:solidFill>
                          <a:latin typeface="Kanit"/>
                        </a:rPr>
                        <a:t>131%</a:t>
                      </a:r>
                    </a:p>
                  </a:txBody>
                  <a:tcPr marL="54864" marR="54864" marT="18288" marB="18288" anchor="ctr">
                    <a:solidFill>
                      <a:srgbClr val="FFFFFF"/>
                    </a:solidFill>
                  </a:tcPr>
                </a:tc>
                <a:tc>
                  <a:txBody>
                    <a:bodyPr wrap="square"/>
                    <a:lstStyle/>
                    <a:p>
                      <a:pPr algn="r"/>
                      <a:r>
                        <a:rPr sz="900" b="0">
                          <a:solidFill>
                            <a:srgbClr val="1E2F5C"/>
                          </a:solidFill>
                          <a:latin typeface="Kanit"/>
                        </a:rPr>
                        <a:t>2,742</a:t>
                      </a:r>
                    </a:p>
                  </a:txBody>
                  <a:tcPr marL="54864" marR="54864" marT="18288" marB="18288" anchor="ctr">
                    <a:solidFill>
                      <a:srgbClr val="FFFFFF"/>
                    </a:solidFill>
                  </a:tcPr>
                </a:tc>
                <a:tc>
                  <a:txBody>
                    <a:bodyPr wrap="square"/>
                    <a:lstStyle/>
                    <a:p>
                      <a:pPr algn="r"/>
                      <a:r>
                        <a:rPr sz="900" b="1">
                          <a:solidFill>
                            <a:srgbClr val="F5C242"/>
                          </a:solidFill>
                          <a:latin typeface="Kanit"/>
                        </a:rPr>
                        <a:t>2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บุรีรัมย์</a:t>
                      </a:r>
                    </a:p>
                  </a:txBody>
                  <a:tcPr marL="54864" marR="54864" marT="18288" marB="18288" anchor="ctr">
                    <a:solidFill>
                      <a:srgbClr val="F7F9FC"/>
                    </a:solidFill>
                  </a:tcPr>
                </a:tc>
                <a:tc>
                  <a:txBody>
                    <a:bodyPr wrap="square"/>
                    <a:lstStyle/>
                    <a:p>
                      <a:pPr algn="l"/>
                      <a:r>
                        <a:rPr sz="900" b="0">
                          <a:solidFill>
                            <a:srgbClr val="606060"/>
                          </a:solidFill>
                          <a:latin typeface="Kanit"/>
                        </a:rPr>
                        <a:t>Isan</a:t>
                      </a:r>
                    </a:p>
                  </a:txBody>
                  <a:tcPr marL="54864" marR="54864" marT="18288" marB="18288" anchor="ctr">
                    <a:solidFill>
                      <a:srgbClr val="F7F9FC"/>
                    </a:solidFill>
                  </a:tcPr>
                </a:tc>
                <a:tc>
                  <a:txBody>
                    <a:bodyPr wrap="square"/>
                    <a:lstStyle/>
                    <a:p>
                      <a:pPr algn="r"/>
                      <a:r>
                        <a:rPr sz="900" b="1">
                          <a:solidFill>
                            <a:srgbClr val="1E2F5C"/>
                          </a:solidFill>
                          <a:latin typeface="Kanit"/>
                        </a:rPr>
                        <a:t>76%</a:t>
                      </a:r>
                    </a:p>
                  </a:txBody>
                  <a:tcPr marL="54864" marR="54864" marT="18288" marB="18288" anchor="ctr">
                    <a:solidFill>
                      <a:srgbClr val="F7F9FC"/>
                    </a:solidFill>
                  </a:tcPr>
                </a:tc>
                <a:tc>
                  <a:txBody>
                    <a:bodyPr wrap="square"/>
                    <a:lstStyle/>
                    <a:p>
                      <a:pPr algn="r"/>
                      <a:r>
                        <a:rPr sz="900" b="1">
                          <a:solidFill>
                            <a:srgbClr val="1E2F5C"/>
                          </a:solidFill>
                          <a:latin typeface="Kanit"/>
                        </a:rPr>
                        <a:t>1.87%</a:t>
                      </a:r>
                    </a:p>
                  </a:txBody>
                  <a:tcPr marL="54864" marR="54864" marT="18288" marB="18288" anchor="ctr">
                    <a:solidFill>
                      <a:srgbClr val="F7F9FC"/>
                    </a:solidFill>
                  </a:tcPr>
                </a:tc>
                <a:tc>
                  <a:txBody>
                    <a:bodyPr wrap="square"/>
                    <a:lstStyle/>
                    <a:p>
                      <a:pPr algn="l"/>
                      <a:r>
                        <a:rPr sz="900" b="0">
                          <a:solidFill>
                            <a:srgbClr val="1E2F5C"/>
                          </a:solidFill>
                          <a:latin typeface="Kanit"/>
                        </a:rPr>
                        <a:t>Rice 91%</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CC0000"/>
                          </a:solidFill>
                          <a:latin typeface="Kanit"/>
                        </a:rPr>
                        <a:t>84%</a:t>
                      </a:r>
                    </a:p>
                  </a:txBody>
                  <a:tcPr marL="54864" marR="54864" marT="18288" marB="18288" anchor="ctr">
                    <a:solidFill>
                      <a:srgbClr val="F7F9FC"/>
                    </a:solidFill>
                  </a:tcPr>
                </a:tc>
                <a:tc>
                  <a:txBody>
                    <a:bodyPr wrap="square"/>
                    <a:lstStyle/>
                    <a:p>
                      <a:pPr algn="r"/>
                      <a:r>
                        <a:rPr sz="900" b="0">
                          <a:solidFill>
                            <a:srgbClr val="1E2F5C"/>
                          </a:solidFill>
                          <a:latin typeface="Kanit"/>
                        </a:rPr>
                        <a:t>7,557</a:t>
                      </a:r>
                    </a:p>
                  </a:txBody>
                  <a:tcPr marL="54864" marR="54864" marT="18288" marB="18288" anchor="ctr">
                    <a:solidFill>
                      <a:srgbClr val="F7F9FC"/>
                    </a:solidFill>
                  </a:tcPr>
                </a:tc>
                <a:tc>
                  <a:txBody>
                    <a:bodyPr wrap="square"/>
                    <a:lstStyle/>
                    <a:p>
                      <a:pPr algn="r"/>
                      <a:r>
                        <a:rPr sz="900" b="1">
                          <a:solidFill>
                            <a:srgbClr val="F5C242"/>
                          </a:solidFill>
                          <a:latin typeface="Kanit"/>
                        </a:rPr>
                        <a:t>2 of 4</a:t>
                      </a:r>
                    </a:p>
                  </a:txBody>
                  <a:tcPr marL="54864" marR="54864" marT="18288" marB="18288" anchor="ctr">
                    <a:solidFill>
                      <a:srgbClr val="F7F9FC"/>
                    </a:solidFill>
                  </a:tcPr>
                </a:tc>
              </a:tr>
              <a:tr h="254203">
                <a:tc>
                  <a:txBody>
                    <a:bodyPr wrap="square"/>
                    <a:lstStyle/>
                    <a:p>
                      <a:pPr algn="l"/>
                      <a:r>
                        <a:rPr sz="900" b="1">
                          <a:solidFill>
                            <a:srgbClr val="1E2F5C"/>
                          </a:solidFill>
                          <a:latin typeface="Kanit"/>
                        </a:rPr>
                        <a:t>อุตรดิตถ์</a:t>
                      </a:r>
                    </a:p>
                  </a:txBody>
                  <a:tcPr marL="54864" marR="54864" marT="18288" marB="18288" anchor="ctr">
                    <a:solidFill>
                      <a:srgbClr val="FFFFFF"/>
                    </a:solidFill>
                  </a:tcPr>
                </a:tc>
                <a:tc>
                  <a:txBody>
                    <a:bodyPr wrap="square"/>
                    <a:lstStyle/>
                    <a:p>
                      <a:pPr algn="l"/>
                      <a:r>
                        <a:rPr sz="900" b="0">
                          <a:solidFill>
                            <a:srgbClr val="606060"/>
                          </a:solidFill>
                          <a:latin typeface="Kanit"/>
                        </a:rPr>
                        <a:t>North</a:t>
                      </a:r>
                    </a:p>
                  </a:txBody>
                  <a:tcPr marL="54864" marR="54864" marT="18288" marB="18288" anchor="ctr">
                    <a:solidFill>
                      <a:srgbClr val="FFFFFF"/>
                    </a:solidFill>
                  </a:tcPr>
                </a:tc>
                <a:tc>
                  <a:txBody>
                    <a:bodyPr wrap="square"/>
                    <a:lstStyle/>
                    <a:p>
                      <a:pPr algn="r"/>
                      <a:r>
                        <a:rPr sz="900" b="1">
                          <a:solidFill>
                            <a:srgbClr val="1E2F5C"/>
                          </a:solidFill>
                          <a:latin typeface="Kanit"/>
                        </a:rPr>
                        <a:t>87%</a:t>
                      </a:r>
                    </a:p>
                  </a:txBody>
                  <a:tcPr marL="54864" marR="54864" marT="18288" marB="18288" anchor="ctr">
                    <a:solidFill>
                      <a:srgbClr val="FFFFFF"/>
                    </a:solidFill>
                  </a:tcPr>
                </a:tc>
                <a:tc>
                  <a:txBody>
                    <a:bodyPr wrap="square"/>
                    <a:lstStyle/>
                    <a:p>
                      <a:pPr algn="r"/>
                      <a:r>
                        <a:rPr sz="900" b="1">
                          <a:solidFill>
                            <a:srgbClr val="1E2F5C"/>
                          </a:solidFill>
                          <a:latin typeface="Kanit"/>
                        </a:rPr>
                        <a:t>1.38%</a:t>
                      </a:r>
                    </a:p>
                  </a:txBody>
                  <a:tcPr marL="54864" marR="54864" marT="18288" marB="18288" anchor="ctr">
                    <a:solidFill>
                      <a:srgbClr val="FFFFFF"/>
                    </a:solidFill>
                  </a:tcPr>
                </a:tc>
                <a:tc>
                  <a:txBody>
                    <a:bodyPr wrap="square"/>
                    <a:lstStyle/>
                    <a:p>
                      <a:pPr algn="l"/>
                      <a:r>
                        <a:rPr sz="900" b="0">
                          <a:solidFill>
                            <a:srgbClr val="1E2F5C"/>
                          </a:solidFill>
                          <a:latin typeface="Kanit"/>
                        </a:rPr>
                        <a:t>Rice 95%</a:t>
                      </a:r>
                    </a:p>
                  </a:txBody>
                  <a:tcPr marL="54864" marR="54864" marT="18288" marB="18288" anchor="ctr">
                    <a:solidFill>
                      <a:srgbClr val="FFFFFF"/>
                    </a:solidFill>
                  </a:tcPr>
                </a:tc>
                <a:tc>
                  <a:txBody>
                    <a:bodyPr wrap="square"/>
                    <a:lstStyle/>
                    <a:p>
                      <a:pPr algn="l"/>
                      <a:r>
                        <a:rPr sz="900" b="1">
                          <a:solidFill>
                            <a:srgbClr val="CC0000"/>
                          </a:solidFill>
                          <a:latin typeface="Kanit"/>
                        </a:rPr>
                        <a:t>below cost</a:t>
                      </a:r>
                    </a:p>
                  </a:txBody>
                  <a:tcPr marL="54864" marR="54864" marT="18288" marB="18288" anchor="ctr">
                    <a:solidFill>
                      <a:srgbClr val="FFFFFF"/>
                    </a:solidFill>
                  </a:tcPr>
                </a:tc>
                <a:tc>
                  <a:txBody>
                    <a:bodyPr wrap="square"/>
                    <a:lstStyle/>
                    <a:p>
                      <a:pPr algn="r"/>
                      <a:r>
                        <a:rPr sz="900" b="1">
                          <a:solidFill>
                            <a:srgbClr val="CC0000"/>
                          </a:solidFill>
                          <a:latin typeface="Kanit"/>
                        </a:rPr>
                        <a:t>73%</a:t>
                      </a:r>
                    </a:p>
                  </a:txBody>
                  <a:tcPr marL="54864" marR="54864" marT="18288" marB="18288" anchor="ctr">
                    <a:solidFill>
                      <a:srgbClr val="FFFFFF"/>
                    </a:solidFill>
                  </a:tcPr>
                </a:tc>
                <a:tc>
                  <a:txBody>
                    <a:bodyPr wrap="square"/>
                    <a:lstStyle/>
                    <a:p>
                      <a:pPr algn="r"/>
                      <a:r>
                        <a:rPr sz="900" b="0">
                          <a:solidFill>
                            <a:srgbClr val="1E2F5C"/>
                          </a:solidFill>
                          <a:latin typeface="Kanit"/>
                        </a:rPr>
                        <a:t>8,444</a:t>
                      </a:r>
                    </a:p>
                  </a:txBody>
                  <a:tcPr marL="54864" marR="54864" marT="18288" marB="18288" anchor="ctr">
                    <a:solidFill>
                      <a:srgbClr val="FFFFFF"/>
                    </a:solidFill>
                  </a:tcPr>
                </a:tc>
                <a:tc>
                  <a:txBody>
                    <a:bodyPr wrap="square"/>
                    <a:lstStyle/>
                    <a:p>
                      <a:pPr algn="r"/>
                      <a:r>
                        <a:rPr sz="900" b="1">
                          <a:solidFill>
                            <a:srgbClr val="F5C242"/>
                          </a:solidFill>
                          <a:latin typeface="Kanit"/>
                        </a:rPr>
                        <a:t>2 of 4</a:t>
                      </a:r>
                    </a:p>
                  </a:txBody>
                  <a:tcPr marL="54864" marR="54864" marT="18288" marB="18288" anchor="ctr">
                    <a:solidFill>
                      <a:srgbClr val="FFFFFF"/>
                    </a:solidFill>
                  </a:tcPr>
                </a:tc>
              </a:tr>
              <a:tr h="254203">
                <a:tc>
                  <a:txBody>
                    <a:bodyPr wrap="square"/>
                    <a:lstStyle/>
                    <a:p>
                      <a:pPr algn="l"/>
                      <a:r>
                        <a:rPr sz="900" b="1">
                          <a:solidFill>
                            <a:srgbClr val="1E2F5C"/>
                          </a:solidFill>
                          <a:latin typeface="Kanit"/>
                        </a:rPr>
                        <a:t>ลำปาง</a:t>
                      </a:r>
                    </a:p>
                  </a:txBody>
                  <a:tcPr marL="54864" marR="54864" marT="18288" marB="18288" anchor="ctr">
                    <a:solidFill>
                      <a:srgbClr val="F7F9FC"/>
                    </a:solidFill>
                  </a:tcPr>
                </a:tc>
                <a:tc>
                  <a:txBody>
                    <a:bodyPr wrap="square"/>
                    <a:lstStyle/>
                    <a:p>
                      <a:pPr algn="l"/>
                      <a:r>
                        <a:rPr sz="900" b="0">
                          <a:solidFill>
                            <a:srgbClr val="606060"/>
                          </a:solidFill>
                          <a:latin typeface="Kanit"/>
                        </a:rPr>
                        <a:t>North</a:t>
                      </a:r>
                    </a:p>
                  </a:txBody>
                  <a:tcPr marL="54864" marR="54864" marT="18288" marB="18288" anchor="ctr">
                    <a:solidFill>
                      <a:srgbClr val="F7F9FC"/>
                    </a:solidFill>
                  </a:tcPr>
                </a:tc>
                <a:tc>
                  <a:txBody>
                    <a:bodyPr wrap="square"/>
                    <a:lstStyle/>
                    <a:p>
                      <a:pPr algn="r"/>
                      <a:r>
                        <a:rPr sz="900" b="1">
                          <a:solidFill>
                            <a:srgbClr val="1E2F5C"/>
                          </a:solidFill>
                          <a:latin typeface="Kanit"/>
                        </a:rPr>
                        <a:t>80%</a:t>
                      </a:r>
                    </a:p>
                  </a:txBody>
                  <a:tcPr marL="54864" marR="54864" marT="18288" marB="18288" anchor="ctr">
                    <a:solidFill>
                      <a:srgbClr val="F7F9FC"/>
                    </a:solidFill>
                  </a:tcPr>
                </a:tc>
                <a:tc>
                  <a:txBody>
                    <a:bodyPr wrap="square"/>
                    <a:lstStyle/>
                    <a:p>
                      <a:pPr algn="r"/>
                      <a:r>
                        <a:rPr sz="900" b="1">
                          <a:solidFill>
                            <a:srgbClr val="1E2F5C"/>
                          </a:solidFill>
                          <a:latin typeface="Kanit"/>
                        </a:rPr>
                        <a:t>1.58%</a:t>
                      </a:r>
                    </a:p>
                  </a:txBody>
                  <a:tcPr marL="54864" marR="54864" marT="18288" marB="18288" anchor="ctr">
                    <a:solidFill>
                      <a:srgbClr val="F7F9FC"/>
                    </a:solidFill>
                  </a:tcPr>
                </a:tc>
                <a:tc>
                  <a:txBody>
                    <a:bodyPr wrap="square"/>
                    <a:lstStyle/>
                    <a:p>
                      <a:pPr algn="l"/>
                      <a:r>
                        <a:rPr sz="900" b="0">
                          <a:solidFill>
                            <a:srgbClr val="1E2F5C"/>
                          </a:solidFill>
                          <a:latin typeface="Kanit"/>
                        </a:rPr>
                        <a:t>Rice 92%</a:t>
                      </a:r>
                    </a:p>
                  </a:txBody>
                  <a:tcPr marL="54864" marR="54864" marT="18288" marB="18288" anchor="ctr">
                    <a:solidFill>
                      <a:srgbClr val="F7F9FC"/>
                    </a:solidFill>
                  </a:tcPr>
                </a:tc>
                <a:tc>
                  <a:txBody>
                    <a:bodyPr wrap="square"/>
                    <a:lstStyle/>
                    <a:p>
                      <a:pPr algn="l"/>
                      <a:r>
                        <a:rPr sz="900" b="1">
                          <a:solidFill>
                            <a:srgbClr val="CC0000"/>
                          </a:solidFill>
                          <a:latin typeface="Kanit"/>
                        </a:rPr>
                        <a:t>below cost</a:t>
                      </a:r>
                    </a:p>
                  </a:txBody>
                  <a:tcPr marL="54864" marR="54864" marT="18288" marB="18288" anchor="ctr">
                    <a:solidFill>
                      <a:srgbClr val="F7F9FC"/>
                    </a:solidFill>
                  </a:tcPr>
                </a:tc>
                <a:tc>
                  <a:txBody>
                    <a:bodyPr wrap="square"/>
                    <a:lstStyle/>
                    <a:p>
                      <a:pPr algn="r"/>
                      <a:r>
                        <a:rPr sz="900" b="1">
                          <a:solidFill>
                            <a:srgbClr val="1E2F5C"/>
                          </a:solidFill>
                          <a:latin typeface="Kanit"/>
                        </a:rPr>
                        <a:t>103%</a:t>
                      </a:r>
                    </a:p>
                  </a:txBody>
                  <a:tcPr marL="54864" marR="54864" marT="18288" marB="18288" anchor="ctr">
                    <a:solidFill>
                      <a:srgbClr val="F7F9FC"/>
                    </a:solidFill>
                  </a:tcPr>
                </a:tc>
                <a:tc>
                  <a:txBody>
                    <a:bodyPr wrap="square"/>
                    <a:lstStyle/>
                    <a:p>
                      <a:pPr algn="r"/>
                      <a:r>
                        <a:rPr sz="900" b="0">
                          <a:solidFill>
                            <a:srgbClr val="1E2F5C"/>
                          </a:solidFill>
                          <a:latin typeface="Kanit"/>
                        </a:rPr>
                        <a:t>5,185</a:t>
                      </a:r>
                    </a:p>
                  </a:txBody>
                  <a:tcPr marL="54864" marR="54864" marT="18288" marB="18288" anchor="ctr">
                    <a:solidFill>
                      <a:srgbClr val="F7F9FC"/>
                    </a:solidFill>
                  </a:tcPr>
                </a:tc>
                <a:tc>
                  <a:txBody>
                    <a:bodyPr wrap="square"/>
                    <a:lstStyle/>
                    <a:p>
                      <a:pPr algn="r"/>
                      <a:r>
                        <a:rPr sz="900" b="1">
                          <a:solidFill>
                            <a:srgbClr val="F5C242"/>
                          </a:solidFill>
                          <a:latin typeface="Kanit"/>
                        </a:rPr>
                        <a:t>1 of 4</a:t>
                      </a:r>
                    </a:p>
                  </a:txBody>
                  <a:tcPr marL="54864" marR="54864" marT="18288" marB="18288" anchor="ctr">
                    <a:solidFill>
                      <a:srgbClr val="F7F9FC"/>
                    </a:solidFill>
                  </a:tcPr>
                </a:tc>
              </a:tr>
            </a:tbl>
          </a:graphicData>
        </a:graphic>
      </p:graphicFrame>
      <p:sp>
        <p:nvSpPr>
          <p:cNvPr id="11" name="Rounded Rectangle 10"/>
          <p:cNvSpPr/>
          <p:nvPr/>
        </p:nvSpPr>
        <p:spPr>
          <a:xfrm>
            <a:off x="411480" y="4188561"/>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4217822"/>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13" name="TextBox 12"/>
          <p:cNvSpPr txBox="1"/>
          <p:nvPr/>
        </p:nvSpPr>
        <p:spPr>
          <a:xfrm>
            <a:off x="1056955" y="4202277"/>
            <a:ext cx="10720516" cy="462915"/>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Household debt-to-income MEASURED (NSO SES 2566, debt as a share of ANNUAL income — above 100% means more debt than a year of earnings). Unemployment MEASURED (NSO LFS, by province). Crop mix MEASURED (OAE planted area); crop economics ESTIMATED from OAE cost of production. Rainfall MEASURED against the long-run normal. The eight shown are the worst of 77 on the combined debt + unemployment rank; the signal count is a plain tally, not a weighted score.</a:t>
            </a:r>
          </a:p>
        </p:txBody>
      </p:sp>
      <p:sp>
        <p:nvSpPr>
          <p:cNvPr id="14" name="Rectangle 13"/>
          <p:cNvSpPr/>
          <p:nvPr/>
        </p:nvSpPr>
        <p:spPr>
          <a:xfrm>
            <a:off x="411480" y="4816068"/>
            <a:ext cx="5568696" cy="151815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411480" y="4816068"/>
            <a:ext cx="50292" cy="151815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30936" y="4962372"/>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stressed list is the rice list</a:t>
            </a:r>
          </a:p>
        </p:txBody>
      </p:sp>
      <p:sp>
        <p:nvSpPr>
          <p:cNvPr id="17" name="TextBox 16"/>
          <p:cNvSpPr txBox="1"/>
          <p:nvPr/>
        </p:nvSpPr>
        <p:spPr>
          <a:xfrm>
            <a:off x="630936" y="5166842"/>
            <a:ext cx="5239512" cy="102108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Every province in the top eight leads on a crop that does not cover its cost, and in seven of the eight that crop is rice. Isan and the North dominate; the one southern entry, นราธิวาส, is rubber — also below cost, and on the lowest farm income on the table at ฿2,742 a month.
อำนาจเจริญ trips all four: debt at 114% of a year's income, unemployment 2.84%, rice below cost, and rain at 86% of normal.</a:t>
            </a:r>
          </a:p>
        </p:txBody>
      </p:sp>
      <p:sp>
        <p:nvSpPr>
          <p:cNvPr id="18" name="Rectangle 17"/>
          <p:cNvSpPr/>
          <p:nvPr/>
        </p:nvSpPr>
        <p:spPr>
          <a:xfrm>
            <a:off x="6208776" y="4816068"/>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208776" y="4816068"/>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428232" y="4962372"/>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What this list is, and what it is not</a:t>
            </a:r>
          </a:p>
        </p:txBody>
      </p:sp>
      <p:sp>
        <p:nvSpPr>
          <p:cNvPr id="21" name="TextBox 20"/>
          <p:cNvSpPr txBox="1"/>
          <p:nvPr/>
        </p:nvSpPr>
        <p:spPr>
          <a:xfrm>
            <a:off x="6428232" y="5166842"/>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It is where external conditions say a household is likely to be squeezed, before that shows up as a missed payment. Built entirely from published statistics, so it points at provinces, not at people — turning it into names is the Assistance tab's job, and it should be crossed with who is currently paying before anyone is contacted.
It is not a distress list. Most households in these provinces are paying normally. The value is timing: reaching someone while restructuring is still cheap.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Rectangle 2"/>
          <p:cNvSpPr/>
          <p:nvPr/>
        </p:nvSpPr>
        <p:spPr>
          <a:xfrm>
            <a:off x="11731752" y="0"/>
            <a:ext cx="164592" cy="68580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1896344" y="0"/>
            <a:ext cx="164592" cy="6858000"/>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 name="Picture 4" descr="chaiyo.png"/>
          <p:cNvPicPr>
            <a:picLocks noChangeAspect="1"/>
          </p:cNvPicPr>
          <p:nvPr/>
        </p:nvPicPr>
        <p:blipFill>
          <a:blip r:embed="rId2"/>
          <a:stretch>
            <a:fillRect/>
          </a:stretch>
        </p:blipFill>
        <p:spPr>
          <a:xfrm>
            <a:off x="640080" y="640080"/>
            <a:ext cx="2487168" cy="1554480"/>
          </a:xfrm>
          <a:prstGeom prst="rect">
            <a:avLst/>
          </a:prstGeom>
        </p:spPr>
      </p:pic>
      <p:sp>
        <p:nvSpPr>
          <p:cNvPr id="6" name="TextBox 5"/>
          <p:cNvSpPr txBox="1"/>
          <p:nvPr/>
        </p:nvSpPr>
        <p:spPr>
          <a:xfrm>
            <a:off x="685800" y="2788920"/>
            <a:ext cx="10058400" cy="184404"/>
          </a:xfrm>
          <a:prstGeom prst="rect">
            <a:avLst/>
          </a:prstGeom>
          <a:noFill/>
        </p:spPr>
        <p:txBody>
          <a:bodyPr wrap="square" lIns="0" rIns="0" tIns="0" bIns="0" anchor="t">
            <a:noAutofit/>
          </a:bodyPr>
          <a:lstStyle/>
          <a:p>
            <a:pPr algn="l">
              <a:lnSpc>
                <a:spcPts val="1452"/>
              </a:lnSpc>
            </a:pPr>
            <a:r>
              <a:rPr sz="1100" b="1">
                <a:solidFill>
                  <a:srgbClr val="F5C242"/>
                </a:solidFill>
                <a:latin typeface="Kanit"/>
              </a:rPr>
              <a:t>10 · Collateral</a:t>
            </a:r>
          </a:p>
        </p:txBody>
      </p:sp>
      <p:sp>
        <p:nvSpPr>
          <p:cNvPr id="7" name="TextBox 6"/>
          <p:cNvSpPr txBox="1"/>
          <p:nvPr/>
        </p:nvSpPr>
        <p:spPr>
          <a:xfrm>
            <a:off x="685800" y="3154680"/>
            <a:ext cx="10058400" cy="508000"/>
          </a:xfrm>
          <a:prstGeom prst="rect">
            <a:avLst/>
          </a:prstGeom>
          <a:noFill/>
        </p:spPr>
        <p:txBody>
          <a:bodyPr wrap="square" lIns="0" rIns="0" tIns="0" bIns="0" anchor="t">
            <a:noAutofit/>
          </a:bodyPr>
          <a:lstStyle/>
          <a:p>
            <a:pPr algn="l">
              <a:lnSpc>
                <a:spcPts val="4000"/>
              </a:lnSpc>
            </a:pPr>
            <a:r>
              <a:rPr sz="3200" b="1">
                <a:solidFill>
                  <a:srgbClr val="FFFFFF"/>
                </a:solidFill>
                <a:latin typeface="Kanit"/>
              </a:rPr>
              <a:t>This is the half with a decision attached.</a:t>
            </a:r>
          </a:p>
        </p:txBody>
      </p:sp>
      <p:sp>
        <p:nvSpPr>
          <p:cNvPr id="8" name="TextBox 7"/>
          <p:cNvSpPr txBox="1"/>
          <p:nvPr/>
        </p:nvSpPr>
        <p:spPr>
          <a:xfrm>
            <a:off x="685800" y="4434840"/>
            <a:ext cx="9692640" cy="800100"/>
          </a:xfrm>
          <a:prstGeom prst="rect">
            <a:avLst/>
          </a:prstGeom>
          <a:noFill/>
        </p:spPr>
        <p:txBody>
          <a:bodyPr wrap="square" lIns="0" rIns="0" tIns="0" bIns="0" anchor="t">
            <a:noAutofit/>
          </a:bodyPr>
          <a:lstStyle/>
          <a:p>
            <a:pPr algn="l">
              <a:lnSpc>
                <a:spcPts val="2100"/>
              </a:lnSpc>
            </a:pPr>
            <a:r>
              <a:rPr sz="1350" b="0">
                <a:solidFill>
                  <a:srgbClr val="C7D0E4"/>
                </a:solidFill>
                <a:latin typeface="Kanit"/>
              </a:rPr>
              <a:t>We lend against titles, so the used-vehicle market is an external condition that prices our security directly. Four things are moving at once: what a used vehicle is worth, how many are entering the pool, which nameplates they are, and how easily any of them can be sold on. A brand with no Thai residual history is a recovery assumption nobody can make yet.</a:t>
            </a:r>
          </a:p>
        </p:txBody>
      </p:sp>
      <p:sp>
        <p:nvSpPr>
          <p:cNvPr id="9" name="TextBox 8"/>
          <p:cNvSpPr txBox="1"/>
          <p:nvPr/>
        </p:nvSpPr>
        <p:spPr>
          <a:xfrm>
            <a:off x="365760" y="6547104"/>
            <a:ext cx="6400800" cy="134112"/>
          </a:xfrm>
          <a:prstGeom prst="rect">
            <a:avLst/>
          </a:prstGeom>
          <a:noFill/>
        </p:spPr>
        <p:txBody>
          <a:bodyPr wrap="square" lIns="0" rIns="0" tIns="0" bIns="0" anchor="t">
            <a:noAutofit/>
          </a:bodyPr>
          <a:lstStyle/>
          <a:p>
            <a:pPr algn="l">
              <a:lnSpc>
                <a:spcPts val="1056"/>
              </a:lnSpc>
            </a:pPr>
            <a:r>
              <a:rPr sz="800" b="0">
                <a:solidFill>
                  <a:srgbClr val="FFFFFF"/>
                </a:solidFill>
                <a:latin typeface="Kanit"/>
              </a:rPr>
              <a:t>Restricted Data – Reproduction is prohibited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10A · RESALE VALUE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fall has stopped. The level has not recovered.</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graphicFrame>
        <p:nvGraphicFramePr>
          <p:cNvPr id="9" name="Table 8"/>
          <p:cNvGraphicFramePr>
            <a:graphicFrameLocks noGrp="1"/>
          </p:cNvGraphicFramePr>
          <p:nvPr/>
        </p:nvGraphicFramePr>
        <p:xfrm>
          <a:off x="411480" y="1152144"/>
          <a:ext cx="11365992" cy="1193292"/>
        </p:xfrm>
        <a:graphic>
          <a:graphicData uri="http://schemas.openxmlformats.org/drawingml/2006/table">
            <a:tbl>
              <a:tblPr>
                <a:tableStyleId>{5C22544A-7EE6-4342-B048-85BDC9FD1C3A}</a:tableStyleId>
              </a:tblPr>
              <a:tblGrid>
                <a:gridCol w="2286000"/>
                <a:gridCol w="1463040"/>
                <a:gridCol w="1280160"/>
                <a:gridCol w="1371600"/>
                <a:gridCol w="1005840"/>
                <a:gridCol w="1005840"/>
                <a:gridCol w="1371600"/>
                <a:gridCol w="1581912"/>
              </a:tblGrid>
              <a:tr h="329184">
                <a:tc>
                  <a:txBody>
                    <a:bodyPr wrap="square"/>
                    <a:lstStyle/>
                    <a:p>
                      <a:pPr algn="l"/>
                      <a:r>
                        <a:rPr sz="1050" b="1">
                          <a:solidFill>
                            <a:srgbClr val="FFFFFF"/>
                          </a:solidFill>
                          <a:latin typeface="Kanit"/>
                        </a:rPr>
                        <a:t>BoT used-vehicle price index</a:t>
                      </a:r>
                    </a:p>
                  </a:txBody>
                  <a:tcPr marL="54864" marR="54864" marT="18288" marB="18288" anchor="ctr">
                    <a:solidFill>
                      <a:srgbClr val="1B2A6B"/>
                    </a:solidFill>
                  </a:tcPr>
                </a:tc>
                <a:tc>
                  <a:txBody>
                    <a:bodyPr wrap="square"/>
                    <a:lstStyle/>
                    <a:p>
                      <a:pPr algn="r"/>
                      <a:r>
                        <a:rPr sz="1050" b="1">
                          <a:solidFill>
                            <a:srgbClr val="FFFFFF"/>
                          </a:solidFill>
                          <a:latin typeface="Kanit"/>
                        </a:rPr>
                        <a:t>latest (2026-05)</a:t>
                      </a:r>
                    </a:p>
                  </a:txBody>
                  <a:tcPr marL="54864" marR="54864" marT="18288" marB="18288" anchor="ctr">
                    <a:solidFill>
                      <a:srgbClr val="1B2A6B"/>
                    </a:solidFill>
                  </a:tcPr>
                </a:tc>
                <a:tc>
                  <a:txBody>
                    <a:bodyPr wrap="square"/>
                    <a:lstStyle/>
                    <a:p>
                      <a:pPr algn="r"/>
                      <a:r>
                        <a:rPr sz="1050" b="1">
                          <a:solidFill>
                            <a:srgbClr val="FFFFFF"/>
                          </a:solidFill>
                          <a:latin typeface="Kanit"/>
                        </a:rPr>
                        <a:t>6-month move</a:t>
                      </a:r>
                    </a:p>
                  </a:txBody>
                  <a:tcPr marL="54864" marR="54864" marT="18288" marB="18288" anchor="ctr">
                    <a:solidFill>
                      <a:srgbClr val="1B2A6B"/>
                    </a:solidFill>
                  </a:tcPr>
                </a:tc>
                <a:tc>
                  <a:txBody>
                    <a:bodyPr wrap="square"/>
                    <a:lstStyle/>
                    <a:p>
                      <a:pPr algn="r"/>
                      <a:r>
                        <a:rPr sz="1050" b="1">
                          <a:solidFill>
                            <a:srgbClr val="FFFFFF"/>
                          </a:solidFill>
                          <a:latin typeface="Kanit"/>
                        </a:rPr>
                        <a:t>12-month move</a:t>
                      </a:r>
                    </a:p>
                  </a:txBody>
                  <a:tcPr marL="54864" marR="54864" marT="18288" marB="18288" anchor="ctr">
                    <a:solidFill>
                      <a:srgbClr val="1B2A6B"/>
                    </a:solidFill>
                  </a:tcPr>
                </a:tc>
                <a:tc>
                  <a:txBody>
                    <a:bodyPr wrap="square"/>
                    <a:lstStyle/>
                    <a:p>
                      <a:pPr algn="r"/>
                      <a:r>
                        <a:rPr sz="1050" b="1">
                          <a:solidFill>
                            <a:srgbClr val="FFFFFF"/>
                          </a:solidFill>
                          <a:latin typeface="Kanit"/>
                        </a:rPr>
                        <a:t>12m low</a:t>
                      </a:r>
                    </a:p>
                  </a:txBody>
                  <a:tcPr marL="54864" marR="54864" marT="18288" marB="18288" anchor="ctr">
                    <a:solidFill>
                      <a:srgbClr val="1B2A6B"/>
                    </a:solidFill>
                  </a:tcPr>
                </a:tc>
                <a:tc>
                  <a:txBody>
                    <a:bodyPr wrap="square"/>
                    <a:lstStyle/>
                    <a:p>
                      <a:pPr algn="r"/>
                      <a:r>
                        <a:rPr sz="1050" b="1">
                          <a:solidFill>
                            <a:srgbClr val="FFFFFF"/>
                          </a:solidFill>
                          <a:latin typeface="Kanit"/>
                        </a:rPr>
                        <a:t>12m high</a:t>
                      </a:r>
                    </a:p>
                  </a:txBody>
                  <a:tcPr marL="54864" marR="54864" marT="18288" marB="18288" anchor="ctr">
                    <a:solidFill>
                      <a:srgbClr val="1B2A6B"/>
                    </a:solidFill>
                  </a:tcPr>
                </a:tc>
                <a:tc>
                  <a:txBody>
                    <a:bodyPr wrap="square"/>
                    <a:lstStyle/>
                    <a:p>
                      <a:pPr algn="r"/>
                      <a:r>
                        <a:rPr sz="1050" b="1">
                          <a:solidFill>
                            <a:srgbClr val="FFFFFF"/>
                          </a:solidFill>
                          <a:latin typeface="Kanit"/>
                        </a:rPr>
                        <a:t>vs 2015 base</a:t>
                      </a:r>
                    </a:p>
                  </a:txBody>
                  <a:tcPr marL="54864" marR="54864" marT="18288" marB="18288" anchor="ctr">
                    <a:solidFill>
                      <a:srgbClr val="1B2A6B"/>
                    </a:solidFill>
                  </a:tcPr>
                </a:tc>
                <a:tc>
                  <a:txBody>
                    <a:bodyPr wrap="square"/>
                    <a:lstStyle/>
                    <a:p>
                      <a:pPr algn="r"/>
                      <a:r>
                        <a:rPr sz="1050" b="1">
                          <a:solidFill>
                            <a:srgbClr val="FFFFFF"/>
                          </a:solidFill>
                          <a:latin typeface="Kanit"/>
                        </a:rPr>
                        <a:t>off all-time peak</a:t>
                      </a:r>
                    </a:p>
                  </a:txBody>
                  <a:tcPr marL="54864" marR="54864" marT="18288" marB="18288" anchor="ctr">
                    <a:solidFill>
                      <a:srgbClr val="1B2A6B"/>
                    </a:solidFill>
                  </a:tcPr>
                </a:tc>
              </a:tr>
              <a:tr h="288036">
                <a:tc>
                  <a:txBody>
                    <a:bodyPr wrap="square"/>
                    <a:lstStyle/>
                    <a:p>
                      <a:pPr algn="l"/>
                      <a:r>
                        <a:rPr sz="1000" b="1">
                          <a:solidFill>
                            <a:srgbClr val="1E2F5C"/>
                          </a:solidFill>
                          <a:latin typeface="Kanit"/>
                        </a:rPr>
                        <a:t>Pickup (รถกระบะ)</a:t>
                      </a:r>
                    </a:p>
                  </a:txBody>
                  <a:tcPr marL="54864" marR="54864" marT="18288" marB="18288" anchor="ctr">
                    <a:solidFill>
                      <a:srgbClr val="FFFFFF"/>
                    </a:solidFill>
                  </a:tcPr>
                </a:tc>
                <a:tc>
                  <a:txBody>
                    <a:bodyPr wrap="square"/>
                    <a:lstStyle/>
                    <a:p>
                      <a:pPr algn="r"/>
                      <a:r>
                        <a:rPr sz="1000" b="1">
                          <a:solidFill>
                            <a:srgbClr val="1E2F5C"/>
                          </a:solidFill>
                          <a:latin typeface="Kanit"/>
                        </a:rPr>
                        <a:t>66.8</a:t>
                      </a:r>
                    </a:p>
                  </a:txBody>
                  <a:tcPr marL="54864" marR="54864" marT="18288" marB="18288" anchor="ctr">
                    <a:solidFill>
                      <a:srgbClr val="FFFFFF"/>
                    </a:solidFill>
                  </a:tcPr>
                </a:tc>
                <a:tc>
                  <a:txBody>
                    <a:bodyPr wrap="square"/>
                    <a:lstStyle/>
                    <a:p>
                      <a:pPr algn="r"/>
                      <a:r>
                        <a:rPr sz="1000" b="1">
                          <a:solidFill>
                            <a:srgbClr val="15795F"/>
                          </a:solidFill>
                          <a:latin typeface="Kanit"/>
                        </a:rPr>
                        <a:t>+12.5%</a:t>
                      </a:r>
                    </a:p>
                  </a:txBody>
                  <a:tcPr marL="54864" marR="54864" marT="18288" marB="18288" anchor="ctr">
                    <a:solidFill>
                      <a:srgbClr val="FFFFFF"/>
                    </a:solidFill>
                  </a:tcPr>
                </a:tc>
                <a:tc>
                  <a:txBody>
                    <a:bodyPr wrap="square"/>
                    <a:lstStyle/>
                    <a:p>
                      <a:pPr algn="r"/>
                      <a:r>
                        <a:rPr sz="1000" b="1">
                          <a:solidFill>
                            <a:srgbClr val="CC0000"/>
                          </a:solidFill>
                          <a:latin typeface="Kanit"/>
                        </a:rPr>
                        <a:t>-0.4%</a:t>
                      </a:r>
                    </a:p>
                  </a:txBody>
                  <a:tcPr marL="54864" marR="54864" marT="18288" marB="18288" anchor="ctr">
                    <a:solidFill>
                      <a:srgbClr val="FFFFFF"/>
                    </a:solidFill>
                  </a:tcPr>
                </a:tc>
                <a:tc>
                  <a:txBody>
                    <a:bodyPr wrap="square"/>
                    <a:lstStyle/>
                    <a:p>
                      <a:pPr algn="r"/>
                      <a:r>
                        <a:rPr sz="1000" b="0">
                          <a:solidFill>
                            <a:srgbClr val="1E2F5C"/>
                          </a:solidFill>
                          <a:latin typeface="Kanit"/>
                        </a:rPr>
                        <a:t>58.0</a:t>
                      </a:r>
                    </a:p>
                  </a:txBody>
                  <a:tcPr marL="54864" marR="54864" marT="18288" marB="18288" anchor="ctr">
                    <a:solidFill>
                      <a:srgbClr val="FFFFFF"/>
                    </a:solidFill>
                  </a:tcPr>
                </a:tc>
                <a:tc>
                  <a:txBody>
                    <a:bodyPr wrap="square"/>
                    <a:lstStyle/>
                    <a:p>
                      <a:pPr algn="r"/>
                      <a:r>
                        <a:rPr sz="1000" b="0">
                          <a:solidFill>
                            <a:srgbClr val="1E2F5C"/>
                          </a:solidFill>
                          <a:latin typeface="Kanit"/>
                        </a:rPr>
                        <a:t>68.5</a:t>
                      </a:r>
                    </a:p>
                  </a:txBody>
                  <a:tcPr marL="54864" marR="54864" marT="18288" marB="18288" anchor="ctr">
                    <a:solidFill>
                      <a:srgbClr val="FFFFFF"/>
                    </a:solidFill>
                  </a:tcPr>
                </a:tc>
                <a:tc>
                  <a:txBody>
                    <a:bodyPr wrap="square"/>
                    <a:lstStyle/>
                    <a:p>
                      <a:pPr algn="r"/>
                      <a:r>
                        <a:rPr sz="1000" b="1">
                          <a:solidFill>
                            <a:srgbClr val="CC0000"/>
                          </a:solidFill>
                          <a:latin typeface="Kanit"/>
                        </a:rPr>
                        <a:t>-33.2</a:t>
                      </a:r>
                    </a:p>
                  </a:txBody>
                  <a:tcPr marL="54864" marR="54864" marT="18288" marB="18288" anchor="ctr">
                    <a:solidFill>
                      <a:srgbClr val="FFFFFF"/>
                    </a:solidFill>
                  </a:tcPr>
                </a:tc>
                <a:tc>
                  <a:txBody>
                    <a:bodyPr wrap="square"/>
                    <a:lstStyle/>
                    <a:p>
                      <a:pPr algn="r"/>
                      <a:r>
                        <a:rPr sz="1000" b="1">
                          <a:solidFill>
                            <a:srgbClr val="CC0000"/>
                          </a:solidFill>
                          <a:latin typeface="Kanit"/>
                        </a:rPr>
                        <a:t>-50.0%</a:t>
                      </a:r>
                    </a:p>
                  </a:txBody>
                  <a:tcPr marL="54864" marR="54864" marT="18288" marB="18288" anchor="ctr">
                    <a:solidFill>
                      <a:srgbClr val="FFFFFF"/>
                    </a:solidFill>
                  </a:tcPr>
                </a:tc>
              </a:tr>
              <a:tr h="288036">
                <a:tc>
                  <a:txBody>
                    <a:bodyPr wrap="square"/>
                    <a:lstStyle/>
                    <a:p>
                      <a:pPr algn="l"/>
                      <a:r>
                        <a:rPr sz="1000" b="1">
                          <a:solidFill>
                            <a:srgbClr val="1E2F5C"/>
                          </a:solidFill>
                          <a:latin typeface="Kanit"/>
                        </a:rPr>
                        <a:t>Passenger car</a:t>
                      </a:r>
                    </a:p>
                  </a:txBody>
                  <a:tcPr marL="54864" marR="54864" marT="18288" marB="18288" anchor="ctr">
                    <a:solidFill>
                      <a:srgbClr val="F7F9FC"/>
                    </a:solidFill>
                  </a:tcPr>
                </a:tc>
                <a:tc>
                  <a:txBody>
                    <a:bodyPr wrap="square"/>
                    <a:lstStyle/>
                    <a:p>
                      <a:pPr algn="r"/>
                      <a:r>
                        <a:rPr sz="1000" b="1">
                          <a:solidFill>
                            <a:srgbClr val="1E2F5C"/>
                          </a:solidFill>
                          <a:latin typeface="Kanit"/>
                        </a:rPr>
                        <a:t>87.8</a:t>
                      </a:r>
                    </a:p>
                  </a:txBody>
                  <a:tcPr marL="54864" marR="54864" marT="18288" marB="18288" anchor="ctr">
                    <a:solidFill>
                      <a:srgbClr val="F7F9FC"/>
                    </a:solidFill>
                  </a:tcPr>
                </a:tc>
                <a:tc>
                  <a:txBody>
                    <a:bodyPr wrap="square"/>
                    <a:lstStyle/>
                    <a:p>
                      <a:pPr algn="r"/>
                      <a:r>
                        <a:rPr sz="1000" b="1">
                          <a:solidFill>
                            <a:srgbClr val="15795F"/>
                          </a:solidFill>
                          <a:latin typeface="Kanit"/>
                        </a:rPr>
                        <a:t>+6.0%</a:t>
                      </a:r>
                    </a:p>
                  </a:txBody>
                  <a:tcPr marL="54864" marR="54864" marT="18288" marB="18288" anchor="ctr">
                    <a:solidFill>
                      <a:srgbClr val="F7F9FC"/>
                    </a:solidFill>
                  </a:tcPr>
                </a:tc>
                <a:tc>
                  <a:txBody>
                    <a:bodyPr wrap="square"/>
                    <a:lstStyle/>
                    <a:p>
                      <a:pPr algn="r"/>
                      <a:r>
                        <a:rPr sz="1000" b="1">
                          <a:solidFill>
                            <a:srgbClr val="CC0000"/>
                          </a:solidFill>
                          <a:latin typeface="Kanit"/>
                        </a:rPr>
                        <a:t>-8.3%</a:t>
                      </a:r>
                    </a:p>
                  </a:txBody>
                  <a:tcPr marL="54864" marR="54864" marT="18288" marB="18288" anchor="ctr">
                    <a:solidFill>
                      <a:srgbClr val="F7F9FC"/>
                    </a:solidFill>
                  </a:tcPr>
                </a:tc>
                <a:tc>
                  <a:txBody>
                    <a:bodyPr wrap="square"/>
                    <a:lstStyle/>
                    <a:p>
                      <a:pPr algn="r"/>
                      <a:r>
                        <a:rPr sz="1000" b="0">
                          <a:solidFill>
                            <a:srgbClr val="1E2F5C"/>
                          </a:solidFill>
                          <a:latin typeface="Kanit"/>
                        </a:rPr>
                        <a:t>82.8</a:t>
                      </a:r>
                    </a:p>
                  </a:txBody>
                  <a:tcPr marL="54864" marR="54864" marT="18288" marB="18288" anchor="ctr">
                    <a:solidFill>
                      <a:srgbClr val="F7F9FC"/>
                    </a:solidFill>
                  </a:tcPr>
                </a:tc>
                <a:tc>
                  <a:txBody>
                    <a:bodyPr wrap="square"/>
                    <a:lstStyle/>
                    <a:p>
                      <a:pPr algn="r"/>
                      <a:r>
                        <a:rPr sz="1000" b="0">
                          <a:solidFill>
                            <a:srgbClr val="1E2F5C"/>
                          </a:solidFill>
                          <a:latin typeface="Kanit"/>
                        </a:rPr>
                        <a:t>99.6</a:t>
                      </a:r>
                    </a:p>
                  </a:txBody>
                  <a:tcPr marL="54864" marR="54864" marT="18288" marB="18288" anchor="ctr">
                    <a:solidFill>
                      <a:srgbClr val="F7F9FC"/>
                    </a:solidFill>
                  </a:tcPr>
                </a:tc>
                <a:tc>
                  <a:txBody>
                    <a:bodyPr wrap="square"/>
                    <a:lstStyle/>
                    <a:p>
                      <a:pPr algn="r"/>
                      <a:r>
                        <a:rPr sz="1000" b="1">
                          <a:solidFill>
                            <a:srgbClr val="CC0000"/>
                          </a:solidFill>
                          <a:latin typeface="Kanit"/>
                        </a:rPr>
                        <a:t>-12.2</a:t>
                      </a:r>
                    </a:p>
                  </a:txBody>
                  <a:tcPr marL="54864" marR="54864" marT="18288" marB="18288" anchor="ctr">
                    <a:solidFill>
                      <a:srgbClr val="F7F9FC"/>
                    </a:solidFill>
                  </a:tcPr>
                </a:tc>
                <a:tc>
                  <a:txBody>
                    <a:bodyPr wrap="square"/>
                    <a:lstStyle/>
                    <a:p>
                      <a:pPr algn="r"/>
                      <a:r>
                        <a:rPr sz="1000" b="1">
                          <a:solidFill>
                            <a:srgbClr val="CC0000"/>
                          </a:solidFill>
                          <a:latin typeface="Kanit"/>
                        </a:rPr>
                        <a:t>-40.5%</a:t>
                      </a:r>
                    </a:p>
                  </a:txBody>
                  <a:tcPr marL="54864" marR="54864" marT="18288" marB="18288" anchor="ctr">
                    <a:solidFill>
                      <a:srgbClr val="F7F9FC"/>
                    </a:solidFill>
                  </a:tcPr>
                </a:tc>
              </a:tr>
              <a:tr h="288036">
                <a:tc>
                  <a:txBody>
                    <a:bodyPr wrap="square"/>
                    <a:lstStyle/>
                    <a:p>
                      <a:pPr algn="l"/>
                      <a:r>
                        <a:rPr sz="1000" b="1">
                          <a:solidFill>
                            <a:srgbClr val="1E2F5C"/>
                          </a:solidFill>
                          <a:latin typeface="Kanit"/>
                        </a:rPr>
                        <a:t>All used vehicles</a:t>
                      </a:r>
                    </a:p>
                  </a:txBody>
                  <a:tcPr marL="54864" marR="54864" marT="18288" marB="18288" anchor="ctr">
                    <a:solidFill>
                      <a:srgbClr val="FFFFFF"/>
                    </a:solidFill>
                  </a:tcPr>
                </a:tc>
                <a:tc>
                  <a:txBody>
                    <a:bodyPr wrap="square"/>
                    <a:lstStyle/>
                    <a:p>
                      <a:pPr algn="r"/>
                      <a:r>
                        <a:rPr sz="1000" b="1">
                          <a:solidFill>
                            <a:srgbClr val="1E2F5C"/>
                          </a:solidFill>
                          <a:latin typeface="Kanit"/>
                        </a:rPr>
                        <a:t>75.2</a:t>
                      </a:r>
                    </a:p>
                  </a:txBody>
                  <a:tcPr marL="54864" marR="54864" marT="18288" marB="18288" anchor="ctr">
                    <a:solidFill>
                      <a:srgbClr val="FFFFFF"/>
                    </a:solidFill>
                  </a:tcPr>
                </a:tc>
                <a:tc>
                  <a:txBody>
                    <a:bodyPr wrap="square"/>
                    <a:lstStyle/>
                    <a:p>
                      <a:pPr algn="r"/>
                      <a:r>
                        <a:rPr sz="1000" b="1">
                          <a:solidFill>
                            <a:srgbClr val="15795F"/>
                          </a:solidFill>
                          <a:latin typeface="Kanit"/>
                        </a:rPr>
                        <a:t>+10.1%</a:t>
                      </a:r>
                    </a:p>
                  </a:txBody>
                  <a:tcPr marL="54864" marR="54864" marT="18288" marB="18288" anchor="ctr">
                    <a:solidFill>
                      <a:srgbClr val="FFFFFF"/>
                    </a:solidFill>
                  </a:tcPr>
                </a:tc>
                <a:tc>
                  <a:txBody>
                    <a:bodyPr wrap="square"/>
                    <a:lstStyle/>
                    <a:p>
                      <a:pPr algn="r"/>
                      <a:r>
                        <a:rPr sz="1000" b="1">
                          <a:solidFill>
                            <a:srgbClr val="CC0000"/>
                          </a:solidFill>
                          <a:latin typeface="Kanit"/>
                        </a:rPr>
                        <a:t>-2.9%</a:t>
                      </a:r>
                    </a:p>
                  </a:txBody>
                  <a:tcPr marL="54864" marR="54864" marT="18288" marB="18288" anchor="ctr">
                    <a:solidFill>
                      <a:srgbClr val="FFFFFF"/>
                    </a:solidFill>
                  </a:tcPr>
                </a:tc>
                <a:tc>
                  <a:txBody>
                    <a:bodyPr wrap="square"/>
                    <a:lstStyle/>
                    <a:p>
                      <a:pPr algn="r"/>
                      <a:r>
                        <a:rPr sz="1000" b="0">
                          <a:solidFill>
                            <a:srgbClr val="1E2F5C"/>
                          </a:solidFill>
                          <a:latin typeface="Kanit"/>
                        </a:rPr>
                        <a:t>67.9</a:t>
                      </a:r>
                    </a:p>
                  </a:txBody>
                  <a:tcPr marL="54864" marR="54864" marT="18288" marB="18288" anchor="ctr">
                    <a:solidFill>
                      <a:srgbClr val="FFFFFF"/>
                    </a:solidFill>
                  </a:tcPr>
                </a:tc>
                <a:tc>
                  <a:txBody>
                    <a:bodyPr wrap="square"/>
                    <a:lstStyle/>
                    <a:p>
                      <a:pPr algn="r"/>
                      <a:r>
                        <a:rPr sz="1000" b="0">
                          <a:solidFill>
                            <a:srgbClr val="1E2F5C"/>
                          </a:solidFill>
                          <a:latin typeface="Kanit"/>
                        </a:rPr>
                        <a:t>80.5</a:t>
                      </a:r>
                    </a:p>
                  </a:txBody>
                  <a:tcPr marL="54864" marR="54864" marT="18288" marB="18288" anchor="ctr">
                    <a:solidFill>
                      <a:srgbClr val="FFFFFF"/>
                    </a:solidFill>
                  </a:tcPr>
                </a:tc>
                <a:tc>
                  <a:txBody>
                    <a:bodyPr wrap="square"/>
                    <a:lstStyle/>
                    <a:p>
                      <a:pPr algn="r"/>
                      <a:r>
                        <a:rPr sz="1000" b="1">
                          <a:solidFill>
                            <a:srgbClr val="CC0000"/>
                          </a:solidFill>
                          <a:latin typeface="Kanit"/>
                        </a:rPr>
                        <a:t>-24.9</a:t>
                      </a:r>
                    </a:p>
                  </a:txBody>
                  <a:tcPr marL="54864" marR="54864" marT="18288" marB="18288" anchor="ctr">
                    <a:solidFill>
                      <a:srgbClr val="FFFFFF"/>
                    </a:solidFill>
                  </a:tcPr>
                </a:tc>
                <a:tc>
                  <a:txBody>
                    <a:bodyPr wrap="square"/>
                    <a:lstStyle/>
                    <a:p>
                      <a:pPr algn="r"/>
                      <a:r>
                        <a:rPr sz="1000" b="1">
                          <a:solidFill>
                            <a:srgbClr val="CC0000"/>
                          </a:solidFill>
                          <a:latin typeface="Kanit"/>
                        </a:rPr>
                        <a:t>-46.3%</a:t>
                      </a:r>
                    </a:p>
                  </a:txBody>
                  <a:tcPr marL="54864" marR="54864" marT="18288" marB="18288" anchor="ctr">
                    <a:solidFill>
                      <a:srgbClr val="FFFFFF"/>
                    </a:solidFill>
                  </a:tcPr>
                </a:tc>
              </a:tr>
            </a:tbl>
          </a:graphicData>
        </a:graphic>
      </p:graphicFrame>
      <p:sp>
        <p:nvSpPr>
          <p:cNvPr id="10" name="Rectangle 9"/>
          <p:cNvSpPr/>
          <p:nvPr/>
        </p:nvSpPr>
        <p:spPr>
          <a:xfrm>
            <a:off x="411480" y="2528316"/>
            <a:ext cx="6903720" cy="2011680"/>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795528" y="4265676"/>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29768" y="4197096"/>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50</a:t>
            </a:r>
          </a:p>
        </p:txBody>
      </p:sp>
      <p:sp>
        <p:nvSpPr>
          <p:cNvPr id="13" name="Rectangle 12"/>
          <p:cNvSpPr/>
          <p:nvPr/>
        </p:nvSpPr>
        <p:spPr>
          <a:xfrm>
            <a:off x="795528" y="3470148"/>
            <a:ext cx="6428232" cy="10972"/>
          </a:xfrm>
          <a:prstGeom prst="rect">
            <a:avLst/>
          </a:prstGeom>
          <a:solidFill>
            <a:srgbClr val="60606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29768" y="3401568"/>
            <a:ext cx="329184" cy="125730"/>
          </a:xfrm>
          <a:prstGeom prst="rect">
            <a:avLst/>
          </a:prstGeom>
          <a:noFill/>
        </p:spPr>
        <p:txBody>
          <a:bodyPr wrap="square" lIns="0" rIns="0" tIns="0" bIns="0" anchor="t">
            <a:noAutofit/>
          </a:bodyPr>
          <a:lstStyle/>
          <a:p>
            <a:pPr algn="r">
              <a:lnSpc>
                <a:spcPts val="990"/>
              </a:lnSpc>
            </a:pPr>
            <a:r>
              <a:rPr sz="750" b="0">
                <a:solidFill>
                  <a:srgbClr val="606060"/>
                </a:solidFill>
                <a:latin typeface="Kanit"/>
              </a:rPr>
              <a:t>100</a:t>
            </a:r>
          </a:p>
        </p:txBody>
      </p:sp>
      <p:sp>
        <p:nvSpPr>
          <p:cNvPr id="15" name="Rectangle 14"/>
          <p:cNvSpPr/>
          <p:nvPr/>
        </p:nvSpPr>
        <p:spPr>
          <a:xfrm>
            <a:off x="795528" y="2674620"/>
            <a:ext cx="6428232" cy="640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429768" y="2606039"/>
            <a:ext cx="329184" cy="125730"/>
          </a:xfrm>
          <a:prstGeom prst="rect">
            <a:avLst/>
          </a:prstGeom>
          <a:noFill/>
        </p:spPr>
        <p:txBody>
          <a:bodyPr wrap="square" lIns="0" rIns="0" tIns="0" bIns="0" anchor="t">
            <a:noAutofit/>
          </a:bodyPr>
          <a:lstStyle/>
          <a:p>
            <a:pPr algn="r">
              <a:lnSpc>
                <a:spcPts val="990"/>
              </a:lnSpc>
            </a:pPr>
            <a:r>
              <a:rPr sz="750" b="0">
                <a:solidFill>
                  <a:srgbClr val="9AA3B2"/>
                </a:solidFill>
                <a:latin typeface="Kanit"/>
              </a:rPr>
              <a:t>150</a:t>
            </a:r>
          </a:p>
        </p:txBody>
      </p:sp>
      <p:sp>
        <p:nvSpPr>
          <p:cNvPr id="17" name="TextBox 16"/>
          <p:cNvSpPr txBox="1"/>
          <p:nvPr/>
        </p:nvSpPr>
        <p:spPr>
          <a:xfrm>
            <a:off x="6974611" y="2656332"/>
            <a:ext cx="157708" cy="134112"/>
          </a:xfrm>
          <a:prstGeom prst="rect">
            <a:avLst/>
          </a:prstGeom>
          <a:noFill/>
        </p:spPr>
        <p:txBody>
          <a:bodyPr wrap="square" lIns="0" rIns="0" tIns="0" bIns="0" anchor="t">
            <a:noAutofit/>
          </a:bodyPr>
          <a:lstStyle/>
          <a:p>
            <a:pPr algn="l">
              <a:lnSpc>
                <a:spcPts val="1056"/>
              </a:lnSpc>
            </a:pPr>
            <a:r>
              <a:rPr sz="800" b="1">
                <a:solidFill>
                  <a:srgbClr val="1E2F5C"/>
                </a:solidFill>
                <a:latin typeface="Kanit"/>
              </a:rPr>
              <a:t>Car</a:t>
            </a:r>
          </a:p>
        </p:txBody>
      </p:sp>
      <p:sp>
        <p:nvSpPr>
          <p:cNvPr id="18" name="Rectangle 17"/>
          <p:cNvSpPr/>
          <p:nvPr/>
        </p:nvSpPr>
        <p:spPr>
          <a:xfrm>
            <a:off x="6736867" y="2715768"/>
            <a:ext cx="164592" cy="25603"/>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269491" y="2656332"/>
            <a:ext cx="321071" cy="134112"/>
          </a:xfrm>
          <a:prstGeom prst="rect">
            <a:avLst/>
          </a:prstGeom>
          <a:noFill/>
        </p:spPr>
        <p:txBody>
          <a:bodyPr wrap="square" lIns="0" rIns="0" tIns="0" bIns="0" anchor="t">
            <a:noAutofit/>
          </a:bodyPr>
          <a:lstStyle/>
          <a:p>
            <a:pPr algn="l">
              <a:lnSpc>
                <a:spcPts val="1056"/>
              </a:lnSpc>
            </a:pPr>
            <a:r>
              <a:rPr sz="800" b="1">
                <a:solidFill>
                  <a:srgbClr val="CC0000"/>
                </a:solidFill>
                <a:latin typeface="Kanit"/>
              </a:rPr>
              <a:t>Pickup</a:t>
            </a:r>
          </a:p>
        </p:txBody>
      </p:sp>
      <p:sp>
        <p:nvSpPr>
          <p:cNvPr id="20" name="Rectangle 19"/>
          <p:cNvSpPr/>
          <p:nvPr/>
        </p:nvSpPr>
        <p:spPr>
          <a:xfrm>
            <a:off x="6031747" y="2715768"/>
            <a:ext cx="164592" cy="2560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Freeform 20"/>
          <p:cNvSpPr/>
          <p:nvPr/>
        </p:nvSpPr>
        <p:spPr>
          <a:xfrm>
            <a:off x="795528" y="2933166"/>
            <a:ext cx="6428232" cy="1259480"/>
          </a:xfrm>
          <a:custGeom>
            <a:avLst/>
            <a:gdLst/>
            <a:ahLst/>
            <a:cxnLst/>
            <a:rect l="l" t="t" r="r" b="b"/>
            <a:pathLst>
              <a:path w="6428232" h="1259480">
                <a:moveTo>
                  <a:pt x="0" y="380422"/>
                </a:moveTo>
                <a:lnTo>
                  <a:pt x="34936" y="360692"/>
                </a:lnTo>
                <a:lnTo>
                  <a:pt x="69872" y="377239"/>
                </a:lnTo>
                <a:lnTo>
                  <a:pt x="104808" y="337622"/>
                </a:lnTo>
                <a:lnTo>
                  <a:pt x="139744" y="209542"/>
                </a:lnTo>
                <a:lnTo>
                  <a:pt x="174680" y="370080"/>
                </a:lnTo>
                <a:lnTo>
                  <a:pt x="209616" y="307233"/>
                </a:lnTo>
                <a:lnTo>
                  <a:pt x="244552" y="387422"/>
                </a:lnTo>
                <a:lnTo>
                  <a:pt x="279488" y="409697"/>
                </a:lnTo>
                <a:lnTo>
                  <a:pt x="314424" y="344941"/>
                </a:lnTo>
                <a:lnTo>
                  <a:pt x="349360" y="265866"/>
                </a:lnTo>
                <a:lnTo>
                  <a:pt x="384296" y="179630"/>
                </a:lnTo>
                <a:lnTo>
                  <a:pt x="419232" y="0"/>
                </a:lnTo>
                <a:lnTo>
                  <a:pt x="454168" y="78916"/>
                </a:lnTo>
                <a:lnTo>
                  <a:pt x="489104" y="60938"/>
                </a:lnTo>
                <a:lnTo>
                  <a:pt x="524040" y="64279"/>
                </a:lnTo>
                <a:lnTo>
                  <a:pt x="558976" y="131421"/>
                </a:lnTo>
                <a:lnTo>
                  <a:pt x="593912" y="204133"/>
                </a:lnTo>
                <a:lnTo>
                  <a:pt x="628848" y="254887"/>
                </a:lnTo>
                <a:lnTo>
                  <a:pt x="663784" y="218611"/>
                </a:lnTo>
                <a:lnTo>
                  <a:pt x="698720" y="288299"/>
                </a:lnTo>
                <a:lnTo>
                  <a:pt x="733656" y="265706"/>
                </a:lnTo>
                <a:lnTo>
                  <a:pt x="768592" y="231499"/>
                </a:lnTo>
                <a:lnTo>
                  <a:pt x="803529" y="306756"/>
                </a:lnTo>
                <a:lnTo>
                  <a:pt x="838465" y="153378"/>
                </a:lnTo>
                <a:lnTo>
                  <a:pt x="873401" y="117738"/>
                </a:lnTo>
                <a:lnTo>
                  <a:pt x="908337" y="183449"/>
                </a:lnTo>
                <a:lnTo>
                  <a:pt x="943273" y="265388"/>
                </a:lnTo>
                <a:lnTo>
                  <a:pt x="978209" y="299755"/>
                </a:lnTo>
                <a:lnTo>
                  <a:pt x="1013145" y="338100"/>
                </a:lnTo>
                <a:lnTo>
                  <a:pt x="1048081" y="448837"/>
                </a:lnTo>
                <a:lnTo>
                  <a:pt x="1083017" y="427040"/>
                </a:lnTo>
                <a:lnTo>
                  <a:pt x="1117953" y="501819"/>
                </a:lnTo>
                <a:lnTo>
                  <a:pt x="1152889" y="592032"/>
                </a:lnTo>
                <a:lnTo>
                  <a:pt x="1187825" y="551301"/>
                </a:lnTo>
                <a:lnTo>
                  <a:pt x="1222761" y="607783"/>
                </a:lnTo>
                <a:lnTo>
                  <a:pt x="1257697" y="456474"/>
                </a:lnTo>
                <a:lnTo>
                  <a:pt x="1292633" y="417652"/>
                </a:lnTo>
                <a:lnTo>
                  <a:pt x="1327569" y="479385"/>
                </a:lnTo>
                <a:lnTo>
                  <a:pt x="1362505" y="493864"/>
                </a:lnTo>
                <a:lnTo>
                  <a:pt x="1397441" y="549551"/>
                </a:lnTo>
                <a:lnTo>
                  <a:pt x="1432377" y="638968"/>
                </a:lnTo>
                <a:lnTo>
                  <a:pt x="1467313" y="650901"/>
                </a:lnTo>
                <a:lnTo>
                  <a:pt x="1502249" y="655992"/>
                </a:lnTo>
                <a:lnTo>
                  <a:pt x="1537185" y="636900"/>
                </a:lnTo>
                <a:lnTo>
                  <a:pt x="1572121" y="651060"/>
                </a:lnTo>
                <a:lnTo>
                  <a:pt x="1607057" y="629740"/>
                </a:lnTo>
                <a:lnTo>
                  <a:pt x="1641994" y="693064"/>
                </a:lnTo>
                <a:lnTo>
                  <a:pt x="1676930" y="508342"/>
                </a:lnTo>
                <a:lnTo>
                  <a:pt x="1711866" y="489091"/>
                </a:lnTo>
                <a:lnTo>
                  <a:pt x="1746802" y="459020"/>
                </a:lnTo>
                <a:lnTo>
                  <a:pt x="1781738" y="500228"/>
                </a:lnTo>
                <a:lnTo>
                  <a:pt x="1816674" y="517412"/>
                </a:lnTo>
                <a:lnTo>
                  <a:pt x="1851610" y="505638"/>
                </a:lnTo>
                <a:lnTo>
                  <a:pt x="1886546" y="576281"/>
                </a:lnTo>
                <a:lnTo>
                  <a:pt x="1921482" y="635150"/>
                </a:lnTo>
                <a:lnTo>
                  <a:pt x="1956418" y="594419"/>
                </a:lnTo>
                <a:lnTo>
                  <a:pt x="1991354" y="566257"/>
                </a:lnTo>
                <a:lnTo>
                  <a:pt x="2026290" y="543823"/>
                </a:lnTo>
                <a:lnTo>
                  <a:pt x="2061226" y="549233"/>
                </a:lnTo>
                <a:lnTo>
                  <a:pt x="2096162" y="386468"/>
                </a:lnTo>
                <a:lnTo>
                  <a:pt x="2131098" y="382490"/>
                </a:lnTo>
                <a:lnTo>
                  <a:pt x="2166034" y="366420"/>
                </a:lnTo>
                <a:lnTo>
                  <a:pt x="2200970" y="397287"/>
                </a:lnTo>
                <a:lnTo>
                  <a:pt x="2235906" y="445337"/>
                </a:lnTo>
                <a:lnTo>
                  <a:pt x="2270842" y="426085"/>
                </a:lnTo>
                <a:lnTo>
                  <a:pt x="2305778" y="513911"/>
                </a:lnTo>
                <a:lnTo>
                  <a:pt x="2340714" y="579304"/>
                </a:lnTo>
                <a:lnTo>
                  <a:pt x="2375650" y="534277"/>
                </a:lnTo>
                <a:lnTo>
                  <a:pt x="2410587" y="547642"/>
                </a:lnTo>
                <a:lnTo>
                  <a:pt x="2445523" y="576917"/>
                </a:lnTo>
                <a:lnTo>
                  <a:pt x="2480459" y="599351"/>
                </a:lnTo>
                <a:lnTo>
                  <a:pt x="2515395" y="425767"/>
                </a:lnTo>
                <a:lnTo>
                  <a:pt x="2550331" y="414948"/>
                </a:lnTo>
                <a:lnTo>
                  <a:pt x="2585267" y="429903"/>
                </a:lnTo>
                <a:lnTo>
                  <a:pt x="2620203" y="391400"/>
                </a:lnTo>
                <a:lnTo>
                  <a:pt x="2655139" y="448678"/>
                </a:lnTo>
                <a:lnTo>
                  <a:pt x="2690075" y="462679"/>
                </a:lnTo>
                <a:lnTo>
                  <a:pt x="2725011" y="507865"/>
                </a:lnTo>
                <a:lnTo>
                  <a:pt x="2759947" y="546528"/>
                </a:lnTo>
                <a:lnTo>
                  <a:pt x="2794883" y="528390"/>
                </a:lnTo>
                <a:lnTo>
                  <a:pt x="2829819" y="505797"/>
                </a:lnTo>
                <a:lnTo>
                  <a:pt x="2864755" y="610329"/>
                </a:lnTo>
                <a:lnTo>
                  <a:pt x="2899691" y="622262"/>
                </a:lnTo>
                <a:lnTo>
                  <a:pt x="2934627" y="441041"/>
                </a:lnTo>
                <a:lnTo>
                  <a:pt x="2969563" y="353533"/>
                </a:lnTo>
                <a:lnTo>
                  <a:pt x="3004499" y="352896"/>
                </a:lnTo>
                <a:lnTo>
                  <a:pt x="3039435" y="434836"/>
                </a:lnTo>
                <a:lnTo>
                  <a:pt x="3074371" y="456315"/>
                </a:lnTo>
                <a:lnTo>
                  <a:pt x="3109307" y="429585"/>
                </a:lnTo>
                <a:lnTo>
                  <a:pt x="3144243" y="552733"/>
                </a:lnTo>
                <a:lnTo>
                  <a:pt x="3179179" y="587259"/>
                </a:lnTo>
                <a:lnTo>
                  <a:pt x="3214116" y="572780"/>
                </a:lnTo>
                <a:lnTo>
                  <a:pt x="3249052" y="634354"/>
                </a:lnTo>
                <a:lnTo>
                  <a:pt x="3283988" y="697678"/>
                </a:lnTo>
                <a:lnTo>
                  <a:pt x="3318924" y="689882"/>
                </a:lnTo>
                <a:lnTo>
                  <a:pt x="3353860" y="511843"/>
                </a:lnTo>
                <a:lnTo>
                  <a:pt x="3388796" y="436904"/>
                </a:lnTo>
                <a:lnTo>
                  <a:pt x="3423732" y="467293"/>
                </a:lnTo>
                <a:lnTo>
                  <a:pt x="3458668" y="476044"/>
                </a:lnTo>
                <a:lnTo>
                  <a:pt x="3493604" y="511365"/>
                </a:lnTo>
                <a:lnTo>
                  <a:pt x="3528540" y="537777"/>
                </a:lnTo>
                <a:lnTo>
                  <a:pt x="3563476" y="555597"/>
                </a:lnTo>
                <a:lnTo>
                  <a:pt x="3598412" y="563552"/>
                </a:lnTo>
                <a:lnTo>
                  <a:pt x="3633348" y="607783"/>
                </a:lnTo>
                <a:lnTo>
                  <a:pt x="3668284" y="703724"/>
                </a:lnTo>
                <a:lnTo>
                  <a:pt x="3703220" y="726635"/>
                </a:lnTo>
                <a:lnTo>
                  <a:pt x="3738156" y="721862"/>
                </a:lnTo>
                <a:lnTo>
                  <a:pt x="3773092" y="574849"/>
                </a:lnTo>
                <a:lnTo>
                  <a:pt x="3808028" y="569757"/>
                </a:lnTo>
                <a:lnTo>
                  <a:pt x="3842964" y="691791"/>
                </a:lnTo>
                <a:lnTo>
                  <a:pt x="3877900" y="849942"/>
                </a:lnTo>
                <a:lnTo>
                  <a:pt x="3912836" y="747956"/>
                </a:lnTo>
                <a:lnTo>
                  <a:pt x="3947772" y="595532"/>
                </a:lnTo>
                <a:lnTo>
                  <a:pt x="3982708" y="511684"/>
                </a:lnTo>
                <a:lnTo>
                  <a:pt x="4017644" y="506911"/>
                </a:lnTo>
                <a:lnTo>
                  <a:pt x="4052581" y="501342"/>
                </a:lnTo>
                <a:lnTo>
                  <a:pt x="4087517" y="508024"/>
                </a:lnTo>
                <a:lnTo>
                  <a:pt x="4122453" y="565939"/>
                </a:lnTo>
                <a:lnTo>
                  <a:pt x="4157389" y="592509"/>
                </a:lnTo>
                <a:lnTo>
                  <a:pt x="4192325" y="569280"/>
                </a:lnTo>
                <a:lnTo>
                  <a:pt x="4227261" y="555120"/>
                </a:lnTo>
                <a:lnTo>
                  <a:pt x="4262197" y="507865"/>
                </a:lnTo>
                <a:lnTo>
                  <a:pt x="4297133" y="469680"/>
                </a:lnTo>
                <a:lnTo>
                  <a:pt x="4332069" y="483522"/>
                </a:lnTo>
                <a:lnTo>
                  <a:pt x="4367005" y="469043"/>
                </a:lnTo>
                <a:lnTo>
                  <a:pt x="4401941" y="561325"/>
                </a:lnTo>
                <a:lnTo>
                  <a:pt x="4436877" y="627513"/>
                </a:lnTo>
                <a:lnTo>
                  <a:pt x="4471813" y="600783"/>
                </a:lnTo>
                <a:lnTo>
                  <a:pt x="4506749" y="554324"/>
                </a:lnTo>
                <a:lnTo>
                  <a:pt x="4541685" y="505638"/>
                </a:lnTo>
                <a:lnTo>
                  <a:pt x="4576621" y="465861"/>
                </a:lnTo>
                <a:lnTo>
                  <a:pt x="4611557" y="363397"/>
                </a:lnTo>
                <a:lnTo>
                  <a:pt x="4646493" y="314552"/>
                </a:lnTo>
                <a:lnTo>
                  <a:pt x="4681429" y="363397"/>
                </a:lnTo>
                <a:lnTo>
                  <a:pt x="4716365" y="424335"/>
                </a:lnTo>
                <a:lnTo>
                  <a:pt x="4751301" y="440245"/>
                </a:lnTo>
                <a:lnTo>
                  <a:pt x="4786237" y="468248"/>
                </a:lnTo>
                <a:lnTo>
                  <a:pt x="4821174" y="558302"/>
                </a:lnTo>
                <a:lnTo>
                  <a:pt x="4856110" y="626558"/>
                </a:lnTo>
                <a:lnTo>
                  <a:pt x="4891046" y="669039"/>
                </a:lnTo>
                <a:lnTo>
                  <a:pt x="4925982" y="751297"/>
                </a:lnTo>
                <a:lnTo>
                  <a:pt x="4960918" y="816530"/>
                </a:lnTo>
                <a:lnTo>
                  <a:pt x="4995854" y="842623"/>
                </a:lnTo>
                <a:lnTo>
                  <a:pt x="5030790" y="777390"/>
                </a:lnTo>
                <a:lnTo>
                  <a:pt x="5065726" y="771026"/>
                </a:lnTo>
                <a:lnTo>
                  <a:pt x="5100662" y="791391"/>
                </a:lnTo>
                <a:lnTo>
                  <a:pt x="5135598" y="790596"/>
                </a:lnTo>
                <a:lnTo>
                  <a:pt x="5170534" y="806665"/>
                </a:lnTo>
                <a:lnTo>
                  <a:pt x="5205470" y="816689"/>
                </a:lnTo>
                <a:lnTo>
                  <a:pt x="5240406" y="916448"/>
                </a:lnTo>
                <a:lnTo>
                  <a:pt x="5275342" y="994251"/>
                </a:lnTo>
                <a:lnTo>
                  <a:pt x="5310278" y="1059803"/>
                </a:lnTo>
                <a:lnTo>
                  <a:pt x="5345214" y="1134105"/>
                </a:lnTo>
                <a:lnTo>
                  <a:pt x="5380150" y="1186291"/>
                </a:lnTo>
                <a:lnTo>
                  <a:pt x="5415086" y="1229091"/>
                </a:lnTo>
                <a:lnTo>
                  <a:pt x="5450022" y="1116126"/>
                </a:lnTo>
                <a:lnTo>
                  <a:pt x="5484958" y="1078100"/>
                </a:lnTo>
                <a:lnTo>
                  <a:pt x="5519894" y="1093374"/>
                </a:lnTo>
                <a:lnTo>
                  <a:pt x="5554830" y="1100852"/>
                </a:lnTo>
                <a:lnTo>
                  <a:pt x="5589766" y="1074122"/>
                </a:lnTo>
                <a:lnTo>
                  <a:pt x="5624703" y="1100693"/>
                </a:lnTo>
                <a:lnTo>
                  <a:pt x="5659639" y="1125513"/>
                </a:lnTo>
                <a:lnTo>
                  <a:pt x="5694575" y="1188360"/>
                </a:lnTo>
                <a:lnTo>
                  <a:pt x="5729511" y="1225113"/>
                </a:lnTo>
                <a:lnTo>
                  <a:pt x="5764447" y="1259480"/>
                </a:lnTo>
                <a:lnTo>
                  <a:pt x="5799383" y="1218590"/>
                </a:lnTo>
                <a:lnTo>
                  <a:pt x="5834319" y="1206021"/>
                </a:lnTo>
                <a:lnTo>
                  <a:pt x="5869255" y="1095124"/>
                </a:lnTo>
                <a:lnTo>
                  <a:pt x="5904191" y="1093851"/>
                </a:lnTo>
                <a:lnTo>
                  <a:pt x="5939127" y="1072372"/>
                </a:lnTo>
                <a:lnTo>
                  <a:pt x="5974063" y="1117240"/>
                </a:lnTo>
                <a:lnTo>
                  <a:pt x="6008999" y="1061075"/>
                </a:lnTo>
                <a:lnTo>
                  <a:pt x="6043935" y="1073326"/>
                </a:lnTo>
                <a:lnTo>
                  <a:pt x="6078871" y="1156539"/>
                </a:lnTo>
                <a:lnTo>
                  <a:pt x="6113807" y="1183587"/>
                </a:lnTo>
                <a:lnTo>
                  <a:pt x="6148743" y="1205066"/>
                </a:lnTo>
                <a:lnTo>
                  <a:pt x="6183679" y="1201406"/>
                </a:lnTo>
                <a:lnTo>
                  <a:pt x="6218615" y="1182791"/>
                </a:lnTo>
                <a:lnTo>
                  <a:pt x="6253551" y="1143969"/>
                </a:lnTo>
                <a:lnTo>
                  <a:pt x="6288487" y="1091942"/>
                </a:lnTo>
                <a:lnTo>
                  <a:pt x="6323423" y="1073804"/>
                </a:lnTo>
                <a:lnTo>
                  <a:pt x="6358359" y="1038323"/>
                </a:lnTo>
                <a:lnTo>
                  <a:pt x="6393295" y="1112785"/>
                </a:lnTo>
                <a:lnTo>
                  <a:pt x="6428232" y="1065053"/>
                </a:lnTo>
              </a:path>
            </a:pathLst>
          </a:custGeom>
          <a:noFill/>
          <a:ln w="20320">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795528" y="2712646"/>
            <a:ext cx="6428232" cy="1163380"/>
          </a:xfrm>
          <a:custGeom>
            <a:avLst/>
            <a:gdLst/>
            <a:ahLst/>
            <a:cxnLst/>
            <a:rect l="l" t="t" r="r" b="b"/>
            <a:pathLst>
              <a:path w="6428232" h="1163380">
                <a:moveTo>
                  <a:pt x="0" y="362283"/>
                </a:moveTo>
                <a:lnTo>
                  <a:pt x="34936" y="182176"/>
                </a:lnTo>
                <a:lnTo>
                  <a:pt x="69872" y="205882"/>
                </a:lnTo>
                <a:lnTo>
                  <a:pt x="104808" y="240090"/>
                </a:lnTo>
                <a:lnTo>
                  <a:pt x="139744" y="263001"/>
                </a:lnTo>
                <a:lnTo>
                  <a:pt x="174680" y="157037"/>
                </a:lnTo>
                <a:lnTo>
                  <a:pt x="209616" y="120920"/>
                </a:lnTo>
                <a:lnTo>
                  <a:pt x="244552" y="267456"/>
                </a:lnTo>
                <a:lnTo>
                  <a:pt x="279488" y="200314"/>
                </a:lnTo>
                <a:lnTo>
                  <a:pt x="314424" y="250273"/>
                </a:lnTo>
                <a:lnTo>
                  <a:pt x="349360" y="358942"/>
                </a:lnTo>
                <a:lnTo>
                  <a:pt x="384296" y="316143"/>
                </a:lnTo>
                <a:lnTo>
                  <a:pt x="419232" y="0"/>
                </a:lnTo>
                <a:lnTo>
                  <a:pt x="454168" y="185994"/>
                </a:lnTo>
                <a:lnTo>
                  <a:pt x="489104" y="124739"/>
                </a:lnTo>
                <a:lnTo>
                  <a:pt x="524040" y="68097"/>
                </a:lnTo>
                <a:lnTo>
                  <a:pt x="558976" y="293390"/>
                </a:lnTo>
                <a:lnTo>
                  <a:pt x="593912" y="261410"/>
                </a:lnTo>
                <a:lnTo>
                  <a:pt x="628848" y="432131"/>
                </a:lnTo>
                <a:lnTo>
                  <a:pt x="663784" y="280344"/>
                </a:lnTo>
                <a:lnTo>
                  <a:pt x="698720" y="379307"/>
                </a:lnTo>
                <a:lnTo>
                  <a:pt x="733656" y="479862"/>
                </a:lnTo>
                <a:lnTo>
                  <a:pt x="768592" y="473657"/>
                </a:lnTo>
                <a:lnTo>
                  <a:pt x="803529" y="485431"/>
                </a:lnTo>
                <a:lnTo>
                  <a:pt x="838465" y="370716"/>
                </a:lnTo>
                <a:lnTo>
                  <a:pt x="873401" y="336985"/>
                </a:lnTo>
                <a:lnTo>
                  <a:pt x="908337" y="302619"/>
                </a:lnTo>
                <a:lnTo>
                  <a:pt x="943273" y="406196"/>
                </a:lnTo>
                <a:lnTo>
                  <a:pt x="978209" y="525685"/>
                </a:lnTo>
                <a:lnTo>
                  <a:pt x="1013145" y="616216"/>
                </a:lnTo>
                <a:lnTo>
                  <a:pt x="1048081" y="690677"/>
                </a:lnTo>
                <a:lnTo>
                  <a:pt x="1083017" y="696087"/>
                </a:lnTo>
                <a:lnTo>
                  <a:pt x="1117953" y="745409"/>
                </a:lnTo>
                <a:lnTo>
                  <a:pt x="1152889" y="830531"/>
                </a:lnTo>
                <a:lnTo>
                  <a:pt x="1187825" y="846601"/>
                </a:lnTo>
                <a:lnTo>
                  <a:pt x="1222761" y="948269"/>
                </a:lnTo>
                <a:lnTo>
                  <a:pt x="1257697" y="806983"/>
                </a:lnTo>
                <a:lnTo>
                  <a:pt x="1292633" y="711361"/>
                </a:lnTo>
                <a:lnTo>
                  <a:pt x="1327569" y="780094"/>
                </a:lnTo>
                <a:lnTo>
                  <a:pt x="1362505" y="793618"/>
                </a:lnTo>
                <a:lnTo>
                  <a:pt x="1397441" y="867125"/>
                </a:lnTo>
                <a:lnTo>
                  <a:pt x="1432377" y="845964"/>
                </a:lnTo>
                <a:lnTo>
                  <a:pt x="1467313" y="894810"/>
                </a:lnTo>
                <a:lnTo>
                  <a:pt x="1502249" y="864898"/>
                </a:lnTo>
                <a:lnTo>
                  <a:pt x="1537185" y="877785"/>
                </a:lnTo>
                <a:lnTo>
                  <a:pt x="1572121" y="898628"/>
                </a:lnTo>
                <a:lnTo>
                  <a:pt x="1607057" y="904833"/>
                </a:lnTo>
                <a:lnTo>
                  <a:pt x="1641994" y="997910"/>
                </a:lnTo>
                <a:lnTo>
                  <a:pt x="1676930" y="726794"/>
                </a:lnTo>
                <a:lnTo>
                  <a:pt x="1711866" y="666493"/>
                </a:lnTo>
                <a:lnTo>
                  <a:pt x="1746802" y="673812"/>
                </a:lnTo>
                <a:lnTo>
                  <a:pt x="1781738" y="699587"/>
                </a:lnTo>
                <a:lnTo>
                  <a:pt x="1816674" y="705156"/>
                </a:lnTo>
                <a:lnTo>
                  <a:pt x="1851610" y="725680"/>
                </a:lnTo>
                <a:lnTo>
                  <a:pt x="1886546" y="779935"/>
                </a:lnTo>
                <a:lnTo>
                  <a:pt x="1921482" y="883354"/>
                </a:lnTo>
                <a:lnTo>
                  <a:pt x="1956418" y="791073"/>
                </a:lnTo>
                <a:lnTo>
                  <a:pt x="1991354" y="831326"/>
                </a:lnTo>
                <a:lnTo>
                  <a:pt x="2026290" y="780254"/>
                </a:lnTo>
                <a:lnTo>
                  <a:pt x="2061226" y="827508"/>
                </a:lnTo>
                <a:lnTo>
                  <a:pt x="2096162" y="677790"/>
                </a:lnTo>
                <a:lnTo>
                  <a:pt x="2131098" y="644696"/>
                </a:lnTo>
                <a:lnTo>
                  <a:pt x="2166034" y="638172"/>
                </a:lnTo>
                <a:lnTo>
                  <a:pt x="2200970" y="743659"/>
                </a:lnTo>
                <a:lnTo>
                  <a:pt x="2235906" y="721703"/>
                </a:lnTo>
                <a:lnTo>
                  <a:pt x="2270842" y="692268"/>
                </a:lnTo>
                <a:lnTo>
                  <a:pt x="2305778" y="720271"/>
                </a:lnTo>
                <a:lnTo>
                  <a:pt x="2340714" y="816848"/>
                </a:lnTo>
                <a:lnTo>
                  <a:pt x="2375650" y="729499"/>
                </a:lnTo>
                <a:lnTo>
                  <a:pt x="2410587" y="786618"/>
                </a:lnTo>
                <a:lnTo>
                  <a:pt x="2445523" y="814302"/>
                </a:lnTo>
                <a:lnTo>
                  <a:pt x="2480459" y="876194"/>
                </a:lnTo>
                <a:lnTo>
                  <a:pt x="2515395" y="716293"/>
                </a:lnTo>
                <a:lnTo>
                  <a:pt x="2550331" y="658379"/>
                </a:lnTo>
                <a:lnTo>
                  <a:pt x="2585267" y="625285"/>
                </a:lnTo>
                <a:lnTo>
                  <a:pt x="2620203" y="631490"/>
                </a:lnTo>
                <a:lnTo>
                  <a:pt x="2655139" y="634990"/>
                </a:lnTo>
                <a:lnTo>
                  <a:pt x="2690075" y="595373"/>
                </a:lnTo>
                <a:lnTo>
                  <a:pt x="2725011" y="674607"/>
                </a:lnTo>
                <a:lnTo>
                  <a:pt x="2759947" y="694814"/>
                </a:lnTo>
                <a:lnTo>
                  <a:pt x="2794883" y="765457"/>
                </a:lnTo>
                <a:lnTo>
                  <a:pt x="2829819" y="742386"/>
                </a:lnTo>
                <a:lnTo>
                  <a:pt x="2864755" y="729499"/>
                </a:lnTo>
                <a:lnTo>
                  <a:pt x="2899691" y="855351"/>
                </a:lnTo>
                <a:lnTo>
                  <a:pt x="2934627" y="564029"/>
                </a:lnTo>
                <a:lnTo>
                  <a:pt x="2969563" y="556710"/>
                </a:lnTo>
                <a:lnTo>
                  <a:pt x="3004499" y="494341"/>
                </a:lnTo>
                <a:lnTo>
                  <a:pt x="3039435" y="622103"/>
                </a:lnTo>
                <a:lnTo>
                  <a:pt x="3074371" y="654083"/>
                </a:lnTo>
                <a:lnTo>
                  <a:pt x="3109307" y="632126"/>
                </a:lnTo>
                <a:lnTo>
                  <a:pt x="3144243" y="583758"/>
                </a:lnTo>
                <a:lnTo>
                  <a:pt x="3179179" y="745409"/>
                </a:lnTo>
                <a:lnTo>
                  <a:pt x="3214116" y="767366"/>
                </a:lnTo>
                <a:lnTo>
                  <a:pt x="3249052" y="796164"/>
                </a:lnTo>
                <a:lnTo>
                  <a:pt x="3283988" y="833713"/>
                </a:lnTo>
                <a:lnTo>
                  <a:pt x="3318924" y="837213"/>
                </a:lnTo>
                <a:lnTo>
                  <a:pt x="3353860" y="693541"/>
                </a:lnTo>
                <a:lnTo>
                  <a:pt x="3388796" y="616216"/>
                </a:lnTo>
                <a:lnTo>
                  <a:pt x="3423732" y="629262"/>
                </a:lnTo>
                <a:lnTo>
                  <a:pt x="3458668" y="654878"/>
                </a:lnTo>
                <a:lnTo>
                  <a:pt x="3493604" y="675085"/>
                </a:lnTo>
                <a:lnTo>
                  <a:pt x="3528540" y="739045"/>
                </a:lnTo>
                <a:lnTo>
                  <a:pt x="3563476" y="754001"/>
                </a:lnTo>
                <a:lnTo>
                  <a:pt x="3598412" y="824326"/>
                </a:lnTo>
                <a:lnTo>
                  <a:pt x="3633348" y="793459"/>
                </a:lnTo>
                <a:lnTo>
                  <a:pt x="3668284" y="891309"/>
                </a:lnTo>
                <a:lnTo>
                  <a:pt x="3703220" y="921380"/>
                </a:lnTo>
                <a:lnTo>
                  <a:pt x="3738156" y="909129"/>
                </a:lnTo>
                <a:lnTo>
                  <a:pt x="3773092" y="775162"/>
                </a:lnTo>
                <a:lnTo>
                  <a:pt x="3808028" y="793459"/>
                </a:lnTo>
                <a:lnTo>
                  <a:pt x="3842964" y="854556"/>
                </a:lnTo>
                <a:lnTo>
                  <a:pt x="3877900" y="1066007"/>
                </a:lnTo>
                <a:lnTo>
                  <a:pt x="3912836" y="959566"/>
                </a:lnTo>
                <a:lnTo>
                  <a:pt x="3947772" y="777231"/>
                </a:lnTo>
                <a:lnTo>
                  <a:pt x="3982708" y="731408"/>
                </a:lnTo>
                <a:lnTo>
                  <a:pt x="4017644" y="752728"/>
                </a:lnTo>
                <a:lnTo>
                  <a:pt x="4052581" y="695132"/>
                </a:lnTo>
                <a:lnTo>
                  <a:pt x="4087517" y="679540"/>
                </a:lnTo>
                <a:lnTo>
                  <a:pt x="4122453" y="764184"/>
                </a:lnTo>
                <a:lnTo>
                  <a:pt x="4157389" y="751296"/>
                </a:lnTo>
                <a:lnTo>
                  <a:pt x="4192325" y="718998"/>
                </a:lnTo>
                <a:lnTo>
                  <a:pt x="4227261" y="765139"/>
                </a:lnTo>
                <a:lnTo>
                  <a:pt x="4262197" y="677471"/>
                </a:lnTo>
                <a:lnTo>
                  <a:pt x="4297133" y="687972"/>
                </a:lnTo>
                <a:lnTo>
                  <a:pt x="4332069" y="637377"/>
                </a:lnTo>
                <a:lnTo>
                  <a:pt x="4367005" y="701815"/>
                </a:lnTo>
                <a:lnTo>
                  <a:pt x="4401941" y="761161"/>
                </a:lnTo>
                <a:lnTo>
                  <a:pt x="4436877" y="821303"/>
                </a:lnTo>
                <a:lnTo>
                  <a:pt x="4471813" y="835463"/>
                </a:lnTo>
                <a:lnTo>
                  <a:pt x="4506749" y="728544"/>
                </a:lnTo>
                <a:lnTo>
                  <a:pt x="4541685" y="669198"/>
                </a:lnTo>
                <a:lnTo>
                  <a:pt x="4576621" y="676835"/>
                </a:lnTo>
                <a:lnTo>
                  <a:pt x="4611557" y="496091"/>
                </a:lnTo>
                <a:lnTo>
                  <a:pt x="4646493" y="416061"/>
                </a:lnTo>
                <a:lnTo>
                  <a:pt x="4681429" y="472702"/>
                </a:lnTo>
                <a:lnTo>
                  <a:pt x="4716365" y="612875"/>
                </a:lnTo>
                <a:lnTo>
                  <a:pt x="4751301" y="541754"/>
                </a:lnTo>
                <a:lnTo>
                  <a:pt x="4786237" y="543982"/>
                </a:lnTo>
                <a:lnTo>
                  <a:pt x="4821174" y="577553"/>
                </a:lnTo>
                <a:lnTo>
                  <a:pt x="4856110" y="710247"/>
                </a:lnTo>
                <a:lnTo>
                  <a:pt x="4891046" y="726158"/>
                </a:lnTo>
                <a:lnTo>
                  <a:pt x="4925982" y="800937"/>
                </a:lnTo>
                <a:lnTo>
                  <a:pt x="4960918" y="759888"/>
                </a:lnTo>
                <a:lnTo>
                  <a:pt x="4995854" y="864420"/>
                </a:lnTo>
                <a:lnTo>
                  <a:pt x="5030790" y="633240"/>
                </a:lnTo>
                <a:lnTo>
                  <a:pt x="5065726" y="652810"/>
                </a:lnTo>
                <a:lnTo>
                  <a:pt x="5100662" y="673653"/>
                </a:lnTo>
                <a:lnTo>
                  <a:pt x="5135598" y="755115"/>
                </a:lnTo>
                <a:lnTo>
                  <a:pt x="5170534" y="700223"/>
                </a:lnTo>
                <a:lnTo>
                  <a:pt x="5205470" y="738886"/>
                </a:lnTo>
                <a:lnTo>
                  <a:pt x="5240406" y="827826"/>
                </a:lnTo>
                <a:lnTo>
                  <a:pt x="5275342" y="873649"/>
                </a:lnTo>
                <a:lnTo>
                  <a:pt x="5310278" y="918357"/>
                </a:lnTo>
                <a:lnTo>
                  <a:pt x="5345214" y="1047233"/>
                </a:lnTo>
                <a:lnTo>
                  <a:pt x="5380150" y="1116603"/>
                </a:lnTo>
                <a:lnTo>
                  <a:pt x="5415086" y="1163380"/>
                </a:lnTo>
                <a:lnTo>
                  <a:pt x="5450022" y="1027663"/>
                </a:lnTo>
                <a:lnTo>
                  <a:pt x="5484958" y="967680"/>
                </a:lnTo>
                <a:lnTo>
                  <a:pt x="5519894" y="945564"/>
                </a:lnTo>
                <a:lnTo>
                  <a:pt x="5554830" y="1044051"/>
                </a:lnTo>
                <a:lnTo>
                  <a:pt x="5589766" y="941587"/>
                </a:lnTo>
                <a:lnTo>
                  <a:pt x="5624703" y="956702"/>
                </a:lnTo>
                <a:lnTo>
                  <a:pt x="5659639" y="1059643"/>
                </a:lnTo>
                <a:lnTo>
                  <a:pt x="5694575" y="1023208"/>
                </a:lnTo>
                <a:lnTo>
                  <a:pt x="5729511" y="1107375"/>
                </a:lnTo>
                <a:lnTo>
                  <a:pt x="5764447" y="1126149"/>
                </a:lnTo>
                <a:lnTo>
                  <a:pt x="5799383" y="999660"/>
                </a:lnTo>
                <a:lnTo>
                  <a:pt x="5834319" y="996955"/>
                </a:lnTo>
                <a:lnTo>
                  <a:pt x="5869255" y="855033"/>
                </a:lnTo>
                <a:lnTo>
                  <a:pt x="5904191" y="772298"/>
                </a:lnTo>
                <a:lnTo>
                  <a:pt x="5939127" y="813507"/>
                </a:lnTo>
                <a:lnTo>
                  <a:pt x="5974063" y="791709"/>
                </a:lnTo>
                <a:lnTo>
                  <a:pt x="6008999" y="824962"/>
                </a:lnTo>
                <a:lnTo>
                  <a:pt x="6043935" y="872535"/>
                </a:lnTo>
                <a:lnTo>
                  <a:pt x="6078871" y="885741"/>
                </a:lnTo>
                <a:lnTo>
                  <a:pt x="6113807" y="1018912"/>
                </a:lnTo>
                <a:lnTo>
                  <a:pt x="6148743" y="953520"/>
                </a:lnTo>
                <a:lnTo>
                  <a:pt x="6183679" y="1010161"/>
                </a:lnTo>
                <a:lnTo>
                  <a:pt x="6218615" y="1030845"/>
                </a:lnTo>
                <a:lnTo>
                  <a:pt x="6253551" y="1004752"/>
                </a:lnTo>
                <a:lnTo>
                  <a:pt x="6288487" y="811597"/>
                </a:lnTo>
                <a:lnTo>
                  <a:pt x="6323423" y="763548"/>
                </a:lnTo>
                <a:lnTo>
                  <a:pt x="6358359" y="767366"/>
                </a:lnTo>
                <a:lnTo>
                  <a:pt x="6393295" y="969430"/>
                </a:lnTo>
                <a:lnTo>
                  <a:pt x="6428232" y="951929"/>
                </a:lnTo>
              </a:path>
            </a:pathLst>
          </a:custGeom>
          <a:noFill/>
          <a:ln w="20320">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7"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2011</a:t>
            </a:r>
          </a:p>
        </p:txBody>
      </p:sp>
      <p:sp>
        <p:nvSpPr>
          <p:cNvPr id="24" name="TextBox 23"/>
          <p:cNvSpPr txBox="1"/>
          <p:nvPr/>
        </p:nvSpPr>
        <p:spPr>
          <a:xfrm>
            <a:off x="2289578"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2015</a:t>
            </a:r>
          </a:p>
        </p:txBody>
      </p:sp>
      <p:sp>
        <p:nvSpPr>
          <p:cNvPr id="25" name="TextBox 24"/>
          <p:cNvSpPr txBox="1"/>
          <p:nvPr/>
        </p:nvSpPr>
        <p:spPr>
          <a:xfrm>
            <a:off x="3966508"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2019</a:t>
            </a:r>
          </a:p>
        </p:txBody>
      </p:sp>
      <p:sp>
        <p:nvSpPr>
          <p:cNvPr id="26" name="TextBox 25"/>
          <p:cNvSpPr txBox="1"/>
          <p:nvPr/>
        </p:nvSpPr>
        <p:spPr>
          <a:xfrm>
            <a:off x="5224205"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2022</a:t>
            </a:r>
          </a:p>
        </p:txBody>
      </p:sp>
      <p:sp>
        <p:nvSpPr>
          <p:cNvPr id="27" name="TextBox 26"/>
          <p:cNvSpPr txBox="1"/>
          <p:nvPr/>
        </p:nvSpPr>
        <p:spPr>
          <a:xfrm>
            <a:off x="6901135" y="4338828"/>
            <a:ext cx="365760" cy="125730"/>
          </a:xfrm>
          <a:prstGeom prst="rect">
            <a:avLst/>
          </a:prstGeom>
          <a:noFill/>
        </p:spPr>
        <p:txBody>
          <a:bodyPr wrap="square" lIns="0" rIns="0" tIns="0" bIns="0" anchor="t">
            <a:noAutofit/>
          </a:bodyPr>
          <a:lstStyle/>
          <a:p>
            <a:pPr algn="ctr">
              <a:lnSpc>
                <a:spcPts val="990"/>
              </a:lnSpc>
            </a:pPr>
            <a:r>
              <a:rPr sz="750" b="0">
                <a:solidFill>
                  <a:srgbClr val="606060"/>
                </a:solidFill>
                <a:latin typeface="Kanit"/>
              </a:rPr>
              <a:t>2026</a:t>
            </a:r>
          </a:p>
        </p:txBody>
      </p:sp>
      <p:sp>
        <p:nvSpPr>
          <p:cNvPr id="28" name="TextBox 27"/>
          <p:cNvSpPr txBox="1"/>
          <p:nvPr/>
        </p:nvSpPr>
        <p:spPr>
          <a:xfrm>
            <a:off x="429768" y="2537460"/>
            <a:ext cx="681228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Index, 2015 = 100 · monthly, 2011-01 → 2026-05</a:t>
            </a:r>
          </a:p>
        </p:txBody>
      </p:sp>
      <p:sp>
        <p:nvSpPr>
          <p:cNvPr id="29" name="Rectangle 28"/>
          <p:cNvSpPr/>
          <p:nvPr/>
        </p:nvSpPr>
        <p:spPr>
          <a:xfrm>
            <a:off x="7498079" y="2528316"/>
            <a:ext cx="4279392" cy="21988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7498079" y="2528316"/>
            <a:ext cx="50292" cy="21988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7717536" y="2674620"/>
            <a:ext cx="3950207"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two windows say different things — both are true</a:t>
            </a:r>
          </a:p>
        </p:txBody>
      </p:sp>
      <p:sp>
        <p:nvSpPr>
          <p:cNvPr id="32" name="TextBox 31"/>
          <p:cNvSpPr txBox="1"/>
          <p:nvPr/>
        </p:nvSpPr>
        <p:spPr>
          <a:xfrm>
            <a:off x="7717536" y="2879090"/>
            <a:ext cx="3950207" cy="17018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Over twelve months pickup is flat at -0.4% and cars are down -8.3%. Over six months both are sharply up — pickup +12.5%, cars +6.0% — because the series bottomed in November and has climbed since.
So the fall has stopped; the level has not recovered. Pickup still sits -33.2 points below its own 2015 base against -12.2 for cars, and -50% off its 2012 peak. The gap between the two lines is recent: they sat on top of each other through 2013–2021 and separated only from 2022. Advance rates calibrated on pre-2022 behaviour are calibrated against a market that no longer exists.</a:t>
            </a:r>
          </a:p>
        </p:txBody>
      </p:sp>
      <p:sp>
        <p:nvSpPr>
          <p:cNvPr id="33" name="Rounded Rectangle 32"/>
          <p:cNvSpPr/>
          <p:nvPr/>
        </p:nvSpPr>
        <p:spPr>
          <a:xfrm>
            <a:off x="411480" y="468630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11480" y="471556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5" name="TextBox 34"/>
          <p:cNvSpPr txBox="1"/>
          <p:nvPr/>
        </p:nvSpPr>
        <p:spPr>
          <a:xfrm>
            <a:off x="1275385" y="4700016"/>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Bank of Thailand used-vehicle price index (EC_EI_040), 185 monthly observations; the 6- and 12-month moves are computed off the published monthly series. Both rebased so their own 2015 average = 100. The pickup series is confirmed pickup trucks (รถกระบะ), not heavy commercial — BoT’s 2019 Stat-Horizon methodology paper. Latest month preliminary.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10B · COLLATERAL SUPPLY</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Two vehicle markets, moving opposite ways.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3810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DLT first registrations on AutoX’s own pickup definition — any pickup or PPV nameplate, in any registration class. Read on trailing windows rather than calendar years: the last six months say something the twelve-month figure hides.</a:t>
            </a:r>
          </a:p>
        </p:txBody>
      </p:sp>
      <p:graphicFrame>
        <p:nvGraphicFramePr>
          <p:cNvPr id="10" name="Table 9"/>
          <p:cNvGraphicFramePr>
            <a:graphicFrameLocks noGrp="1"/>
          </p:cNvGraphicFramePr>
          <p:nvPr/>
        </p:nvGraphicFramePr>
        <p:xfrm>
          <a:off x="411480" y="1679448"/>
          <a:ext cx="11365993" cy="987552"/>
        </p:xfrm>
        <a:graphic>
          <a:graphicData uri="http://schemas.openxmlformats.org/drawingml/2006/table">
            <a:tbl>
              <a:tblPr>
                <a:tableStyleId>{5C22544A-7EE6-4342-B048-85BDC9FD1C3A}</a:tableStyleId>
              </a:tblPr>
              <a:tblGrid>
                <a:gridCol w="2383192"/>
                <a:gridCol w="1924886"/>
                <a:gridCol w="1466580"/>
                <a:gridCol w="1924886"/>
                <a:gridCol w="1466580"/>
                <a:gridCol w="2199869"/>
              </a:tblGrid>
              <a:tr h="329184">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12m YoY</a:t>
                      </a:r>
                    </a:p>
                  </a:txBody>
                  <a:tcPr marL="54864" marR="54864" marT="18288" marB="18288" anchor="ctr">
                    <a:solidFill>
                      <a:srgbClr val="1B2A6B"/>
                    </a:solidFill>
                  </a:tcPr>
                </a:tc>
                <a:tc>
                  <a:txBody>
                    <a:bodyPr wrap="square"/>
                    <a:lstStyle/>
                    <a:p>
                      <a:pPr algn="r"/>
                      <a:r>
                        <a:rPr sz="1050" b="1">
                          <a:solidFill>
                            <a:srgbClr val="FFFFFF"/>
                          </a:solidFill>
                          <a:latin typeface="Kanit"/>
                        </a:rPr>
                        <a:t>6-month units †</a:t>
                      </a:r>
                    </a:p>
                  </a:txBody>
                  <a:tcPr marL="54864" marR="54864" marT="18288" marB="18288" anchor="ctr">
                    <a:solidFill>
                      <a:srgbClr val="1B2A6B"/>
                    </a:solidFill>
                  </a:tcPr>
                </a:tc>
                <a:tc>
                  <a:txBody>
                    <a:bodyPr wrap="square"/>
                    <a:lstStyle/>
                    <a:p>
                      <a:pPr algn="r"/>
                      <a:r>
                        <a:rPr sz="1050" b="1">
                          <a:solidFill>
                            <a:srgbClr val="FFFFFF"/>
                          </a:solidFill>
                          <a:latin typeface="Kanit"/>
                        </a:rPr>
                        <a:t>6m YoY †</a:t>
                      </a:r>
                    </a:p>
                  </a:txBody>
                  <a:tcPr marL="54864" marR="54864" marT="18288" marB="18288" anchor="ctr">
                    <a:solidFill>
                      <a:srgbClr val="1B2A6B"/>
                    </a:solidFill>
                  </a:tcPr>
                </a:tc>
                <a:tc>
                  <a:txBody>
                    <a:bodyPr wrap="square"/>
                    <a:lstStyle/>
                    <a:p>
                      <a:pPr algn="r"/>
                      <a:r>
                        <a:rPr sz="1050" b="1">
                          <a:solidFill>
                            <a:srgbClr val="FFFFFF"/>
                          </a:solidFill>
                          <a:latin typeface="Kanit"/>
                        </a:rPr>
                        <a:t>6m trend ex-flagged, units/mo</a:t>
                      </a:r>
                    </a:p>
                  </a:txBody>
                  <a:tcPr marL="54864" marR="54864" marT="18288" marB="18288" anchor="ctr">
                    <a:solidFill>
                      <a:srgbClr val="1B2A6B"/>
                    </a:solidFill>
                  </a:tcPr>
                </a:tc>
              </a:tr>
              <a:tr h="329184">
                <a:tc>
                  <a:txBody>
                    <a:bodyPr wrap="square"/>
                    <a:lstStyle/>
                    <a:p>
                      <a:pPr algn="l"/>
                      <a:r>
                        <a:rPr sz="1100" b="1">
                          <a:solidFill>
                            <a:srgbClr val="1E2F5C"/>
                          </a:solidFill>
                          <a:latin typeface="Kanit"/>
                        </a:rPr>
                        <a:t>Pickup + PPV</a:t>
                      </a:r>
                    </a:p>
                  </a:txBody>
                  <a:tcPr marL="54864" marR="54864" marT="18288" marB="18288" anchor="ctr">
                    <a:solidFill>
                      <a:srgbClr val="FFFFFF"/>
                    </a:solidFill>
                  </a:tcPr>
                </a:tc>
                <a:tc>
                  <a:txBody>
                    <a:bodyPr wrap="square"/>
                    <a:lstStyle/>
                    <a:p>
                      <a:pPr algn="r"/>
                      <a:r>
                        <a:rPr sz="1100" b="0">
                          <a:solidFill>
                            <a:srgbClr val="1E2F5C"/>
                          </a:solidFill>
                          <a:latin typeface="Kanit"/>
                        </a:rPr>
                        <a:t>183,277</a:t>
                      </a:r>
                    </a:p>
                  </a:txBody>
                  <a:tcPr marL="54864" marR="54864" marT="18288" marB="18288" anchor="ctr">
                    <a:solidFill>
                      <a:srgbClr val="FFFFFF"/>
                    </a:solidFill>
                  </a:tcPr>
                </a:tc>
                <a:tc>
                  <a:txBody>
                    <a:bodyPr wrap="square"/>
                    <a:lstStyle/>
                    <a:p>
                      <a:pPr algn="r"/>
                      <a:r>
                        <a:rPr sz="1100" b="1">
                          <a:solidFill>
                            <a:srgbClr val="CC0000"/>
                          </a:solidFill>
                          <a:latin typeface="Kanit"/>
                        </a:rPr>
                        <a:t>-15.3%</a:t>
                      </a:r>
                    </a:p>
                  </a:txBody>
                  <a:tcPr marL="54864" marR="54864" marT="18288" marB="18288" anchor="ctr">
                    <a:solidFill>
                      <a:srgbClr val="FFFFFF"/>
                    </a:solidFill>
                  </a:tcPr>
                </a:tc>
                <a:tc>
                  <a:txBody>
                    <a:bodyPr wrap="square"/>
                    <a:lstStyle/>
                    <a:p>
                      <a:pPr algn="r"/>
                      <a:r>
                        <a:rPr sz="1100" b="0">
                          <a:solidFill>
                            <a:srgbClr val="1E2F5C"/>
                          </a:solidFill>
                          <a:latin typeface="Kanit"/>
                        </a:rPr>
                        <a:t>85,276</a:t>
                      </a:r>
                    </a:p>
                  </a:txBody>
                  <a:tcPr marL="54864" marR="54864" marT="18288" marB="18288" anchor="ctr">
                    <a:solidFill>
                      <a:srgbClr val="FFFFFF"/>
                    </a:solidFill>
                  </a:tcPr>
                </a:tc>
                <a:tc>
                  <a:txBody>
                    <a:bodyPr wrap="square"/>
                    <a:lstStyle/>
                    <a:p>
                      <a:pPr algn="r"/>
                      <a:r>
                        <a:rPr sz="1100" b="1">
                          <a:solidFill>
                            <a:srgbClr val="CC0000"/>
                          </a:solidFill>
                          <a:latin typeface="Kanit"/>
                        </a:rPr>
                        <a:t>-9.8%</a:t>
                      </a:r>
                    </a:p>
                  </a:txBody>
                  <a:tcPr marL="54864" marR="54864" marT="18288" marB="18288" anchor="ctr">
                    <a:solidFill>
                      <a:srgbClr val="FFFFFF"/>
                    </a:solidFill>
                  </a:tcPr>
                </a:tc>
                <a:tc>
                  <a:txBody>
                    <a:bodyPr wrap="square"/>
                    <a:lstStyle/>
                    <a:p>
                      <a:pPr algn="r"/>
                      <a:r>
                        <a:rPr sz="1100" b="1">
                          <a:solidFill>
                            <a:srgbClr val="CC0000"/>
                          </a:solidFill>
                          <a:latin typeface="Kanit"/>
                        </a:rPr>
                        <a:t>-986</a:t>
                      </a:r>
                    </a:p>
                  </a:txBody>
                  <a:tcPr marL="54864" marR="54864" marT="18288" marB="18288" anchor="ctr">
                    <a:solidFill>
                      <a:srgbClr val="FFFFFF"/>
                    </a:solidFill>
                  </a:tcPr>
                </a:tc>
              </a:tr>
              <a:tr h="329184">
                <a:tc>
                  <a:txBody>
                    <a:bodyPr wrap="square"/>
                    <a:lstStyle/>
                    <a:p>
                      <a:pPr algn="l"/>
                      <a:r>
                        <a:rPr sz="1100" b="1">
                          <a:solidFill>
                            <a:srgbClr val="1E2F5C"/>
                          </a:solidFill>
                          <a:latin typeface="Kanit"/>
                        </a:rPr>
                        <a:t>Passenger car</a:t>
                      </a:r>
                    </a:p>
                  </a:txBody>
                  <a:tcPr marL="54864" marR="54864" marT="18288" marB="18288" anchor="ctr">
                    <a:solidFill>
                      <a:srgbClr val="F7F9FC"/>
                    </a:solidFill>
                  </a:tcPr>
                </a:tc>
                <a:tc>
                  <a:txBody>
                    <a:bodyPr wrap="square"/>
                    <a:lstStyle/>
                    <a:p>
                      <a:pPr algn="r"/>
                      <a:r>
                        <a:rPr sz="1100" b="0">
                          <a:solidFill>
                            <a:srgbClr val="1E2F5C"/>
                          </a:solidFill>
                          <a:latin typeface="Kanit"/>
                        </a:rPr>
                        <a:t>443,641</a:t>
                      </a:r>
                    </a:p>
                  </a:txBody>
                  <a:tcPr marL="54864" marR="54864" marT="18288" marB="18288" anchor="ctr">
                    <a:solidFill>
                      <a:srgbClr val="F7F9FC"/>
                    </a:solidFill>
                  </a:tcPr>
                </a:tc>
                <a:tc>
                  <a:txBody>
                    <a:bodyPr wrap="square"/>
                    <a:lstStyle/>
                    <a:p>
                      <a:pPr algn="r"/>
                      <a:r>
                        <a:rPr sz="1100" b="1">
                          <a:solidFill>
                            <a:srgbClr val="15795F"/>
                          </a:solidFill>
                          <a:latin typeface="Kanit"/>
                        </a:rPr>
                        <a:t>+19.8%</a:t>
                      </a:r>
                    </a:p>
                  </a:txBody>
                  <a:tcPr marL="54864" marR="54864" marT="18288" marB="18288" anchor="ctr">
                    <a:solidFill>
                      <a:srgbClr val="F7F9FC"/>
                    </a:solidFill>
                  </a:tcPr>
                </a:tc>
                <a:tc>
                  <a:txBody>
                    <a:bodyPr wrap="square"/>
                    <a:lstStyle/>
                    <a:p>
                      <a:pPr algn="r"/>
                      <a:r>
                        <a:rPr sz="1100" b="0">
                          <a:solidFill>
                            <a:srgbClr val="1E2F5C"/>
                          </a:solidFill>
                          <a:latin typeface="Kanit"/>
                        </a:rPr>
                        <a:t>233,102</a:t>
                      </a:r>
                    </a:p>
                  </a:txBody>
                  <a:tcPr marL="54864" marR="54864" marT="18288" marB="18288" anchor="ctr">
                    <a:solidFill>
                      <a:srgbClr val="F7F9FC"/>
                    </a:solidFill>
                  </a:tcPr>
                </a:tc>
                <a:tc>
                  <a:txBody>
                    <a:bodyPr wrap="square"/>
                    <a:lstStyle/>
                    <a:p>
                      <a:pPr algn="r"/>
                      <a:r>
                        <a:rPr sz="1100" b="1">
                          <a:solidFill>
                            <a:srgbClr val="15795F"/>
                          </a:solidFill>
                          <a:latin typeface="Kanit"/>
                        </a:rPr>
                        <a:t>+34.3%</a:t>
                      </a:r>
                    </a:p>
                  </a:txBody>
                  <a:tcPr marL="54864" marR="54864" marT="18288" marB="18288" anchor="ctr">
                    <a:solidFill>
                      <a:srgbClr val="F7F9FC"/>
                    </a:solidFill>
                  </a:tcPr>
                </a:tc>
                <a:tc>
                  <a:txBody>
                    <a:bodyPr wrap="square"/>
                    <a:lstStyle/>
                    <a:p>
                      <a:pPr algn="r"/>
                      <a:r>
                        <a:rPr sz="1100" b="1">
                          <a:solidFill>
                            <a:srgbClr val="CC0000"/>
                          </a:solidFill>
                          <a:latin typeface="Kanit"/>
                        </a:rPr>
                        <a:t>-393</a:t>
                      </a:r>
                    </a:p>
                  </a:txBody>
                  <a:tcPr marL="54864" marR="54864" marT="18288" marB="18288" anchor="ctr">
                    <a:solidFill>
                      <a:srgbClr val="F7F9FC"/>
                    </a:solidFill>
                  </a:tcPr>
                </a:tc>
              </a:tr>
            </a:tbl>
          </a:graphicData>
        </a:graphic>
      </p:graphicFrame>
      <p:sp>
        <p:nvSpPr>
          <p:cNvPr id="11" name="TextBox 10"/>
          <p:cNvSpPr txBox="1"/>
          <p:nvPr/>
        </p:nvSpPr>
        <p:spPr>
          <a:xfrm>
            <a:off x="411480" y="2721864"/>
            <a:ext cx="11365992" cy="152400"/>
          </a:xfrm>
          <a:prstGeom prst="rect">
            <a:avLst/>
          </a:prstGeom>
          <a:noFill/>
        </p:spPr>
        <p:txBody>
          <a:bodyPr wrap="square" lIns="0" rIns="0" tIns="0" bIns="0" anchor="t">
            <a:noAutofit/>
          </a:bodyPr>
          <a:lstStyle/>
          <a:p>
            <a:pPr algn="l">
              <a:lnSpc>
                <a:spcPts val="1200"/>
              </a:lnSpc>
            </a:pPr>
            <a:r>
              <a:rPr sz="900" b="0">
                <a:solidFill>
                  <a:srgbClr val="606060"/>
                </a:solidFill>
                <a:latin typeface="Kanit"/>
              </a:rPr>
              <a:t>† the six-month window contains flagged months — 2025-12, 2026-01. The trend column strips the flagged January; the two YoY columns do not.</a:t>
            </a:r>
          </a:p>
        </p:txBody>
      </p:sp>
      <p:sp>
        <p:nvSpPr>
          <p:cNvPr id="12" name="TextBox 11"/>
          <p:cNvSpPr txBox="1"/>
          <p:nvPr/>
        </p:nvSpPr>
        <p:spPr>
          <a:xfrm>
            <a:off x="411480" y="302056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Pickup + PPV — registrations by month, 2025-08 → 2026-01</a:t>
            </a:r>
          </a:p>
        </p:txBody>
      </p:sp>
      <p:sp>
        <p:nvSpPr>
          <p:cNvPr id="13" name="Rectangle 12"/>
          <p:cNvSpPr/>
          <p:nvPr/>
        </p:nvSpPr>
        <p:spPr>
          <a:xfrm>
            <a:off x="411480" y="3221736"/>
            <a:ext cx="5568696" cy="1481328"/>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760415" y="3703042"/>
            <a:ext cx="458845" cy="743989"/>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548640" y="3520162"/>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14.9k</a:t>
            </a:r>
          </a:p>
        </p:txBody>
      </p:sp>
      <p:sp>
        <p:nvSpPr>
          <p:cNvPr id="16" name="TextBox 15"/>
          <p:cNvSpPr txBox="1"/>
          <p:nvPr/>
        </p:nvSpPr>
        <p:spPr>
          <a:xfrm>
            <a:off x="548640"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25-08</a:t>
            </a:r>
          </a:p>
        </p:txBody>
      </p:sp>
      <p:sp>
        <p:nvSpPr>
          <p:cNvPr id="17" name="Rectangle 16"/>
          <p:cNvSpPr/>
          <p:nvPr/>
        </p:nvSpPr>
        <p:spPr>
          <a:xfrm>
            <a:off x="1642811" y="3683312"/>
            <a:ext cx="458845" cy="763719"/>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31036" y="3500432"/>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15.3k</a:t>
            </a:r>
          </a:p>
        </p:txBody>
      </p:sp>
      <p:sp>
        <p:nvSpPr>
          <p:cNvPr id="19" name="TextBox 18"/>
          <p:cNvSpPr txBox="1"/>
          <p:nvPr/>
        </p:nvSpPr>
        <p:spPr>
          <a:xfrm>
            <a:off x="1431036"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25-09</a:t>
            </a:r>
          </a:p>
        </p:txBody>
      </p:sp>
      <p:sp>
        <p:nvSpPr>
          <p:cNvPr id="20" name="Rectangle 19"/>
          <p:cNvSpPr/>
          <p:nvPr/>
        </p:nvSpPr>
        <p:spPr>
          <a:xfrm>
            <a:off x="2525207" y="3785218"/>
            <a:ext cx="458845" cy="661813"/>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2313432" y="3602338"/>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13.2k</a:t>
            </a:r>
          </a:p>
        </p:txBody>
      </p:sp>
      <p:sp>
        <p:nvSpPr>
          <p:cNvPr id="22" name="TextBox 21"/>
          <p:cNvSpPr txBox="1"/>
          <p:nvPr/>
        </p:nvSpPr>
        <p:spPr>
          <a:xfrm>
            <a:off x="2313432"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25-10</a:t>
            </a:r>
          </a:p>
        </p:txBody>
      </p:sp>
      <p:sp>
        <p:nvSpPr>
          <p:cNvPr id="23" name="Rectangle 22"/>
          <p:cNvSpPr/>
          <p:nvPr/>
        </p:nvSpPr>
        <p:spPr>
          <a:xfrm>
            <a:off x="3407603" y="3832290"/>
            <a:ext cx="458845" cy="614741"/>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3195828" y="3649410"/>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12.3k</a:t>
            </a:r>
          </a:p>
        </p:txBody>
      </p:sp>
      <p:sp>
        <p:nvSpPr>
          <p:cNvPr id="25" name="TextBox 24"/>
          <p:cNvSpPr txBox="1"/>
          <p:nvPr/>
        </p:nvSpPr>
        <p:spPr>
          <a:xfrm>
            <a:off x="3195828"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25-11</a:t>
            </a:r>
          </a:p>
        </p:txBody>
      </p:sp>
      <p:sp>
        <p:nvSpPr>
          <p:cNvPr id="26" name="Rectangle 25"/>
          <p:cNvSpPr/>
          <p:nvPr/>
        </p:nvSpPr>
        <p:spPr>
          <a:xfrm>
            <a:off x="4289999" y="3875356"/>
            <a:ext cx="458845" cy="571675"/>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078224" y="3692476"/>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11.4k</a:t>
            </a:r>
          </a:p>
        </p:txBody>
      </p:sp>
      <p:sp>
        <p:nvSpPr>
          <p:cNvPr id="28" name="TextBox 27"/>
          <p:cNvSpPr txBox="1"/>
          <p:nvPr/>
        </p:nvSpPr>
        <p:spPr>
          <a:xfrm>
            <a:off x="4078224"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25-12</a:t>
            </a:r>
          </a:p>
        </p:txBody>
      </p:sp>
      <p:sp>
        <p:nvSpPr>
          <p:cNvPr id="29" name="Rectangle 28"/>
          <p:cNvSpPr/>
          <p:nvPr/>
        </p:nvSpPr>
        <p:spPr>
          <a:xfrm>
            <a:off x="5172395" y="3532632"/>
            <a:ext cx="458845" cy="91440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960620" y="3349752"/>
            <a:ext cx="882396" cy="150876"/>
          </a:xfrm>
          <a:prstGeom prst="rect">
            <a:avLst/>
          </a:prstGeom>
          <a:noFill/>
        </p:spPr>
        <p:txBody>
          <a:bodyPr wrap="square" lIns="0" rIns="0" tIns="0" bIns="0" anchor="t">
            <a:noAutofit/>
          </a:bodyPr>
          <a:lstStyle/>
          <a:p>
            <a:pPr algn="ctr">
              <a:lnSpc>
                <a:spcPts val="1188"/>
              </a:lnSpc>
            </a:pPr>
            <a:r>
              <a:rPr sz="900" b="1">
                <a:solidFill>
                  <a:srgbClr val="CC0000"/>
                </a:solidFill>
                <a:latin typeface="Kanit"/>
              </a:rPr>
              <a:t>18.3k</a:t>
            </a:r>
          </a:p>
        </p:txBody>
      </p:sp>
      <p:sp>
        <p:nvSpPr>
          <p:cNvPr id="31" name="TextBox 30"/>
          <p:cNvSpPr txBox="1"/>
          <p:nvPr/>
        </p:nvSpPr>
        <p:spPr>
          <a:xfrm>
            <a:off x="4960620"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26-01</a:t>
            </a:r>
          </a:p>
        </p:txBody>
      </p:sp>
      <p:sp>
        <p:nvSpPr>
          <p:cNvPr id="32" name="TextBox 31"/>
          <p:cNvSpPr txBox="1"/>
          <p:nvPr/>
        </p:nvSpPr>
        <p:spPr>
          <a:xfrm>
            <a:off x="6208776" y="302056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Passenger car — registrations by month, 2025-08 → 2026-01</a:t>
            </a:r>
          </a:p>
        </p:txBody>
      </p:sp>
      <p:sp>
        <p:nvSpPr>
          <p:cNvPr id="33" name="Rectangle 32"/>
          <p:cNvSpPr/>
          <p:nvPr/>
        </p:nvSpPr>
        <p:spPr>
          <a:xfrm>
            <a:off x="6208776" y="3221736"/>
            <a:ext cx="5568696" cy="1481328"/>
          </a:xfrm>
          <a:prstGeom prst="rect">
            <a:avLst/>
          </a:prstGeom>
          <a:solidFill>
            <a:srgbClr val="FBFCFE"/>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6557711" y="4043259"/>
            <a:ext cx="458845" cy="4037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6345936" y="3860379"/>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32.0k</a:t>
            </a:r>
          </a:p>
        </p:txBody>
      </p:sp>
      <p:sp>
        <p:nvSpPr>
          <p:cNvPr id="36" name="TextBox 35"/>
          <p:cNvSpPr txBox="1"/>
          <p:nvPr/>
        </p:nvSpPr>
        <p:spPr>
          <a:xfrm>
            <a:off x="6345936"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25-08</a:t>
            </a:r>
          </a:p>
        </p:txBody>
      </p:sp>
      <p:sp>
        <p:nvSpPr>
          <p:cNvPr id="37" name="Rectangle 36"/>
          <p:cNvSpPr/>
          <p:nvPr/>
        </p:nvSpPr>
        <p:spPr>
          <a:xfrm>
            <a:off x="7440107" y="4026680"/>
            <a:ext cx="458845" cy="420351"/>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7228332" y="3843800"/>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33.3k</a:t>
            </a:r>
          </a:p>
        </p:txBody>
      </p:sp>
      <p:sp>
        <p:nvSpPr>
          <p:cNvPr id="39" name="TextBox 38"/>
          <p:cNvSpPr txBox="1"/>
          <p:nvPr/>
        </p:nvSpPr>
        <p:spPr>
          <a:xfrm>
            <a:off x="7228332"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25-09</a:t>
            </a:r>
          </a:p>
        </p:txBody>
      </p:sp>
      <p:sp>
        <p:nvSpPr>
          <p:cNvPr id="40" name="Rectangle 39"/>
          <p:cNvSpPr/>
          <p:nvPr/>
        </p:nvSpPr>
        <p:spPr>
          <a:xfrm>
            <a:off x="8322503" y="4032976"/>
            <a:ext cx="458845" cy="414055"/>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8110728" y="3850096"/>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32.8k</a:t>
            </a:r>
          </a:p>
        </p:txBody>
      </p:sp>
      <p:sp>
        <p:nvSpPr>
          <p:cNvPr id="42" name="TextBox 41"/>
          <p:cNvSpPr txBox="1"/>
          <p:nvPr/>
        </p:nvSpPr>
        <p:spPr>
          <a:xfrm>
            <a:off x="8110728"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25-10</a:t>
            </a:r>
          </a:p>
        </p:txBody>
      </p:sp>
      <p:sp>
        <p:nvSpPr>
          <p:cNvPr id="43" name="Rectangle 42"/>
          <p:cNvSpPr/>
          <p:nvPr/>
        </p:nvSpPr>
        <p:spPr>
          <a:xfrm>
            <a:off x="9204899" y="4048318"/>
            <a:ext cx="458845" cy="398713"/>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4" name="TextBox 43"/>
          <p:cNvSpPr txBox="1"/>
          <p:nvPr/>
        </p:nvSpPr>
        <p:spPr>
          <a:xfrm>
            <a:off x="8993124" y="3865438"/>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31.6k</a:t>
            </a:r>
          </a:p>
        </p:txBody>
      </p:sp>
      <p:sp>
        <p:nvSpPr>
          <p:cNvPr id="45" name="TextBox 44"/>
          <p:cNvSpPr txBox="1"/>
          <p:nvPr/>
        </p:nvSpPr>
        <p:spPr>
          <a:xfrm>
            <a:off x="8993124"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25-11</a:t>
            </a:r>
          </a:p>
        </p:txBody>
      </p:sp>
      <p:sp>
        <p:nvSpPr>
          <p:cNvPr id="46" name="Rectangle 45"/>
          <p:cNvSpPr/>
          <p:nvPr/>
        </p:nvSpPr>
        <p:spPr>
          <a:xfrm>
            <a:off x="10087295" y="4057251"/>
            <a:ext cx="458845" cy="389780"/>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TextBox 46"/>
          <p:cNvSpPr txBox="1"/>
          <p:nvPr/>
        </p:nvSpPr>
        <p:spPr>
          <a:xfrm>
            <a:off x="9875520" y="3874371"/>
            <a:ext cx="882396" cy="150876"/>
          </a:xfrm>
          <a:prstGeom prst="rect">
            <a:avLst/>
          </a:prstGeom>
          <a:noFill/>
        </p:spPr>
        <p:txBody>
          <a:bodyPr wrap="square" lIns="0" rIns="0" tIns="0" bIns="0" anchor="t">
            <a:noAutofit/>
          </a:bodyPr>
          <a:lstStyle/>
          <a:p>
            <a:pPr algn="ctr">
              <a:lnSpc>
                <a:spcPts val="1188"/>
              </a:lnSpc>
            </a:pPr>
            <a:r>
              <a:rPr sz="900" b="0">
                <a:solidFill>
                  <a:srgbClr val="1E2F5C"/>
                </a:solidFill>
                <a:latin typeface="Kanit"/>
              </a:rPr>
              <a:t>30.9k</a:t>
            </a:r>
          </a:p>
        </p:txBody>
      </p:sp>
      <p:sp>
        <p:nvSpPr>
          <p:cNvPr id="48" name="TextBox 47"/>
          <p:cNvSpPr txBox="1"/>
          <p:nvPr/>
        </p:nvSpPr>
        <p:spPr>
          <a:xfrm>
            <a:off x="9875520"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25-12</a:t>
            </a:r>
          </a:p>
        </p:txBody>
      </p:sp>
      <p:sp>
        <p:nvSpPr>
          <p:cNvPr id="49" name="Rectangle 48"/>
          <p:cNvSpPr/>
          <p:nvPr/>
        </p:nvSpPr>
        <p:spPr>
          <a:xfrm>
            <a:off x="10969691" y="3532632"/>
            <a:ext cx="458845" cy="914400"/>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0" name="TextBox 49"/>
          <p:cNvSpPr txBox="1"/>
          <p:nvPr/>
        </p:nvSpPr>
        <p:spPr>
          <a:xfrm>
            <a:off x="10757916" y="3349752"/>
            <a:ext cx="882396" cy="150876"/>
          </a:xfrm>
          <a:prstGeom prst="rect">
            <a:avLst/>
          </a:prstGeom>
          <a:noFill/>
        </p:spPr>
        <p:txBody>
          <a:bodyPr wrap="square" lIns="0" rIns="0" tIns="0" bIns="0" anchor="t">
            <a:noAutofit/>
          </a:bodyPr>
          <a:lstStyle/>
          <a:p>
            <a:pPr algn="ctr">
              <a:lnSpc>
                <a:spcPts val="1188"/>
              </a:lnSpc>
            </a:pPr>
            <a:r>
              <a:rPr sz="900" b="1">
                <a:solidFill>
                  <a:srgbClr val="1E2F5C"/>
                </a:solidFill>
                <a:latin typeface="Kanit"/>
              </a:rPr>
              <a:t>72.5k</a:t>
            </a:r>
          </a:p>
        </p:txBody>
      </p:sp>
      <p:sp>
        <p:nvSpPr>
          <p:cNvPr id="51" name="TextBox 50"/>
          <p:cNvSpPr txBox="1"/>
          <p:nvPr/>
        </p:nvSpPr>
        <p:spPr>
          <a:xfrm>
            <a:off x="10757916" y="4492752"/>
            <a:ext cx="882396" cy="142494"/>
          </a:xfrm>
          <a:prstGeom prst="rect">
            <a:avLst/>
          </a:prstGeom>
          <a:noFill/>
        </p:spPr>
        <p:txBody>
          <a:bodyPr wrap="square" lIns="0" rIns="0" tIns="0" bIns="0" anchor="t">
            <a:noAutofit/>
          </a:bodyPr>
          <a:lstStyle/>
          <a:p>
            <a:pPr algn="ctr">
              <a:lnSpc>
                <a:spcPts val="1122"/>
              </a:lnSpc>
            </a:pPr>
            <a:r>
              <a:rPr sz="850" b="0">
                <a:solidFill>
                  <a:srgbClr val="606060"/>
                </a:solidFill>
                <a:latin typeface="Kanit"/>
              </a:rPr>
              <a:t>26-01</a:t>
            </a:r>
          </a:p>
        </p:txBody>
      </p:sp>
      <p:sp>
        <p:nvSpPr>
          <p:cNvPr id="52" name="Rectangle 51"/>
          <p:cNvSpPr/>
          <p:nvPr/>
        </p:nvSpPr>
        <p:spPr>
          <a:xfrm>
            <a:off x="411480" y="4885944"/>
            <a:ext cx="5568696" cy="168833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3" name="Rectangle 52"/>
          <p:cNvSpPr/>
          <p:nvPr/>
        </p:nvSpPr>
        <p:spPr>
          <a:xfrm>
            <a:off x="411480" y="4885944"/>
            <a:ext cx="50292" cy="168833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630936" y="5032248"/>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Why any “positive pickup trend” is an artifact</a:t>
            </a:r>
          </a:p>
        </p:txBody>
      </p:sp>
      <p:sp>
        <p:nvSpPr>
          <p:cNvPr id="55" name="TextBox 54"/>
          <p:cNvSpPr txBox="1"/>
          <p:nvPr/>
        </p:nvSpPr>
        <p:spPr>
          <a:xfrm>
            <a:off x="630936" y="5236718"/>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Look at the left chart. Five months fall steadily — 14.9k, 15.3k, 13.2k, 12.3k, 11.4k — then January jumps to 18.3k. Fit a line through all six and that one bar drags the slope to +131 a month, which reads as a recovery. Fit it through the five months before January and it is -986 a month.
January is a flagged month, not demand: registrations pulled forward before an incentive deadline. Pickups are still falling at roughly a thousand units a month.</a:t>
            </a:r>
          </a:p>
        </p:txBody>
      </p:sp>
      <p:sp>
        <p:nvSpPr>
          <p:cNvPr id="56" name="Rectangle 55"/>
          <p:cNvSpPr/>
          <p:nvPr/>
        </p:nvSpPr>
        <p:spPr>
          <a:xfrm>
            <a:off x="6208776" y="4885944"/>
            <a:ext cx="5568696" cy="117779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Rectangle 56"/>
          <p:cNvSpPr/>
          <p:nvPr/>
        </p:nvSpPr>
        <p:spPr>
          <a:xfrm>
            <a:off x="6208776" y="4885944"/>
            <a:ext cx="50292" cy="117779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8" name="TextBox 57"/>
          <p:cNvSpPr txBox="1"/>
          <p:nvPr/>
        </p:nvSpPr>
        <p:spPr>
          <a:xfrm>
            <a:off x="6428232" y="5032248"/>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Two thirds of the car boom is one month</a:t>
            </a:r>
          </a:p>
        </p:txBody>
      </p:sp>
      <p:sp>
        <p:nvSpPr>
          <p:cNvPr id="59" name="TextBox 58"/>
          <p:cNvSpPr txBox="1"/>
          <p:nvPr/>
        </p:nvSpPr>
        <p:spPr>
          <a:xfrm>
            <a:off x="6428232" y="5236718"/>
            <a:ext cx="5239512" cy="68072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January 2026 ran +54% in cars while motorcycles were flat — registrations pulled forward ahead of an incentive deadline, not demand appearing. Replace that month with the average of the other five and six-month growth falls from +34.3% to +11.0%. The twelve-month +19.8% is the safer number.</a:t>
            </a:r>
          </a:p>
        </p:txBody>
      </p:sp>
      <p:sp>
        <p:nvSpPr>
          <p:cNvPr id="60" name="Rounded Rectangle 59"/>
          <p:cNvSpPr/>
          <p:nvPr/>
        </p:nvSpPr>
        <p:spPr>
          <a:xfrm>
            <a:off x="411480" y="6720586"/>
            <a:ext cx="535747" cy="192024"/>
          </a:xfrm>
          <a:prstGeom prst="roundRect">
            <a:avLst>
              <a:gd name="adj" fmla="val 50000"/>
            </a:avLst>
          </a:prstGeom>
          <a:noFill/>
          <a:ln w="9525">
            <a:solidFill>
              <a:srgbClr val="1E2F5C"/>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1" name="TextBox 60"/>
          <p:cNvSpPr txBox="1"/>
          <p:nvPr/>
        </p:nvSpPr>
        <p:spPr>
          <a:xfrm>
            <a:off x="411480" y="6749846"/>
            <a:ext cx="535747" cy="134112"/>
          </a:xfrm>
          <a:prstGeom prst="rect">
            <a:avLst/>
          </a:prstGeom>
          <a:noFill/>
        </p:spPr>
        <p:txBody>
          <a:bodyPr wrap="square" lIns="0" rIns="0" tIns="0" bIns="0" anchor="t">
            <a:noAutofit/>
          </a:bodyPr>
          <a:lstStyle/>
          <a:p>
            <a:pPr algn="ctr">
              <a:lnSpc>
                <a:spcPts val="1056"/>
              </a:lnSpc>
            </a:pPr>
            <a:r>
              <a:rPr sz="800" b="1">
                <a:solidFill>
                  <a:srgbClr val="1E2F5C"/>
                </a:solidFill>
                <a:latin typeface="Kanit"/>
              </a:rPr>
              <a:t>MIXED</a:t>
            </a:r>
          </a:p>
        </p:txBody>
      </p:sp>
      <p:sp>
        <p:nvSpPr>
          <p:cNvPr id="62" name="TextBox 61"/>
          <p:cNvSpPr txBox="1"/>
          <p:nvPr/>
        </p:nvSpPr>
        <p:spPr>
          <a:xfrm>
            <a:off x="1056955" y="6734302"/>
            <a:ext cx="1072051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Registrations MEASURED — DLT gdcatalog first registrations at brand and model grain, 48 months from 2022-01. A month holding under 20% of the median month is treated as a catalog stub and excluded; a month moving more than 40% year on year is flagged and kept, never dropped. The ex-January figures are our own arithmetic on that measured series — ESTIMATED, a judgement about which month to trust.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10C · BRAND CONCENTRATION</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Two vehicle markets, and only one is holding its shape.</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pickup brands</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78.7%</a:t>
            </a:r>
          </a:p>
        </p:txBody>
      </p:sp>
      <p:sp>
        <p:nvSpPr>
          <p:cNvPr id="12" name="TextBox 11"/>
          <p:cNvSpPr txBox="1"/>
          <p:nvPr/>
        </p:nvSpPr>
        <p:spPr>
          <a:xfrm>
            <a:off x="548640"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 ISUZU · was 80.5% a year ago</a:t>
            </a:r>
          </a:p>
        </p:txBody>
      </p:sp>
      <p:sp>
        <p:nvSpPr>
          <p:cNvPr id="13" name="Rounded Rectangle 12"/>
          <p:cNvSpPr/>
          <p:nvPr/>
        </p:nvSpPr>
        <p:spPr>
          <a:xfrm>
            <a:off x="3287268"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Top 2 car brands</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48.5%</a:t>
            </a:r>
          </a:p>
        </p:txBody>
      </p:sp>
      <p:sp>
        <p:nvSpPr>
          <p:cNvPr id="16" name="TextBox 15"/>
          <p:cNvSpPr txBox="1"/>
          <p:nvPr/>
        </p:nvSpPr>
        <p:spPr>
          <a:xfrm>
            <a:off x="3424428"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TOYOTA + HONDA · was 57.8% — 9.4 points gone in a year</a:t>
            </a:r>
          </a:p>
        </p:txBody>
      </p:sp>
      <p:sp>
        <p:nvSpPr>
          <p:cNvPr id="17" name="Rounded Rectangle 16"/>
          <p:cNvSpPr/>
          <p:nvPr/>
        </p:nvSpPr>
        <p:spPr>
          <a:xfrm>
            <a:off x="6163056"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Biggest pickup nameplate</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-21.5%</a:t>
            </a:r>
          </a:p>
        </p:txBody>
      </p:sp>
      <p:sp>
        <p:nvSpPr>
          <p:cNvPr id="20" name="TextBox 19"/>
          <p:cNvSpPr txBox="1"/>
          <p:nvPr/>
        </p:nvSpPr>
        <p:spPr>
          <a:xfrm>
            <a:off x="6300216"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HILUX REVO · 40.8% of pickups · D-MAX -23.0%</a:t>
            </a:r>
          </a:p>
        </p:txBody>
      </p:sp>
      <p:sp>
        <p:nvSpPr>
          <p:cNvPr id="21" name="Rounded Rectangle 20"/>
          <p:cNvSpPr/>
          <p:nvPr/>
        </p:nvSpPr>
        <p:spPr>
          <a:xfrm>
            <a:off x="9038844" y="1152144"/>
            <a:ext cx="2738628"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Fastest-growing PPV</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+802%</a:t>
            </a:r>
          </a:p>
        </p:txBody>
      </p:sp>
      <p:sp>
        <p:nvSpPr>
          <p:cNvPr id="24" name="TextBox 23"/>
          <p:cNvSpPr txBox="1"/>
          <p:nvPr/>
        </p:nvSpPr>
        <p:spPr>
          <a:xfrm>
            <a:off x="9176004" y="1792224"/>
            <a:ext cx="2464308"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TANK 300 · from 650 to 5,865 units · FORTUNER +0.3%</a:t>
            </a:r>
          </a:p>
        </p:txBody>
      </p:sp>
      <p:sp>
        <p:nvSpPr>
          <p:cNvPr id="25" name="TextBox 24"/>
          <p:cNvSpPr txBox="1"/>
          <p:nvPr/>
        </p:nvSpPr>
        <p:spPr>
          <a:xfrm>
            <a:off x="411480" y="239572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Pickup + PPV — 183,277 registered in 12 months</a:t>
            </a:r>
          </a:p>
        </p:txBody>
      </p:sp>
      <p:sp>
        <p:nvSpPr>
          <p:cNvPr id="26" name="TextBox 25"/>
          <p:cNvSpPr txBox="1"/>
          <p:nvPr/>
        </p:nvSpPr>
        <p:spPr>
          <a:xfrm>
            <a:off x="6208776" y="2395728"/>
            <a:ext cx="5568696" cy="159258"/>
          </a:xfrm>
          <a:prstGeom prst="rect">
            <a:avLst/>
          </a:prstGeom>
          <a:noFill/>
        </p:spPr>
        <p:txBody>
          <a:bodyPr wrap="square" lIns="0" rIns="0" tIns="0" bIns="0" anchor="t">
            <a:noAutofit/>
          </a:bodyPr>
          <a:lstStyle/>
          <a:p>
            <a:pPr algn="l">
              <a:lnSpc>
                <a:spcPts val="1254"/>
              </a:lnSpc>
            </a:pPr>
            <a:r>
              <a:rPr sz="950" b="1">
                <a:solidFill>
                  <a:srgbClr val="1E2F5C"/>
                </a:solidFill>
                <a:latin typeface="Kanit"/>
              </a:rPr>
              <a:t>Passenger car — 443,641 registered in 12 months</a:t>
            </a:r>
          </a:p>
        </p:txBody>
      </p:sp>
      <p:graphicFrame>
        <p:nvGraphicFramePr>
          <p:cNvPr id="27" name="Table 26"/>
          <p:cNvGraphicFramePr>
            <a:graphicFrameLocks noGrp="1"/>
          </p:cNvGraphicFramePr>
          <p:nvPr/>
        </p:nvGraphicFramePr>
        <p:xfrm>
          <a:off x="411480" y="2615184"/>
          <a:ext cx="5568696" cy="2289656"/>
        </p:xfrm>
        <a:graphic>
          <a:graphicData uri="http://schemas.openxmlformats.org/drawingml/2006/table">
            <a:tbl>
              <a:tblPr>
                <a:tableStyleId>{5C22544A-7EE6-4342-B048-85BDC9FD1C3A}</a:tableStyleId>
              </a:tblPr>
              <a:tblGrid>
                <a:gridCol w="2011680"/>
                <a:gridCol w="1371600"/>
                <a:gridCol w="1463040"/>
                <a:gridCol w="722376"/>
              </a:tblGrid>
              <a:tr h="329184">
                <a:tc>
                  <a:txBody>
                    <a:bodyPr wrap="square"/>
                    <a:lstStyle/>
                    <a:p>
                      <a:pPr algn="l"/>
                      <a:r>
                        <a:rPr sz="1050" b="1">
                          <a:solidFill>
                            <a:srgbClr val="FFFFFF"/>
                          </a:solidFill>
                          <a:latin typeface="Kanit"/>
                        </a:rPr>
                        <a:t>PU + PPV brand</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a:t>
                      </a:r>
                    </a:p>
                  </a:txBody>
                  <a:tcPr marL="54864" marR="54864" marT="18288" marB="18288" anchor="ctr">
                    <a:solidFill>
                      <a:srgbClr val="1B2A6B"/>
                    </a:solidFill>
                  </a:tcPr>
                </a:tc>
              </a:tr>
              <a:tr h="245059">
                <a:tc>
                  <a:txBody>
                    <a:bodyPr wrap="square"/>
                    <a:lstStyle/>
                    <a:p>
                      <a:pPr algn="l"/>
                      <a:r>
                        <a:rPr sz="950" b="1">
                          <a:solidFill>
                            <a:srgbClr val="1E2F5C"/>
                          </a:solidFill>
                          <a:latin typeface="Kanit"/>
                        </a:rPr>
                        <a:t>TOYOTA</a:t>
                      </a:r>
                    </a:p>
                  </a:txBody>
                  <a:tcPr marL="54864" marR="54864" marT="18288" marB="18288" anchor="ctr">
                    <a:solidFill>
                      <a:srgbClr val="FFFFFF"/>
                    </a:solidFill>
                  </a:tcPr>
                </a:tc>
                <a:tc>
                  <a:txBody>
                    <a:bodyPr wrap="square"/>
                    <a:lstStyle/>
                    <a:p>
                      <a:pPr algn="l"/>
                      <a:r>
                        <a:rPr sz="950" b="0">
                          <a:solidFill>
                            <a:srgbClr val="606060"/>
                          </a:solidFill>
                          <a:latin typeface="Kanit"/>
                        </a:rPr>
                        <a:t>incumbent</a:t>
                      </a:r>
                    </a:p>
                  </a:txBody>
                  <a:tcPr marL="54864" marR="54864" marT="18288" marB="18288" anchor="ctr">
                    <a:solidFill>
                      <a:srgbClr val="FFFFFF"/>
                    </a:solidFill>
                  </a:tcPr>
                </a:tc>
                <a:tc>
                  <a:txBody>
                    <a:bodyPr wrap="square"/>
                    <a:lstStyle/>
                    <a:p>
                      <a:pPr algn="r"/>
                      <a:r>
                        <a:rPr sz="950" b="0">
                          <a:solidFill>
                            <a:srgbClr val="1E2F5C"/>
                          </a:solidFill>
                          <a:latin typeface="Kanit"/>
                        </a:rPr>
                        <a:t>82,838</a:t>
                      </a:r>
                    </a:p>
                  </a:txBody>
                  <a:tcPr marL="54864" marR="54864" marT="18288" marB="18288" anchor="ctr">
                    <a:solidFill>
                      <a:srgbClr val="FFFFFF"/>
                    </a:solidFill>
                  </a:tcPr>
                </a:tc>
                <a:tc>
                  <a:txBody>
                    <a:bodyPr wrap="square"/>
                    <a:lstStyle/>
                    <a:p>
                      <a:pPr algn="r"/>
                      <a:r>
                        <a:rPr sz="950" b="1">
                          <a:solidFill>
                            <a:srgbClr val="1E2F5C"/>
                          </a:solidFill>
                          <a:latin typeface="Kanit"/>
                        </a:rPr>
                        <a:t>45.20%</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ISUZU</a:t>
                      </a:r>
                    </a:p>
                  </a:txBody>
                  <a:tcPr marL="54864" marR="54864" marT="18288" marB="18288" anchor="ctr">
                    <a:solidFill>
                      <a:srgbClr val="F7F9FC"/>
                    </a:solidFill>
                  </a:tcPr>
                </a:tc>
                <a:tc>
                  <a:txBody>
                    <a:bodyPr wrap="square"/>
                    <a:lstStyle/>
                    <a:p>
                      <a:pPr algn="l"/>
                      <a:r>
                        <a:rPr sz="950" b="0">
                          <a:solidFill>
                            <a:srgbClr val="606060"/>
                          </a:solidFill>
                          <a:latin typeface="Kanit"/>
                        </a:rPr>
                        <a:t>incumbent</a:t>
                      </a:r>
                    </a:p>
                  </a:txBody>
                  <a:tcPr marL="54864" marR="54864" marT="18288" marB="18288" anchor="ctr">
                    <a:solidFill>
                      <a:srgbClr val="F7F9FC"/>
                    </a:solidFill>
                  </a:tcPr>
                </a:tc>
                <a:tc>
                  <a:txBody>
                    <a:bodyPr wrap="square"/>
                    <a:lstStyle/>
                    <a:p>
                      <a:pPr algn="r"/>
                      <a:r>
                        <a:rPr sz="950" b="0">
                          <a:solidFill>
                            <a:srgbClr val="1E2F5C"/>
                          </a:solidFill>
                          <a:latin typeface="Kanit"/>
                        </a:rPr>
                        <a:t>61,342</a:t>
                      </a:r>
                    </a:p>
                  </a:txBody>
                  <a:tcPr marL="54864" marR="54864" marT="18288" marB="18288" anchor="ctr">
                    <a:solidFill>
                      <a:srgbClr val="F7F9FC"/>
                    </a:solidFill>
                  </a:tcPr>
                </a:tc>
                <a:tc>
                  <a:txBody>
                    <a:bodyPr wrap="square"/>
                    <a:lstStyle/>
                    <a:p>
                      <a:pPr algn="r"/>
                      <a:r>
                        <a:rPr sz="950" b="1">
                          <a:solidFill>
                            <a:srgbClr val="1E2F5C"/>
                          </a:solidFill>
                          <a:latin typeface="Kanit"/>
                        </a:rPr>
                        <a:t>33.47%</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FORD</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19,884</a:t>
                      </a:r>
                    </a:p>
                  </a:txBody>
                  <a:tcPr marL="54864" marR="54864" marT="18288" marB="18288" anchor="ctr">
                    <a:solidFill>
                      <a:srgbClr val="FFFFFF"/>
                    </a:solidFill>
                  </a:tcPr>
                </a:tc>
                <a:tc>
                  <a:txBody>
                    <a:bodyPr wrap="square"/>
                    <a:lstStyle/>
                    <a:p>
                      <a:pPr algn="r"/>
                      <a:r>
                        <a:rPr sz="950" b="1">
                          <a:solidFill>
                            <a:srgbClr val="CC0000"/>
                          </a:solidFill>
                          <a:latin typeface="Kanit"/>
                        </a:rPr>
                        <a:t>10.85%</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MITSUBISHI</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9,777</a:t>
                      </a:r>
                    </a:p>
                  </a:txBody>
                  <a:tcPr marL="54864" marR="54864" marT="18288" marB="18288" anchor="ctr">
                    <a:solidFill>
                      <a:srgbClr val="F7F9FC"/>
                    </a:solidFill>
                  </a:tcPr>
                </a:tc>
                <a:tc>
                  <a:txBody>
                    <a:bodyPr wrap="square"/>
                    <a:lstStyle/>
                    <a:p>
                      <a:pPr algn="r"/>
                      <a:r>
                        <a:rPr sz="950" b="1">
                          <a:solidFill>
                            <a:srgbClr val="CC0000"/>
                          </a:solidFill>
                          <a:latin typeface="Kanit"/>
                        </a:rPr>
                        <a:t>5.33%</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GWM</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6,381</a:t>
                      </a:r>
                    </a:p>
                  </a:txBody>
                  <a:tcPr marL="54864" marR="54864" marT="18288" marB="18288" anchor="ctr">
                    <a:solidFill>
                      <a:srgbClr val="FFFFFF"/>
                    </a:solidFill>
                  </a:tcPr>
                </a:tc>
                <a:tc>
                  <a:txBody>
                    <a:bodyPr wrap="square"/>
                    <a:lstStyle/>
                    <a:p>
                      <a:pPr algn="r"/>
                      <a:r>
                        <a:rPr sz="950" b="1">
                          <a:solidFill>
                            <a:srgbClr val="CC0000"/>
                          </a:solidFill>
                          <a:latin typeface="Kanit"/>
                        </a:rPr>
                        <a:t>3.48%</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NISSAN</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2,174</a:t>
                      </a:r>
                    </a:p>
                  </a:txBody>
                  <a:tcPr marL="54864" marR="54864" marT="18288" marB="18288" anchor="ctr">
                    <a:solidFill>
                      <a:srgbClr val="F7F9FC"/>
                    </a:solidFill>
                  </a:tcPr>
                </a:tc>
                <a:tc>
                  <a:txBody>
                    <a:bodyPr wrap="square"/>
                    <a:lstStyle/>
                    <a:p>
                      <a:pPr algn="r"/>
                      <a:r>
                        <a:rPr sz="950" b="1">
                          <a:solidFill>
                            <a:srgbClr val="CC0000"/>
                          </a:solidFill>
                          <a:latin typeface="Kanit"/>
                        </a:rPr>
                        <a:t>1.19%</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MG</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725</a:t>
                      </a:r>
                    </a:p>
                  </a:txBody>
                  <a:tcPr marL="54864" marR="54864" marT="18288" marB="18288" anchor="ctr">
                    <a:solidFill>
                      <a:srgbClr val="FFFFFF"/>
                    </a:solidFill>
                  </a:tcPr>
                </a:tc>
                <a:tc>
                  <a:txBody>
                    <a:bodyPr wrap="square"/>
                    <a:lstStyle/>
                    <a:p>
                      <a:pPr algn="r"/>
                      <a:r>
                        <a:rPr sz="950" b="1">
                          <a:solidFill>
                            <a:srgbClr val="CC0000"/>
                          </a:solidFill>
                          <a:latin typeface="Kanit"/>
                        </a:rPr>
                        <a:t>0.40%</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MAZDA</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121</a:t>
                      </a:r>
                    </a:p>
                  </a:txBody>
                  <a:tcPr marL="54864" marR="54864" marT="18288" marB="18288" anchor="ctr">
                    <a:solidFill>
                      <a:srgbClr val="F7F9FC"/>
                    </a:solidFill>
                  </a:tcPr>
                </a:tc>
                <a:tc>
                  <a:txBody>
                    <a:bodyPr wrap="square"/>
                    <a:lstStyle/>
                    <a:p>
                      <a:pPr algn="r"/>
                      <a:r>
                        <a:rPr sz="950" b="1">
                          <a:solidFill>
                            <a:srgbClr val="CC0000"/>
                          </a:solidFill>
                          <a:latin typeface="Kanit"/>
                        </a:rPr>
                        <a:t>0.07%</a:t>
                      </a:r>
                    </a:p>
                  </a:txBody>
                  <a:tcPr marL="54864" marR="54864" marT="18288" marB="18288" anchor="ctr">
                    <a:solidFill>
                      <a:srgbClr val="F7F9FC"/>
                    </a:solidFill>
                  </a:tcPr>
                </a:tc>
              </a:tr>
            </a:tbl>
          </a:graphicData>
        </a:graphic>
      </p:graphicFrame>
      <p:graphicFrame>
        <p:nvGraphicFramePr>
          <p:cNvPr id="28" name="Table 27"/>
          <p:cNvGraphicFramePr>
            <a:graphicFrameLocks noGrp="1"/>
          </p:cNvGraphicFramePr>
          <p:nvPr/>
        </p:nvGraphicFramePr>
        <p:xfrm>
          <a:off x="6208776" y="2615184"/>
          <a:ext cx="5568696" cy="2289656"/>
        </p:xfrm>
        <a:graphic>
          <a:graphicData uri="http://schemas.openxmlformats.org/drawingml/2006/table">
            <a:tbl>
              <a:tblPr>
                <a:tableStyleId>{5C22544A-7EE6-4342-B048-85BDC9FD1C3A}</a:tableStyleId>
              </a:tblPr>
              <a:tblGrid>
                <a:gridCol w="2011680"/>
                <a:gridCol w="1371600"/>
                <a:gridCol w="1463040"/>
                <a:gridCol w="722376"/>
              </a:tblGrid>
              <a:tr h="329184">
                <a:tc>
                  <a:txBody>
                    <a:bodyPr wrap="square"/>
                    <a:lstStyle/>
                    <a:p>
                      <a:pPr algn="l"/>
                      <a:r>
                        <a:rPr sz="1050" b="1">
                          <a:solidFill>
                            <a:srgbClr val="FFFFFF"/>
                          </a:solidFill>
                          <a:latin typeface="Kanit"/>
                        </a:rPr>
                        <a:t>Car brand</a:t>
                      </a:r>
                    </a:p>
                  </a:txBody>
                  <a:tcPr marL="54864" marR="54864" marT="18288" marB="18288" anchor="ctr">
                    <a:solidFill>
                      <a:srgbClr val="1B2A6B"/>
                    </a:solidFill>
                  </a:tcPr>
                </a:tc>
                <a:tc>
                  <a:txBody>
                    <a:bodyPr wrap="square"/>
                    <a:lstStyle/>
                    <a:p>
                      <a:pPr algn="l"/>
                      <a:r>
                        <a:rPr sz="1050" b="1">
                          <a:solidFill>
                            <a:srgbClr val="FFFFFF"/>
                          </a:solidFill>
                          <a:latin typeface="Kanit"/>
                        </a:rPr>
                        <a:t/>
                      </a:r>
                    </a:p>
                  </a:txBody>
                  <a:tcPr marL="54864" marR="54864" marT="18288" marB="18288" anchor="ctr">
                    <a:solidFill>
                      <a:srgbClr val="1B2A6B"/>
                    </a:solidFill>
                  </a:tcPr>
                </a:tc>
                <a:tc>
                  <a:txBody>
                    <a:bodyPr wrap="square"/>
                    <a:lstStyle/>
                    <a:p>
                      <a:pPr algn="r"/>
                      <a:r>
                        <a:rPr sz="1050" b="1">
                          <a:solidFill>
                            <a:srgbClr val="FFFFFF"/>
                          </a:solidFill>
                          <a:latin typeface="Kanit"/>
                        </a:rPr>
                        <a:t>12-month units</a:t>
                      </a:r>
                    </a:p>
                  </a:txBody>
                  <a:tcPr marL="54864" marR="54864" marT="18288" marB="18288" anchor="ctr">
                    <a:solidFill>
                      <a:srgbClr val="1B2A6B"/>
                    </a:solidFill>
                  </a:tcPr>
                </a:tc>
                <a:tc>
                  <a:txBody>
                    <a:bodyPr wrap="square"/>
                    <a:lstStyle/>
                    <a:p>
                      <a:pPr algn="r"/>
                      <a:r>
                        <a:rPr sz="1050" b="1">
                          <a:solidFill>
                            <a:srgbClr val="FFFFFF"/>
                          </a:solidFill>
                          <a:latin typeface="Kanit"/>
                        </a:rPr>
                        <a:t>share</a:t>
                      </a:r>
                    </a:p>
                  </a:txBody>
                  <a:tcPr marL="54864" marR="54864" marT="18288" marB="18288" anchor="ctr">
                    <a:solidFill>
                      <a:srgbClr val="1B2A6B"/>
                    </a:solidFill>
                  </a:tcPr>
                </a:tc>
              </a:tr>
              <a:tr h="245059">
                <a:tc>
                  <a:txBody>
                    <a:bodyPr wrap="square"/>
                    <a:lstStyle/>
                    <a:p>
                      <a:pPr algn="l"/>
                      <a:r>
                        <a:rPr sz="950" b="1">
                          <a:solidFill>
                            <a:srgbClr val="1E2F5C"/>
                          </a:solidFill>
                          <a:latin typeface="Kanit"/>
                        </a:rPr>
                        <a:t>TOYOTA</a:t>
                      </a:r>
                    </a:p>
                  </a:txBody>
                  <a:tcPr marL="54864" marR="54864" marT="18288" marB="18288" anchor="ctr">
                    <a:solidFill>
                      <a:srgbClr val="FFFFFF"/>
                    </a:solidFill>
                  </a:tcPr>
                </a:tc>
                <a:tc>
                  <a:txBody>
                    <a:bodyPr wrap="square"/>
                    <a:lstStyle/>
                    <a:p>
                      <a:pPr algn="l"/>
                      <a:r>
                        <a:rPr sz="950" b="0">
                          <a:solidFill>
                            <a:srgbClr val="606060"/>
                          </a:solidFill>
                          <a:latin typeface="Kanit"/>
                        </a:rPr>
                        <a:t>incumbent</a:t>
                      </a:r>
                    </a:p>
                  </a:txBody>
                  <a:tcPr marL="54864" marR="54864" marT="18288" marB="18288" anchor="ctr">
                    <a:solidFill>
                      <a:srgbClr val="FFFFFF"/>
                    </a:solidFill>
                  </a:tcPr>
                </a:tc>
                <a:tc>
                  <a:txBody>
                    <a:bodyPr wrap="square"/>
                    <a:lstStyle/>
                    <a:p>
                      <a:pPr algn="r"/>
                      <a:r>
                        <a:rPr sz="950" b="0">
                          <a:solidFill>
                            <a:srgbClr val="1E2F5C"/>
                          </a:solidFill>
                          <a:latin typeface="Kanit"/>
                        </a:rPr>
                        <a:t>142,799</a:t>
                      </a:r>
                    </a:p>
                  </a:txBody>
                  <a:tcPr marL="54864" marR="54864" marT="18288" marB="18288" anchor="ctr">
                    <a:solidFill>
                      <a:srgbClr val="FFFFFF"/>
                    </a:solidFill>
                  </a:tcPr>
                </a:tc>
                <a:tc>
                  <a:txBody>
                    <a:bodyPr wrap="square"/>
                    <a:lstStyle/>
                    <a:p>
                      <a:pPr algn="r"/>
                      <a:r>
                        <a:rPr sz="950" b="1">
                          <a:solidFill>
                            <a:srgbClr val="1E2F5C"/>
                          </a:solidFill>
                          <a:latin typeface="Kanit"/>
                        </a:rPr>
                        <a:t>32.19%</a:t>
                      </a:r>
                    </a:p>
                  </a:txBody>
                  <a:tcPr marL="54864" marR="54864" marT="18288" marB="18288" anchor="ctr">
                    <a:solidFill>
                      <a:srgbClr val="FFFFFF"/>
                    </a:solidFill>
                  </a:tcPr>
                </a:tc>
              </a:tr>
              <a:tr h="245059">
                <a:tc>
                  <a:txBody>
                    <a:bodyPr wrap="square"/>
                    <a:lstStyle/>
                    <a:p>
                      <a:pPr algn="l"/>
                      <a:r>
                        <a:rPr sz="950" b="1">
                          <a:solidFill>
                            <a:srgbClr val="1E2F5C"/>
                          </a:solidFill>
                          <a:latin typeface="Kanit"/>
                        </a:rPr>
                        <a:t>HONDA</a:t>
                      </a:r>
                    </a:p>
                  </a:txBody>
                  <a:tcPr marL="54864" marR="54864" marT="18288" marB="18288" anchor="ctr">
                    <a:solidFill>
                      <a:srgbClr val="F7F9FC"/>
                    </a:solidFill>
                  </a:tcPr>
                </a:tc>
                <a:tc>
                  <a:txBody>
                    <a:bodyPr wrap="square"/>
                    <a:lstStyle/>
                    <a:p>
                      <a:pPr algn="l"/>
                      <a:r>
                        <a:rPr sz="950" b="0">
                          <a:solidFill>
                            <a:srgbClr val="606060"/>
                          </a:solidFill>
                          <a:latin typeface="Kanit"/>
                        </a:rPr>
                        <a:t>incumbent</a:t>
                      </a:r>
                    </a:p>
                  </a:txBody>
                  <a:tcPr marL="54864" marR="54864" marT="18288" marB="18288" anchor="ctr">
                    <a:solidFill>
                      <a:srgbClr val="F7F9FC"/>
                    </a:solidFill>
                  </a:tcPr>
                </a:tc>
                <a:tc>
                  <a:txBody>
                    <a:bodyPr wrap="square"/>
                    <a:lstStyle/>
                    <a:p>
                      <a:pPr algn="r"/>
                      <a:r>
                        <a:rPr sz="950" b="0">
                          <a:solidFill>
                            <a:srgbClr val="1E2F5C"/>
                          </a:solidFill>
                          <a:latin typeface="Kanit"/>
                        </a:rPr>
                        <a:t>72,171</a:t>
                      </a:r>
                    </a:p>
                  </a:txBody>
                  <a:tcPr marL="54864" marR="54864" marT="18288" marB="18288" anchor="ctr">
                    <a:solidFill>
                      <a:srgbClr val="F7F9FC"/>
                    </a:solidFill>
                  </a:tcPr>
                </a:tc>
                <a:tc>
                  <a:txBody>
                    <a:bodyPr wrap="square"/>
                    <a:lstStyle/>
                    <a:p>
                      <a:pPr algn="r"/>
                      <a:r>
                        <a:rPr sz="950" b="1">
                          <a:solidFill>
                            <a:srgbClr val="1E2F5C"/>
                          </a:solidFill>
                          <a:latin typeface="Kanit"/>
                        </a:rPr>
                        <a:t>16.27%</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BYD</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49,990</a:t>
                      </a:r>
                    </a:p>
                  </a:txBody>
                  <a:tcPr marL="54864" marR="54864" marT="18288" marB="18288" anchor="ctr">
                    <a:solidFill>
                      <a:srgbClr val="FFFFFF"/>
                    </a:solidFill>
                  </a:tcPr>
                </a:tc>
                <a:tc>
                  <a:txBody>
                    <a:bodyPr wrap="square"/>
                    <a:lstStyle/>
                    <a:p>
                      <a:pPr algn="r"/>
                      <a:r>
                        <a:rPr sz="950" b="1">
                          <a:solidFill>
                            <a:srgbClr val="CC0000"/>
                          </a:solidFill>
                          <a:latin typeface="Kanit"/>
                        </a:rPr>
                        <a:t>11.27%</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MG</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25,839</a:t>
                      </a:r>
                    </a:p>
                  </a:txBody>
                  <a:tcPr marL="54864" marR="54864" marT="18288" marB="18288" anchor="ctr">
                    <a:solidFill>
                      <a:srgbClr val="F7F9FC"/>
                    </a:solidFill>
                  </a:tcPr>
                </a:tc>
                <a:tc>
                  <a:txBody>
                    <a:bodyPr wrap="square"/>
                    <a:lstStyle/>
                    <a:p>
                      <a:pPr algn="r"/>
                      <a:r>
                        <a:rPr sz="950" b="1">
                          <a:solidFill>
                            <a:srgbClr val="CC0000"/>
                          </a:solidFill>
                          <a:latin typeface="Kanit"/>
                        </a:rPr>
                        <a:t>5.82%</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JAECOO</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16,905</a:t>
                      </a:r>
                    </a:p>
                  </a:txBody>
                  <a:tcPr marL="54864" marR="54864" marT="18288" marB="18288" anchor="ctr">
                    <a:solidFill>
                      <a:srgbClr val="FFFFFF"/>
                    </a:solidFill>
                  </a:tcPr>
                </a:tc>
                <a:tc>
                  <a:txBody>
                    <a:bodyPr wrap="square"/>
                    <a:lstStyle/>
                    <a:p>
                      <a:pPr algn="r"/>
                      <a:r>
                        <a:rPr sz="950" b="1">
                          <a:solidFill>
                            <a:srgbClr val="CC0000"/>
                          </a:solidFill>
                          <a:latin typeface="Kanit"/>
                        </a:rPr>
                        <a:t>3.81%</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MITSUBISHI</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16,253</a:t>
                      </a:r>
                    </a:p>
                  </a:txBody>
                  <a:tcPr marL="54864" marR="54864" marT="18288" marB="18288" anchor="ctr">
                    <a:solidFill>
                      <a:srgbClr val="F7F9FC"/>
                    </a:solidFill>
                  </a:tcPr>
                </a:tc>
                <a:tc>
                  <a:txBody>
                    <a:bodyPr wrap="square"/>
                    <a:lstStyle/>
                    <a:p>
                      <a:pPr algn="r"/>
                      <a:r>
                        <a:rPr sz="950" b="1">
                          <a:solidFill>
                            <a:srgbClr val="CC0000"/>
                          </a:solidFill>
                          <a:latin typeface="Kanit"/>
                        </a:rPr>
                        <a:t>3.66%</a:t>
                      </a:r>
                    </a:p>
                  </a:txBody>
                  <a:tcPr marL="54864" marR="54864" marT="18288" marB="18288" anchor="ctr">
                    <a:solidFill>
                      <a:srgbClr val="F7F9FC"/>
                    </a:solidFill>
                  </a:tcPr>
                </a:tc>
              </a:tr>
              <a:tr h="245059">
                <a:tc>
                  <a:txBody>
                    <a:bodyPr wrap="square"/>
                    <a:lstStyle/>
                    <a:p>
                      <a:pPr algn="l"/>
                      <a:r>
                        <a:rPr sz="950" b="0">
                          <a:solidFill>
                            <a:srgbClr val="1E2F5C"/>
                          </a:solidFill>
                          <a:latin typeface="Kanit"/>
                        </a:rPr>
                        <a:t>AION</a:t>
                      </a:r>
                    </a:p>
                  </a:txBody>
                  <a:tcPr marL="54864" marR="54864" marT="18288" marB="18288" anchor="ctr">
                    <a:solidFill>
                      <a:srgbClr val="FFFFFF"/>
                    </a:solidFill>
                  </a:tcPr>
                </a:tc>
                <a:tc>
                  <a:txBody>
                    <a:bodyPr wrap="square"/>
                    <a:lstStyle/>
                    <a:p>
                      <a:pPr algn="l"/>
                      <a:r>
                        <a:rPr sz="950" b="0">
                          <a:solidFill>
                            <a:srgbClr val="606060"/>
                          </a:solidFill>
                          <a:latin typeface="Kanit"/>
                        </a:rPr>
                        <a:t/>
                      </a:r>
                    </a:p>
                  </a:txBody>
                  <a:tcPr marL="54864" marR="54864" marT="18288" marB="18288" anchor="ctr">
                    <a:solidFill>
                      <a:srgbClr val="FFFFFF"/>
                    </a:solidFill>
                  </a:tcPr>
                </a:tc>
                <a:tc>
                  <a:txBody>
                    <a:bodyPr wrap="square"/>
                    <a:lstStyle/>
                    <a:p>
                      <a:pPr algn="r"/>
                      <a:r>
                        <a:rPr sz="950" b="0">
                          <a:solidFill>
                            <a:srgbClr val="1E2F5C"/>
                          </a:solidFill>
                          <a:latin typeface="Kanit"/>
                        </a:rPr>
                        <a:t>15,378</a:t>
                      </a:r>
                    </a:p>
                  </a:txBody>
                  <a:tcPr marL="54864" marR="54864" marT="18288" marB="18288" anchor="ctr">
                    <a:solidFill>
                      <a:srgbClr val="FFFFFF"/>
                    </a:solidFill>
                  </a:tcPr>
                </a:tc>
                <a:tc>
                  <a:txBody>
                    <a:bodyPr wrap="square"/>
                    <a:lstStyle/>
                    <a:p>
                      <a:pPr algn="r"/>
                      <a:r>
                        <a:rPr sz="950" b="1">
                          <a:solidFill>
                            <a:srgbClr val="CC0000"/>
                          </a:solidFill>
                          <a:latin typeface="Kanit"/>
                        </a:rPr>
                        <a:t>3.47%</a:t>
                      </a:r>
                    </a:p>
                  </a:txBody>
                  <a:tcPr marL="54864" marR="54864" marT="18288" marB="18288" anchor="ctr">
                    <a:solidFill>
                      <a:srgbClr val="FFFFFF"/>
                    </a:solidFill>
                  </a:tcPr>
                </a:tc>
              </a:tr>
              <a:tr h="245059">
                <a:tc>
                  <a:txBody>
                    <a:bodyPr wrap="square"/>
                    <a:lstStyle/>
                    <a:p>
                      <a:pPr algn="l"/>
                      <a:r>
                        <a:rPr sz="950" b="0">
                          <a:solidFill>
                            <a:srgbClr val="1E2F5C"/>
                          </a:solidFill>
                          <a:latin typeface="Kanit"/>
                        </a:rPr>
                        <a:t>DEEPAL</a:t>
                      </a:r>
                    </a:p>
                  </a:txBody>
                  <a:tcPr marL="54864" marR="54864" marT="18288" marB="18288" anchor="ctr">
                    <a:solidFill>
                      <a:srgbClr val="F7F9FC"/>
                    </a:solidFill>
                  </a:tcPr>
                </a:tc>
                <a:tc>
                  <a:txBody>
                    <a:bodyPr wrap="square"/>
                    <a:lstStyle/>
                    <a:p>
                      <a:pPr algn="l"/>
                      <a:r>
                        <a:rPr sz="950" b="0">
                          <a:solidFill>
                            <a:srgbClr val="606060"/>
                          </a:solidFill>
                          <a:latin typeface="Kanit"/>
                        </a:rPr>
                        <a:t/>
                      </a:r>
                    </a:p>
                  </a:txBody>
                  <a:tcPr marL="54864" marR="54864" marT="18288" marB="18288" anchor="ctr">
                    <a:solidFill>
                      <a:srgbClr val="F7F9FC"/>
                    </a:solidFill>
                  </a:tcPr>
                </a:tc>
                <a:tc>
                  <a:txBody>
                    <a:bodyPr wrap="square"/>
                    <a:lstStyle/>
                    <a:p>
                      <a:pPr algn="r"/>
                      <a:r>
                        <a:rPr sz="950" b="0">
                          <a:solidFill>
                            <a:srgbClr val="1E2F5C"/>
                          </a:solidFill>
                          <a:latin typeface="Kanit"/>
                        </a:rPr>
                        <a:t>10,628</a:t>
                      </a:r>
                    </a:p>
                  </a:txBody>
                  <a:tcPr marL="54864" marR="54864" marT="18288" marB="18288" anchor="ctr">
                    <a:solidFill>
                      <a:srgbClr val="F7F9FC"/>
                    </a:solidFill>
                  </a:tcPr>
                </a:tc>
                <a:tc>
                  <a:txBody>
                    <a:bodyPr wrap="square"/>
                    <a:lstStyle/>
                    <a:p>
                      <a:pPr algn="r"/>
                      <a:r>
                        <a:rPr sz="950" b="1">
                          <a:solidFill>
                            <a:srgbClr val="CC0000"/>
                          </a:solidFill>
                          <a:latin typeface="Kanit"/>
                        </a:rPr>
                        <a:t>2.40%</a:t>
                      </a:r>
                    </a:p>
                  </a:txBody>
                  <a:tcPr marL="54864" marR="54864" marT="18288" marB="18288" anchor="ctr">
                    <a:solidFill>
                      <a:srgbClr val="F7F9FC"/>
                    </a:solidFill>
                  </a:tcPr>
                </a:tc>
              </a:tr>
            </a:tbl>
          </a:graphicData>
        </a:graphic>
      </p:graphicFrame>
      <p:sp>
        <p:nvSpPr>
          <p:cNvPr id="29" name="Rounded Rectangle 28"/>
          <p:cNvSpPr/>
          <p:nvPr/>
        </p:nvSpPr>
        <p:spPr>
          <a:xfrm>
            <a:off x="411480" y="5051145"/>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11480" y="508040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1" name="TextBox 30"/>
          <p:cNvSpPr txBox="1"/>
          <p:nvPr/>
        </p:nvSpPr>
        <p:spPr>
          <a:xfrm>
            <a:off x="1275385" y="5064861"/>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DLT first registrations at nameplate grain, trailing 12 months, NATIONAL only — no province column exists. First registrations are the FUTURE collateral pool, not a stock of what is on the road, and not used-vehicle sales.</a:t>
            </a:r>
          </a:p>
        </p:txBody>
      </p:sp>
      <p:sp>
        <p:nvSpPr>
          <p:cNvPr id="32" name="Rectangle 31"/>
          <p:cNvSpPr/>
          <p:nvPr/>
        </p:nvSpPr>
        <p:spPr>
          <a:xfrm>
            <a:off x="411480" y="5524347"/>
            <a:ext cx="11365992" cy="1390523"/>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411480" y="5524347"/>
            <a:ext cx="50292" cy="1390523"/>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630936" y="5670651"/>
            <a:ext cx="11036808"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The two markets are moving in opposite directions, and that is the point</a:t>
            </a:r>
          </a:p>
        </p:txBody>
      </p:sp>
      <p:sp>
        <p:nvSpPr>
          <p:cNvPr id="35" name="TextBox 34"/>
          <p:cNvSpPr txBox="1"/>
          <p:nvPr/>
        </p:nvSpPr>
        <p:spPr>
          <a:xfrm>
            <a:off x="630936" y="5875121"/>
            <a:ext cx="11036808" cy="893445"/>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Pickup stays concentrated: Toyota and Isuzu hold 78.7% of new pickups, down only 1.8 points in a year, and the nearest challenger is GWM at 3.5%. Every pickup nameplate is shrinking, so the pool gets smaller without changing shape — residual values there stay predictable.
Cars are the opposite: 9.4 points surrendered in one year to BYD, MG, Jaecoo, AION and Deepal, brands with little or no Thai residual record. Those vehicles age into the used pool over the next five years and there is no history to price them against.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10D · THE SECOND-HAND MARKET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How deep the market is that a title sells into.</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Pickup stock</a:t>
            </a:r>
          </a:p>
        </p:txBody>
      </p:sp>
      <p:sp>
        <p:nvSpPr>
          <p:cNvPr id="11" name="TextBox 10"/>
          <p:cNvSpPr txBox="1"/>
          <p:nvPr/>
        </p:nvSpPr>
        <p:spPr>
          <a:xfrm>
            <a:off x="548640" y="1426464"/>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6.98M</a:t>
            </a:r>
          </a:p>
        </p:txBody>
      </p:sp>
      <p:sp>
        <p:nvSpPr>
          <p:cNvPr id="12" name="TextBox 11"/>
          <p:cNvSpPr txBox="1"/>
          <p:nvPr/>
        </p:nvSpPr>
        <p:spPr>
          <a:xfrm>
            <a:off x="548640"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registered pickups nationally · -0.77% YoY</a:t>
            </a:r>
          </a:p>
        </p:txBody>
      </p:sp>
      <p:sp>
        <p:nvSpPr>
          <p:cNvPr id="13" name="Rounded Rectangle 12"/>
          <p:cNvSpPr/>
          <p:nvPr/>
        </p:nvSpPr>
        <p:spPr>
          <a:xfrm>
            <a:off x="3287268"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3424428"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Car stock</a:t>
            </a:r>
          </a:p>
        </p:txBody>
      </p:sp>
      <p:sp>
        <p:nvSpPr>
          <p:cNvPr id="15" name="TextBox 14"/>
          <p:cNvSpPr txBox="1"/>
          <p:nvPr/>
        </p:nvSpPr>
        <p:spPr>
          <a:xfrm>
            <a:off x="3424428" y="1426464"/>
            <a:ext cx="2464308" cy="330200"/>
          </a:xfrm>
          <a:prstGeom prst="rect">
            <a:avLst/>
          </a:prstGeom>
          <a:noFill/>
        </p:spPr>
        <p:txBody>
          <a:bodyPr wrap="square" lIns="0" rIns="0" tIns="0" bIns="0" anchor="t">
            <a:noAutofit/>
          </a:bodyPr>
          <a:lstStyle/>
          <a:p>
            <a:pPr algn="l">
              <a:lnSpc>
                <a:spcPts val="2600"/>
              </a:lnSpc>
            </a:pPr>
            <a:r>
              <a:rPr sz="2100" b="1">
                <a:solidFill>
                  <a:srgbClr val="15795F"/>
                </a:solidFill>
                <a:latin typeface="Kanit"/>
              </a:rPr>
              <a:t>12.98M</a:t>
            </a:r>
          </a:p>
        </p:txBody>
      </p:sp>
      <p:sp>
        <p:nvSpPr>
          <p:cNvPr id="16" name="TextBox 15"/>
          <p:cNvSpPr txBox="1"/>
          <p:nvPr/>
        </p:nvSpPr>
        <p:spPr>
          <a:xfrm>
            <a:off x="3424428"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+1.81% YoY · +19.3% since 2563</a:t>
            </a:r>
          </a:p>
        </p:txBody>
      </p:sp>
      <p:sp>
        <p:nvSpPr>
          <p:cNvPr id="17" name="Rounded Rectangle 16"/>
          <p:cNvSpPr/>
          <p:nvPr/>
        </p:nvSpPr>
        <p:spPr>
          <a:xfrm>
            <a:off x="6163056"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300216"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Diesel share</a:t>
            </a:r>
          </a:p>
        </p:txBody>
      </p:sp>
      <p:sp>
        <p:nvSpPr>
          <p:cNvPr id="19" name="TextBox 18"/>
          <p:cNvSpPr txBox="1"/>
          <p:nvPr/>
        </p:nvSpPr>
        <p:spPr>
          <a:xfrm>
            <a:off x="6300216" y="1426464"/>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56.3%</a:t>
            </a:r>
          </a:p>
        </p:txBody>
      </p:sp>
      <p:sp>
        <p:nvSpPr>
          <p:cNvPr id="20" name="TextBox 19"/>
          <p:cNvSpPr txBox="1"/>
          <p:nvPr/>
        </p:nvSpPr>
        <p:spPr>
          <a:xfrm>
            <a:off x="6300216"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the 44.3M fleet — what the market runs on today</a:t>
            </a:r>
          </a:p>
        </p:txBody>
      </p:sp>
      <p:sp>
        <p:nvSpPr>
          <p:cNvPr id="21" name="Rounded Rectangle 20"/>
          <p:cNvSpPr/>
          <p:nvPr/>
        </p:nvSpPr>
        <p:spPr>
          <a:xfrm>
            <a:off x="9038844" y="1152144"/>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176004" y="1252728"/>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BEV share</a:t>
            </a:r>
          </a:p>
        </p:txBody>
      </p:sp>
      <p:sp>
        <p:nvSpPr>
          <p:cNvPr id="23" name="TextBox 22"/>
          <p:cNvSpPr txBox="1"/>
          <p:nvPr/>
        </p:nvSpPr>
        <p:spPr>
          <a:xfrm>
            <a:off x="9176004" y="1426464"/>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0.95%</a:t>
            </a:r>
          </a:p>
        </p:txBody>
      </p:sp>
      <p:sp>
        <p:nvSpPr>
          <p:cNvPr id="24" name="TextBox 23"/>
          <p:cNvSpPr txBox="1"/>
          <p:nvPr/>
        </p:nvSpPr>
        <p:spPr>
          <a:xfrm>
            <a:off x="9176004" y="1792224"/>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electrified 2.57% — not a factor this quarter</a:t>
            </a:r>
          </a:p>
        </p:txBody>
      </p:sp>
      <p:graphicFrame>
        <p:nvGraphicFramePr>
          <p:cNvPr id="25" name="Table 24"/>
          <p:cNvGraphicFramePr>
            <a:graphicFrameLocks noGrp="1"/>
          </p:cNvGraphicFramePr>
          <p:nvPr/>
        </p:nvGraphicFramePr>
        <p:xfrm>
          <a:off x="411480" y="2359152"/>
          <a:ext cx="11365992" cy="1700784"/>
        </p:xfrm>
        <a:graphic>
          <a:graphicData uri="http://schemas.openxmlformats.org/drawingml/2006/table">
            <a:tbl>
              <a:tblPr>
                <a:tableStyleId>{5C22544A-7EE6-4342-B048-85BDC9FD1C3A}</a:tableStyleId>
              </a:tblPr>
              <a:tblGrid>
                <a:gridCol w="1737360"/>
                <a:gridCol w="1737360"/>
                <a:gridCol w="1554480"/>
                <a:gridCol w="2011680"/>
                <a:gridCol w="1554480"/>
                <a:gridCol w="1371600"/>
                <a:gridCol w="1399032"/>
              </a:tblGrid>
              <a:tr h="329184">
                <a:tc>
                  <a:txBody>
                    <a:bodyPr wrap="square"/>
                    <a:lstStyle/>
                    <a:p>
                      <a:pPr algn="l"/>
                      <a:r>
                        <a:rPr sz="1050" b="1">
                          <a:solidFill>
                            <a:srgbClr val="FFFFFF"/>
                          </a:solidFill>
                          <a:latin typeface="Kanit"/>
                        </a:rPr>
                        <a:t>Region</a:t>
                      </a:r>
                    </a:p>
                  </a:txBody>
                  <a:tcPr marL="54864" marR="54864" marT="18288" marB="18288" anchor="ctr">
                    <a:solidFill>
                      <a:srgbClr val="1B2A6B"/>
                    </a:solidFill>
                  </a:tcPr>
                </a:tc>
                <a:tc>
                  <a:txBody>
                    <a:bodyPr wrap="square"/>
                    <a:lstStyle/>
                    <a:p>
                      <a:pPr algn="r"/>
                      <a:r>
                        <a:rPr sz="1050" b="1">
                          <a:solidFill>
                            <a:srgbClr val="FFFFFF"/>
                          </a:solidFill>
                          <a:latin typeface="Kanit"/>
                        </a:rPr>
                        <a:t>vehicles registered</a:t>
                      </a:r>
                    </a:p>
                  </a:txBody>
                  <a:tcPr marL="54864" marR="54864" marT="18288" marB="18288" anchor="ctr">
                    <a:solidFill>
                      <a:srgbClr val="1B2A6B"/>
                    </a:solidFill>
                  </a:tcPr>
                </a:tc>
                <a:tc>
                  <a:txBody>
                    <a:bodyPr wrap="square"/>
                    <a:lstStyle/>
                    <a:p>
                      <a:pPr algn="r"/>
                      <a:r>
                        <a:rPr sz="1050" b="1">
                          <a:solidFill>
                            <a:srgbClr val="FFFFFF"/>
                          </a:solidFill>
                          <a:latin typeface="Kanit"/>
                        </a:rPr>
                        <a:t>of them pickups</a:t>
                      </a:r>
                    </a:p>
                  </a:txBody>
                  <a:tcPr marL="54864" marR="54864" marT="18288" marB="18288" anchor="ctr">
                    <a:solidFill>
                      <a:srgbClr val="1B2A6B"/>
                    </a:solidFill>
                  </a:tcPr>
                </a:tc>
                <a:tc>
                  <a:txBody>
                    <a:bodyPr wrap="square"/>
                    <a:lstStyle/>
                    <a:p>
                      <a:pPr algn="r"/>
                      <a:r>
                        <a:rPr sz="1050" b="1">
                          <a:solidFill>
                            <a:srgbClr val="FFFFFF"/>
                          </a:solidFill>
                          <a:latin typeface="Kanit"/>
                        </a:rPr>
                        <a:t>pickups changing hands</a:t>
                      </a:r>
                    </a:p>
                  </a:txBody>
                  <a:tcPr marL="54864" marR="54864" marT="18288" marB="18288" anchor="ctr">
                    <a:solidFill>
                      <a:srgbClr val="1B2A6B"/>
                    </a:solidFill>
                  </a:tcPr>
                </a:tc>
                <a:tc>
                  <a:txBody>
                    <a:bodyPr wrap="square"/>
                    <a:lstStyle/>
                    <a:p>
                      <a:pPr algn="r"/>
                      <a:r>
                        <a:rPr sz="1050" b="1">
                          <a:solidFill>
                            <a:srgbClr val="FFFFFF"/>
                          </a:solidFill>
                          <a:latin typeface="Kanit"/>
                        </a:rPr>
                        <a:t>pickup turnover</a:t>
                      </a:r>
                    </a:p>
                  </a:txBody>
                  <a:tcPr marL="54864" marR="54864" marT="18288" marB="18288" anchor="ctr">
                    <a:solidFill>
                      <a:srgbClr val="1B2A6B"/>
                    </a:solidFill>
                  </a:tcPr>
                </a:tc>
                <a:tc>
                  <a:txBody>
                    <a:bodyPr wrap="square"/>
                    <a:lstStyle/>
                    <a:p>
                      <a:pPr algn="r"/>
                      <a:r>
                        <a:rPr sz="1050" b="1">
                          <a:solidFill>
                            <a:srgbClr val="FFFFFF"/>
                          </a:solidFill>
                          <a:latin typeface="Kanit"/>
                        </a:rPr>
                        <a:t>car turnover</a:t>
                      </a:r>
                    </a:p>
                  </a:txBody>
                  <a:tcPr marL="54864" marR="54864" marT="18288" marB="18288" anchor="ctr">
                    <a:solidFill>
                      <a:srgbClr val="1B2A6B"/>
                    </a:solidFill>
                  </a:tcPr>
                </a:tc>
                <a:tc>
                  <a:txBody>
                    <a:bodyPr wrap="square"/>
                    <a:lstStyle/>
                    <a:p>
                      <a:pPr algn="r"/>
                      <a:r>
                        <a:rPr sz="1050" b="1">
                          <a:solidFill>
                            <a:srgbClr val="FFFFFF"/>
                          </a:solidFill>
                          <a:latin typeface="Kanit"/>
                        </a:rPr>
                        <a:t>motorcycle turnover</a:t>
                      </a:r>
                    </a:p>
                  </a:txBody>
                  <a:tcPr marL="54864" marR="54864" marT="18288" marB="18288" anchor="ctr">
                    <a:solidFill>
                      <a:srgbClr val="1B2A6B"/>
                    </a:solidFill>
                  </a:tcPr>
                </a:tc>
              </a:tr>
              <a:tr h="274320">
                <a:tc>
                  <a:txBody>
                    <a:bodyPr wrap="square"/>
                    <a:lstStyle/>
                    <a:p>
                      <a:pPr algn="l"/>
                      <a:r>
                        <a:rPr sz="1000" b="1">
                          <a:solidFill>
                            <a:srgbClr val="1E2F5C"/>
                          </a:solidFill>
                          <a:latin typeface="Kanit"/>
                        </a:rPr>
                        <a:t>Central&amp;BKK</a:t>
                      </a:r>
                    </a:p>
                  </a:txBody>
                  <a:tcPr marL="54864" marR="54864" marT="18288" marB="18288" anchor="ctr">
                    <a:solidFill>
                      <a:srgbClr val="FFFFFF"/>
                    </a:solidFill>
                  </a:tcPr>
                </a:tc>
                <a:tc>
                  <a:txBody>
                    <a:bodyPr wrap="square"/>
                    <a:lstStyle/>
                    <a:p>
                      <a:pPr algn="r"/>
                      <a:r>
                        <a:rPr sz="1000" b="0">
                          <a:solidFill>
                            <a:srgbClr val="1E2F5C"/>
                          </a:solidFill>
                          <a:latin typeface="Kanit"/>
                        </a:rPr>
                        <a:t>15.86M</a:t>
                      </a:r>
                    </a:p>
                  </a:txBody>
                  <a:tcPr marL="54864" marR="54864" marT="18288" marB="18288" anchor="ctr">
                    <a:solidFill>
                      <a:srgbClr val="FFFFFF"/>
                    </a:solidFill>
                  </a:tcPr>
                </a:tc>
                <a:tc>
                  <a:txBody>
                    <a:bodyPr wrap="square"/>
                    <a:lstStyle/>
                    <a:p>
                      <a:pPr algn="r"/>
                      <a:r>
                        <a:rPr sz="1000" b="0">
                          <a:solidFill>
                            <a:srgbClr val="1E2F5C"/>
                          </a:solidFill>
                          <a:latin typeface="Kanit"/>
                        </a:rPr>
                        <a:t>13.5%</a:t>
                      </a:r>
                    </a:p>
                  </a:txBody>
                  <a:tcPr marL="54864" marR="54864" marT="18288" marB="18288" anchor="ctr">
                    <a:solidFill>
                      <a:srgbClr val="FFFFFF"/>
                    </a:solidFill>
                  </a:tcPr>
                </a:tc>
                <a:tc>
                  <a:txBody>
                    <a:bodyPr wrap="square"/>
                    <a:lstStyle/>
                    <a:p>
                      <a:pPr algn="r"/>
                      <a:r>
                        <a:rPr sz="1000" b="0">
                          <a:solidFill>
                            <a:srgbClr val="1E2F5C"/>
                          </a:solidFill>
                          <a:latin typeface="Kanit"/>
                        </a:rPr>
                        <a:t>162,994</a:t>
                      </a:r>
                    </a:p>
                  </a:txBody>
                  <a:tcPr marL="54864" marR="54864" marT="18288" marB="18288" anchor="ctr">
                    <a:solidFill>
                      <a:srgbClr val="FFFFFF"/>
                    </a:solidFill>
                  </a:tcPr>
                </a:tc>
                <a:tc>
                  <a:txBody>
                    <a:bodyPr wrap="square"/>
                    <a:lstStyle/>
                    <a:p>
                      <a:pPr algn="r"/>
                      <a:r>
                        <a:rPr sz="1000" b="1">
                          <a:solidFill>
                            <a:srgbClr val="1E2F5C"/>
                          </a:solidFill>
                          <a:latin typeface="Kanit"/>
                        </a:rPr>
                        <a:t>7.60%</a:t>
                      </a:r>
                    </a:p>
                  </a:txBody>
                  <a:tcPr marL="54864" marR="54864" marT="18288" marB="18288" anchor="ctr">
                    <a:solidFill>
                      <a:srgbClr val="FFFFFF"/>
                    </a:solidFill>
                  </a:tcPr>
                </a:tc>
                <a:tc>
                  <a:txBody>
                    <a:bodyPr wrap="square"/>
                    <a:lstStyle/>
                    <a:p>
                      <a:pPr algn="r"/>
                      <a:r>
                        <a:rPr sz="1000" b="0">
                          <a:solidFill>
                            <a:srgbClr val="1E2F5C"/>
                          </a:solidFill>
                          <a:latin typeface="Kanit"/>
                        </a:rPr>
                        <a:t>10.18%</a:t>
                      </a:r>
                    </a:p>
                  </a:txBody>
                  <a:tcPr marL="54864" marR="54864" marT="18288" marB="18288" anchor="ctr">
                    <a:solidFill>
                      <a:srgbClr val="FFFFFF"/>
                    </a:solidFill>
                  </a:tcPr>
                </a:tc>
                <a:tc>
                  <a:txBody>
                    <a:bodyPr wrap="square"/>
                    <a:lstStyle/>
                    <a:p>
                      <a:pPr algn="r"/>
                      <a:r>
                        <a:rPr sz="1000" b="0">
                          <a:solidFill>
                            <a:srgbClr val="1E2F5C"/>
                          </a:solidFill>
                          <a:latin typeface="Kanit"/>
                        </a:rPr>
                        <a:t>6.64%</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East</a:t>
                      </a:r>
                    </a:p>
                  </a:txBody>
                  <a:tcPr marL="54864" marR="54864" marT="18288" marB="18288" anchor="ctr">
                    <a:solidFill>
                      <a:srgbClr val="F7F9FC"/>
                    </a:solidFill>
                  </a:tcPr>
                </a:tc>
                <a:tc>
                  <a:txBody>
                    <a:bodyPr wrap="square"/>
                    <a:lstStyle/>
                    <a:p>
                      <a:pPr algn="r"/>
                      <a:r>
                        <a:rPr sz="1000" b="0">
                          <a:solidFill>
                            <a:srgbClr val="1E2F5C"/>
                          </a:solidFill>
                          <a:latin typeface="Kanit"/>
                        </a:rPr>
                        <a:t>4.15M</a:t>
                      </a:r>
                    </a:p>
                  </a:txBody>
                  <a:tcPr marL="54864" marR="54864" marT="18288" marB="18288" anchor="ctr">
                    <a:solidFill>
                      <a:srgbClr val="F7F9FC"/>
                    </a:solidFill>
                  </a:tcPr>
                </a:tc>
                <a:tc>
                  <a:txBody>
                    <a:bodyPr wrap="square"/>
                    <a:lstStyle/>
                    <a:p>
                      <a:pPr algn="r"/>
                      <a:r>
                        <a:rPr sz="1000" b="0">
                          <a:solidFill>
                            <a:srgbClr val="1E2F5C"/>
                          </a:solidFill>
                          <a:latin typeface="Kanit"/>
                        </a:rPr>
                        <a:t>16.4%</a:t>
                      </a:r>
                    </a:p>
                  </a:txBody>
                  <a:tcPr marL="54864" marR="54864" marT="18288" marB="18288" anchor="ctr">
                    <a:solidFill>
                      <a:srgbClr val="F7F9FC"/>
                    </a:solidFill>
                  </a:tcPr>
                </a:tc>
                <a:tc>
                  <a:txBody>
                    <a:bodyPr wrap="square"/>
                    <a:lstStyle/>
                    <a:p>
                      <a:pPr algn="r"/>
                      <a:r>
                        <a:rPr sz="1000" b="0">
                          <a:solidFill>
                            <a:srgbClr val="1E2F5C"/>
                          </a:solidFill>
                          <a:latin typeface="Kanit"/>
                        </a:rPr>
                        <a:t>35,345</a:t>
                      </a:r>
                    </a:p>
                  </a:txBody>
                  <a:tcPr marL="54864" marR="54864" marT="18288" marB="18288" anchor="ctr">
                    <a:solidFill>
                      <a:srgbClr val="F7F9FC"/>
                    </a:solidFill>
                  </a:tcPr>
                </a:tc>
                <a:tc>
                  <a:txBody>
                    <a:bodyPr wrap="square"/>
                    <a:lstStyle/>
                    <a:p>
                      <a:pPr algn="r"/>
                      <a:r>
                        <a:rPr sz="1000" b="1">
                          <a:solidFill>
                            <a:srgbClr val="CC0000"/>
                          </a:solidFill>
                          <a:latin typeface="Kanit"/>
                        </a:rPr>
                        <a:t>5.21%</a:t>
                      </a:r>
                    </a:p>
                  </a:txBody>
                  <a:tcPr marL="54864" marR="54864" marT="18288" marB="18288" anchor="ctr">
                    <a:solidFill>
                      <a:srgbClr val="F7F9FC"/>
                    </a:solidFill>
                  </a:tcPr>
                </a:tc>
                <a:tc>
                  <a:txBody>
                    <a:bodyPr wrap="square"/>
                    <a:lstStyle/>
                    <a:p>
                      <a:pPr algn="r"/>
                      <a:r>
                        <a:rPr sz="1000" b="0">
                          <a:solidFill>
                            <a:srgbClr val="1E2F5C"/>
                          </a:solidFill>
                          <a:latin typeface="Kanit"/>
                        </a:rPr>
                        <a:t>5.61%</a:t>
                      </a:r>
                    </a:p>
                  </a:txBody>
                  <a:tcPr marL="54864" marR="54864" marT="18288" marB="18288" anchor="ctr">
                    <a:solidFill>
                      <a:srgbClr val="F7F9FC"/>
                    </a:solidFill>
                  </a:tcPr>
                </a:tc>
                <a:tc>
                  <a:txBody>
                    <a:bodyPr wrap="square"/>
                    <a:lstStyle/>
                    <a:p>
                      <a:pPr algn="r"/>
                      <a:r>
                        <a:rPr sz="1000" b="0">
                          <a:solidFill>
                            <a:srgbClr val="1E2F5C"/>
                          </a:solidFill>
                          <a:latin typeface="Kanit"/>
                        </a:rPr>
                        <a:t>6.69%</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Isan</a:t>
                      </a:r>
                    </a:p>
                  </a:txBody>
                  <a:tcPr marL="54864" marR="54864" marT="18288" marB="18288" anchor="ctr">
                    <a:solidFill>
                      <a:srgbClr val="FFFFFF"/>
                    </a:solidFill>
                  </a:tcPr>
                </a:tc>
                <a:tc>
                  <a:txBody>
                    <a:bodyPr wrap="square"/>
                    <a:lstStyle/>
                    <a:p>
                      <a:pPr algn="r"/>
                      <a:r>
                        <a:rPr sz="1000" b="0">
                          <a:solidFill>
                            <a:srgbClr val="1E2F5C"/>
                          </a:solidFill>
                          <a:latin typeface="Kanit"/>
                        </a:rPr>
                        <a:t>8.04M</a:t>
                      </a:r>
                    </a:p>
                  </a:txBody>
                  <a:tcPr marL="54864" marR="54864" marT="18288" marB="18288" anchor="ctr">
                    <a:solidFill>
                      <a:srgbClr val="FFFFFF"/>
                    </a:solidFill>
                  </a:tcPr>
                </a:tc>
                <a:tc>
                  <a:txBody>
                    <a:bodyPr wrap="square"/>
                    <a:lstStyle/>
                    <a:p>
                      <a:pPr algn="r"/>
                      <a:r>
                        <a:rPr sz="1000" b="0">
                          <a:solidFill>
                            <a:srgbClr val="1E2F5C"/>
                          </a:solidFill>
                          <a:latin typeface="Kanit"/>
                        </a:rPr>
                        <a:t>22.1%</a:t>
                      </a:r>
                    </a:p>
                  </a:txBody>
                  <a:tcPr marL="54864" marR="54864" marT="18288" marB="18288" anchor="ctr">
                    <a:solidFill>
                      <a:srgbClr val="FFFFFF"/>
                    </a:solidFill>
                  </a:tcPr>
                </a:tc>
                <a:tc>
                  <a:txBody>
                    <a:bodyPr wrap="square"/>
                    <a:lstStyle/>
                    <a:p>
                      <a:pPr algn="r"/>
                      <a:r>
                        <a:rPr sz="1000" b="0">
                          <a:solidFill>
                            <a:srgbClr val="1E2F5C"/>
                          </a:solidFill>
                          <a:latin typeface="Kanit"/>
                        </a:rPr>
                        <a:t>99,835</a:t>
                      </a:r>
                    </a:p>
                  </a:txBody>
                  <a:tcPr marL="54864" marR="54864" marT="18288" marB="18288" anchor="ctr">
                    <a:solidFill>
                      <a:srgbClr val="FFFFFF"/>
                    </a:solidFill>
                  </a:tcPr>
                </a:tc>
                <a:tc>
                  <a:txBody>
                    <a:bodyPr wrap="square"/>
                    <a:lstStyle/>
                    <a:p>
                      <a:pPr algn="r"/>
                      <a:r>
                        <a:rPr sz="1000" b="1">
                          <a:solidFill>
                            <a:srgbClr val="CC0000"/>
                          </a:solidFill>
                          <a:latin typeface="Kanit"/>
                        </a:rPr>
                        <a:t>5.61%</a:t>
                      </a:r>
                    </a:p>
                  </a:txBody>
                  <a:tcPr marL="54864" marR="54864" marT="18288" marB="18288" anchor="ctr">
                    <a:solidFill>
                      <a:srgbClr val="FFFFFF"/>
                    </a:solidFill>
                  </a:tcPr>
                </a:tc>
                <a:tc>
                  <a:txBody>
                    <a:bodyPr wrap="square"/>
                    <a:lstStyle/>
                    <a:p>
                      <a:pPr algn="r"/>
                      <a:r>
                        <a:rPr sz="1000" b="0">
                          <a:solidFill>
                            <a:srgbClr val="1E2F5C"/>
                          </a:solidFill>
                          <a:latin typeface="Kanit"/>
                        </a:rPr>
                        <a:t>6.41%</a:t>
                      </a:r>
                    </a:p>
                  </a:txBody>
                  <a:tcPr marL="54864" marR="54864" marT="18288" marB="18288" anchor="ctr">
                    <a:solidFill>
                      <a:srgbClr val="FFFFFF"/>
                    </a:solidFill>
                  </a:tcPr>
                </a:tc>
                <a:tc>
                  <a:txBody>
                    <a:bodyPr wrap="square"/>
                    <a:lstStyle/>
                    <a:p>
                      <a:pPr algn="r"/>
                      <a:r>
                        <a:rPr sz="1000" b="0">
                          <a:solidFill>
                            <a:srgbClr val="1E2F5C"/>
                          </a:solidFill>
                          <a:latin typeface="Kanit"/>
                        </a:rPr>
                        <a:t>7.30%</a:t>
                      </a:r>
                    </a:p>
                  </a:txBody>
                  <a:tcPr marL="54864" marR="54864" marT="18288" marB="18288" anchor="ctr">
                    <a:solidFill>
                      <a:srgbClr val="FFFFFF"/>
                    </a:solidFill>
                  </a:tcPr>
                </a:tc>
              </a:tr>
              <a:tr h="274320">
                <a:tc>
                  <a:txBody>
                    <a:bodyPr wrap="square"/>
                    <a:lstStyle/>
                    <a:p>
                      <a:pPr algn="l"/>
                      <a:r>
                        <a:rPr sz="1000" b="1">
                          <a:solidFill>
                            <a:srgbClr val="1E2F5C"/>
                          </a:solidFill>
                          <a:latin typeface="Kanit"/>
                        </a:rPr>
                        <a:t>North</a:t>
                      </a:r>
                    </a:p>
                  </a:txBody>
                  <a:tcPr marL="54864" marR="54864" marT="18288" marB="18288" anchor="ctr">
                    <a:solidFill>
                      <a:srgbClr val="F7F9FC"/>
                    </a:solidFill>
                  </a:tcPr>
                </a:tc>
                <a:tc>
                  <a:txBody>
                    <a:bodyPr wrap="square"/>
                    <a:lstStyle/>
                    <a:p>
                      <a:pPr algn="r"/>
                      <a:r>
                        <a:rPr sz="1000" b="0">
                          <a:solidFill>
                            <a:srgbClr val="1E2F5C"/>
                          </a:solidFill>
                          <a:latin typeface="Kanit"/>
                        </a:rPr>
                        <a:t>6.83M</a:t>
                      </a:r>
                    </a:p>
                  </a:txBody>
                  <a:tcPr marL="54864" marR="54864" marT="18288" marB="18288" anchor="ctr">
                    <a:solidFill>
                      <a:srgbClr val="F7F9FC"/>
                    </a:solidFill>
                  </a:tcPr>
                </a:tc>
                <a:tc>
                  <a:txBody>
                    <a:bodyPr wrap="square"/>
                    <a:lstStyle/>
                    <a:p>
                      <a:pPr algn="r"/>
                      <a:r>
                        <a:rPr sz="1000" b="0">
                          <a:solidFill>
                            <a:srgbClr val="1E2F5C"/>
                          </a:solidFill>
                          <a:latin typeface="Kanit"/>
                        </a:rPr>
                        <a:t>19.4%</a:t>
                      </a:r>
                    </a:p>
                  </a:txBody>
                  <a:tcPr marL="54864" marR="54864" marT="18288" marB="18288" anchor="ctr">
                    <a:solidFill>
                      <a:srgbClr val="F7F9FC"/>
                    </a:solidFill>
                  </a:tcPr>
                </a:tc>
                <a:tc>
                  <a:txBody>
                    <a:bodyPr wrap="square"/>
                    <a:lstStyle/>
                    <a:p>
                      <a:pPr algn="r"/>
                      <a:r>
                        <a:rPr sz="1000" b="0">
                          <a:solidFill>
                            <a:srgbClr val="1E2F5C"/>
                          </a:solidFill>
                          <a:latin typeface="Kanit"/>
                        </a:rPr>
                        <a:t>78,867</a:t>
                      </a:r>
                    </a:p>
                  </a:txBody>
                  <a:tcPr marL="54864" marR="54864" marT="18288" marB="18288" anchor="ctr">
                    <a:solidFill>
                      <a:srgbClr val="F7F9FC"/>
                    </a:solidFill>
                  </a:tcPr>
                </a:tc>
                <a:tc>
                  <a:txBody>
                    <a:bodyPr wrap="square"/>
                    <a:lstStyle/>
                    <a:p>
                      <a:pPr algn="r"/>
                      <a:r>
                        <a:rPr sz="1000" b="1">
                          <a:solidFill>
                            <a:srgbClr val="CC0000"/>
                          </a:solidFill>
                          <a:latin typeface="Kanit"/>
                        </a:rPr>
                        <a:t>5.95%</a:t>
                      </a:r>
                    </a:p>
                  </a:txBody>
                  <a:tcPr marL="54864" marR="54864" marT="18288" marB="18288" anchor="ctr">
                    <a:solidFill>
                      <a:srgbClr val="F7F9FC"/>
                    </a:solidFill>
                  </a:tcPr>
                </a:tc>
                <a:tc>
                  <a:txBody>
                    <a:bodyPr wrap="square"/>
                    <a:lstStyle/>
                    <a:p>
                      <a:pPr algn="r"/>
                      <a:r>
                        <a:rPr sz="1000" b="0">
                          <a:solidFill>
                            <a:srgbClr val="1E2F5C"/>
                          </a:solidFill>
                          <a:latin typeface="Kanit"/>
                        </a:rPr>
                        <a:t>7.27%</a:t>
                      </a:r>
                    </a:p>
                  </a:txBody>
                  <a:tcPr marL="54864" marR="54864" marT="18288" marB="18288" anchor="ctr">
                    <a:solidFill>
                      <a:srgbClr val="F7F9FC"/>
                    </a:solidFill>
                  </a:tcPr>
                </a:tc>
                <a:tc>
                  <a:txBody>
                    <a:bodyPr wrap="square"/>
                    <a:lstStyle/>
                    <a:p>
                      <a:pPr algn="r"/>
                      <a:r>
                        <a:rPr sz="1000" b="0">
                          <a:solidFill>
                            <a:srgbClr val="1E2F5C"/>
                          </a:solidFill>
                          <a:latin typeface="Kanit"/>
                        </a:rPr>
                        <a:t>5.22%</a:t>
                      </a:r>
                    </a:p>
                  </a:txBody>
                  <a:tcPr marL="54864" marR="54864" marT="18288" marB="18288" anchor="ctr">
                    <a:solidFill>
                      <a:srgbClr val="F7F9FC"/>
                    </a:solidFill>
                  </a:tcPr>
                </a:tc>
              </a:tr>
              <a:tr h="274320">
                <a:tc>
                  <a:txBody>
                    <a:bodyPr wrap="square"/>
                    <a:lstStyle/>
                    <a:p>
                      <a:pPr algn="l"/>
                      <a:r>
                        <a:rPr sz="1000" b="1">
                          <a:solidFill>
                            <a:srgbClr val="1E2F5C"/>
                          </a:solidFill>
                          <a:latin typeface="Kanit"/>
                        </a:rPr>
                        <a:t>South</a:t>
                      </a:r>
                    </a:p>
                  </a:txBody>
                  <a:tcPr marL="54864" marR="54864" marT="18288" marB="18288" anchor="ctr">
                    <a:solidFill>
                      <a:srgbClr val="FFFFFF"/>
                    </a:solidFill>
                  </a:tcPr>
                </a:tc>
                <a:tc>
                  <a:txBody>
                    <a:bodyPr wrap="square"/>
                    <a:lstStyle/>
                    <a:p>
                      <a:pPr algn="r"/>
                      <a:r>
                        <a:rPr sz="1000" b="0">
                          <a:solidFill>
                            <a:srgbClr val="1E2F5C"/>
                          </a:solidFill>
                          <a:latin typeface="Kanit"/>
                        </a:rPr>
                        <a:t>4.82M</a:t>
                      </a:r>
                    </a:p>
                  </a:txBody>
                  <a:tcPr marL="54864" marR="54864" marT="18288" marB="18288" anchor="ctr">
                    <a:solidFill>
                      <a:srgbClr val="FFFFFF"/>
                    </a:solidFill>
                  </a:tcPr>
                </a:tc>
                <a:tc>
                  <a:txBody>
                    <a:bodyPr wrap="square"/>
                    <a:lstStyle/>
                    <a:p>
                      <a:pPr algn="r"/>
                      <a:r>
                        <a:rPr sz="1000" b="0">
                          <a:solidFill>
                            <a:srgbClr val="1E2F5C"/>
                          </a:solidFill>
                          <a:latin typeface="Kanit"/>
                        </a:rPr>
                        <a:t>16.3%</a:t>
                      </a:r>
                    </a:p>
                  </a:txBody>
                  <a:tcPr marL="54864" marR="54864" marT="18288" marB="18288" anchor="ctr">
                    <a:solidFill>
                      <a:srgbClr val="FFFFFF"/>
                    </a:solidFill>
                  </a:tcPr>
                </a:tc>
                <a:tc>
                  <a:txBody>
                    <a:bodyPr wrap="square"/>
                    <a:lstStyle/>
                    <a:p>
                      <a:pPr algn="r"/>
                      <a:r>
                        <a:rPr sz="1000" b="0">
                          <a:solidFill>
                            <a:srgbClr val="1E2F5C"/>
                          </a:solidFill>
                          <a:latin typeface="Kanit"/>
                        </a:rPr>
                        <a:t>43,330</a:t>
                      </a:r>
                    </a:p>
                  </a:txBody>
                  <a:tcPr marL="54864" marR="54864" marT="18288" marB="18288" anchor="ctr">
                    <a:solidFill>
                      <a:srgbClr val="FFFFFF"/>
                    </a:solidFill>
                  </a:tcPr>
                </a:tc>
                <a:tc>
                  <a:txBody>
                    <a:bodyPr wrap="square"/>
                    <a:lstStyle/>
                    <a:p>
                      <a:pPr algn="r"/>
                      <a:r>
                        <a:rPr sz="1000" b="1">
                          <a:solidFill>
                            <a:srgbClr val="CC0000"/>
                          </a:solidFill>
                          <a:latin typeface="Kanit"/>
                        </a:rPr>
                        <a:t>5.53%</a:t>
                      </a:r>
                    </a:p>
                  </a:txBody>
                  <a:tcPr marL="54864" marR="54864" marT="18288" marB="18288" anchor="ctr">
                    <a:solidFill>
                      <a:srgbClr val="FFFFFF"/>
                    </a:solidFill>
                  </a:tcPr>
                </a:tc>
                <a:tc>
                  <a:txBody>
                    <a:bodyPr wrap="square"/>
                    <a:lstStyle/>
                    <a:p>
                      <a:pPr algn="r"/>
                      <a:r>
                        <a:rPr sz="1000" b="0">
                          <a:solidFill>
                            <a:srgbClr val="1E2F5C"/>
                          </a:solidFill>
                          <a:latin typeface="Kanit"/>
                        </a:rPr>
                        <a:t>6.54%</a:t>
                      </a:r>
                    </a:p>
                  </a:txBody>
                  <a:tcPr marL="54864" marR="54864" marT="18288" marB="18288" anchor="ctr">
                    <a:solidFill>
                      <a:srgbClr val="FFFFFF"/>
                    </a:solidFill>
                  </a:tcPr>
                </a:tc>
                <a:tc>
                  <a:txBody>
                    <a:bodyPr wrap="square"/>
                    <a:lstStyle/>
                    <a:p>
                      <a:pPr algn="r"/>
                      <a:r>
                        <a:rPr sz="1000" b="0">
                          <a:solidFill>
                            <a:srgbClr val="1E2F5C"/>
                          </a:solidFill>
                          <a:latin typeface="Kanit"/>
                        </a:rPr>
                        <a:t>6.98%</a:t>
                      </a:r>
                    </a:p>
                  </a:txBody>
                  <a:tcPr marL="54864" marR="54864" marT="18288" marB="18288" anchor="ctr">
                    <a:solidFill>
                      <a:srgbClr val="FFFFFF"/>
                    </a:solidFill>
                  </a:tcPr>
                </a:tc>
              </a:tr>
            </a:tbl>
          </a:graphicData>
        </a:graphic>
      </p:graphicFrame>
      <p:sp>
        <p:nvSpPr>
          <p:cNvPr id="26" name="Rounded Rectangle 25"/>
          <p:cNvSpPr/>
          <p:nvPr/>
        </p:nvSpPr>
        <p:spPr>
          <a:xfrm>
            <a:off x="411480" y="4206240"/>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11480" y="4235500"/>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8" name="TextBox 27"/>
          <p:cNvSpPr txBox="1"/>
          <p:nvPr/>
        </p:nvSpPr>
        <p:spPr>
          <a:xfrm>
            <a:off x="1275385" y="4219955"/>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DLT registered stock and ownership-transfer counts by region and vehicle class, plus MOT fleet totals. Turnover is transfers divided by registered stock — how much of the parc changes hands in a year, which is the depth a repossessed title has to be sold into.</a:t>
            </a:r>
          </a:p>
        </p:txBody>
      </p:sp>
      <p:sp>
        <p:nvSpPr>
          <p:cNvPr id="29" name="Rectangle 28"/>
          <p:cNvSpPr/>
          <p:nvPr/>
        </p:nvSpPr>
        <p:spPr>
          <a:xfrm>
            <a:off x="411480" y="4697729"/>
            <a:ext cx="5568696" cy="1347978"/>
          </a:xfrm>
          <a:prstGeom prst="rect">
            <a:avLst/>
          </a:prstGeom>
          <a:solidFill>
            <a:srgbClr val="FCEFE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4697729"/>
            <a:ext cx="50292" cy="134797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30936" y="4844033"/>
            <a:ext cx="5239512" cy="158750"/>
          </a:xfrm>
          <a:prstGeom prst="rect">
            <a:avLst/>
          </a:prstGeom>
          <a:noFill/>
        </p:spPr>
        <p:txBody>
          <a:bodyPr wrap="square" lIns="0" rIns="0" tIns="0" bIns="0" anchor="t">
            <a:noAutofit/>
          </a:bodyPr>
          <a:lstStyle/>
          <a:p>
            <a:pPr algn="l">
              <a:lnSpc>
                <a:spcPts val="1250"/>
              </a:lnSpc>
            </a:pPr>
            <a:r>
              <a:rPr sz="950" b="1">
                <a:solidFill>
                  <a:srgbClr val="CC0000"/>
                </a:solidFill>
                <a:latin typeface="Kanit"/>
              </a:rPr>
              <a:t>Pickups are the slowest-moving thing on the road</a:t>
            </a:r>
          </a:p>
        </p:txBody>
      </p:sp>
      <p:sp>
        <p:nvSpPr>
          <p:cNvPr id="32" name="TextBox 31"/>
          <p:cNvSpPr txBox="1"/>
          <p:nvPr/>
        </p:nvSpPr>
        <p:spPr>
          <a:xfrm>
            <a:off x="630936" y="5048503"/>
            <a:ext cx="5239512" cy="85090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Transfers run 5.2–7.6% of registered pickups a year against 5.6–10.2% for cars — pickup is the slowest-turning class in every single region, and the East is the extreme at 5.21%.
A thinner secondary market is a longer disposal and a wider discount, and it compounds the resale-value slide: the asset that fell furthest is also the one hardest to sell.</a:t>
            </a:r>
          </a:p>
        </p:txBody>
      </p:sp>
      <p:sp>
        <p:nvSpPr>
          <p:cNvPr id="33" name="Rectangle 32"/>
          <p:cNvSpPr/>
          <p:nvPr/>
        </p:nvSpPr>
        <p:spPr>
          <a:xfrm>
            <a:off x="6208776" y="4697729"/>
            <a:ext cx="5568696" cy="1688338"/>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6208776" y="4697729"/>
            <a:ext cx="50292" cy="1688338"/>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6428232" y="4844033"/>
            <a:ext cx="5239512"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Electrification is a clock, not a problem</a:t>
            </a:r>
          </a:p>
        </p:txBody>
      </p:sp>
      <p:sp>
        <p:nvSpPr>
          <p:cNvPr id="36" name="TextBox 35"/>
          <p:cNvSpPr txBox="1"/>
          <p:nvPr/>
        </p:nvSpPr>
        <p:spPr>
          <a:xfrm>
            <a:off x="6428232" y="5048503"/>
            <a:ext cx="5239512" cy="1191260"/>
          </a:xfrm>
          <a:prstGeom prst="rect">
            <a:avLst/>
          </a:prstGeom>
          <a:noFill/>
        </p:spPr>
        <p:txBody>
          <a:bodyPr wrap="square" lIns="0" rIns="0" tIns="0" bIns="0" anchor="t">
            <a:noAutofit/>
          </a:bodyPr>
          <a:lstStyle/>
          <a:p>
            <a:pPr algn="l">
              <a:lnSpc>
                <a:spcPts val="1340"/>
              </a:lnSpc>
            </a:pPr>
            <a:r>
              <a:rPr sz="1000" b="0">
                <a:solidFill>
                  <a:srgbClr val="1E2F5C"/>
                </a:solidFill>
                <a:latin typeface="Kanit"/>
              </a:rPr>
              <a:t>BEVs are 0.95% of the fleet and electrified vehicles 2.57%. Nothing on the road today is priced by that.
But a title has a five-to-ten-year resale tail, and the fleet mix that sets used values in 2032 is being registered now — a fifth of new cars are already brands with no Thai residual history. The question it raises is how to price a title we cannot yet benchmark, not what to do this quarter.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11 · CONDITIONS ON THE GROUND</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Five lenses, from the country down to a district.</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Rounded Rectangle 8"/>
          <p:cNvSpPr/>
          <p:nvPr/>
        </p:nvSpPr>
        <p:spPr>
          <a:xfrm>
            <a:off x="411480"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548640"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Labour force</a:t>
            </a:r>
          </a:p>
        </p:txBody>
      </p:sp>
      <p:sp>
        <p:nvSpPr>
          <p:cNvPr id="11" name="TextBox 10"/>
          <p:cNvSpPr txBox="1"/>
          <p:nvPr/>
        </p:nvSpPr>
        <p:spPr>
          <a:xfrm>
            <a:off x="548640"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41.9M</a:t>
            </a:r>
          </a:p>
        </p:txBody>
      </p:sp>
      <p:sp>
        <p:nvSpPr>
          <p:cNvPr id="12" name="TextBox 11"/>
          <p:cNvSpPr txBox="1"/>
          <p:nvPr/>
        </p:nvSpPr>
        <p:spPr>
          <a:xfrm>
            <a:off x="548640"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unemployment 0.94% · seasonal idle 0.77% (325k waiting)</a:t>
            </a:r>
          </a:p>
        </p:txBody>
      </p:sp>
      <p:sp>
        <p:nvSpPr>
          <p:cNvPr id="13" name="Rounded Rectangle 12"/>
          <p:cNvSpPr/>
          <p:nvPr/>
        </p:nvSpPr>
        <p:spPr>
          <a:xfrm>
            <a:off x="4245864"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4383024"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Informality</a:t>
            </a:r>
          </a:p>
        </p:txBody>
      </p:sp>
      <p:sp>
        <p:nvSpPr>
          <p:cNvPr id="15" name="TextBox 14"/>
          <p:cNvSpPr txBox="1"/>
          <p:nvPr/>
        </p:nvSpPr>
        <p:spPr>
          <a:xfrm>
            <a:off x="4383024" y="1426464"/>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63.2%</a:t>
            </a:r>
          </a:p>
        </p:txBody>
      </p:sp>
      <p:sp>
        <p:nvSpPr>
          <p:cNvPr id="16" name="TextBox 15"/>
          <p:cNvSpPr txBox="1"/>
          <p:nvPr/>
        </p:nvSpPr>
        <p:spPr>
          <a:xfrm>
            <a:off x="4383024"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employment has no payslip or social cover — our core demographic (2024)</a:t>
            </a:r>
          </a:p>
        </p:txBody>
      </p:sp>
      <p:sp>
        <p:nvSpPr>
          <p:cNvPr id="17" name="Rounded Rectangle 16"/>
          <p:cNvSpPr/>
          <p:nvPr/>
        </p:nvSpPr>
        <p:spPr>
          <a:xfrm>
            <a:off x="8080247" y="1152144"/>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217408" y="1252728"/>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Vehicle fleet</a:t>
            </a:r>
          </a:p>
        </p:txBody>
      </p:sp>
      <p:sp>
        <p:nvSpPr>
          <p:cNvPr id="19" name="TextBox 18"/>
          <p:cNvSpPr txBox="1"/>
          <p:nvPr/>
        </p:nvSpPr>
        <p:spPr>
          <a:xfrm>
            <a:off x="8217408" y="1426464"/>
            <a:ext cx="3422904"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44.3M</a:t>
            </a:r>
          </a:p>
        </p:txBody>
      </p:sp>
      <p:sp>
        <p:nvSpPr>
          <p:cNvPr id="20" name="TextBox 19"/>
          <p:cNvSpPr txBox="1"/>
          <p:nvPr/>
        </p:nvSpPr>
        <p:spPr>
          <a:xfrm>
            <a:off x="8217408" y="1792224"/>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diesel 56.3% · electrified 2.57% · BEV 0.95%</a:t>
            </a:r>
          </a:p>
        </p:txBody>
      </p:sp>
      <p:sp>
        <p:nvSpPr>
          <p:cNvPr id="21" name="Rounded Rectangle 20"/>
          <p:cNvSpPr/>
          <p:nvPr/>
        </p:nvSpPr>
        <p:spPr>
          <a:xfrm>
            <a:off x="411480"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48640"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Districts dry</a:t>
            </a:r>
          </a:p>
        </p:txBody>
      </p:sp>
      <p:sp>
        <p:nvSpPr>
          <p:cNvPr id="23" name="TextBox 22"/>
          <p:cNvSpPr txBox="1"/>
          <p:nvPr/>
        </p:nvSpPr>
        <p:spPr>
          <a:xfrm>
            <a:off x="548640"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36.4%</a:t>
            </a:r>
          </a:p>
        </p:txBody>
      </p:sp>
      <p:sp>
        <p:nvSpPr>
          <p:cNvPr id="24" name="TextBox 23"/>
          <p:cNvSpPr txBox="1"/>
          <p:nvPr/>
        </p:nvSpPr>
        <p:spPr>
          <a:xfrm>
            <a:off x="548640"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338 of 928 · 134 of 794 river stations above high mark</a:t>
            </a:r>
          </a:p>
        </p:txBody>
      </p:sp>
      <p:sp>
        <p:nvSpPr>
          <p:cNvPr id="25" name="Rounded Rectangle 24"/>
          <p:cNvSpPr/>
          <p:nvPr/>
        </p:nvSpPr>
        <p:spPr>
          <a:xfrm>
            <a:off x="4245864"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4383024"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Household debt</a:t>
            </a:r>
          </a:p>
        </p:txBody>
      </p:sp>
      <p:sp>
        <p:nvSpPr>
          <p:cNvPr id="27" name="TextBox 26"/>
          <p:cNvSpPr txBox="1"/>
          <p:nvPr/>
        </p:nvSpPr>
        <p:spPr>
          <a:xfrm>
            <a:off x="4383024" y="2624327"/>
            <a:ext cx="3422904"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฿163,930</a:t>
            </a:r>
          </a:p>
        </p:txBody>
      </p:sp>
      <p:sp>
        <p:nvSpPr>
          <p:cNvPr id="28" name="TextBox 27"/>
          <p:cNvSpPr txBox="1"/>
          <p:nvPr/>
        </p:nvSpPr>
        <p:spPr>
          <a:xfrm>
            <a:off x="4383024"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per indebted household · 45.0% carry debt · income ฿26,069/month</a:t>
            </a:r>
          </a:p>
        </p:txBody>
      </p:sp>
      <p:sp>
        <p:nvSpPr>
          <p:cNvPr id="29" name="Rounded Rectangle 28"/>
          <p:cNvSpPr/>
          <p:nvPr/>
        </p:nvSpPr>
        <p:spPr>
          <a:xfrm>
            <a:off x="8080247" y="2350008"/>
            <a:ext cx="3697223" cy="1060704"/>
          </a:xfrm>
          <a:prstGeom prst="roundRect">
            <a:avLst>
              <a:gd name="adj" fmla="val 7758"/>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8217408" y="2450591"/>
            <a:ext cx="3422904"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No cushion</a:t>
            </a:r>
          </a:p>
        </p:txBody>
      </p:sp>
      <p:sp>
        <p:nvSpPr>
          <p:cNvPr id="31" name="TextBox 30"/>
          <p:cNvSpPr txBox="1"/>
          <p:nvPr/>
        </p:nvSpPr>
        <p:spPr>
          <a:xfrm>
            <a:off x="8217408" y="2624327"/>
            <a:ext cx="3422904"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60%</a:t>
            </a:r>
          </a:p>
        </p:txBody>
      </p:sp>
      <p:sp>
        <p:nvSpPr>
          <p:cNvPr id="32" name="TextBox 31"/>
          <p:cNvSpPr txBox="1"/>
          <p:nvPr/>
        </p:nvSpPr>
        <p:spPr>
          <a:xfrm>
            <a:off x="8217408" y="2990087"/>
            <a:ext cx="3422904" cy="347471"/>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could not cover three months without income · 10.0% classed vulnerable</a:t>
            </a:r>
          </a:p>
        </p:txBody>
      </p:sp>
      <p:sp>
        <p:nvSpPr>
          <p:cNvPr id="33" name="Rounded Rectangle 32"/>
          <p:cNvSpPr/>
          <p:nvPr/>
        </p:nvSpPr>
        <p:spPr>
          <a:xfrm>
            <a:off x="411480" y="3575304"/>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411480" y="3604564"/>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35" name="TextBox 34"/>
          <p:cNvSpPr txBox="1"/>
          <p:nvPr/>
        </p:nvSpPr>
        <p:spPr>
          <a:xfrm>
            <a:off x="1275385" y="3589020"/>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NSO Labour Force Survey · ILOSTAT mirror of Thailand’s official submissions · DLT registry · MOT · DBD business registrations · ThaiWater telemetry · BoT. Every lens rolls national → region → province → district on its own correct weight — labour force, fleet stock, district count. Never a plain average of provinces.</a:t>
            </a:r>
          </a:p>
        </p:txBody>
      </p:sp>
      <p:sp>
        <p:nvSpPr>
          <p:cNvPr id="36" name="Rectangle 35"/>
          <p:cNvSpPr/>
          <p:nvPr/>
        </p:nvSpPr>
        <p:spPr>
          <a:xfrm>
            <a:off x="411480" y="4048506"/>
            <a:ext cx="11365992" cy="1033144"/>
          </a:xfrm>
          <a:prstGeom prst="rect">
            <a:avLst/>
          </a:prstGeom>
          <a:solidFill>
            <a:srgbClr val="FDF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411480" y="4048506"/>
            <a:ext cx="50292" cy="1033144"/>
          </a:xfrm>
          <a:prstGeom prst="rect">
            <a:avLst/>
          </a:prstGeom>
          <a:solidFill>
            <a:srgbClr val="F5C24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30936" y="4194810"/>
            <a:ext cx="11036808" cy="158750"/>
          </a:xfrm>
          <a:prstGeom prst="rect">
            <a:avLst/>
          </a:prstGeom>
          <a:noFill/>
        </p:spPr>
        <p:txBody>
          <a:bodyPr wrap="square" lIns="0" rIns="0" tIns="0" bIns="0" anchor="t">
            <a:noAutofit/>
          </a:bodyPr>
          <a:lstStyle/>
          <a:p>
            <a:pPr algn="l">
              <a:lnSpc>
                <a:spcPts val="1250"/>
              </a:lnSpc>
            </a:pPr>
            <a:r>
              <a:rPr sz="950" b="1">
                <a:solidFill>
                  <a:srgbClr val="9A7411"/>
                </a:solidFill>
                <a:latin typeface="Kanit"/>
              </a:rPr>
              <a:t>Read 0.94% unemployment together with 63.2% informality, never instead of it</a:t>
            </a:r>
          </a:p>
        </p:txBody>
      </p:sp>
      <p:sp>
        <p:nvSpPr>
          <p:cNvPr id="39" name="TextBox 38"/>
          <p:cNvSpPr txBox="1"/>
          <p:nvPr/>
        </p:nvSpPr>
        <p:spPr>
          <a:xfrm>
            <a:off x="630936" y="4399280"/>
            <a:ext cx="11036808" cy="536067"/>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Headline unemployment is structurally near zero in Thailand because informal work absorbs the slack. A borrower who loses formal work does not appear in the unemployment number — they appear in the informal count, on a lower and less predictable income. The unemployment rate is not a stress signal for this book. Informality, the seasonal-idle share and the cushion figure 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12 · LIVE</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The one feed that changes daily.</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11365992" cy="190500"/>
          </a:xfrm>
          <a:prstGeom prst="rect">
            <a:avLst/>
          </a:prstGeom>
          <a:noFill/>
        </p:spPr>
        <p:txBody>
          <a:bodyPr wrap="square" lIns="0" rIns="0" tIns="0" bIns="0" anchor="t">
            <a:noAutofit/>
          </a:bodyPr>
          <a:lstStyle/>
          <a:p>
            <a:pPr algn="l">
              <a:lnSpc>
                <a:spcPts val="1500"/>
              </a:lnSpc>
            </a:pPr>
            <a:r>
              <a:rPr sz="1100" b="0">
                <a:solidFill>
                  <a:srgbClr val="606060"/>
                </a:solidFill>
                <a:latin typeface="Kanit"/>
              </a:rPr>
              <a:t>Everything else on this tab is monthly or quarterly. River levels and rainfall are pulled every day from ThaiWater — the early-warning layer under the drought and flood picture.</a:t>
            </a:r>
          </a:p>
        </p:txBody>
      </p:sp>
      <p:sp>
        <p:nvSpPr>
          <p:cNvPr id="10" name="Rounded Rectangle 9"/>
          <p:cNvSpPr/>
          <p:nvPr/>
        </p:nvSpPr>
        <p:spPr>
          <a:xfrm>
            <a:off x="411480" y="14889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548640"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Stations above high mark</a:t>
            </a:r>
          </a:p>
        </p:txBody>
      </p:sp>
      <p:sp>
        <p:nvSpPr>
          <p:cNvPr id="12" name="TextBox 11"/>
          <p:cNvSpPr txBox="1"/>
          <p:nvPr/>
        </p:nvSpPr>
        <p:spPr>
          <a:xfrm>
            <a:off x="548640" y="1763268"/>
            <a:ext cx="2464308" cy="330200"/>
          </a:xfrm>
          <a:prstGeom prst="rect">
            <a:avLst/>
          </a:prstGeom>
          <a:noFill/>
        </p:spPr>
        <p:txBody>
          <a:bodyPr wrap="square" lIns="0" rIns="0" tIns="0" bIns="0" anchor="t">
            <a:noAutofit/>
          </a:bodyPr>
          <a:lstStyle/>
          <a:p>
            <a:pPr algn="l">
              <a:lnSpc>
                <a:spcPts val="2600"/>
              </a:lnSpc>
            </a:pPr>
            <a:r>
              <a:rPr sz="2100" b="1">
                <a:solidFill>
                  <a:srgbClr val="CC0000"/>
                </a:solidFill>
                <a:latin typeface="Kanit"/>
              </a:rPr>
              <a:t>134</a:t>
            </a:r>
          </a:p>
        </p:txBody>
      </p:sp>
      <p:sp>
        <p:nvSpPr>
          <p:cNvPr id="13" name="TextBox 12"/>
          <p:cNvSpPr txBox="1"/>
          <p:nvPr/>
        </p:nvSpPr>
        <p:spPr>
          <a:xfrm>
            <a:off x="548640" y="21290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of 794 (16.9%) · up from 84 on 11 July</a:t>
            </a:r>
          </a:p>
        </p:txBody>
      </p:sp>
      <p:sp>
        <p:nvSpPr>
          <p:cNvPr id="14" name="Rounded Rectangle 13"/>
          <p:cNvSpPr/>
          <p:nvPr/>
        </p:nvSpPr>
        <p:spPr>
          <a:xfrm>
            <a:off x="3287268" y="14889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3424428"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Provinces with heavy rain</a:t>
            </a:r>
          </a:p>
        </p:txBody>
      </p:sp>
      <p:sp>
        <p:nvSpPr>
          <p:cNvPr id="16" name="TextBox 15"/>
          <p:cNvSpPr txBox="1"/>
          <p:nvPr/>
        </p:nvSpPr>
        <p:spPr>
          <a:xfrm>
            <a:off x="3424428" y="1763268"/>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31</a:t>
            </a:r>
          </a:p>
        </p:txBody>
      </p:sp>
      <p:sp>
        <p:nvSpPr>
          <p:cNvPr id="17" name="TextBox 16"/>
          <p:cNvSpPr txBox="1"/>
          <p:nvPr/>
        </p:nvSpPr>
        <p:spPr>
          <a:xfrm>
            <a:off x="3424428" y="21290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latest reading · 2026-08-03</a:t>
            </a:r>
          </a:p>
        </p:txBody>
      </p:sp>
      <p:sp>
        <p:nvSpPr>
          <p:cNvPr id="18" name="Rounded Rectangle 17"/>
          <p:cNvSpPr/>
          <p:nvPr/>
        </p:nvSpPr>
        <p:spPr>
          <a:xfrm>
            <a:off x="6163056" y="14889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6300216"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Heaviest 24h gauge</a:t>
            </a:r>
          </a:p>
        </p:txBody>
      </p:sp>
      <p:sp>
        <p:nvSpPr>
          <p:cNvPr id="20" name="TextBox 19"/>
          <p:cNvSpPr txBox="1"/>
          <p:nvPr/>
        </p:nvSpPr>
        <p:spPr>
          <a:xfrm>
            <a:off x="6300216" y="1763268"/>
            <a:ext cx="2464308" cy="330200"/>
          </a:xfrm>
          <a:prstGeom prst="rect">
            <a:avLst/>
          </a:prstGeom>
          <a:noFill/>
        </p:spPr>
        <p:txBody>
          <a:bodyPr wrap="square" lIns="0" rIns="0" tIns="0" bIns="0" anchor="t">
            <a:noAutofit/>
          </a:bodyPr>
          <a:lstStyle/>
          <a:p>
            <a:pPr algn="l">
              <a:lnSpc>
                <a:spcPts val="2600"/>
              </a:lnSpc>
            </a:pPr>
            <a:r>
              <a:rPr sz="2100" b="1">
                <a:solidFill>
                  <a:srgbClr val="1E2F5C"/>
                </a:solidFill>
                <a:latin typeface="Kanit"/>
              </a:rPr>
              <a:t>180mm</a:t>
            </a:r>
          </a:p>
        </p:txBody>
      </p:sp>
      <p:sp>
        <p:nvSpPr>
          <p:cNvPr id="21" name="TextBox 20"/>
          <p:cNvSpPr txBox="1"/>
          <p:nvPr/>
        </p:nvSpPr>
        <p:spPr>
          <a:xfrm>
            <a:off x="6300216" y="21290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2026-08-03 · the 08-02 reading hit 608mm</a:t>
            </a:r>
          </a:p>
        </p:txBody>
      </p:sp>
      <p:sp>
        <p:nvSpPr>
          <p:cNvPr id="22" name="Rounded Rectangle 21"/>
          <p:cNvSpPr/>
          <p:nvPr/>
        </p:nvSpPr>
        <p:spPr>
          <a:xfrm>
            <a:off x="9038844" y="1488948"/>
            <a:ext cx="2738628" cy="1024128"/>
          </a:xfrm>
          <a:prstGeom prst="roundRect">
            <a:avLst>
              <a:gd name="adj" fmla="val 8035"/>
            </a:avLst>
          </a:prstGeom>
          <a:solidFill>
            <a:srgbClr val="F4F6FA"/>
          </a:solidFill>
          <a:ln w="9525">
            <a:solidFill>
              <a:srgbClr val="D9DEE9"/>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176004" y="1589532"/>
            <a:ext cx="2464308" cy="159258"/>
          </a:xfrm>
          <a:prstGeom prst="rect">
            <a:avLst/>
          </a:prstGeom>
          <a:noFill/>
        </p:spPr>
        <p:txBody>
          <a:bodyPr wrap="square" lIns="0" rIns="0" tIns="0" bIns="0" anchor="t">
            <a:noAutofit/>
          </a:bodyPr>
          <a:lstStyle/>
          <a:p>
            <a:pPr algn="l">
              <a:lnSpc>
                <a:spcPts val="1254"/>
              </a:lnSpc>
            </a:pPr>
            <a:r>
              <a:rPr sz="950" b="0">
                <a:solidFill>
                  <a:srgbClr val="606060"/>
                </a:solidFill>
                <a:latin typeface="Kanit"/>
              </a:rPr>
              <a:t>Structural flood exposure</a:t>
            </a:r>
          </a:p>
        </p:txBody>
      </p:sp>
      <p:sp>
        <p:nvSpPr>
          <p:cNvPr id="24" name="TextBox 23"/>
          <p:cNvSpPr txBox="1"/>
          <p:nvPr/>
        </p:nvSpPr>
        <p:spPr>
          <a:xfrm>
            <a:off x="9176004" y="1763268"/>
            <a:ext cx="2464308" cy="330200"/>
          </a:xfrm>
          <a:prstGeom prst="rect">
            <a:avLst/>
          </a:prstGeom>
          <a:noFill/>
        </p:spPr>
        <p:txBody>
          <a:bodyPr wrap="square" lIns="0" rIns="0" tIns="0" bIns="0" anchor="t">
            <a:noAutofit/>
          </a:bodyPr>
          <a:lstStyle/>
          <a:p>
            <a:pPr algn="l">
              <a:lnSpc>
                <a:spcPts val="2600"/>
              </a:lnSpc>
            </a:pPr>
            <a:r>
              <a:rPr sz="2100" b="1">
                <a:solidFill>
                  <a:srgbClr val="F5C242"/>
                </a:solidFill>
                <a:latin typeface="Kanit"/>
              </a:rPr>
              <a:t>34%</a:t>
            </a:r>
          </a:p>
        </p:txBody>
      </p:sp>
      <p:sp>
        <p:nvSpPr>
          <p:cNvPr id="25" name="TextBox 24"/>
          <p:cNvSpPr txBox="1"/>
          <p:nvPr/>
        </p:nvSpPr>
        <p:spPr>
          <a:xfrm>
            <a:off x="9176004" y="2129028"/>
            <a:ext cx="2464308" cy="310896"/>
          </a:xfrm>
          <a:prstGeom prst="rect">
            <a:avLst/>
          </a:prstGeom>
          <a:noFill/>
        </p:spPr>
        <p:txBody>
          <a:bodyPr wrap="square" lIns="0" rIns="0" tIns="0" bIns="0" anchor="t">
            <a:noAutofit/>
          </a:bodyPr>
          <a:lstStyle/>
          <a:p>
            <a:pPr algn="l">
              <a:lnSpc>
                <a:spcPts val="1060"/>
              </a:lnSpc>
            </a:pPr>
            <a:r>
              <a:rPr sz="800" b="0">
                <a:solidFill>
                  <a:srgbClr val="606060"/>
                </a:solidFill>
                <a:latin typeface="Kanit"/>
              </a:rPr>
              <a:t>685 of 2,015 branches on ground that flooded ≥7 of 12 yrs</a:t>
            </a:r>
          </a:p>
        </p:txBody>
      </p:sp>
      <p:sp>
        <p:nvSpPr>
          <p:cNvPr id="26" name="Rounded Rectangle 25"/>
          <p:cNvSpPr/>
          <p:nvPr/>
        </p:nvSpPr>
        <p:spPr>
          <a:xfrm>
            <a:off x="411480" y="2695956"/>
            <a:ext cx="754177" cy="192024"/>
          </a:xfrm>
          <a:prstGeom prst="roundRect">
            <a:avLst>
              <a:gd name="adj" fmla="val 50000"/>
            </a:avLst>
          </a:prstGeom>
          <a:noFill/>
          <a:ln w="9525">
            <a:solidFill>
              <a:srgbClr val="15795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411480" y="2725216"/>
            <a:ext cx="754177" cy="134112"/>
          </a:xfrm>
          <a:prstGeom prst="rect">
            <a:avLst/>
          </a:prstGeom>
          <a:noFill/>
        </p:spPr>
        <p:txBody>
          <a:bodyPr wrap="square" lIns="0" rIns="0" tIns="0" bIns="0" anchor="t">
            <a:noAutofit/>
          </a:bodyPr>
          <a:lstStyle/>
          <a:p>
            <a:pPr algn="ctr">
              <a:lnSpc>
                <a:spcPts val="1056"/>
              </a:lnSpc>
            </a:pPr>
            <a:r>
              <a:rPr sz="800" b="1">
                <a:solidFill>
                  <a:srgbClr val="15795F"/>
                </a:solidFill>
                <a:latin typeface="Kanit"/>
              </a:rPr>
              <a:t>MEASURED</a:t>
            </a:r>
          </a:p>
        </p:txBody>
      </p:sp>
      <p:sp>
        <p:nvSpPr>
          <p:cNvPr id="28" name="TextBox 27"/>
          <p:cNvSpPr txBox="1"/>
          <p:nvPr/>
        </p:nvSpPr>
        <p:spPr>
          <a:xfrm>
            <a:off x="1275385" y="2709672"/>
            <a:ext cx="10502086" cy="308610"/>
          </a:xfrm>
          <a:prstGeom prst="rect">
            <a:avLst/>
          </a:prstGeom>
          <a:noFill/>
        </p:spPr>
        <p:txBody>
          <a:bodyPr wrap="square" lIns="0" rIns="0" tIns="0" bIns="0" anchor="t">
            <a:noAutofit/>
          </a:bodyPr>
          <a:lstStyle/>
          <a:p>
            <a:pPr algn="l">
              <a:lnSpc>
                <a:spcPts val="1215"/>
              </a:lnSpc>
            </a:pPr>
            <a:r>
              <a:rPr sz="900" b="0">
                <a:solidFill>
                  <a:srgbClr val="606060"/>
                </a:solidFill>
                <a:latin typeface="Kanit"/>
              </a:rPr>
              <a:t>ThaiWater live telemetry, pulled daily and accumulated — nothing interpolated, a missed pull leaves a gap rather than an invented point. Structural flood exposure is the GISTDA 1:50,000 repeated-flooding census, 2005–2016.</a:t>
            </a:r>
          </a:p>
        </p:txBody>
      </p:sp>
      <p:sp>
        <p:nvSpPr>
          <p:cNvPr id="29" name="Rectangle 28"/>
          <p:cNvSpPr/>
          <p:nvPr/>
        </p:nvSpPr>
        <p:spPr>
          <a:xfrm>
            <a:off x="411480" y="3187446"/>
            <a:ext cx="11365992" cy="854456"/>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411480" y="3187446"/>
            <a:ext cx="50292" cy="85445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30936" y="3333750"/>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Two different things, deliberately kept apart</a:t>
            </a:r>
          </a:p>
        </p:txBody>
      </p:sp>
      <p:sp>
        <p:nvSpPr>
          <p:cNvPr id="32" name="TextBox 31"/>
          <p:cNvSpPr txBox="1"/>
          <p:nvPr/>
        </p:nvSpPr>
        <p:spPr>
          <a:xfrm>
            <a:off x="630936" y="3538220"/>
            <a:ext cx="11036808" cy="357378"/>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The live pulse says what is happening this week. The structural census says which ground floods repeatedly whatever the weather is doing today. The second is a hazard flag — did the ground flood, how often — and explicitly not a flooded-area or loss estimate, because the source’s per-event polygons overlap and any area total drawn from them would be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411480" y="219456"/>
            <a:ext cx="8686800" cy="150876"/>
          </a:xfrm>
          <a:prstGeom prst="rect">
            <a:avLst/>
          </a:prstGeom>
          <a:noFill/>
        </p:spPr>
        <p:txBody>
          <a:bodyPr wrap="square" lIns="0" rIns="0" tIns="0" bIns="0" anchor="t">
            <a:noAutofit/>
          </a:bodyPr>
          <a:lstStyle/>
          <a:p>
            <a:pPr algn="l">
              <a:lnSpc>
                <a:spcPts val="1188"/>
              </a:lnSpc>
            </a:pPr>
            <a:r>
              <a:rPr sz="900" b="1">
                <a:solidFill>
                  <a:srgbClr val="CC0000"/>
                </a:solidFill>
                <a:latin typeface="Kanit"/>
              </a:rPr>
              <a:t>13 · SO WHAT</a:t>
            </a:r>
          </a:p>
        </p:txBody>
      </p:sp>
      <p:sp>
        <p:nvSpPr>
          <p:cNvPr id="4" name="TextBox 3"/>
          <p:cNvSpPr txBox="1"/>
          <p:nvPr/>
        </p:nvSpPr>
        <p:spPr>
          <a:xfrm>
            <a:off x="411480" y="457200"/>
            <a:ext cx="9966960" cy="317500"/>
          </a:xfrm>
          <a:prstGeom prst="rect">
            <a:avLst/>
          </a:prstGeom>
          <a:noFill/>
        </p:spPr>
        <p:txBody>
          <a:bodyPr wrap="square" lIns="0" rIns="0" tIns="0" bIns="0" anchor="t">
            <a:noAutofit/>
          </a:bodyPr>
          <a:lstStyle/>
          <a:p>
            <a:pPr algn="l">
              <a:lnSpc>
                <a:spcPts val="2500"/>
              </a:lnSpc>
            </a:pPr>
            <a:r>
              <a:rPr sz="2000" b="1">
                <a:solidFill>
                  <a:srgbClr val="1E2F5C"/>
                </a:solidFill>
                <a:latin typeface="Kanit"/>
              </a:rPr>
              <a:t>Four things the macro picture asks of us.</a:t>
            </a:r>
          </a:p>
        </p:txBody>
      </p:sp>
      <p:pic>
        <p:nvPicPr>
          <p:cNvPr id="5" name="Picture 4" descr="autox.png"/>
          <p:cNvPicPr>
            <a:picLocks noChangeAspect="1"/>
          </p:cNvPicPr>
          <p:nvPr/>
        </p:nvPicPr>
        <p:blipFill>
          <a:blip r:embed="rId2"/>
          <a:stretch>
            <a:fillRect/>
          </a:stretch>
        </p:blipFill>
        <p:spPr>
          <a:xfrm>
            <a:off x="10634472" y="256032"/>
            <a:ext cx="941832" cy="292608"/>
          </a:xfrm>
          <a:prstGeom prst="rect">
            <a:avLst/>
          </a:prstGeom>
        </p:spPr>
      </p:pic>
      <p:sp>
        <p:nvSpPr>
          <p:cNvPr id="6" name="Rectangle 5"/>
          <p:cNvSpPr/>
          <p:nvPr/>
        </p:nvSpPr>
        <p:spPr>
          <a:xfrm>
            <a:off x="411480" y="969264"/>
            <a:ext cx="11365992" cy="20116"/>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0" y="6748272"/>
            <a:ext cx="12191969" cy="10972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411480" y="6547104"/>
            <a:ext cx="6400800" cy="134112"/>
          </a:xfrm>
          <a:prstGeom prst="rect">
            <a:avLst/>
          </a:prstGeom>
          <a:noFill/>
        </p:spPr>
        <p:txBody>
          <a:bodyPr wrap="square" lIns="0" rIns="0" tIns="0" bIns="0" anchor="t">
            <a:noAutofit/>
          </a:bodyPr>
          <a:lstStyle/>
          <a:p>
            <a:pPr algn="l">
              <a:lnSpc>
                <a:spcPts val="1056"/>
              </a:lnSpc>
            </a:pPr>
            <a:r>
              <a:rPr sz="800" b="0">
                <a:solidFill>
                  <a:srgbClr val="606060"/>
                </a:solidFill>
                <a:latin typeface="Kanit"/>
              </a:rPr>
              <a:t>Restricted Data – Reproduction is prohibited</a:t>
            </a:r>
          </a:p>
        </p:txBody>
      </p:sp>
      <p:sp>
        <p:nvSpPr>
          <p:cNvPr id="9" name="TextBox 8"/>
          <p:cNvSpPr txBox="1"/>
          <p:nvPr/>
        </p:nvSpPr>
        <p:spPr>
          <a:xfrm>
            <a:off x="411480" y="1152144"/>
            <a:ext cx="3931920" cy="187198"/>
          </a:xfrm>
          <a:prstGeom prst="rect">
            <a:avLst/>
          </a:prstGeom>
          <a:noFill/>
        </p:spPr>
        <p:txBody>
          <a:bodyPr wrap="square" lIns="0" rIns="0" tIns="0" bIns="0" anchor="t">
            <a:noAutofit/>
          </a:bodyPr>
          <a:lstStyle/>
          <a:p>
            <a:pPr algn="l">
              <a:lnSpc>
                <a:spcPts val="1474"/>
              </a:lnSpc>
            </a:pPr>
            <a:r>
              <a:rPr sz="1100" b="1">
                <a:solidFill>
                  <a:srgbClr val="1E2F5C"/>
                </a:solidFill>
                <a:latin typeface="Kanit"/>
              </a:rPr>
              <a:t>Contact the four-signal provinces before they miss</a:t>
            </a:r>
          </a:p>
        </p:txBody>
      </p:sp>
      <p:sp>
        <p:nvSpPr>
          <p:cNvPr id="10" name="TextBox 9"/>
          <p:cNvSpPr txBox="1"/>
          <p:nvPr/>
        </p:nvSpPr>
        <p:spPr>
          <a:xfrm>
            <a:off x="4617720" y="1152144"/>
            <a:ext cx="7159751" cy="561594"/>
          </a:xfrm>
          <a:prstGeom prst="rect">
            <a:avLst/>
          </a:prstGeom>
          <a:noFill/>
        </p:spPr>
        <p:txBody>
          <a:bodyPr wrap="square" lIns="0" rIns="0" tIns="0" bIns="0" anchor="t">
            <a:noAutofit/>
          </a:bodyPr>
          <a:lstStyle/>
          <a:p>
            <a:pPr algn="l">
              <a:lnSpc>
                <a:spcPts val="1474"/>
              </a:lnSpc>
            </a:pPr>
            <a:r>
              <a:rPr sz="1100" b="0">
                <a:solidFill>
                  <a:srgbClr val="2A3346"/>
                </a:solidFill>
                <a:latin typeface="Kanit"/>
              </a:rPr>
              <a:t>อำนาจเจริญ trips all four external signals and สุโขทัย three. Both are rice provinces with household debt above three quarters of a year’s income, rain below normal and a crop that does not cover its cost. Cross that list with who is CURRENT and make contact while a restructure is still cheap — the whole point is to arrive before the arrears do.</a:t>
            </a:r>
          </a:p>
        </p:txBody>
      </p:sp>
      <p:sp>
        <p:nvSpPr>
          <p:cNvPr id="11" name="Rectangle 10"/>
          <p:cNvSpPr/>
          <p:nvPr/>
        </p:nvSpPr>
        <p:spPr>
          <a:xfrm>
            <a:off x="411480" y="1832609"/>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11480" y="1951481"/>
            <a:ext cx="3931920" cy="187198"/>
          </a:xfrm>
          <a:prstGeom prst="rect">
            <a:avLst/>
          </a:prstGeom>
          <a:noFill/>
        </p:spPr>
        <p:txBody>
          <a:bodyPr wrap="square" lIns="0" rIns="0" tIns="0" bIns="0" anchor="t">
            <a:noAutofit/>
          </a:bodyPr>
          <a:lstStyle/>
          <a:p>
            <a:pPr algn="l">
              <a:lnSpc>
                <a:spcPts val="1474"/>
              </a:lnSpc>
            </a:pPr>
            <a:r>
              <a:rPr sz="1100" b="1">
                <a:solidFill>
                  <a:srgbClr val="1E2F5C"/>
                </a:solidFill>
                <a:latin typeface="Kanit"/>
              </a:rPr>
              <a:t>Treat the transport occupation as its own programme</a:t>
            </a:r>
          </a:p>
        </p:txBody>
      </p:sp>
      <p:sp>
        <p:nvSpPr>
          <p:cNvPr id="13" name="TextBox 12"/>
          <p:cNvSpPr txBox="1"/>
          <p:nvPr/>
        </p:nvSpPr>
        <p:spPr>
          <a:xfrm>
            <a:off x="4617720" y="1951481"/>
            <a:ext cx="7159751" cy="561594"/>
          </a:xfrm>
          <a:prstGeom prst="rect">
            <a:avLst/>
          </a:prstGeom>
          <a:noFill/>
        </p:spPr>
        <p:txBody>
          <a:bodyPr wrap="square" lIns="0" rIns="0" tIns="0" bIns="0" anchor="t">
            <a:noAutofit/>
          </a:bodyPr>
          <a:lstStyle/>
          <a:p>
            <a:pPr algn="l">
              <a:lnSpc>
                <a:spcPts val="1474"/>
              </a:lnSpc>
            </a:pPr>
            <a:r>
              <a:rPr sz="1100" b="0">
                <a:solidFill>
                  <a:srgbClr val="2A3346"/>
                </a:solidFill>
                <a:latin typeface="Kanit"/>
              </a:rPr>
              <a:t>Transport is the only occupation falling in every region, and it is the one where the vehicle IS the income — the asset cannot be surrendered without ending the earning. Fuel and freight rates drive it and appear in no crop series, so it needs watching separately from the farm belts.</a:t>
            </a:r>
          </a:p>
        </p:txBody>
      </p:sp>
      <p:sp>
        <p:nvSpPr>
          <p:cNvPr id="14" name="Rectangle 13"/>
          <p:cNvSpPr/>
          <p:nvPr/>
        </p:nvSpPr>
        <p:spPr>
          <a:xfrm>
            <a:off x="411480" y="2631947"/>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11480" y="2750819"/>
            <a:ext cx="3931920" cy="187198"/>
          </a:xfrm>
          <a:prstGeom prst="rect">
            <a:avLst/>
          </a:prstGeom>
          <a:noFill/>
        </p:spPr>
        <p:txBody>
          <a:bodyPr wrap="square" lIns="0" rIns="0" tIns="0" bIns="0" anchor="t">
            <a:noAutofit/>
          </a:bodyPr>
          <a:lstStyle/>
          <a:p>
            <a:pPr algn="l">
              <a:lnSpc>
                <a:spcPts val="1474"/>
              </a:lnSpc>
            </a:pPr>
            <a:r>
              <a:rPr sz="1100" b="1">
                <a:solidFill>
                  <a:srgbClr val="1E2F5C"/>
                </a:solidFill>
                <a:latin typeface="Kanit"/>
              </a:rPr>
              <a:t>Reprice against a used-vehicle market that changed in 2022</a:t>
            </a:r>
          </a:p>
        </p:txBody>
      </p:sp>
      <p:sp>
        <p:nvSpPr>
          <p:cNvPr id="16" name="TextBox 15"/>
          <p:cNvSpPr txBox="1"/>
          <p:nvPr/>
        </p:nvSpPr>
        <p:spPr>
          <a:xfrm>
            <a:off x="4617720" y="2750819"/>
            <a:ext cx="7159751" cy="561594"/>
          </a:xfrm>
          <a:prstGeom prst="rect">
            <a:avLst/>
          </a:prstGeom>
          <a:noFill/>
        </p:spPr>
        <p:txBody>
          <a:bodyPr wrap="square" lIns="0" rIns="0" tIns="0" bIns="0" anchor="t">
            <a:noAutofit/>
          </a:bodyPr>
          <a:lstStyle/>
          <a:p>
            <a:pPr algn="l">
              <a:lnSpc>
                <a:spcPts val="1474"/>
              </a:lnSpc>
            </a:pPr>
            <a:r>
              <a:rPr sz="1100" b="0">
                <a:solidFill>
                  <a:srgbClr val="2A3346"/>
                </a:solidFill>
                <a:latin typeface="Kanit"/>
              </a:rPr>
              <a:t>Pickup resale is 33 points below its own 2015 base and the slowest-turning class in every region; the six-month bounce has not recovered the level. Separately, a fifth of new cars are brands with no Thai residual record, so there is a pricing decision for titles that cannot yet be benchmarked.</a:t>
            </a:r>
          </a:p>
        </p:txBody>
      </p:sp>
      <p:sp>
        <p:nvSpPr>
          <p:cNvPr id="17" name="Rectangle 16"/>
          <p:cNvSpPr/>
          <p:nvPr/>
        </p:nvSpPr>
        <p:spPr>
          <a:xfrm>
            <a:off x="411480" y="3431285"/>
            <a:ext cx="11365992" cy="10972"/>
          </a:xfrm>
          <a:prstGeom prst="rect">
            <a:avLst/>
          </a:prstGeom>
          <a:solidFill>
            <a:srgbClr val="D9DEE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11480" y="3550157"/>
            <a:ext cx="3931920" cy="187198"/>
          </a:xfrm>
          <a:prstGeom prst="rect">
            <a:avLst/>
          </a:prstGeom>
          <a:noFill/>
        </p:spPr>
        <p:txBody>
          <a:bodyPr wrap="square" lIns="0" rIns="0" tIns="0" bIns="0" anchor="t">
            <a:noAutofit/>
          </a:bodyPr>
          <a:lstStyle/>
          <a:p>
            <a:pPr algn="l">
              <a:lnSpc>
                <a:spcPts val="1474"/>
              </a:lnSpc>
            </a:pPr>
            <a:r>
              <a:rPr sz="1100" b="1">
                <a:solidFill>
                  <a:srgbClr val="1E2F5C"/>
                </a:solidFill>
                <a:latin typeface="Kanit"/>
              </a:rPr>
              <a:t>Read cost of production, not the price headline</a:t>
            </a:r>
          </a:p>
        </p:txBody>
      </p:sp>
      <p:sp>
        <p:nvSpPr>
          <p:cNvPr id="19" name="TextBox 18"/>
          <p:cNvSpPr txBox="1"/>
          <p:nvPr/>
        </p:nvSpPr>
        <p:spPr>
          <a:xfrm>
            <a:off x="4617720" y="3550157"/>
            <a:ext cx="7159751" cy="561594"/>
          </a:xfrm>
          <a:prstGeom prst="rect">
            <a:avLst/>
          </a:prstGeom>
          <a:noFill/>
        </p:spPr>
        <p:txBody>
          <a:bodyPr wrap="square" lIns="0" rIns="0" tIns="0" bIns="0" anchor="t">
            <a:noAutofit/>
          </a:bodyPr>
          <a:lstStyle/>
          <a:p>
            <a:pPr algn="l">
              <a:lnSpc>
                <a:spcPts val="1474"/>
              </a:lnSpc>
            </a:pPr>
            <a:r>
              <a:rPr sz="1100" b="0">
                <a:solidFill>
                  <a:srgbClr val="2A3346"/>
                </a:solidFill>
                <a:latin typeface="Kanit"/>
              </a:rPr>
              <a:t>Rice prices are UP 12.4% and rice still returns −฿444 per person per month after cost. Three of the five crops with a full cost series are below cost; the three crops whose prices are FALLING have no cost series at all, so we cannot yet see how far under they are. Ask OAE for it, or infer it.</a:t>
            </a:r>
          </a:p>
        </p:txBody>
      </p:sp>
      <p:sp>
        <p:nvSpPr>
          <p:cNvPr id="20" name="Rectangle 19"/>
          <p:cNvSpPr/>
          <p:nvPr/>
        </p:nvSpPr>
        <p:spPr>
          <a:xfrm>
            <a:off x="411480" y="4413504"/>
            <a:ext cx="11365992" cy="1033144"/>
          </a:xfrm>
          <a:prstGeom prst="rect">
            <a:avLst/>
          </a:prstGeom>
          <a:solidFill>
            <a:srgbClr val="EEF1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Rectangle 20"/>
          <p:cNvSpPr/>
          <p:nvPr/>
        </p:nvSpPr>
        <p:spPr>
          <a:xfrm>
            <a:off x="411480" y="4413504"/>
            <a:ext cx="50292" cy="1033144"/>
          </a:xfrm>
          <a:prstGeom prst="rect">
            <a:avLst/>
          </a:prstGeom>
          <a:solidFill>
            <a:srgbClr val="1E2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30936" y="4559808"/>
            <a:ext cx="11036808" cy="158750"/>
          </a:xfrm>
          <a:prstGeom prst="rect">
            <a:avLst/>
          </a:prstGeom>
          <a:noFill/>
        </p:spPr>
        <p:txBody>
          <a:bodyPr wrap="square" lIns="0" rIns="0" tIns="0" bIns="0" anchor="t">
            <a:noAutofit/>
          </a:bodyPr>
          <a:lstStyle/>
          <a:p>
            <a:pPr algn="l">
              <a:lnSpc>
                <a:spcPts val="1250"/>
              </a:lnSpc>
            </a:pPr>
            <a:r>
              <a:rPr sz="950" b="1">
                <a:solidFill>
                  <a:srgbClr val="1E2F5C"/>
                </a:solidFill>
                <a:latin typeface="Kanit"/>
              </a:rPr>
              <a:t>Scope, stated</a:t>
            </a:r>
          </a:p>
        </p:txBody>
      </p:sp>
      <p:sp>
        <p:nvSpPr>
          <p:cNvPr id="23" name="TextBox 22"/>
          <p:cNvSpPr txBox="1"/>
          <p:nvPr/>
        </p:nvSpPr>
        <p:spPr>
          <a:xfrm>
            <a:off x="630936" y="4764277"/>
            <a:ext cx="11036808" cy="536067"/>
          </a:xfrm>
          <a:prstGeom prst="rect">
            <a:avLst/>
          </a:prstGeom>
          <a:noFill/>
        </p:spPr>
        <p:txBody>
          <a:bodyPr wrap="square" lIns="0" rIns="0" tIns="0" bIns="0" anchor="t">
            <a:noAutofit/>
          </a:bodyPr>
          <a:lstStyle/>
          <a:p>
            <a:pPr algn="l">
              <a:lnSpc>
                <a:spcPts val="1407"/>
              </a:lnSpc>
            </a:pPr>
            <a:r>
              <a:rPr sz="1050" b="0">
                <a:solidFill>
                  <a:srgbClr val="1E2F5C"/>
                </a:solidFill>
                <a:latin typeface="Kanit"/>
              </a:rPr>
              <a:t>Everything above is external data — published statistics about the economy, the crops and the used-vehicle market. It points at regions, provinces and the districts under them, never at a person. Turning a geography into a call list is the Assistance tab’s job and belongs in that conversation, with the book beside it. Nothing here is an argument to open, close or expand anything.</a:t>
            </a:r>
          </a:p>
        </p:txBody>
      </p:sp>
      <p:sp>
        <p:nvSpPr>
          <p:cNvPr id="24" name="TextBox 23"/>
          <p:cNvSpPr txBox="1"/>
          <p:nvPr/>
        </p:nvSpPr>
        <p:spPr>
          <a:xfrm>
            <a:off x="411480" y="5592952"/>
            <a:ext cx="11365992" cy="317500"/>
          </a:xfrm>
          <a:prstGeom prst="rect">
            <a:avLst/>
          </a:prstGeom>
          <a:noFill/>
        </p:spPr>
        <p:txBody>
          <a:bodyPr wrap="square" lIns="0" rIns="0" tIns="0" bIns="0" anchor="t">
            <a:noAutofit/>
          </a:bodyPr>
          <a:lstStyle/>
          <a:p>
            <a:pPr algn="l">
              <a:lnSpc>
                <a:spcPts val="1250"/>
              </a:lnSpc>
            </a:pPr>
            <a:r>
              <a:rPr sz="900" b="0">
                <a:solidFill>
                  <a:srgbClr val="606060"/>
                </a:solidFill>
                <a:latin typeface="Kanit"/>
              </a:rPr>
              <a:t>Vintages — world prices 2026M06 · Thai farm gate 2026-08-02 · drought 2026-06-21 · CPI 2026-05 · GDP 2026-Q1 · IMF WEO 2026 · resale index 2026-05 · registrations to 2026-01 · crop cost of production 2568 · household debt NSO SES 2566 · telemetry 2026-08-03.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